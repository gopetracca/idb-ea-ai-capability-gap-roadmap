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3.xml" ContentType="application/vnd.openxmlformats-officedocument.theme+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heme/theme4.xml" ContentType="application/vnd.openxmlformats-officedocument.theme+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heme/theme5.xml" ContentType="application/vnd.openxmlformats-officedocument.theme+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notesSlides/notesSlide1.xml" ContentType="application/vnd.openxmlformats-officedocument.presentationml.notesSlide+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notesSlides/notesSlide2.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notesSlides/notesSlide3.xml" ContentType="application/vnd.openxmlformats-officedocument.presentationml.notesSlide+xml"/>
  <Override PartName="/ppt/charts/chart2.xml" ContentType="application/vnd.openxmlformats-officedocument.drawingml.chart+xml"/>
  <Override PartName="/ppt/theme/themeOverride2.xml" ContentType="application/vnd.openxmlformats-officedocument.themeOverride+xml"/>
  <Override PartName="/ppt/charts/chart3.xml" ContentType="application/vnd.openxmlformats-officedocument.drawingml.chart+xml"/>
  <Override PartName="/ppt/theme/themeOverride3.xml" ContentType="application/vnd.openxmlformats-officedocument.themeOverride+xml"/>
  <Override PartName="/ppt/charts/chart4.xml" ContentType="application/vnd.openxmlformats-officedocument.drawingml.chart+xml"/>
  <Override PartName="/ppt/theme/themeOverride4.xml" ContentType="application/vnd.openxmlformats-officedocument.themeOverride+xml"/>
  <Override PartName="/ppt/charts/chart5.xml" ContentType="application/vnd.openxmlformats-officedocument.drawingml.chart+xml"/>
  <Override PartName="/ppt/theme/themeOverride5.xml" ContentType="application/vnd.openxmlformats-officedocument.themeOverride+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notesSlides/notesSlide4.xml" ContentType="application/vnd.openxmlformats-officedocument.presentationml.notesSlide+xml"/>
  <Override PartName="/ppt/charts/chart6.xml" ContentType="application/vnd.openxmlformats-officedocument.drawingml.chart+xml"/>
  <Override PartName="/ppt/theme/themeOverride6.xml" ContentType="application/vnd.openxmlformats-officedocument.themeOverride+xml"/>
  <Override PartName="/ppt/charts/chart7.xml" ContentType="application/vnd.openxmlformats-officedocument.drawingml.chart+xml"/>
  <Override PartName="/ppt/theme/themeOverride7.xml" ContentType="application/vnd.openxmlformats-officedocument.themeOverride+xml"/>
  <Override PartName="/ppt/charts/chart8.xml" ContentType="application/vnd.openxmlformats-officedocument.drawingml.chart+xml"/>
  <Override PartName="/ppt/theme/themeOverride8.xml" ContentType="application/vnd.openxmlformats-officedocument.themeOverride+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notesSlides/notesSlide5.xml" ContentType="application/vnd.openxmlformats-officedocument.presentationml.notesSlide+xml"/>
  <Override PartName="/ppt/charts/chart9.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notesSlides/notesSlide6.xml" ContentType="application/vnd.openxmlformats-officedocument.presentationml.notesSlide+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notesSlides/notesSlide7.xml" ContentType="application/vnd.openxmlformats-officedocument.presentationml.notesSlide+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notesSlides/notesSlide8.xml" ContentType="application/vnd.openxmlformats-officedocument.presentationml.notesSlide+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notesSlides/notesSlide9.xml" ContentType="application/vnd.openxmlformats-officedocument.presentationml.notesSlide+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notesSlides/notesSlide10.xml" ContentType="application/vnd.openxmlformats-officedocument.presentationml.notesSlide+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notesSlides/notesSlide11.xml" ContentType="application/vnd.openxmlformats-officedocument.presentationml.notesSlide+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notesSlides/notesSlide12.xml" ContentType="application/vnd.openxmlformats-officedocument.presentationml.notesSlide+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notesSlides/notesSlide13.xml" ContentType="application/vnd.openxmlformats-officedocument.presentationml.notesSlide+xml"/>
  <Override PartName="/ppt/charts/chart10.xml" ContentType="application/vnd.openxmlformats-officedocument.drawingml.chart+xml"/>
  <Override PartName="/ppt/theme/themeOverride9.xml" ContentType="application/vnd.openxmlformats-officedocument.themeOverride+xml"/>
  <Override PartName="/ppt/charts/chart11.xml" ContentType="application/vnd.openxmlformats-officedocument.drawingml.chart+xml"/>
  <Override PartName="/ppt/theme/themeOverride10.xml" ContentType="application/vnd.openxmlformats-officedocument.themeOverride+xml"/>
  <Override PartName="/ppt/charts/chart12.xml" ContentType="application/vnd.openxmlformats-officedocument.drawingml.chart+xml"/>
  <Override PartName="/ppt/theme/themeOverride11.xml" ContentType="application/vnd.openxmlformats-officedocument.themeOverride+xml"/>
  <Override PartName="/ppt/charts/chart13.xml" ContentType="application/vnd.openxmlformats-officedocument.drawingml.chart+xml"/>
  <Override PartName="/ppt/theme/themeOverride12.xml" ContentType="application/vnd.openxmlformats-officedocument.themeOverride+xml"/>
  <Override PartName="/ppt/charts/chart14.xml" ContentType="application/vnd.openxmlformats-officedocument.drawingml.chart+xml"/>
  <Override PartName="/ppt/theme/themeOverride13.xml" ContentType="application/vnd.openxmlformats-officedocument.themeOverride+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notesSlides/notesSlide14.xml" ContentType="application/vnd.openxmlformats-officedocument.presentationml.notesSlide+xml"/>
  <Override PartName="/ppt/charts/chart15.xml" ContentType="application/vnd.openxmlformats-officedocument.drawingml.chart+xml"/>
  <Override PartName="/ppt/theme/themeOverride14.xml" ContentType="application/vnd.openxmlformats-officedocument.themeOverride+xml"/>
  <Override PartName="/ppt/charts/chart16.xml" ContentType="application/vnd.openxmlformats-officedocument.drawingml.chart+xml"/>
  <Override PartName="/ppt/theme/themeOverride15.xml" ContentType="application/vnd.openxmlformats-officedocument.themeOverride+xml"/>
  <Override PartName="/ppt/charts/chart17.xml" ContentType="application/vnd.openxmlformats-officedocument.drawingml.chart+xml"/>
  <Override PartName="/ppt/theme/themeOverride16.xml" ContentType="application/vnd.openxmlformats-officedocument.themeOverride+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notesSlides/notesSlide15.xml" ContentType="application/vnd.openxmlformats-officedocument.presentationml.notesSlide+xml"/>
  <Override PartName="/ppt/charts/chart18.xml" ContentType="application/vnd.openxmlformats-officedocument.drawingml.chart+xml"/>
  <Override PartName="/ppt/theme/themeOverride17.xml" ContentType="application/vnd.openxmlformats-officedocument.themeOverride+xml"/>
  <Override PartName="/ppt/charts/chart19.xml" ContentType="application/vnd.openxmlformats-officedocument.drawingml.chart+xml"/>
  <Override PartName="/ppt/theme/themeOverride18.xml" ContentType="application/vnd.openxmlformats-officedocument.themeOverride+xml"/>
  <Override PartName="/ppt/charts/chart20.xml" ContentType="application/vnd.openxmlformats-officedocument.drawingml.chart+xml"/>
  <Override PartName="/ppt/theme/themeOverride19.xml" ContentType="application/vnd.openxmlformats-officedocument.themeOverride+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notesSlides/notesSlide16.xml" ContentType="application/vnd.openxmlformats-officedocument.presentationml.notesSlide+xml"/>
  <Override PartName="/ppt/charts/chart21.xml" ContentType="application/vnd.openxmlformats-officedocument.drawingml.chart+xml"/>
  <Override PartName="/ppt/theme/themeOverride20.xml" ContentType="application/vnd.openxmlformats-officedocument.themeOverride+xml"/>
  <Override PartName="/ppt/charts/chart22.xml" ContentType="application/vnd.openxmlformats-officedocument.drawingml.chart+xml"/>
  <Override PartName="/ppt/theme/themeOverride21.xml" ContentType="application/vnd.openxmlformats-officedocument.themeOverride+xml"/>
  <Override PartName="/ppt/charts/chart23.xml" ContentType="application/vnd.openxmlformats-officedocument.drawingml.chart+xml"/>
  <Override PartName="/ppt/theme/themeOverride22.xml" ContentType="application/vnd.openxmlformats-officedocument.themeOverride+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notesSlides/notesSlide17.xml" ContentType="application/vnd.openxmlformats-officedocument.presentationml.notesSlide+xml"/>
  <Override PartName="/ppt/charts/chart24.xml" ContentType="application/vnd.openxmlformats-officedocument.drawingml.chart+xml"/>
  <Override PartName="/ppt/theme/themeOverride23.xml" ContentType="application/vnd.openxmlformats-officedocument.themeOverride+xml"/>
  <Override PartName="/ppt/charts/chart25.xml" ContentType="application/vnd.openxmlformats-officedocument.drawingml.chart+xml"/>
  <Override PartName="/ppt/theme/themeOverride24.xml" ContentType="application/vnd.openxmlformats-officedocument.themeOverride+xml"/>
  <Override PartName="/ppt/charts/chart26.xml" ContentType="application/vnd.openxmlformats-officedocument.drawingml.chart+xml"/>
  <Override PartName="/ppt/theme/themeOverride25.xml" ContentType="application/vnd.openxmlformats-officedocument.themeOverride+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notesSlides/notesSlide18.xml" ContentType="application/vnd.openxmlformats-officedocument.presentationml.notesSlide+xml"/>
  <Override PartName="/ppt/charts/chart27.xml" ContentType="application/vnd.openxmlformats-officedocument.drawingml.chart+xml"/>
  <Override PartName="/ppt/theme/themeOverride26.xml" ContentType="application/vnd.openxmlformats-officedocument.themeOverride+xml"/>
  <Override PartName="/ppt/charts/chart28.xml" ContentType="application/vnd.openxmlformats-officedocument.drawingml.chart+xml"/>
  <Override PartName="/ppt/theme/themeOverride27.xml" ContentType="application/vnd.openxmlformats-officedocument.themeOverride+xml"/>
  <Override PartName="/ppt/charts/chart29.xml" ContentType="application/vnd.openxmlformats-officedocument.drawingml.chart+xml"/>
  <Override PartName="/ppt/theme/themeOverride28.xml" ContentType="application/vnd.openxmlformats-officedocument.themeOverride+xml"/>
  <Override PartName="/ppt/charts/chart30.xml" ContentType="application/vnd.openxmlformats-officedocument.drawingml.chart+xml"/>
  <Override PartName="/ppt/theme/themeOverride29.xml" ContentType="application/vnd.openxmlformats-officedocument.themeOverride+xml"/>
  <Override PartName="/ppt/charts/chart31.xml" ContentType="application/vnd.openxmlformats-officedocument.drawingml.chart+xml"/>
  <Override PartName="/ppt/theme/themeOverride30.xml" ContentType="application/vnd.openxmlformats-officedocument.themeOverride+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notesSlides/notesSlide19.xml" ContentType="application/vnd.openxmlformats-officedocument.presentationml.notesSlide+xml"/>
  <Override PartName="/ppt/charts/chart32.xml" ContentType="application/vnd.openxmlformats-officedocument.drawingml.chart+xml"/>
  <Override PartName="/ppt/theme/themeOverride31.xml" ContentType="application/vnd.openxmlformats-officedocument.themeOverride+xml"/>
  <Override PartName="/ppt/charts/chart33.xml" ContentType="application/vnd.openxmlformats-officedocument.drawingml.chart+xml"/>
  <Override PartName="/ppt/theme/themeOverride32.xml" ContentType="application/vnd.openxmlformats-officedocument.themeOverride+xml"/>
  <Override PartName="/ppt/charts/chart34.xml" ContentType="application/vnd.openxmlformats-officedocument.drawingml.chart+xml"/>
  <Override PartName="/ppt/theme/themeOverride33.xml" ContentType="application/vnd.openxmlformats-officedocument.themeOverride+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notesSlides/notesSlide20.xml" ContentType="application/vnd.openxmlformats-officedocument.presentationml.notesSlide+xml"/>
  <Override PartName="/ppt/tags/tag562.xml" ContentType="application/vnd.openxmlformats-officedocument.presentationml.tags+xml"/>
  <Override PartName="/ppt/tags/tag56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851" r:id="rId5"/>
    <p:sldMasterId id="2147483952" r:id="rId6"/>
    <p:sldMasterId id="2147483969" r:id="rId7"/>
  </p:sldMasterIdLst>
  <p:notesMasterIdLst>
    <p:notesMasterId r:id="rId28"/>
  </p:notesMasterIdLst>
  <p:handoutMasterIdLst>
    <p:handoutMasterId r:id="rId29"/>
  </p:handoutMasterIdLst>
  <p:sldIdLst>
    <p:sldId id="256" r:id="rId8"/>
    <p:sldId id="2147481794" r:id="rId9"/>
    <p:sldId id="2147481800" r:id="rId10"/>
    <p:sldId id="2147481801" r:id="rId11"/>
    <p:sldId id="2147481353" r:id="rId12"/>
    <p:sldId id="2147481790" r:id="rId13"/>
    <p:sldId id="2147481791" r:id="rId14"/>
    <p:sldId id="2147481792" r:id="rId15"/>
    <p:sldId id="2147481327" r:id="rId16"/>
    <p:sldId id="2147481793" r:id="rId17"/>
    <p:sldId id="2147481328" r:id="rId18"/>
    <p:sldId id="2147481323" r:id="rId19"/>
    <p:sldId id="2147481343" r:id="rId20"/>
    <p:sldId id="2147481352" r:id="rId21"/>
    <p:sldId id="2147481345" r:id="rId22"/>
    <p:sldId id="2147481346" r:id="rId23"/>
    <p:sldId id="2147481348" r:id="rId24"/>
    <p:sldId id="2147481349" r:id="rId25"/>
    <p:sldId id="2147481351" r:id="rId26"/>
    <p:sldId id="13183" r:id="rId27"/>
  </p:sldIdLst>
  <p:sldSz cx="12192000" cy="6858000"/>
  <p:notesSz cx="6858000" cy="9144000"/>
  <p:embeddedFontLst>
    <p:embeddedFont>
      <p:font typeface="Gartner Sans" panose="020B0604020202020204" charset="0"/>
      <p:regular r:id="rId30"/>
      <p:bold r:id="rId31"/>
      <p:italic r:id="rId32"/>
      <p:boldItalic r:id="rId33"/>
    </p:embeddedFont>
    <p:embeddedFont>
      <p:font typeface="Gartner Sans Semibold" panose="020B0604020202020204" charset="0"/>
      <p:regular r:id="rId34"/>
      <p:bold r:id="rId35"/>
      <p:italic r:id="rId36"/>
      <p:boldItalic r:id="rId37"/>
    </p:embeddedFont>
    <p:embeddedFont>
      <p:font typeface="Roboto" panose="02000000000000000000" pitchFamily="2" charset="0"/>
      <p:regular r:id="rId38"/>
      <p:bold r:id="rId39"/>
      <p:italic r:id="rId40"/>
      <p:boldItalic r:id="rId41"/>
    </p:embeddedFont>
  </p:embeddedFontLst>
  <p:custDataLst>
    <p:tags r:id="rId4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0BDBDC1-CAD5-4D70-BBFF-AEBCEB9A7A20}">
          <p14:sldIdLst>
            <p14:sldId id="256"/>
            <p14:sldId id="2147481794"/>
            <p14:sldId id="2147481800"/>
            <p14:sldId id="2147481801"/>
            <p14:sldId id="2147481353"/>
            <p14:sldId id="2147481790"/>
            <p14:sldId id="2147481791"/>
            <p14:sldId id="2147481792"/>
            <p14:sldId id="2147481327"/>
            <p14:sldId id="2147481793"/>
            <p14:sldId id="2147481328"/>
            <p14:sldId id="2147481323"/>
            <p14:sldId id="2147481343"/>
            <p14:sldId id="2147481352"/>
            <p14:sldId id="2147481345"/>
            <p14:sldId id="2147481346"/>
            <p14:sldId id="2147481348"/>
            <p14:sldId id="2147481349"/>
            <p14:sldId id="2147481351"/>
            <p14:sldId id="1318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Nora Silver" initials="NS" lastIdx="0" clrIdx="6"/>
  <p:cmAuthor id="1" name="Enders,Rich" initials="E" lastIdx="0" clrIdx="0">
    <p:extLst>
      <p:ext uri="{19B8F6BF-5375-455C-9EA6-DF929625EA0E}">
        <p15:presenceInfo xmlns:p15="http://schemas.microsoft.com/office/powerpoint/2012/main" userId="S::Rich.Enders@gartner.com::1ad872d4-5fa0-4d3e-b9bc-40fded2a6f6d" providerId="AD"/>
      </p:ext>
    </p:extLst>
  </p:cmAuthor>
  <p:cmAuthor id="8" name="Eser Rizaoglu" initials="ER" lastIdx="0" clrIdx="7"/>
  <p:cmAuthor id="2" name="Puleio,Michelle" initials="P" lastIdx="0" clrIdx="1">
    <p:extLst>
      <p:ext uri="{19B8F6BF-5375-455C-9EA6-DF929625EA0E}">
        <p15:presenceInfo xmlns:p15="http://schemas.microsoft.com/office/powerpoint/2012/main" userId="S::Michelle.Puleio@gartner.com::4d61dde0-08c5-41fb-925d-691e51c28e04" providerId="AD"/>
      </p:ext>
    </p:extLst>
  </p:cmAuthor>
  <p:cmAuthor id="9" name="Tracie Valentino" initials="TV" lastIdx="0" clrIdx="8"/>
  <p:cmAuthor id="3" name="Rafferty,Charles" initials="R" lastIdx="0" clrIdx="2">
    <p:extLst>
      <p:ext uri="{19B8F6BF-5375-455C-9EA6-DF929625EA0E}">
        <p15:presenceInfo xmlns:p15="http://schemas.microsoft.com/office/powerpoint/2012/main" userId="S::Charles.Rafferty@gartner.com::7a4208b7-acfc-4cce-8499-c63b78448d8d" providerId="AD"/>
      </p:ext>
    </p:extLst>
  </p:cmAuthor>
  <p:cmAuthor id="10" name="Maureen Johnson" initials="MJ" lastIdx="0" clrIdx="9"/>
  <p:cmAuthor id="4" name="Angela Melone" initials="AM" lastIdx="0" clrIdx="3"/>
  <p:cmAuthor id="11" name="Rich Enders" initials="RE" lastIdx="0" clrIdx="10"/>
  <p:cmAuthor id="5" name="Deepanshu Chauhan" initials="DC" lastIdx="0" clrIdx="4"/>
  <p:cmAuthor id="12" name="Kathleen Losche" initials="KL" lastIdx="0" clrIdx="11"/>
  <p:cmAuthor id="6" name="Tracie Valentino"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64" autoAdjust="0"/>
    <p:restoredTop sz="96247" autoAdjust="0"/>
  </p:normalViewPr>
  <p:slideViewPr>
    <p:cSldViewPr snapToGrid="0">
      <p:cViewPr varScale="1">
        <p:scale>
          <a:sx n="74" d="100"/>
          <a:sy n="74" d="100"/>
        </p:scale>
        <p:origin x="380" y="56"/>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font" Target="fonts/font10.fntdata"/><Relationship Id="rId21" Type="http://schemas.openxmlformats.org/officeDocument/2006/relationships/slide" Target="slides/slide14.xml"/><Relationship Id="rId34" Type="http://schemas.openxmlformats.org/officeDocument/2006/relationships/font" Target="fonts/font5.fntdata"/><Relationship Id="rId42" Type="http://schemas.openxmlformats.org/officeDocument/2006/relationships/tags" Target="tags/tag1.xml"/><Relationship Id="rId47" Type="http://schemas.openxmlformats.org/officeDocument/2006/relationships/tableStyles" Target="tableStyles.xml"/><Relationship Id="rId7" Type="http://schemas.openxmlformats.org/officeDocument/2006/relationships/slideMaster" Target="slideMasters/slideMaster3.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notesMaster" Target="notesMasters/notesMaster1.xml"/><Relationship Id="rId36" Type="http://schemas.openxmlformats.org/officeDocument/2006/relationships/font" Target="fonts/font7.fntdata"/><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font" Target="fonts/font2.fntdata"/><Relationship Id="rId44"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commentAuthors" Target="commentAuthors.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font" Target="fonts/font12.fntdata"/></Relationships>
</file>

<file path=ppt/charts/_rels/chart1.xml.rels><?xml version="1.0" encoding="UTF-8" standalone="yes"?>
<Relationships xmlns="http://schemas.openxmlformats.org/package/2006/relationships"><Relationship Id="rId2" Type="http://schemas.openxmlformats.org/officeDocument/2006/relationships/package" Target="../embeddings/Microsoft_Excel_Worksheet.xlsx"/><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2" Type="http://schemas.openxmlformats.org/officeDocument/2006/relationships/package" Target="../embeddings/Microsoft_Excel_Worksheet1.xlsx"/><Relationship Id="rId1" Type="http://schemas.openxmlformats.org/officeDocument/2006/relationships/themeOverride" Target="../theme/themeOverride2.xml"/></Relationships>
</file>

<file path=ppt/charts/_rels/chart3.xml.rels><?xml version="1.0" encoding="UTF-8" standalone="yes"?>
<Relationships xmlns="http://schemas.openxmlformats.org/package/2006/relationships"><Relationship Id="rId2" Type="http://schemas.openxmlformats.org/officeDocument/2006/relationships/package" Target="../embeddings/Microsoft_Excel_Worksheet2.xlsx"/><Relationship Id="rId1" Type="http://schemas.openxmlformats.org/officeDocument/2006/relationships/themeOverride" Target="../theme/themeOverride3.xml"/></Relationships>
</file>

<file path=ppt/charts/_rels/chart4.xml.rels><?xml version="1.0" encoding="UTF-8" standalone="yes"?>
<Relationships xmlns="http://schemas.openxmlformats.org/package/2006/relationships"><Relationship Id="rId2" Type="http://schemas.openxmlformats.org/officeDocument/2006/relationships/package" Target="../embeddings/Microsoft_Excel_Worksheet3.xlsx"/><Relationship Id="rId1" Type="http://schemas.openxmlformats.org/officeDocument/2006/relationships/themeOverride" Target="../theme/themeOverride4.xml"/></Relationships>
</file>

<file path=ppt/charts/_rels/chart5.xml.rels><?xml version="1.0" encoding="UTF-8" standalone="yes"?>
<Relationships xmlns="http://schemas.openxmlformats.org/package/2006/relationships"><Relationship Id="rId2" Type="http://schemas.openxmlformats.org/officeDocument/2006/relationships/package" Target="../embeddings/Microsoft_Excel_Worksheet4.xlsx"/><Relationship Id="rId1" Type="http://schemas.openxmlformats.org/officeDocument/2006/relationships/themeOverride" Target="../theme/themeOverride5.xml"/></Relationships>
</file>

<file path=ppt/charts/_rels/chart6.xml.rels><?xml version="1.0" encoding="UTF-8" standalone="yes"?>
<Relationships xmlns="http://schemas.openxmlformats.org/package/2006/relationships"><Relationship Id="rId2" Type="http://schemas.openxmlformats.org/officeDocument/2006/relationships/package" Target="../embeddings/Microsoft_Excel_Worksheet5.xlsx"/><Relationship Id="rId1" Type="http://schemas.openxmlformats.org/officeDocument/2006/relationships/themeOverride" Target="../theme/themeOverride6.xml"/></Relationships>
</file>

<file path=ppt/charts/_rels/chart7.xml.rels><?xml version="1.0" encoding="UTF-8" standalone="yes"?>
<Relationships xmlns="http://schemas.openxmlformats.org/package/2006/relationships"><Relationship Id="rId2" Type="http://schemas.openxmlformats.org/officeDocument/2006/relationships/package" Target="../embeddings/Microsoft_Excel_Worksheet6.xlsx"/><Relationship Id="rId1" Type="http://schemas.openxmlformats.org/officeDocument/2006/relationships/themeOverride" Target="../theme/themeOverride7.xml"/></Relationships>
</file>

<file path=ppt/charts/_rels/chart8.xml.rels><?xml version="1.0" encoding="UTF-8" standalone="yes"?>
<Relationships xmlns="http://schemas.openxmlformats.org/package/2006/relationships"><Relationship Id="rId2" Type="http://schemas.openxmlformats.org/officeDocument/2006/relationships/package" Target="../embeddings/Microsoft_Excel_Worksheet7.xlsx"/><Relationship Id="rId1" Type="http://schemas.openxmlformats.org/officeDocument/2006/relationships/themeOverride" Target="../theme/themeOverrid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10.xml.rels><?xml version="1.0" encoding="UTF-8" standalone="yes"?>
<Relationships xmlns="http://schemas.openxmlformats.org/package/2006/relationships"><Relationship Id="rId2" Type="http://schemas.openxmlformats.org/officeDocument/2006/relationships/package" Target="../embeddings/Microsoft_Excel_Worksheet9.xlsx"/><Relationship Id="rId1" Type="http://schemas.openxmlformats.org/officeDocument/2006/relationships/themeOverride" Target="../theme/themeOverride9.xml"/></Relationships>
</file>

<file path=ppt/charts/_rels/chart11.xml.rels><?xml version="1.0" encoding="UTF-8" standalone="yes"?>
<Relationships xmlns="http://schemas.openxmlformats.org/package/2006/relationships"><Relationship Id="rId2" Type="http://schemas.openxmlformats.org/officeDocument/2006/relationships/package" Target="../embeddings/Microsoft_Excel_Worksheet10.xlsx"/><Relationship Id="rId1" Type="http://schemas.openxmlformats.org/officeDocument/2006/relationships/themeOverride" Target="../theme/themeOverride10.xml"/></Relationships>
</file>

<file path=ppt/charts/_rels/chart12.xml.rels><?xml version="1.0" encoding="UTF-8" standalone="yes"?>
<Relationships xmlns="http://schemas.openxmlformats.org/package/2006/relationships"><Relationship Id="rId2" Type="http://schemas.openxmlformats.org/officeDocument/2006/relationships/package" Target="../embeddings/Microsoft_Excel_Worksheet11.xlsx"/><Relationship Id="rId1" Type="http://schemas.openxmlformats.org/officeDocument/2006/relationships/themeOverride" Target="../theme/themeOverride11.xml"/></Relationships>
</file>

<file path=ppt/charts/_rels/chart13.xml.rels><?xml version="1.0" encoding="UTF-8" standalone="yes"?>
<Relationships xmlns="http://schemas.openxmlformats.org/package/2006/relationships"><Relationship Id="rId2" Type="http://schemas.openxmlformats.org/officeDocument/2006/relationships/package" Target="../embeddings/Microsoft_Excel_Worksheet12.xlsx"/><Relationship Id="rId1" Type="http://schemas.openxmlformats.org/officeDocument/2006/relationships/themeOverride" Target="../theme/themeOverride12.xml"/></Relationships>
</file>

<file path=ppt/charts/_rels/chart14.xml.rels><?xml version="1.0" encoding="UTF-8" standalone="yes"?>
<Relationships xmlns="http://schemas.openxmlformats.org/package/2006/relationships"><Relationship Id="rId2" Type="http://schemas.openxmlformats.org/officeDocument/2006/relationships/package" Target="../embeddings/Microsoft_Excel_Worksheet13.xlsx"/><Relationship Id="rId1" Type="http://schemas.openxmlformats.org/officeDocument/2006/relationships/themeOverride" Target="../theme/themeOverride13.xml"/></Relationships>
</file>

<file path=ppt/charts/_rels/chart15.xml.rels><?xml version="1.0" encoding="UTF-8" standalone="yes"?>
<Relationships xmlns="http://schemas.openxmlformats.org/package/2006/relationships"><Relationship Id="rId2" Type="http://schemas.openxmlformats.org/officeDocument/2006/relationships/package" Target="../embeddings/Microsoft_Excel_Worksheet14.xlsx"/><Relationship Id="rId1" Type="http://schemas.openxmlformats.org/officeDocument/2006/relationships/themeOverride" Target="../theme/themeOverride14.xml"/></Relationships>
</file>

<file path=ppt/charts/_rels/chart16.xml.rels><?xml version="1.0" encoding="UTF-8" standalone="yes"?>
<Relationships xmlns="http://schemas.openxmlformats.org/package/2006/relationships"><Relationship Id="rId2" Type="http://schemas.openxmlformats.org/officeDocument/2006/relationships/package" Target="../embeddings/Microsoft_Excel_Worksheet15.xlsx"/><Relationship Id="rId1" Type="http://schemas.openxmlformats.org/officeDocument/2006/relationships/themeOverride" Target="../theme/themeOverride15.xml"/></Relationships>
</file>

<file path=ppt/charts/_rels/chart17.xml.rels><?xml version="1.0" encoding="UTF-8" standalone="yes"?>
<Relationships xmlns="http://schemas.openxmlformats.org/package/2006/relationships"><Relationship Id="rId2" Type="http://schemas.openxmlformats.org/officeDocument/2006/relationships/package" Target="../embeddings/Microsoft_Excel_Worksheet16.xlsx"/><Relationship Id="rId1" Type="http://schemas.openxmlformats.org/officeDocument/2006/relationships/themeOverride" Target="../theme/themeOverride16.xml"/></Relationships>
</file>

<file path=ppt/charts/_rels/chart18.xml.rels><?xml version="1.0" encoding="UTF-8" standalone="yes"?>
<Relationships xmlns="http://schemas.openxmlformats.org/package/2006/relationships"><Relationship Id="rId2" Type="http://schemas.openxmlformats.org/officeDocument/2006/relationships/package" Target="../embeddings/Microsoft_Excel_Worksheet17.xlsx"/><Relationship Id="rId1" Type="http://schemas.openxmlformats.org/officeDocument/2006/relationships/themeOverride" Target="../theme/themeOverride17.xml"/></Relationships>
</file>

<file path=ppt/charts/_rels/chart19.xml.rels><?xml version="1.0" encoding="UTF-8" standalone="yes"?>
<Relationships xmlns="http://schemas.openxmlformats.org/package/2006/relationships"><Relationship Id="rId2" Type="http://schemas.openxmlformats.org/officeDocument/2006/relationships/package" Target="../embeddings/Microsoft_Excel_Worksheet18.xlsx"/><Relationship Id="rId1" Type="http://schemas.openxmlformats.org/officeDocument/2006/relationships/themeOverride" Target="../theme/themeOverride18.xml"/></Relationships>
</file>

<file path=ppt/charts/_rels/chart20.xml.rels><?xml version="1.0" encoding="UTF-8" standalone="yes"?>
<Relationships xmlns="http://schemas.openxmlformats.org/package/2006/relationships"><Relationship Id="rId2" Type="http://schemas.openxmlformats.org/officeDocument/2006/relationships/package" Target="../embeddings/Microsoft_Excel_Worksheet19.xlsx"/><Relationship Id="rId1" Type="http://schemas.openxmlformats.org/officeDocument/2006/relationships/themeOverride" Target="../theme/themeOverride19.xml"/></Relationships>
</file>

<file path=ppt/charts/_rels/chart21.xml.rels><?xml version="1.0" encoding="UTF-8" standalone="yes"?>
<Relationships xmlns="http://schemas.openxmlformats.org/package/2006/relationships"><Relationship Id="rId2" Type="http://schemas.openxmlformats.org/officeDocument/2006/relationships/package" Target="../embeddings/Microsoft_Excel_Worksheet20.xlsx"/><Relationship Id="rId1" Type="http://schemas.openxmlformats.org/officeDocument/2006/relationships/themeOverride" Target="../theme/themeOverride20.xml"/></Relationships>
</file>

<file path=ppt/charts/_rels/chart22.xml.rels><?xml version="1.0" encoding="UTF-8" standalone="yes"?>
<Relationships xmlns="http://schemas.openxmlformats.org/package/2006/relationships"><Relationship Id="rId2" Type="http://schemas.openxmlformats.org/officeDocument/2006/relationships/package" Target="../embeddings/Microsoft_Excel_Worksheet21.xlsx"/><Relationship Id="rId1" Type="http://schemas.openxmlformats.org/officeDocument/2006/relationships/themeOverride" Target="../theme/themeOverride21.xml"/></Relationships>
</file>

<file path=ppt/charts/_rels/chart23.xml.rels><?xml version="1.0" encoding="UTF-8" standalone="yes"?>
<Relationships xmlns="http://schemas.openxmlformats.org/package/2006/relationships"><Relationship Id="rId2" Type="http://schemas.openxmlformats.org/officeDocument/2006/relationships/package" Target="../embeddings/Microsoft_Excel_Worksheet22.xlsx"/><Relationship Id="rId1" Type="http://schemas.openxmlformats.org/officeDocument/2006/relationships/themeOverride" Target="../theme/themeOverride22.xml"/></Relationships>
</file>

<file path=ppt/charts/_rels/chart24.xml.rels><?xml version="1.0" encoding="UTF-8" standalone="yes"?>
<Relationships xmlns="http://schemas.openxmlformats.org/package/2006/relationships"><Relationship Id="rId2" Type="http://schemas.openxmlformats.org/officeDocument/2006/relationships/package" Target="../embeddings/Microsoft_Excel_Worksheet23.xlsx"/><Relationship Id="rId1" Type="http://schemas.openxmlformats.org/officeDocument/2006/relationships/themeOverride" Target="../theme/themeOverride23.xml"/></Relationships>
</file>

<file path=ppt/charts/_rels/chart25.xml.rels><?xml version="1.0" encoding="UTF-8" standalone="yes"?>
<Relationships xmlns="http://schemas.openxmlformats.org/package/2006/relationships"><Relationship Id="rId2" Type="http://schemas.openxmlformats.org/officeDocument/2006/relationships/package" Target="../embeddings/Microsoft_Excel_Worksheet24.xlsx"/><Relationship Id="rId1" Type="http://schemas.openxmlformats.org/officeDocument/2006/relationships/themeOverride" Target="../theme/themeOverride24.xml"/></Relationships>
</file>

<file path=ppt/charts/_rels/chart26.xml.rels><?xml version="1.0" encoding="UTF-8" standalone="yes"?>
<Relationships xmlns="http://schemas.openxmlformats.org/package/2006/relationships"><Relationship Id="rId2" Type="http://schemas.openxmlformats.org/officeDocument/2006/relationships/package" Target="../embeddings/Microsoft_Excel_Worksheet25.xlsx"/><Relationship Id="rId1" Type="http://schemas.openxmlformats.org/officeDocument/2006/relationships/themeOverride" Target="../theme/themeOverride25.xml"/></Relationships>
</file>

<file path=ppt/charts/_rels/chart27.xml.rels><?xml version="1.0" encoding="UTF-8" standalone="yes"?>
<Relationships xmlns="http://schemas.openxmlformats.org/package/2006/relationships"><Relationship Id="rId2" Type="http://schemas.openxmlformats.org/officeDocument/2006/relationships/package" Target="../embeddings/Microsoft_Excel_Worksheet26.xlsx"/><Relationship Id="rId1" Type="http://schemas.openxmlformats.org/officeDocument/2006/relationships/themeOverride" Target="../theme/themeOverride26.xml"/></Relationships>
</file>

<file path=ppt/charts/_rels/chart28.xml.rels><?xml version="1.0" encoding="UTF-8" standalone="yes"?>
<Relationships xmlns="http://schemas.openxmlformats.org/package/2006/relationships"><Relationship Id="rId2" Type="http://schemas.openxmlformats.org/officeDocument/2006/relationships/package" Target="../embeddings/Microsoft_Excel_Worksheet27.xlsx"/><Relationship Id="rId1" Type="http://schemas.openxmlformats.org/officeDocument/2006/relationships/themeOverride" Target="../theme/themeOverride27.xml"/></Relationships>
</file>

<file path=ppt/charts/_rels/chart29.xml.rels><?xml version="1.0" encoding="UTF-8" standalone="yes"?>
<Relationships xmlns="http://schemas.openxmlformats.org/package/2006/relationships"><Relationship Id="rId2" Type="http://schemas.openxmlformats.org/officeDocument/2006/relationships/package" Target="../embeddings/Microsoft_Excel_Worksheet28.xlsx"/><Relationship Id="rId1" Type="http://schemas.openxmlformats.org/officeDocument/2006/relationships/themeOverride" Target="../theme/themeOverride28.xml"/></Relationships>
</file>

<file path=ppt/charts/_rels/chart30.xml.rels><?xml version="1.0" encoding="UTF-8" standalone="yes"?>
<Relationships xmlns="http://schemas.openxmlformats.org/package/2006/relationships"><Relationship Id="rId2" Type="http://schemas.openxmlformats.org/officeDocument/2006/relationships/package" Target="../embeddings/Microsoft_Excel_Worksheet29.xlsx"/><Relationship Id="rId1" Type="http://schemas.openxmlformats.org/officeDocument/2006/relationships/themeOverride" Target="../theme/themeOverride29.xml"/></Relationships>
</file>

<file path=ppt/charts/_rels/chart31.xml.rels><?xml version="1.0" encoding="UTF-8" standalone="yes"?>
<Relationships xmlns="http://schemas.openxmlformats.org/package/2006/relationships"><Relationship Id="rId2" Type="http://schemas.openxmlformats.org/officeDocument/2006/relationships/package" Target="../embeddings/Microsoft_Excel_Worksheet30.xlsx"/><Relationship Id="rId1" Type="http://schemas.openxmlformats.org/officeDocument/2006/relationships/themeOverride" Target="../theme/themeOverride30.xml"/></Relationships>
</file>

<file path=ppt/charts/_rels/chart32.xml.rels><?xml version="1.0" encoding="UTF-8" standalone="yes"?>
<Relationships xmlns="http://schemas.openxmlformats.org/package/2006/relationships"><Relationship Id="rId2" Type="http://schemas.openxmlformats.org/officeDocument/2006/relationships/package" Target="../embeddings/Microsoft_Excel_Worksheet31.xlsx"/><Relationship Id="rId1" Type="http://schemas.openxmlformats.org/officeDocument/2006/relationships/themeOverride" Target="../theme/themeOverride31.xml"/></Relationships>
</file>

<file path=ppt/charts/_rels/chart33.xml.rels><?xml version="1.0" encoding="UTF-8" standalone="yes"?>
<Relationships xmlns="http://schemas.openxmlformats.org/package/2006/relationships"><Relationship Id="rId2" Type="http://schemas.openxmlformats.org/officeDocument/2006/relationships/package" Target="../embeddings/Microsoft_Excel_Worksheet32.xlsx"/><Relationship Id="rId1" Type="http://schemas.openxmlformats.org/officeDocument/2006/relationships/themeOverride" Target="../theme/themeOverride32.xml"/></Relationships>
</file>

<file path=ppt/charts/_rels/chart34.xml.rels><?xml version="1.0" encoding="UTF-8" standalone="yes"?>
<Relationships xmlns="http://schemas.openxmlformats.org/package/2006/relationships"><Relationship Id="rId2" Type="http://schemas.openxmlformats.org/officeDocument/2006/relationships/package" Target="../embeddings/Microsoft_Excel_Worksheet33.xlsx"/><Relationship Id="rId1" Type="http://schemas.openxmlformats.org/officeDocument/2006/relationships/themeOverride" Target="../theme/themeOverride3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552667424082756E-2"/>
          <c:y val="0.12789101898670197"/>
          <c:w val="0.89955431222915649"/>
          <c:h val="0.70749789476394653"/>
        </c:manualLayout>
      </c:layout>
      <c:barChart>
        <c:barDir val="bar"/>
        <c:grouping val="stacked"/>
        <c:varyColors val="0"/>
        <c:ser>
          <c:idx val="0"/>
          <c:order val="0"/>
          <c:tx>
            <c:strRef>
              <c:f>Sheet1!$B$8</c:f>
              <c:strCache>
                <c:ptCount val="1"/>
                <c:pt idx="0">
                  <c:v>Current Maturity</c:v>
                </c:pt>
              </c:strCache>
            </c:strRef>
          </c:tx>
          <c:spPr>
            <a:ln>
              <a:noFill/>
            </a:ln>
          </c:spPr>
          <c:invertIfNegative val="0"/>
          <c:dPt>
            <c:idx val="1"/>
            <c:invertIfNegative val="0"/>
            <c:bubble3D val="0"/>
            <c:spPr>
              <a:solidFill>
                <a:srgbClr val="002869"/>
              </a:solidFill>
              <a:ln>
                <a:noFill/>
              </a:ln>
            </c:spPr>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1-8AC4-4914-9EAF-6A7BACA84153}"/>
              </c:ext>
            </c:extLst>
          </c:dPt>
          <c:dPt>
            <c:idx val="3"/>
            <c:invertIfNegative val="0"/>
            <c:bubble3D val="0"/>
            <c:spPr>
              <a:solidFill>
                <a:srgbClr val="002869"/>
              </a:solidFill>
              <a:ln>
                <a:noFill/>
              </a:ln>
            </c:spPr>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3-8AC4-4914-9EAF-6A7BACA84153}"/>
              </c:ext>
            </c:extLst>
          </c:dPt>
          <c:dLbls>
            <c:dLbl>
              <c:idx val="1"/>
              <c:tx>
                <c:rich>
                  <a:bodyPr wrap="square" lIns="38100" tIns="19050" rIns="38100" bIns="19050" anchor="ctr">
                    <a:spAutoFit/>
                  </a:bodyPr>
                  <a:lstStyle/>
                  <a:p>
                    <a:pPr>
                      <a:defRPr sz="1600" b="1">
                        <a:solidFill>
                          <a:schemeClr val="bg1"/>
                        </a:solidFill>
                        <a:latin typeface="Gartner Sans" panose="020B0504030402040204" pitchFamily="34" charset="0"/>
                        <a:ea typeface="Roboto" panose="02000000000000000000" pitchFamily="2" charset="0"/>
                        <a:cs typeface="Roboto" panose="02000000000000000000" pitchFamily="2" charset="0"/>
                      </a:defRPr>
                    </a:pPr>
                    <a:fld id="{9837590A-66B2-455F-AD27-B3345C72D5F9}" type="VALUE">
                      <a:rPr lang="en-US" sz="1800"/>
                      <a:pPr>
                        <a:defRPr sz="1600" b="1">
                          <a:solidFill>
                            <a:schemeClr val="bg1"/>
                          </a:solidFill>
                          <a:latin typeface="Gartner Sans" panose="020B0504030402040204" pitchFamily="34" charset="0"/>
                          <a:ea typeface="Roboto" panose="02000000000000000000" pitchFamily="2" charset="0"/>
                          <a:cs typeface="Roboto" panose="02000000000000000000" pitchFamily="2" charset="0"/>
                        </a:defRPr>
                      </a:pPr>
                      <a:t>[VALUE]</a:t>
                    </a:fld>
                    <a:endParaRPr lang="en-US"/>
                  </a:p>
                </c:rich>
              </c:tx>
              <c:spPr>
                <a:noFill/>
                <a:ln>
                  <a:noFill/>
                </a:ln>
                <a:effectLst/>
              </c:spP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dlblFieldTable/>
                  <c15:showDataLabelsRange val="0"/>
                </c:ext>
                <c:ext xmlns:c16="http://schemas.microsoft.com/office/drawing/2014/chart" uri="{C3380CC4-5D6E-409C-BE32-E72D297353CC}">
                  <c16:uniqueId val="{00000001-8AC4-4914-9EAF-6A7BACA84153}"/>
                </c:ext>
              </c:extLst>
            </c:dLbl>
            <c:dLbl>
              <c:idx val="3"/>
              <c:tx>
                <c:rich>
                  <a:bodyPr/>
                  <a:lstStyle/>
                  <a:p>
                    <a:fld id="{02CCA8D1-8A57-45F3-9042-D0BBE99ABD9E}" type="VALUE">
                      <a:rPr lang="en-US" sz="1800" b="1">
                        <a:solidFill>
                          <a:schemeClr val="bg1"/>
                        </a:solidFill>
                        <a:latin typeface="Gartner Sans" panose="020B0504030402040204" pitchFamily="34" charset="0"/>
                      </a:rPr>
                      <a:pPr/>
                      <a:t>[VALUE]</a:t>
                    </a:fld>
                    <a:endParaRPr lang="en-US"/>
                  </a:p>
                </c:rich>
              </c:tx>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dlblFieldTable/>
                  <c15:showDataLabelsRange val="0"/>
                </c:ext>
                <c:ext xmlns:c16="http://schemas.microsoft.com/office/drawing/2014/chart" uri="{C3380CC4-5D6E-409C-BE32-E72D297353CC}">
                  <c16:uniqueId val="{00000003-8AC4-4914-9EAF-6A7BACA84153}"/>
                </c:ext>
              </c:extLst>
            </c:dLbl>
            <c:spPr>
              <a:noFill/>
              <a:ln>
                <a:noFill/>
              </a:ln>
              <a:effectLst/>
            </c:spPr>
            <c:txPr>
              <a:bodyPr wrap="square" lIns="38100" tIns="19050" rIns="38100" bIns="19050" anchor="ctr">
                <a:spAutoFit/>
              </a:bodyPr>
              <a:lstStyle/>
              <a:p>
                <a:pPr>
                  <a:defRPr sz="1600"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showLegendKey val="0"/>
            <c:showVal val="0"/>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val>
            <c:numRef>
              <c:f>Sheet1!$D$18:$D$22</c:f>
              <c:numCache>
                <c:formatCode>#,##0.0</c:formatCode>
                <c:ptCount val="5"/>
                <c:pt idx="0">
                  <c:v>0</c:v>
                </c:pt>
                <c:pt idx="1">
                  <c:v>1.7</c:v>
                </c:pt>
                <c:pt idx="2">
                  <c:v>0</c:v>
                </c:pt>
                <c:pt idx="3">
                  <c:v>2.2999999999999998</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8AC4-4914-9EAF-6A7BACA84153}"/>
            </c:ext>
          </c:extLst>
        </c:ser>
        <c:ser>
          <c:idx val="2"/>
          <c:order val="1"/>
          <c:tx>
            <c:strRef>
              <c:f>Sheet1!$F$17</c:f>
              <c:strCache>
                <c:ptCount val="1"/>
                <c:pt idx="0">
                  <c:v>10th Positive Bar</c:v>
                </c:pt>
              </c:strCache>
            </c:strRef>
          </c:tx>
          <c:spPr>
            <a:noFill/>
            <a:ln>
              <a:noFill/>
            </a:ln>
          </c:spPr>
          <c:invertIfNegative val="0"/>
          <c:val>
            <c:numRef>
              <c:f>Sheet1!$F$18:$F$22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8AC4-4914-9EAF-6A7BACA84153}"/>
            </c:ext>
          </c:extLst>
        </c:ser>
        <c:ser>
          <c:idx val="4"/>
          <c:order val="2"/>
          <c:tx>
            <c:strRef>
              <c:f>Sheet1!$H$17</c:f>
              <c:strCache>
                <c:ptCount val="1"/>
                <c:pt idx="0">
                  <c:v>25th Positive Bar</c:v>
                </c:pt>
              </c:strCache>
            </c:strRef>
          </c:tx>
          <c:spPr>
            <a:solidFill>
              <a:srgbClr val="D9D9D9"/>
            </a:solidFill>
            <a:ln>
              <a:solidFill>
                <a:srgbClr val="D9D9D9"/>
              </a:solidFill>
            </a:ln>
          </c:spPr>
          <c:invertIfNegative val="0"/>
          <c:val>
            <c:numRef>
              <c:f>Sheet1!$H$18:$H$22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8AC4-4914-9EAF-6A7BACA84153}"/>
            </c:ext>
          </c:extLst>
        </c:ser>
        <c:ser>
          <c:idx val="8"/>
          <c:order val="3"/>
          <c:tx>
            <c:strRef>
              <c:f>Sheet1!$L$17</c:f>
              <c:strCache>
                <c:ptCount val="1"/>
                <c:pt idx="0">
                  <c:v>90th Positive Bar</c:v>
                </c:pt>
              </c:strCache>
            </c:strRef>
          </c:tx>
          <c:spPr>
            <a:solidFill>
              <a:srgbClr val="D9D9D9"/>
            </a:solidFill>
            <a:ln>
              <a:noFill/>
            </a:ln>
          </c:spPr>
          <c:invertIfNegative val="0"/>
          <c:val>
            <c:numRef>
              <c:f>Sheet1!$L$18:$L$22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8AC4-4914-9EAF-6A7BACA84153}"/>
            </c:ext>
          </c:extLst>
        </c:ser>
        <c:ser>
          <c:idx val="7"/>
          <c:order val="4"/>
          <c:tx>
            <c:strRef>
              <c:f>Sheet1!$K$17</c:f>
              <c:strCache>
                <c:ptCount val="1"/>
                <c:pt idx="0">
                  <c:v>90th Negative Bar</c:v>
                </c:pt>
              </c:strCache>
            </c:strRef>
          </c:tx>
          <c:spPr>
            <a:noFill/>
          </c:spPr>
          <c:invertIfNegative val="0"/>
          <c:val>
            <c:numRef>
              <c:f>Sheet1!$K$18:$K$22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8AC4-4914-9EAF-6A7BACA84153}"/>
            </c:ext>
          </c:extLst>
        </c:ser>
        <c:ser>
          <c:idx val="5"/>
          <c:order val="5"/>
          <c:tx>
            <c:strRef>
              <c:f>Sheet1!$I$17</c:f>
              <c:strCache>
                <c:ptCount val="1"/>
                <c:pt idx="0">
                  <c:v>75th Negative Bar</c:v>
                </c:pt>
              </c:strCache>
            </c:strRef>
          </c:tx>
          <c:spPr>
            <a:noFill/>
          </c:spPr>
          <c:invertIfNegative val="0"/>
          <c:val>
            <c:numRef>
              <c:f>Sheet1!$I$18:$I$22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8AC4-4914-9EAF-6A7BACA84153}"/>
            </c:ext>
          </c:extLst>
        </c:ser>
        <c:ser>
          <c:idx val="3"/>
          <c:order val="6"/>
          <c:tx>
            <c:strRef>
              <c:f>Sheet1!$G$17</c:f>
              <c:strCache>
                <c:ptCount val="1"/>
                <c:pt idx="0">
                  <c:v>25th Negative Bar</c:v>
                </c:pt>
              </c:strCache>
            </c:strRef>
          </c:tx>
          <c:spPr>
            <a:solidFill>
              <a:srgbClr val="BFBFBF"/>
            </a:solidFill>
            <a:ln>
              <a:solidFill>
                <a:srgbClr val="BFBFBF"/>
              </a:solidFill>
            </a:ln>
          </c:spPr>
          <c:invertIfNegative val="0"/>
          <c:val>
            <c:numRef>
              <c:f>Sheet1!$G$18:$G$22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8AC4-4914-9EAF-6A7BACA84153}"/>
            </c:ext>
          </c:extLst>
        </c:ser>
        <c:ser>
          <c:idx val="1"/>
          <c:order val="7"/>
          <c:tx>
            <c:strRef>
              <c:f>Sheet1!$E$17</c:f>
              <c:strCache>
                <c:ptCount val="1"/>
                <c:pt idx="0">
                  <c:v>10th Negative Bar</c:v>
                </c:pt>
              </c:strCache>
            </c:strRef>
          </c:tx>
          <c:spPr>
            <a:solidFill>
              <a:srgbClr val="D9D9D9"/>
            </a:solidFill>
            <a:ln>
              <a:solidFill>
                <a:srgbClr val="D9D9D9"/>
              </a:solidFill>
            </a:ln>
          </c:spPr>
          <c:invertIfNegative val="0"/>
          <c:val>
            <c:numRef>
              <c:f>Sheet1!$E$18:$E$22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8AC4-4914-9EAF-6A7BACA84153}"/>
            </c:ext>
          </c:extLst>
        </c:ser>
        <c:dLbls>
          <c:showLegendKey val="0"/>
          <c:showVal val="0"/>
          <c:showCatName val="0"/>
          <c:showSerName val="0"/>
          <c:showPercent val="0"/>
          <c:showBubbleSize val="0"/>
        </c:dLbls>
        <c:gapWidth val="9"/>
        <c:overlap val="100"/>
        <c:axId val="1154865663"/>
        <c:axId val="1"/>
      </c:barChart>
      <c:scatterChart>
        <c:scatterStyle val="lineMarker"/>
        <c:varyColors val="0"/>
        <c:ser>
          <c:idx val="11"/>
          <c:order val="8"/>
          <c:tx>
            <c:strRef>
              <c:f>Sheet1!$B$8</c:f>
              <c:strCache>
                <c:ptCount val="1"/>
                <c:pt idx="0">
                  <c:v>Current Maturity</c:v>
                </c:pt>
              </c:strCache>
            </c:strRef>
          </c:tx>
          <c:marker>
            <c:symbol val="none"/>
          </c:marker>
          <c:xVal>
            <c:numRef>
              <c:f>Sheet1!$D$8</c:f>
              <c:numCache>
                <c:formatCode>0.00</c:formatCode>
                <c:ptCount val="1"/>
                <c:pt idx="0">
                  <c:v>2.2999999999999998</c:v>
                </c:pt>
              </c:numCache>
            </c:numRef>
          </c:xVal>
          <c:yVal>
            <c:numRef>
              <c:f>Sheet1!$D$14</c:f>
              <c:numCache>
                <c:formatCode>0.00</c:formatCode>
                <c:ptCount val="1"/>
                <c:pt idx="0">
                  <c:v>0</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8AC4-4914-9EAF-6A7BACA84153}"/>
            </c:ext>
          </c:extLst>
        </c:ser>
        <c:ser>
          <c:idx val="12"/>
          <c:order val="9"/>
          <c:tx>
            <c:strRef>
              <c:f>Sheet1!$B$9</c:f>
              <c:strCache>
                <c:ptCount val="1"/>
                <c:pt idx="0">
                  <c:v>Peers' Current Maturity</c:v>
                </c:pt>
              </c:strCache>
            </c:strRef>
          </c:tx>
          <c:marker>
            <c:symbol val="none"/>
          </c:marker>
          <c:xVal>
            <c:numRef>
              <c:f>Sheet1!$D$9</c:f>
              <c:numCache>
                <c:formatCode>0.00</c:formatCode>
                <c:ptCount val="1"/>
                <c:pt idx="0">
                  <c:v>1.7</c:v>
                </c:pt>
              </c:numCache>
            </c:numRef>
          </c:xVal>
          <c:yVal>
            <c:numRef>
              <c:f>Sheet1!$D$15</c:f>
              <c:numCache>
                <c:formatCode>0.00</c:formatCode>
                <c:ptCount val="1"/>
                <c:pt idx="0">
                  <c:v>0</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8AC4-4914-9EAF-6A7BACA84153}"/>
            </c:ext>
          </c:extLst>
        </c:ser>
        <c:ser>
          <c:idx val="13"/>
          <c:order val="10"/>
          <c:tx>
            <c:strRef>
              <c:f>Sheet1!$B$11</c:f>
              <c:strCache>
                <c:ptCount val="1"/>
                <c:pt idx="0">
                  <c:v>Minimum</c:v>
                </c:pt>
              </c:strCache>
            </c:strRef>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8AC4-4914-9EAF-6A7BACA84153}"/>
              </c:ext>
            </c:extLst>
          </c:dPt>
          <c:xVal>
            <c:numRef>
              <c:f>Sheet1!$D$11</c:f>
              <c:numCache>
                <c:formatCode>0.00</c:formatCode>
                <c:ptCount val="1"/>
                <c:pt idx="0">
                  <c:v>0</c:v>
                </c:pt>
              </c:numCache>
            </c:numRef>
          </c:xVal>
          <c:yVal>
            <c:numRef>
              <c:f>Sheet1!$D$16</c:f>
              <c:numCache>
                <c:formatCode>0.00</c:formatCode>
                <c:ptCount val="1"/>
                <c:pt idx="0">
                  <c:v>7.88</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8AC4-4914-9EAF-6A7BACA84153}"/>
            </c:ext>
          </c:extLst>
        </c:ser>
        <c:ser>
          <c:idx val="14"/>
          <c:order val="11"/>
          <c:tx>
            <c:strRef>
              <c:f>Sheet1!$B$12</c:f>
              <c:strCache>
                <c:ptCount val="1"/>
                <c:pt idx="0">
                  <c:v>Maximum</c:v>
                </c:pt>
              </c:strCache>
            </c:strRef>
          </c:tx>
          <c:marker>
            <c:symbol val="none"/>
          </c:marker>
          <c:xVal>
            <c:numRef>
              <c:f>Sheet1!$D$12</c:f>
              <c:numCache>
                <c:formatCode>0.00</c:formatCode>
                <c:ptCount val="1"/>
                <c:pt idx="0">
                  <c:v>0</c:v>
                </c:pt>
              </c:numCache>
            </c:numRef>
          </c:xVal>
          <c:yVal>
            <c:numRef>
              <c:f>Sheet1!$D$16</c:f>
              <c:numCache>
                <c:formatCode>0.00</c:formatCode>
                <c:ptCount val="1"/>
                <c:pt idx="0">
                  <c:v>7.88</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8AC4-4914-9EAF-6A7BACA84153}"/>
            </c:ext>
          </c:extLst>
        </c:ser>
        <c:ser>
          <c:idx val="15"/>
          <c:order val="12"/>
          <c:tx>
            <c:strRef>
              <c:f>Sheet1!$B$10</c:f>
              <c:strCache>
                <c:ptCount val="1"/>
                <c:pt idx="0">
                  <c:v>Target Maturity</c:v>
                </c:pt>
              </c:strCache>
            </c:strRef>
          </c:tx>
          <c:spPr>
            <a:ln>
              <a:noFill/>
            </a:ln>
          </c:spPr>
          <c:marker>
            <c:symbol val="none"/>
          </c:marker>
          <c:dLbls>
            <c:dLbl>
              <c:idx val="0"/>
              <c:spPr>
                <a:solidFill>
                  <a:srgbClr val="1F96FF"/>
                </a:solidFill>
                <a:ln>
                  <a:noFill/>
                </a:ln>
                <a:effectLst/>
              </c:spPr>
              <c:txPr>
                <a:bodyPr wrap="square" lIns="38100" tIns="19050" rIns="38100" bIns="19050" anchor="ctr">
                  <a:spAutoFit/>
                </a:bodyPr>
                <a:lstStyle/>
                <a:p>
                  <a:pPr>
                    <a:defRPr sz="16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8AC4-4914-9EAF-6A7BACA84153}"/>
                </c:ext>
              </c:extLst>
            </c:dLbl>
            <c:spPr>
              <a:solidFill>
                <a:srgbClr val="1F96FF"/>
              </a:solidFill>
              <a:ln>
                <a:solidFill>
                  <a:srgbClr val="002856">
                    <a:lumMod val="50000"/>
                    <a:lumOff val="50000"/>
                  </a:srgbClr>
                </a:solidFill>
              </a:ln>
              <a:effectLst/>
            </c:spPr>
            <c:txPr>
              <a:bodyPr wrap="square" lIns="38100" tIns="19050" rIns="38100" bIns="19050" anchor="ctr">
                <a:spAutoFit/>
              </a:bodyPr>
              <a:lstStyle/>
              <a:p>
                <a:pPr>
                  <a:defRPr sz="16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30.5"/>
            <c:spPr>
              <a:ln w="25400">
                <a:solidFill>
                  <a:srgbClr val="1F96FF"/>
                </a:solidFill>
              </a:ln>
            </c:spPr>
          </c:errBars>
          <c:xVal>
            <c:numRef>
              <c:f>Sheet1!$D$10</c:f>
              <c:numCache>
                <c:formatCode>0.0</c:formatCode>
                <c:ptCount val="1"/>
                <c:pt idx="0">
                  <c:v>3.4</c:v>
                </c:pt>
              </c:numCache>
            </c:numRef>
          </c:xVal>
          <c:yVal>
            <c:numRef>
              <c:f>Sheet1!$D$16</c:f>
              <c:numCache>
                <c:formatCode>0.00</c:formatCode>
                <c:ptCount val="1"/>
                <c:pt idx="0">
                  <c:v>7.88</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8AC4-4914-9EAF-6A7BACA84153}"/>
            </c:ext>
          </c:extLst>
        </c:ser>
        <c:ser>
          <c:idx val="16"/>
          <c:order val="13"/>
          <c:tx>
            <c:strRef>
              <c:f>Sheet1!$B$5</c:f>
              <c:strCache>
                <c:ptCount val="1"/>
                <c:pt idx="0">
                  <c:v>25th</c:v>
                </c:pt>
              </c:strCache>
            </c:strRef>
          </c:tx>
          <c:marker>
            <c:symbol val="none"/>
          </c:marker>
          <c:xVal>
            <c:numRef>
              <c:f>Sheet1!$D$5</c:f>
              <c:numCache>
                <c:formatCode>0.00</c:formatCode>
                <c:ptCount val="1"/>
                <c:pt idx="0">
                  <c:v>0</c:v>
                </c:pt>
              </c:numCache>
            </c:numRef>
          </c:xVal>
          <c:yVal>
            <c:numRef>
              <c:f>Sheet1!$D$16</c:f>
              <c:numCache>
                <c:formatCode>0.00</c:formatCode>
                <c:ptCount val="1"/>
                <c:pt idx="0">
                  <c:v>7.88</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8AC4-4914-9EAF-6A7BACA84153}"/>
            </c:ext>
          </c:extLst>
        </c:ser>
        <c:ser>
          <c:idx val="17"/>
          <c:order val="14"/>
          <c:tx>
            <c:strRef>
              <c:f>Sheet1!$B$6</c:f>
              <c:strCache>
                <c:ptCount val="1"/>
                <c:pt idx="0">
                  <c:v>75th</c:v>
                </c:pt>
              </c:strCache>
            </c:strRef>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8AC4-4914-9EAF-6A7BACA84153}"/>
              </c:ext>
            </c:extLst>
          </c:dPt>
          <c:xVal>
            <c:numRef>
              <c:f>Sheet1!$D$6</c:f>
              <c:numCache>
                <c:formatCode>0.00</c:formatCode>
                <c:ptCount val="1"/>
                <c:pt idx="0">
                  <c:v>0</c:v>
                </c:pt>
              </c:numCache>
            </c:numRef>
          </c:xVal>
          <c:yVal>
            <c:numRef>
              <c:f>Sheet1!$D$16</c:f>
              <c:numCache>
                <c:formatCode>0.00</c:formatCode>
                <c:ptCount val="1"/>
                <c:pt idx="0">
                  <c:v>7.88</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5-8AC4-4914-9EAF-6A7BACA84153}"/>
            </c:ext>
          </c:extLst>
        </c:ser>
        <c:ser>
          <c:idx val="6"/>
          <c:order val="15"/>
          <c:tx>
            <c:strRef>
              <c:f>Sheet1!$B$13</c:f>
              <c:strCache>
                <c:ptCount val="1"/>
                <c:pt idx="0">
                  <c:v>Peers' Target Maturity</c:v>
                </c:pt>
              </c:strCache>
            </c:strRef>
          </c:tx>
          <c:marker>
            <c:symbol val="none"/>
          </c:marker>
          <c:dLbls>
            <c:spPr>
              <a:solidFill>
                <a:srgbClr val="1F96FF"/>
              </a:solidFill>
              <a:ln>
                <a:noFill/>
              </a:ln>
              <a:effectLst/>
            </c:spPr>
            <c:txPr>
              <a:bodyPr wrap="square" lIns="38100" tIns="19050" rIns="38100" bIns="19050" anchor="ctr">
                <a:spAutoFit/>
              </a:bodyPr>
              <a:lstStyle/>
              <a:p>
                <a:pPr>
                  <a:defRPr sz="16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errBars>
            <c:errDir val="y"/>
            <c:errBarType val="minus"/>
            <c:errValType val="percentage"/>
            <c:noEndCap val="1"/>
            <c:val val="56"/>
            <c:spPr>
              <a:ln w="25400">
                <a:solidFill>
                  <a:srgbClr val="1F96FF"/>
                </a:solidFill>
              </a:ln>
            </c:spPr>
          </c:errBars>
          <c:xVal>
            <c:numRef>
              <c:f>Sheet1!$D$13</c:f>
              <c:numCache>
                <c:formatCode>0.0</c:formatCode>
                <c:ptCount val="1"/>
                <c:pt idx="0">
                  <c:v>2.9</c:v>
                </c:pt>
              </c:numCache>
            </c:numRef>
          </c:xVal>
          <c:yVal>
            <c:numRef>
              <c:f>Sheet1!$E$16</c:f>
              <c:numCache>
                <c:formatCode>#,##0.00</c:formatCode>
                <c:ptCount val="1"/>
                <c:pt idx="0">
                  <c:v>4.29</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6-8AC4-4914-9EAF-6A7BACA84153}"/>
            </c:ext>
          </c:extLst>
        </c:ser>
        <c:dLbls>
          <c:showLegendKey val="0"/>
          <c:showVal val="0"/>
          <c:showCatName val="0"/>
          <c:showSerName val="0"/>
          <c:showPercent val="0"/>
          <c:showBubbleSize val="0"/>
        </c:dLbls>
        <c:axId val="1509330271"/>
        <c:axId val="1509351903"/>
      </c:scatterChart>
      <c:catAx>
        <c:axId val="1154865663"/>
        <c:scaling>
          <c:orientation val="minMax"/>
        </c:scaling>
        <c:delete val="0"/>
        <c:axPos val="l"/>
        <c:numFmt formatCode="General" sourceLinked="1"/>
        <c:majorTickMark val="none"/>
        <c:minorTickMark val="none"/>
        <c:tickLblPos val="none"/>
        <c:spPr>
          <a:ln w="12700">
            <a:noFill/>
          </a:ln>
        </c:spPr>
        <c:txPr>
          <a:bodyPr/>
          <a:lstStyle/>
          <a:p>
            <a:pPr>
              <a:defRPr smtId="4294967295">
                <a:solidFill>
                  <a:srgbClr val="000000"/>
                </a:solidFill>
              </a:defRPr>
            </a:pPr>
            <a:endParaRPr lang="en-US"/>
          </a:p>
        </c:txPr>
        <c:crossAx val="1"/>
        <c:crosses val="autoZero"/>
        <c:auto val="0"/>
        <c:lblAlgn val="ctr"/>
        <c:lblOffset val="100"/>
        <c:noMultiLvlLbl val="1"/>
      </c:catAx>
      <c:valAx>
        <c:axId val="1"/>
        <c:scaling>
          <c:orientation val="minMax"/>
          <c:max val="5"/>
          <c:min val="0"/>
        </c:scaling>
        <c:delete val="0"/>
        <c:axPos val="b"/>
        <c:numFmt formatCode="#,##0" sourceLinked="0"/>
        <c:majorTickMark val="out"/>
        <c:minorTickMark val="none"/>
        <c:tickLblPos val="nextTo"/>
        <c:spPr>
          <a:ln>
            <a:solidFill>
              <a:srgbClr val="B8B8B8"/>
            </a:solidFill>
          </a:ln>
        </c:spPr>
        <c:txPr>
          <a:bodyPr/>
          <a:lstStyle/>
          <a:p>
            <a:pPr>
              <a:defRPr sz="1600" smtId="4294967295">
                <a:solidFill>
                  <a:srgbClr val="595959"/>
                </a:solidFill>
                <a:latin typeface="Gartner Sans" panose="020B0504030402040204" pitchFamily="34" charset="0"/>
                <a:ea typeface="Roboto" panose="02000000000000000000" pitchFamily="2" charset="0"/>
                <a:cs typeface="Roboto" panose="02000000000000000000" pitchFamily="2" charset="0"/>
              </a:defRPr>
            </a:pPr>
            <a:endParaRPr lang="en-US"/>
          </a:p>
        </c:txPr>
        <c:crossAx val="1154865663"/>
        <c:crossesAt val="1"/>
        <c:crossBetween val="between"/>
        <c:majorUnit val="1"/>
        <c:minorUnit val="0.1"/>
      </c:valAx>
      <c:valAx>
        <c:axId val="1509330271"/>
        <c:scaling>
          <c:orientation val="minMax"/>
        </c:scaling>
        <c:delete val="1"/>
        <c:axPos val="b"/>
        <c:numFmt formatCode="0.00" sourceLinked="1"/>
        <c:majorTickMark val="out"/>
        <c:minorTickMark val="none"/>
        <c:tickLblPos val="nextTo"/>
        <c:crossAx val="1509351903"/>
        <c:crosses val="autoZero"/>
        <c:crossBetween val="midCat"/>
      </c:valAx>
      <c:valAx>
        <c:axId val="1509351903"/>
        <c:scaling>
          <c:orientation val="minMax"/>
          <c:max val="9"/>
        </c:scaling>
        <c:delete val="1"/>
        <c:axPos val="l"/>
        <c:numFmt formatCode="0.00" sourceLinked="1"/>
        <c:majorTickMark val="out"/>
        <c:minorTickMark val="none"/>
        <c:tickLblPos val="nextTo"/>
        <c:crossAx val="1509330271"/>
        <c:crosses val="autoZero"/>
        <c:crossBetween val="midCat"/>
      </c:valAx>
      <c:spPr>
        <a:noFill/>
        <a:ln>
          <a:noFill/>
        </a:ln>
      </c:spPr>
    </c:plotArea>
    <c:plotVisOnly val="1"/>
    <c:dispBlanksAs val="gap"/>
    <c:showDLblsOverMax val="0"/>
  </c:chart>
  <c:spPr>
    <a:noFill/>
    <a:ln>
      <a:noFill/>
    </a:ln>
  </c:sp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552667424082756E-2"/>
          <c:y val="0.12789101898670197"/>
          <c:w val="0.89955431222915649"/>
          <c:h val="0.70749789476394653"/>
        </c:manualLayout>
      </c:layout>
      <c:barChart>
        <c:barDir val="bar"/>
        <c:grouping val="stacked"/>
        <c:varyColors val="0"/>
        <c:ser>
          <c:idx val="0"/>
          <c:order val="0"/>
          <c:tx>
            <c:strRef>
              <c:f>Sheet1!$B$8</c:f>
              <c:strCache>
                <c:ptCount val="1"/>
                <c:pt idx="0">
                  <c:v>Current Maturity</c:v>
                </c:pt>
              </c:strCache>
            </c:strRef>
          </c:tx>
          <c:spPr>
            <a:ln>
              <a:noFill/>
            </a:ln>
          </c:spPr>
          <c:invertIfNegative val="0"/>
          <c:dPt>
            <c:idx val="1"/>
            <c:invertIfNegative val="0"/>
            <c:bubble3D val="0"/>
            <c:spPr>
              <a:solidFill>
                <a:srgbClr val="002869"/>
              </a:solidFill>
              <a:ln>
                <a:noFill/>
              </a:ln>
            </c:spPr>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1-E037-483F-B844-31DC005D4F1F}"/>
              </c:ext>
            </c:extLst>
          </c:dPt>
          <c:dPt>
            <c:idx val="3"/>
            <c:invertIfNegative val="0"/>
            <c:bubble3D val="0"/>
            <c:spPr>
              <a:solidFill>
                <a:srgbClr val="002869"/>
              </a:solidFill>
              <a:ln>
                <a:noFill/>
              </a:ln>
            </c:spPr>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3-E037-483F-B844-31DC005D4F1F}"/>
              </c:ext>
            </c:extLst>
          </c:dPt>
          <c:dLbls>
            <c:dLbl>
              <c:idx val="1"/>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E037-483F-B844-31DC005D4F1F}"/>
                </c:ext>
              </c:extLst>
            </c:dLbl>
            <c:dLbl>
              <c:idx val="3"/>
              <c:tx>
                <c:rich>
                  <a:bodyPr/>
                  <a:lstStyle/>
                  <a:p>
                    <a:fld id="{02CCA8D1-8A57-45F3-9042-D0BBE99ABD9E}" type="VALUE">
                      <a:rPr lang="en-US" sz="1200" b="1">
                        <a:solidFill>
                          <a:schemeClr val="bg1"/>
                        </a:solidFill>
                        <a:latin typeface="Gartner Sans" panose="020B0504030402040204" pitchFamily="34" charset="0"/>
                      </a:rPr>
                      <a:pPr/>
                      <a:t>[VALUE]</a:t>
                    </a:fld>
                    <a:endParaRPr lang="en-US"/>
                  </a:p>
                </c:rich>
              </c:tx>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dlblFieldTable/>
                  <c15:showDataLabelsRange val="0"/>
                </c:ext>
                <c:ext xmlns:c16="http://schemas.microsoft.com/office/drawing/2014/chart" uri="{C3380CC4-5D6E-409C-BE32-E72D297353CC}">
                  <c16:uniqueId val="{00000003-E037-483F-B844-31DC005D4F1F}"/>
                </c:ext>
              </c:extLst>
            </c:dLbl>
            <c:spPr>
              <a:noFill/>
              <a:ln>
                <a:noFill/>
              </a:ln>
              <a:effectLst/>
            </c:spPr>
            <c:txPr>
              <a:bodyPr wrap="square" lIns="38100" tIns="19050" rIns="38100" bIns="19050" anchor="ctr">
                <a:spAutoFit/>
              </a:bodyPr>
              <a:lstStyle/>
              <a:p>
                <a:pPr>
                  <a:defRPr sz="12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inEnd"/>
            <c:showLegendKey val="0"/>
            <c:showVal val="0"/>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val>
            <c:numRef>
              <c:f>Sheet1!$D$18:$D$22</c:f>
              <c:numCache>
                <c:formatCode>#,##0.0</c:formatCode>
                <c:ptCount val="5"/>
                <c:pt idx="0">
                  <c:v>0</c:v>
                </c:pt>
                <c:pt idx="1">
                  <c:v>1.8</c:v>
                </c:pt>
                <c:pt idx="2">
                  <c:v>0</c:v>
                </c:pt>
                <c:pt idx="3">
                  <c:v>3.4</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E037-483F-B844-31DC005D4F1F}"/>
            </c:ext>
          </c:extLst>
        </c:ser>
        <c:ser>
          <c:idx val="2"/>
          <c:order val="1"/>
          <c:tx>
            <c:strRef>
              <c:f>Sheet1!$F$17</c:f>
              <c:strCache>
                <c:ptCount val="1"/>
                <c:pt idx="0">
                  <c:v>10th Positive Bar</c:v>
                </c:pt>
              </c:strCache>
            </c:strRef>
          </c:tx>
          <c:spPr>
            <a:noFill/>
            <a:ln>
              <a:noFill/>
            </a:ln>
          </c:spPr>
          <c:invertIfNegative val="0"/>
          <c:val>
            <c:numRef>
              <c:f>Sheet1!$F$18:$F$22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E037-483F-B844-31DC005D4F1F}"/>
            </c:ext>
          </c:extLst>
        </c:ser>
        <c:ser>
          <c:idx val="4"/>
          <c:order val="2"/>
          <c:tx>
            <c:strRef>
              <c:f>Sheet1!$H$17</c:f>
              <c:strCache>
                <c:ptCount val="1"/>
                <c:pt idx="0">
                  <c:v>25th Positive Bar</c:v>
                </c:pt>
              </c:strCache>
            </c:strRef>
          </c:tx>
          <c:spPr>
            <a:solidFill>
              <a:srgbClr val="D9D9D9"/>
            </a:solidFill>
            <a:ln>
              <a:solidFill>
                <a:srgbClr val="D9D9D9"/>
              </a:solidFill>
            </a:ln>
          </c:spPr>
          <c:invertIfNegative val="0"/>
          <c:val>
            <c:numRef>
              <c:f>Sheet1!$H$18:$H$22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E037-483F-B844-31DC005D4F1F}"/>
            </c:ext>
          </c:extLst>
        </c:ser>
        <c:ser>
          <c:idx val="8"/>
          <c:order val="3"/>
          <c:tx>
            <c:strRef>
              <c:f>Sheet1!$L$17</c:f>
              <c:strCache>
                <c:ptCount val="1"/>
                <c:pt idx="0">
                  <c:v>90th Positive Bar</c:v>
                </c:pt>
              </c:strCache>
            </c:strRef>
          </c:tx>
          <c:spPr>
            <a:solidFill>
              <a:srgbClr val="D9D9D9"/>
            </a:solidFill>
            <a:ln>
              <a:noFill/>
            </a:ln>
          </c:spPr>
          <c:invertIfNegative val="0"/>
          <c:val>
            <c:numRef>
              <c:f>Sheet1!$L$18:$L$22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E037-483F-B844-31DC005D4F1F}"/>
            </c:ext>
          </c:extLst>
        </c:ser>
        <c:ser>
          <c:idx val="7"/>
          <c:order val="4"/>
          <c:tx>
            <c:strRef>
              <c:f>Sheet1!$K$17</c:f>
              <c:strCache>
                <c:ptCount val="1"/>
                <c:pt idx="0">
                  <c:v>90th Negative Bar</c:v>
                </c:pt>
              </c:strCache>
            </c:strRef>
          </c:tx>
          <c:spPr>
            <a:noFill/>
          </c:spPr>
          <c:invertIfNegative val="0"/>
          <c:val>
            <c:numRef>
              <c:f>Sheet1!$K$18:$K$22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E037-483F-B844-31DC005D4F1F}"/>
            </c:ext>
          </c:extLst>
        </c:ser>
        <c:ser>
          <c:idx val="5"/>
          <c:order val="5"/>
          <c:tx>
            <c:strRef>
              <c:f>Sheet1!$I$17</c:f>
              <c:strCache>
                <c:ptCount val="1"/>
                <c:pt idx="0">
                  <c:v>75th Negative Bar</c:v>
                </c:pt>
              </c:strCache>
            </c:strRef>
          </c:tx>
          <c:spPr>
            <a:noFill/>
          </c:spPr>
          <c:invertIfNegative val="0"/>
          <c:val>
            <c:numRef>
              <c:f>Sheet1!$I$18:$I$22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E037-483F-B844-31DC005D4F1F}"/>
            </c:ext>
          </c:extLst>
        </c:ser>
        <c:ser>
          <c:idx val="3"/>
          <c:order val="6"/>
          <c:tx>
            <c:strRef>
              <c:f>Sheet1!$G$17</c:f>
              <c:strCache>
                <c:ptCount val="1"/>
                <c:pt idx="0">
                  <c:v>25th Negative Bar</c:v>
                </c:pt>
              </c:strCache>
            </c:strRef>
          </c:tx>
          <c:spPr>
            <a:solidFill>
              <a:srgbClr val="BFBFBF"/>
            </a:solidFill>
            <a:ln>
              <a:solidFill>
                <a:srgbClr val="BFBFBF"/>
              </a:solidFill>
            </a:ln>
          </c:spPr>
          <c:invertIfNegative val="0"/>
          <c:val>
            <c:numRef>
              <c:f>Sheet1!$G$18:$G$22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E037-483F-B844-31DC005D4F1F}"/>
            </c:ext>
          </c:extLst>
        </c:ser>
        <c:ser>
          <c:idx val="1"/>
          <c:order val="7"/>
          <c:tx>
            <c:strRef>
              <c:f>Sheet1!$E$17</c:f>
              <c:strCache>
                <c:ptCount val="1"/>
                <c:pt idx="0">
                  <c:v>10th Negative Bar</c:v>
                </c:pt>
              </c:strCache>
            </c:strRef>
          </c:tx>
          <c:spPr>
            <a:solidFill>
              <a:srgbClr val="D9D9D9"/>
            </a:solidFill>
            <a:ln>
              <a:solidFill>
                <a:srgbClr val="D9D9D9"/>
              </a:solidFill>
            </a:ln>
          </c:spPr>
          <c:invertIfNegative val="0"/>
          <c:val>
            <c:numRef>
              <c:f>Sheet1!$E$18:$E$22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E037-483F-B844-31DC005D4F1F}"/>
            </c:ext>
          </c:extLst>
        </c:ser>
        <c:dLbls>
          <c:showLegendKey val="0"/>
          <c:showVal val="0"/>
          <c:showCatName val="0"/>
          <c:showSerName val="0"/>
          <c:showPercent val="0"/>
          <c:showBubbleSize val="0"/>
        </c:dLbls>
        <c:gapWidth val="9"/>
        <c:overlap val="100"/>
        <c:axId val="1154865663"/>
        <c:axId val="1"/>
      </c:barChart>
      <c:scatterChart>
        <c:scatterStyle val="lineMarker"/>
        <c:varyColors val="0"/>
        <c:ser>
          <c:idx val="11"/>
          <c:order val="8"/>
          <c:tx>
            <c:strRef>
              <c:f>Sheet1!$B$8</c:f>
              <c:strCache>
                <c:ptCount val="1"/>
                <c:pt idx="0">
                  <c:v>Current Maturity</c:v>
                </c:pt>
              </c:strCache>
            </c:strRef>
          </c:tx>
          <c:marker>
            <c:symbol val="none"/>
          </c:marker>
          <c:xVal>
            <c:numRef>
              <c:f>Sheet1!$D$8</c:f>
              <c:numCache>
                <c:formatCode>0.00</c:formatCode>
                <c:ptCount val="1"/>
                <c:pt idx="0">
                  <c:v>3.4</c:v>
                </c:pt>
              </c:numCache>
            </c:numRef>
          </c:xVal>
          <c:yVal>
            <c:numRef>
              <c:f>Sheet1!$D$14</c:f>
              <c:numCache>
                <c:formatCode>0.00</c:formatCode>
                <c:ptCount val="1"/>
                <c:pt idx="0">
                  <c:v>0</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E037-483F-B844-31DC005D4F1F}"/>
            </c:ext>
          </c:extLst>
        </c:ser>
        <c:ser>
          <c:idx val="12"/>
          <c:order val="9"/>
          <c:tx>
            <c:strRef>
              <c:f>Sheet1!$B$9</c:f>
              <c:strCache>
                <c:ptCount val="1"/>
                <c:pt idx="0">
                  <c:v>Peers' Current Maturity</c:v>
                </c:pt>
              </c:strCache>
            </c:strRef>
          </c:tx>
          <c:marker>
            <c:symbol val="none"/>
          </c:marker>
          <c:xVal>
            <c:numRef>
              <c:f>Sheet1!$D$9</c:f>
              <c:numCache>
                <c:formatCode>0.00</c:formatCode>
                <c:ptCount val="1"/>
                <c:pt idx="0">
                  <c:v>1.8</c:v>
                </c:pt>
              </c:numCache>
            </c:numRef>
          </c:xVal>
          <c:yVal>
            <c:numRef>
              <c:f>Sheet1!$D$15</c:f>
              <c:numCache>
                <c:formatCode>0.00</c:formatCode>
                <c:ptCount val="1"/>
                <c:pt idx="0">
                  <c:v>0</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E037-483F-B844-31DC005D4F1F}"/>
            </c:ext>
          </c:extLst>
        </c:ser>
        <c:ser>
          <c:idx val="13"/>
          <c:order val="10"/>
          <c:tx>
            <c:strRef>
              <c:f>Sheet1!$B$11</c:f>
              <c:strCache>
                <c:ptCount val="1"/>
                <c:pt idx="0">
                  <c:v>Minimum</c:v>
                </c:pt>
              </c:strCache>
            </c:strRef>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E037-483F-B844-31DC005D4F1F}"/>
              </c:ext>
            </c:extLst>
          </c:dPt>
          <c:xVal>
            <c:numRef>
              <c:f>Sheet1!$D$11</c:f>
              <c:numCache>
                <c:formatCode>0.00</c:formatCode>
                <c:ptCount val="1"/>
                <c:pt idx="0">
                  <c:v>0</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E037-483F-B844-31DC005D4F1F}"/>
            </c:ext>
          </c:extLst>
        </c:ser>
        <c:ser>
          <c:idx val="14"/>
          <c:order val="11"/>
          <c:tx>
            <c:strRef>
              <c:f>Sheet1!$B$12</c:f>
              <c:strCache>
                <c:ptCount val="1"/>
                <c:pt idx="0">
                  <c:v>Maximum</c:v>
                </c:pt>
              </c:strCache>
            </c:strRef>
          </c:tx>
          <c:marker>
            <c:symbol val="none"/>
          </c:marker>
          <c:xVal>
            <c:numRef>
              <c:f>Sheet1!$D$12</c:f>
              <c:numCache>
                <c:formatCode>0.00</c:formatCode>
                <c:ptCount val="1"/>
                <c:pt idx="0">
                  <c:v>0</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E037-483F-B844-31DC005D4F1F}"/>
            </c:ext>
          </c:extLst>
        </c:ser>
        <c:ser>
          <c:idx val="15"/>
          <c:order val="12"/>
          <c:tx>
            <c:strRef>
              <c:f>Sheet1!$B$10</c:f>
              <c:strCache>
                <c:ptCount val="1"/>
                <c:pt idx="0">
                  <c:v>Target Maturity</c:v>
                </c:pt>
              </c:strCache>
            </c:strRef>
          </c:tx>
          <c:spPr>
            <a:ln>
              <a:noFill/>
            </a:ln>
          </c:spPr>
          <c:marker>
            <c:symbol val="none"/>
          </c:marker>
          <c:dLbls>
            <c:dLbl>
              <c:idx val="0"/>
              <c:spPr>
                <a:solidFill>
                  <a:srgbClr val="1F96FF"/>
                </a:solidFill>
                <a:ln>
                  <a:noFill/>
                </a:ln>
                <a:effectLst/>
              </c:spPr>
              <c:txPr>
                <a:bodyPr wrap="square" lIns="38100" tIns="19050" rIns="38100" bIns="19050" anchor="ctr">
                  <a:spAutoFit/>
                </a:bodyPr>
                <a:lstStyle/>
                <a:p>
                  <a:pPr>
                    <a:defRPr sz="12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E037-483F-B844-31DC005D4F1F}"/>
                </c:ext>
              </c:extLst>
            </c:dLbl>
            <c:spPr>
              <a:solidFill>
                <a:srgbClr val="1F96FF"/>
              </a:solidFill>
              <a:ln>
                <a:solidFill>
                  <a:srgbClr val="002856">
                    <a:lumMod val="50000"/>
                    <a:lumOff val="50000"/>
                  </a:srgbClr>
                </a:solidFill>
              </a:ln>
              <a:effectLst/>
            </c:spPr>
            <c:txPr>
              <a:bodyPr wrap="square" lIns="38100" tIns="19050" rIns="38100" bIns="19050" anchor="ctr">
                <a:spAutoFit/>
              </a:bodyPr>
              <a:lstStyle/>
              <a:p>
                <a:pPr>
                  <a:defRPr sz="12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34.5"/>
            <c:spPr>
              <a:ln w="25400">
                <a:solidFill>
                  <a:srgbClr val="1F96FF"/>
                </a:solidFill>
              </a:ln>
            </c:spPr>
          </c:errBars>
          <c:xVal>
            <c:numRef>
              <c:f>Sheet1!$D$10</c:f>
              <c:numCache>
                <c:formatCode>0.0</c:formatCode>
                <c:ptCount val="1"/>
                <c:pt idx="0">
                  <c:v>4.8</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E037-483F-B844-31DC005D4F1F}"/>
            </c:ext>
          </c:extLst>
        </c:ser>
        <c:ser>
          <c:idx val="16"/>
          <c:order val="13"/>
          <c:tx>
            <c:strRef>
              <c:f>Sheet1!$B$5</c:f>
              <c:strCache>
                <c:ptCount val="1"/>
                <c:pt idx="0">
                  <c:v>25th</c:v>
                </c:pt>
              </c:strCache>
            </c:strRef>
          </c:tx>
          <c:marker>
            <c:symbol val="none"/>
          </c:marker>
          <c:xVal>
            <c:numRef>
              <c:f>Sheet1!$D$5</c:f>
              <c:numCache>
                <c:formatCode>0.00</c:formatCode>
                <c:ptCount val="1"/>
                <c:pt idx="0">
                  <c:v>0</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E037-483F-B844-31DC005D4F1F}"/>
            </c:ext>
          </c:extLst>
        </c:ser>
        <c:ser>
          <c:idx val="17"/>
          <c:order val="14"/>
          <c:tx>
            <c:strRef>
              <c:f>Sheet1!$B$6</c:f>
              <c:strCache>
                <c:ptCount val="1"/>
                <c:pt idx="0">
                  <c:v>75th</c:v>
                </c:pt>
              </c:strCache>
            </c:strRef>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E037-483F-B844-31DC005D4F1F}"/>
              </c:ext>
            </c:extLst>
          </c:dPt>
          <c:xVal>
            <c:numRef>
              <c:f>Sheet1!$D$6</c:f>
              <c:numCache>
                <c:formatCode>0.00</c:formatCode>
                <c:ptCount val="1"/>
                <c:pt idx="0">
                  <c:v>0</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5-E037-483F-B844-31DC005D4F1F}"/>
            </c:ext>
          </c:extLst>
        </c:ser>
        <c:ser>
          <c:idx val="6"/>
          <c:order val="15"/>
          <c:tx>
            <c:strRef>
              <c:f>Sheet1!$B$13</c:f>
              <c:strCache>
                <c:ptCount val="1"/>
                <c:pt idx="0">
                  <c:v>Peers' Target Maturity</c:v>
                </c:pt>
              </c:strCache>
            </c:strRef>
          </c:tx>
          <c:marker>
            <c:symbol val="none"/>
          </c:marker>
          <c:dLbls>
            <c:spPr>
              <a:solidFill>
                <a:srgbClr val="1F96FF"/>
              </a:solidFill>
              <a:ln>
                <a:noFill/>
              </a:ln>
              <a:effectLst/>
            </c:spPr>
            <c:txPr>
              <a:bodyPr wrap="square" lIns="38100" tIns="19050" rIns="38100" bIns="19050" anchor="ctr">
                <a:spAutoFit/>
              </a:bodyPr>
              <a:lstStyle/>
              <a:p>
                <a:pPr>
                  <a:defRPr sz="12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errBars>
            <c:errDir val="y"/>
            <c:errBarType val="minus"/>
            <c:errValType val="percentage"/>
            <c:noEndCap val="1"/>
            <c:val val="70.5"/>
            <c:spPr>
              <a:ln w="25400">
                <a:solidFill>
                  <a:srgbClr val="1F96FF"/>
                </a:solidFill>
              </a:ln>
            </c:spPr>
          </c:errBars>
          <c:xVal>
            <c:numRef>
              <c:f>Sheet1!$D$13</c:f>
              <c:numCache>
                <c:formatCode>0.0</c:formatCode>
                <c:ptCount val="1"/>
                <c:pt idx="0">
                  <c:v>3.1</c:v>
                </c:pt>
              </c:numCache>
            </c:numRef>
          </c:xVal>
          <c:yVal>
            <c:numRef>
              <c:f>Sheet1!$E$16</c:f>
              <c:numCache>
                <c:formatCode>#,##0.00</c:formatCode>
                <c:ptCount val="1"/>
                <c:pt idx="0">
                  <c:v>3.7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6-E037-483F-B844-31DC005D4F1F}"/>
            </c:ext>
          </c:extLst>
        </c:ser>
        <c:dLbls>
          <c:showLegendKey val="0"/>
          <c:showVal val="0"/>
          <c:showCatName val="0"/>
          <c:showSerName val="0"/>
          <c:showPercent val="0"/>
          <c:showBubbleSize val="0"/>
        </c:dLbls>
        <c:axId val="1509330271"/>
        <c:axId val="1509351903"/>
      </c:scatterChart>
      <c:catAx>
        <c:axId val="1154865663"/>
        <c:scaling>
          <c:orientation val="minMax"/>
        </c:scaling>
        <c:delete val="0"/>
        <c:axPos val="l"/>
        <c:numFmt formatCode="General" sourceLinked="1"/>
        <c:majorTickMark val="none"/>
        <c:minorTickMark val="none"/>
        <c:tickLblPos val="none"/>
        <c:spPr>
          <a:ln w="12700">
            <a:noFill/>
          </a:ln>
        </c:spPr>
        <c:txPr>
          <a:bodyPr/>
          <a:lstStyle/>
          <a:p>
            <a:pPr>
              <a:defRPr smtId="4294967295">
                <a:solidFill>
                  <a:srgbClr val="000000"/>
                </a:solidFill>
              </a:defRPr>
            </a:pPr>
            <a:endParaRPr lang="en-US"/>
          </a:p>
        </c:txPr>
        <c:crossAx val="1"/>
        <c:crosses val="autoZero"/>
        <c:auto val="0"/>
        <c:lblAlgn val="ctr"/>
        <c:lblOffset val="100"/>
        <c:noMultiLvlLbl val="1"/>
      </c:catAx>
      <c:valAx>
        <c:axId val="1"/>
        <c:scaling>
          <c:orientation val="minMax"/>
          <c:max val="5"/>
          <c:min val="0"/>
        </c:scaling>
        <c:delete val="1"/>
        <c:axPos val="b"/>
        <c:numFmt formatCode="#,##0" sourceLinked="0"/>
        <c:majorTickMark val="out"/>
        <c:minorTickMark val="none"/>
        <c:tickLblPos val="nextTo"/>
        <c:crossAx val="1154865663"/>
        <c:crossesAt val="1"/>
        <c:crossBetween val="between"/>
        <c:majorUnit val="1"/>
        <c:minorUnit val="0.1"/>
      </c:valAx>
      <c:valAx>
        <c:axId val="1509330271"/>
        <c:scaling>
          <c:orientation val="minMax"/>
        </c:scaling>
        <c:delete val="1"/>
        <c:axPos val="b"/>
        <c:numFmt formatCode="0.00" sourceLinked="1"/>
        <c:majorTickMark val="out"/>
        <c:minorTickMark val="none"/>
        <c:tickLblPos val="nextTo"/>
        <c:crossAx val="1509351903"/>
        <c:crosses val="autoZero"/>
        <c:crossBetween val="midCat"/>
      </c:valAx>
      <c:valAx>
        <c:axId val="1509351903"/>
        <c:scaling>
          <c:orientation val="minMax"/>
          <c:max val="9"/>
        </c:scaling>
        <c:delete val="1"/>
        <c:axPos val="l"/>
        <c:numFmt formatCode="0.00" sourceLinked="1"/>
        <c:majorTickMark val="out"/>
        <c:minorTickMark val="none"/>
        <c:tickLblPos val="nextTo"/>
        <c:crossAx val="1509330271"/>
        <c:crosses val="autoZero"/>
        <c:crossBetween val="midCat"/>
      </c:valAx>
      <c:spPr>
        <a:noFill/>
        <a:ln>
          <a:noFill/>
        </a:ln>
      </c:spPr>
    </c:plotArea>
    <c:plotVisOnly val="1"/>
    <c:dispBlanksAs val="gap"/>
    <c:showDLblsOverMax val="0"/>
  </c:chart>
  <c:spPr>
    <a:noFill/>
    <a:ln>
      <a:noFill/>
    </a:ln>
  </c:sp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552667424082756E-2"/>
          <c:y val="0.12789101898670197"/>
          <c:w val="0.89955431222915649"/>
          <c:h val="0.70749789476394653"/>
        </c:manualLayout>
      </c:layout>
      <c:barChart>
        <c:barDir val="bar"/>
        <c:grouping val="stacked"/>
        <c:varyColors val="0"/>
        <c:ser>
          <c:idx val="0"/>
          <c:order val="0"/>
          <c:tx>
            <c:strRef>
              <c:f>Sheet1!$B$8</c:f>
              <c:strCache>
                <c:ptCount val="1"/>
                <c:pt idx="0">
                  <c:v>Current Maturity</c:v>
                </c:pt>
              </c:strCache>
            </c:strRef>
          </c:tx>
          <c:spPr>
            <a:ln>
              <a:noFill/>
            </a:ln>
          </c:spPr>
          <c:invertIfNegative val="0"/>
          <c:dPt>
            <c:idx val="1"/>
            <c:invertIfNegative val="0"/>
            <c:bubble3D val="0"/>
            <c:spPr>
              <a:solidFill>
                <a:srgbClr val="002869"/>
              </a:solidFill>
              <a:ln>
                <a:noFill/>
              </a:ln>
            </c:spPr>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1-F150-4638-8E7C-E4EF5E39CB6A}"/>
              </c:ext>
            </c:extLst>
          </c:dPt>
          <c:dPt>
            <c:idx val="3"/>
            <c:invertIfNegative val="0"/>
            <c:bubble3D val="0"/>
            <c:spPr>
              <a:solidFill>
                <a:srgbClr val="002869"/>
              </a:solidFill>
              <a:ln>
                <a:noFill/>
              </a:ln>
            </c:spPr>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3-F150-4638-8E7C-E4EF5E39CB6A}"/>
              </c:ext>
            </c:extLst>
          </c:dPt>
          <c:dLbls>
            <c:dLbl>
              <c:idx val="1"/>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F150-4638-8E7C-E4EF5E39CB6A}"/>
                </c:ext>
              </c:extLst>
            </c:dLbl>
            <c:dLbl>
              <c:idx val="3"/>
              <c:tx>
                <c:rich>
                  <a:bodyPr/>
                  <a:lstStyle/>
                  <a:p>
                    <a:fld id="{02CCA8D1-8A57-45F3-9042-D0BBE99ABD9E}" type="VALUE">
                      <a:rPr lang="en-US" sz="1200" b="1">
                        <a:solidFill>
                          <a:schemeClr val="bg1"/>
                        </a:solidFill>
                        <a:latin typeface="Gartner Sans" panose="020B0504030402040204" pitchFamily="34" charset="0"/>
                      </a:rPr>
                      <a:pPr/>
                      <a:t>[VALUE]</a:t>
                    </a:fld>
                    <a:endParaRPr lang="en-US"/>
                  </a:p>
                </c:rich>
              </c:tx>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dlblFieldTable/>
                  <c15:showDataLabelsRange val="0"/>
                </c:ext>
                <c:ext xmlns:c16="http://schemas.microsoft.com/office/drawing/2014/chart" uri="{C3380CC4-5D6E-409C-BE32-E72D297353CC}">
                  <c16:uniqueId val="{00000003-F150-4638-8E7C-E4EF5E39CB6A}"/>
                </c:ext>
              </c:extLst>
            </c:dLbl>
            <c:spPr>
              <a:noFill/>
              <a:ln>
                <a:noFill/>
              </a:ln>
              <a:effectLst/>
            </c:spPr>
            <c:txPr>
              <a:bodyPr wrap="square" lIns="38100" tIns="19050" rIns="38100" bIns="19050" anchor="ctr">
                <a:spAutoFit/>
              </a:bodyPr>
              <a:lstStyle/>
              <a:p>
                <a:pPr>
                  <a:defRPr sz="12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showLegendKey val="0"/>
            <c:showVal val="0"/>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val>
            <c:numRef>
              <c:f>Sheet1!$D$18:$D$22</c:f>
              <c:numCache>
                <c:formatCode>#,##0.0</c:formatCode>
                <c:ptCount val="5"/>
                <c:pt idx="0">
                  <c:v>0</c:v>
                </c:pt>
                <c:pt idx="1">
                  <c:v>1.8</c:v>
                </c:pt>
                <c:pt idx="2">
                  <c:v>0</c:v>
                </c:pt>
                <c:pt idx="3">
                  <c:v>2</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F150-4638-8E7C-E4EF5E39CB6A}"/>
            </c:ext>
          </c:extLst>
        </c:ser>
        <c:ser>
          <c:idx val="2"/>
          <c:order val="1"/>
          <c:tx>
            <c:strRef>
              <c:f>Sheet1!$F$17</c:f>
              <c:strCache>
                <c:ptCount val="1"/>
                <c:pt idx="0">
                  <c:v>10th Positive Bar</c:v>
                </c:pt>
              </c:strCache>
            </c:strRef>
          </c:tx>
          <c:spPr>
            <a:noFill/>
            <a:ln>
              <a:noFill/>
            </a:ln>
          </c:spPr>
          <c:invertIfNegative val="0"/>
          <c:val>
            <c:numRef>
              <c:f>Sheet1!$F$18:$F$22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F150-4638-8E7C-E4EF5E39CB6A}"/>
            </c:ext>
          </c:extLst>
        </c:ser>
        <c:ser>
          <c:idx val="4"/>
          <c:order val="2"/>
          <c:tx>
            <c:strRef>
              <c:f>Sheet1!$H$17</c:f>
              <c:strCache>
                <c:ptCount val="1"/>
                <c:pt idx="0">
                  <c:v>25th Positive Bar</c:v>
                </c:pt>
              </c:strCache>
            </c:strRef>
          </c:tx>
          <c:spPr>
            <a:solidFill>
              <a:srgbClr val="D9D9D9"/>
            </a:solidFill>
            <a:ln>
              <a:solidFill>
                <a:srgbClr val="D9D9D9"/>
              </a:solidFill>
            </a:ln>
          </c:spPr>
          <c:invertIfNegative val="0"/>
          <c:val>
            <c:numRef>
              <c:f>Sheet1!$H$18:$H$22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F150-4638-8E7C-E4EF5E39CB6A}"/>
            </c:ext>
          </c:extLst>
        </c:ser>
        <c:ser>
          <c:idx val="8"/>
          <c:order val="3"/>
          <c:tx>
            <c:strRef>
              <c:f>Sheet1!$L$17</c:f>
              <c:strCache>
                <c:ptCount val="1"/>
                <c:pt idx="0">
                  <c:v>90th Positive Bar</c:v>
                </c:pt>
              </c:strCache>
            </c:strRef>
          </c:tx>
          <c:spPr>
            <a:solidFill>
              <a:srgbClr val="D9D9D9"/>
            </a:solidFill>
            <a:ln>
              <a:noFill/>
            </a:ln>
          </c:spPr>
          <c:invertIfNegative val="0"/>
          <c:val>
            <c:numRef>
              <c:f>Sheet1!$L$18:$L$22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F150-4638-8E7C-E4EF5E39CB6A}"/>
            </c:ext>
          </c:extLst>
        </c:ser>
        <c:ser>
          <c:idx val="7"/>
          <c:order val="4"/>
          <c:tx>
            <c:strRef>
              <c:f>Sheet1!$K$17</c:f>
              <c:strCache>
                <c:ptCount val="1"/>
                <c:pt idx="0">
                  <c:v>90th Negative Bar</c:v>
                </c:pt>
              </c:strCache>
            </c:strRef>
          </c:tx>
          <c:spPr>
            <a:noFill/>
          </c:spPr>
          <c:invertIfNegative val="0"/>
          <c:val>
            <c:numRef>
              <c:f>Sheet1!$K$18:$K$22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F150-4638-8E7C-E4EF5E39CB6A}"/>
            </c:ext>
          </c:extLst>
        </c:ser>
        <c:ser>
          <c:idx val="5"/>
          <c:order val="5"/>
          <c:tx>
            <c:strRef>
              <c:f>Sheet1!$I$17</c:f>
              <c:strCache>
                <c:ptCount val="1"/>
                <c:pt idx="0">
                  <c:v>75th Negative Bar</c:v>
                </c:pt>
              </c:strCache>
            </c:strRef>
          </c:tx>
          <c:spPr>
            <a:noFill/>
          </c:spPr>
          <c:invertIfNegative val="0"/>
          <c:val>
            <c:numRef>
              <c:f>Sheet1!$I$18:$I$22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F150-4638-8E7C-E4EF5E39CB6A}"/>
            </c:ext>
          </c:extLst>
        </c:ser>
        <c:ser>
          <c:idx val="3"/>
          <c:order val="6"/>
          <c:tx>
            <c:strRef>
              <c:f>Sheet1!$G$17</c:f>
              <c:strCache>
                <c:ptCount val="1"/>
                <c:pt idx="0">
                  <c:v>25th Negative Bar</c:v>
                </c:pt>
              </c:strCache>
            </c:strRef>
          </c:tx>
          <c:spPr>
            <a:solidFill>
              <a:srgbClr val="BFBFBF"/>
            </a:solidFill>
            <a:ln>
              <a:solidFill>
                <a:srgbClr val="BFBFBF"/>
              </a:solidFill>
            </a:ln>
          </c:spPr>
          <c:invertIfNegative val="0"/>
          <c:val>
            <c:numRef>
              <c:f>Sheet1!$G$18:$G$22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F150-4638-8E7C-E4EF5E39CB6A}"/>
            </c:ext>
          </c:extLst>
        </c:ser>
        <c:ser>
          <c:idx val="1"/>
          <c:order val="7"/>
          <c:tx>
            <c:strRef>
              <c:f>Sheet1!$E$17</c:f>
              <c:strCache>
                <c:ptCount val="1"/>
                <c:pt idx="0">
                  <c:v>10th Negative Bar</c:v>
                </c:pt>
              </c:strCache>
            </c:strRef>
          </c:tx>
          <c:spPr>
            <a:solidFill>
              <a:srgbClr val="D9D9D9"/>
            </a:solidFill>
            <a:ln>
              <a:solidFill>
                <a:srgbClr val="D9D9D9"/>
              </a:solidFill>
            </a:ln>
          </c:spPr>
          <c:invertIfNegative val="0"/>
          <c:val>
            <c:numRef>
              <c:f>Sheet1!$E$18:$E$22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F150-4638-8E7C-E4EF5E39CB6A}"/>
            </c:ext>
          </c:extLst>
        </c:ser>
        <c:dLbls>
          <c:showLegendKey val="0"/>
          <c:showVal val="0"/>
          <c:showCatName val="0"/>
          <c:showSerName val="0"/>
          <c:showPercent val="0"/>
          <c:showBubbleSize val="0"/>
        </c:dLbls>
        <c:gapWidth val="9"/>
        <c:overlap val="100"/>
        <c:axId val="1154865663"/>
        <c:axId val="1"/>
      </c:barChart>
      <c:scatterChart>
        <c:scatterStyle val="lineMarker"/>
        <c:varyColors val="0"/>
        <c:ser>
          <c:idx val="11"/>
          <c:order val="8"/>
          <c:tx>
            <c:strRef>
              <c:f>Sheet1!$B$8</c:f>
              <c:strCache>
                <c:ptCount val="1"/>
                <c:pt idx="0">
                  <c:v>Current Maturity</c:v>
                </c:pt>
              </c:strCache>
            </c:strRef>
          </c:tx>
          <c:marker>
            <c:symbol val="none"/>
          </c:marker>
          <c:xVal>
            <c:numRef>
              <c:f>Sheet1!$D$8</c:f>
              <c:numCache>
                <c:formatCode>0.00</c:formatCode>
                <c:ptCount val="1"/>
                <c:pt idx="0">
                  <c:v>2</c:v>
                </c:pt>
              </c:numCache>
            </c:numRef>
          </c:xVal>
          <c:yVal>
            <c:numRef>
              <c:f>Sheet1!$D$14</c:f>
              <c:numCache>
                <c:formatCode>0.00</c:formatCode>
                <c:ptCount val="1"/>
                <c:pt idx="0">
                  <c:v>0</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F150-4638-8E7C-E4EF5E39CB6A}"/>
            </c:ext>
          </c:extLst>
        </c:ser>
        <c:ser>
          <c:idx val="12"/>
          <c:order val="9"/>
          <c:tx>
            <c:strRef>
              <c:f>Sheet1!$B$9</c:f>
              <c:strCache>
                <c:ptCount val="1"/>
                <c:pt idx="0">
                  <c:v>Peers' Current Maturity</c:v>
                </c:pt>
              </c:strCache>
            </c:strRef>
          </c:tx>
          <c:marker>
            <c:symbol val="none"/>
          </c:marker>
          <c:xVal>
            <c:numRef>
              <c:f>Sheet1!$D$9</c:f>
              <c:numCache>
                <c:formatCode>0.00</c:formatCode>
                <c:ptCount val="1"/>
                <c:pt idx="0">
                  <c:v>1.8</c:v>
                </c:pt>
              </c:numCache>
            </c:numRef>
          </c:xVal>
          <c:yVal>
            <c:numRef>
              <c:f>Sheet1!$D$15</c:f>
              <c:numCache>
                <c:formatCode>0.00</c:formatCode>
                <c:ptCount val="1"/>
                <c:pt idx="0">
                  <c:v>0</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F150-4638-8E7C-E4EF5E39CB6A}"/>
            </c:ext>
          </c:extLst>
        </c:ser>
        <c:ser>
          <c:idx val="13"/>
          <c:order val="10"/>
          <c:tx>
            <c:strRef>
              <c:f>Sheet1!$B$11</c:f>
              <c:strCache>
                <c:ptCount val="1"/>
                <c:pt idx="0">
                  <c:v>Minimum</c:v>
                </c:pt>
              </c:strCache>
            </c:strRef>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F150-4638-8E7C-E4EF5E39CB6A}"/>
              </c:ext>
            </c:extLst>
          </c:dPt>
          <c:xVal>
            <c:numRef>
              <c:f>Sheet1!$D$11</c:f>
              <c:numCache>
                <c:formatCode>0.00</c:formatCode>
                <c:ptCount val="1"/>
                <c:pt idx="0">
                  <c:v>0</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F150-4638-8E7C-E4EF5E39CB6A}"/>
            </c:ext>
          </c:extLst>
        </c:ser>
        <c:ser>
          <c:idx val="14"/>
          <c:order val="11"/>
          <c:tx>
            <c:strRef>
              <c:f>Sheet1!$B$12</c:f>
              <c:strCache>
                <c:ptCount val="1"/>
                <c:pt idx="0">
                  <c:v>Maximum</c:v>
                </c:pt>
              </c:strCache>
            </c:strRef>
          </c:tx>
          <c:marker>
            <c:symbol val="none"/>
          </c:marker>
          <c:xVal>
            <c:numRef>
              <c:f>Sheet1!$D$12</c:f>
              <c:numCache>
                <c:formatCode>0.00</c:formatCode>
                <c:ptCount val="1"/>
                <c:pt idx="0">
                  <c:v>0</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F150-4638-8E7C-E4EF5E39CB6A}"/>
            </c:ext>
          </c:extLst>
        </c:ser>
        <c:ser>
          <c:idx val="15"/>
          <c:order val="12"/>
          <c:tx>
            <c:strRef>
              <c:f>Sheet1!$B$10</c:f>
              <c:strCache>
                <c:ptCount val="1"/>
                <c:pt idx="0">
                  <c:v>Target Maturity</c:v>
                </c:pt>
              </c:strCache>
            </c:strRef>
          </c:tx>
          <c:spPr>
            <a:ln>
              <a:noFill/>
            </a:ln>
          </c:spPr>
          <c:marker>
            <c:symbol val="none"/>
          </c:marker>
          <c:dLbls>
            <c:dLbl>
              <c:idx val="0"/>
              <c:spPr>
                <a:solidFill>
                  <a:srgbClr val="1F96FF"/>
                </a:solidFill>
                <a:ln>
                  <a:noFill/>
                </a:ln>
                <a:effectLst/>
              </c:spPr>
              <c:txPr>
                <a:bodyPr wrap="square" lIns="38100" tIns="19050" rIns="38100" bIns="19050" anchor="ctr">
                  <a:spAutoFit/>
                </a:bodyPr>
                <a:lstStyle/>
                <a:p>
                  <a:pPr>
                    <a:defRPr sz="12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F150-4638-8E7C-E4EF5E39CB6A}"/>
                </c:ext>
              </c:extLst>
            </c:dLbl>
            <c:spPr>
              <a:solidFill>
                <a:srgbClr val="1F96FF"/>
              </a:solidFill>
              <a:ln>
                <a:solidFill>
                  <a:srgbClr val="002856">
                    <a:lumMod val="50000"/>
                    <a:lumOff val="50000"/>
                  </a:srgbClr>
                </a:solidFill>
              </a:ln>
              <a:effectLst/>
            </c:spPr>
            <c:txPr>
              <a:bodyPr wrap="square" lIns="38100" tIns="19050" rIns="38100" bIns="19050" anchor="ctr">
                <a:spAutoFit/>
              </a:bodyPr>
              <a:lstStyle/>
              <a:p>
                <a:pPr>
                  <a:defRPr sz="12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34.5"/>
            <c:spPr>
              <a:ln w="25400">
                <a:solidFill>
                  <a:srgbClr val="1F96FF"/>
                </a:solidFill>
              </a:ln>
            </c:spPr>
          </c:errBars>
          <c:xVal>
            <c:numRef>
              <c:f>Sheet1!$D$10</c:f>
              <c:numCache>
                <c:formatCode>0.0</c:formatCode>
                <c:ptCount val="1"/>
                <c:pt idx="0">
                  <c:v>3.3</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F150-4638-8E7C-E4EF5E39CB6A}"/>
            </c:ext>
          </c:extLst>
        </c:ser>
        <c:ser>
          <c:idx val="16"/>
          <c:order val="13"/>
          <c:tx>
            <c:strRef>
              <c:f>Sheet1!$B$5</c:f>
              <c:strCache>
                <c:ptCount val="1"/>
                <c:pt idx="0">
                  <c:v>25th</c:v>
                </c:pt>
              </c:strCache>
            </c:strRef>
          </c:tx>
          <c:marker>
            <c:symbol val="none"/>
          </c:marker>
          <c:xVal>
            <c:numRef>
              <c:f>Sheet1!$D$5</c:f>
              <c:numCache>
                <c:formatCode>0.00</c:formatCode>
                <c:ptCount val="1"/>
                <c:pt idx="0">
                  <c:v>0</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F150-4638-8E7C-E4EF5E39CB6A}"/>
            </c:ext>
          </c:extLst>
        </c:ser>
        <c:ser>
          <c:idx val="17"/>
          <c:order val="14"/>
          <c:tx>
            <c:strRef>
              <c:f>Sheet1!$B$6</c:f>
              <c:strCache>
                <c:ptCount val="1"/>
                <c:pt idx="0">
                  <c:v>75th</c:v>
                </c:pt>
              </c:strCache>
            </c:strRef>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F150-4638-8E7C-E4EF5E39CB6A}"/>
              </c:ext>
            </c:extLst>
          </c:dPt>
          <c:xVal>
            <c:numRef>
              <c:f>Sheet1!$D$6</c:f>
              <c:numCache>
                <c:formatCode>0.00</c:formatCode>
                <c:ptCount val="1"/>
                <c:pt idx="0">
                  <c:v>0</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5-F150-4638-8E7C-E4EF5E39CB6A}"/>
            </c:ext>
          </c:extLst>
        </c:ser>
        <c:ser>
          <c:idx val="6"/>
          <c:order val="15"/>
          <c:tx>
            <c:strRef>
              <c:f>Sheet1!$B$13</c:f>
              <c:strCache>
                <c:ptCount val="1"/>
                <c:pt idx="0">
                  <c:v>Peers' Target Maturity</c:v>
                </c:pt>
              </c:strCache>
            </c:strRef>
          </c:tx>
          <c:marker>
            <c:symbol val="none"/>
          </c:marker>
          <c:dLbls>
            <c:spPr>
              <a:solidFill>
                <a:srgbClr val="1F96FF"/>
              </a:solidFill>
              <a:ln>
                <a:noFill/>
              </a:ln>
              <a:effectLst/>
            </c:spPr>
            <c:txPr>
              <a:bodyPr wrap="square" lIns="38100" tIns="19050" rIns="38100" bIns="19050" anchor="ctr">
                <a:spAutoFit/>
              </a:bodyPr>
              <a:lstStyle/>
              <a:p>
                <a:pPr>
                  <a:defRPr sz="12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errBars>
            <c:errDir val="y"/>
            <c:errBarType val="minus"/>
            <c:errValType val="percentage"/>
            <c:noEndCap val="1"/>
            <c:val val="70.5"/>
            <c:spPr>
              <a:ln w="25400">
                <a:solidFill>
                  <a:srgbClr val="1F96FF"/>
                </a:solidFill>
              </a:ln>
            </c:spPr>
          </c:errBars>
          <c:xVal>
            <c:numRef>
              <c:f>Sheet1!$D$13</c:f>
              <c:numCache>
                <c:formatCode>0.0</c:formatCode>
                <c:ptCount val="1"/>
                <c:pt idx="0">
                  <c:v>3</c:v>
                </c:pt>
              </c:numCache>
            </c:numRef>
          </c:xVal>
          <c:yVal>
            <c:numRef>
              <c:f>Sheet1!$E$16</c:f>
              <c:numCache>
                <c:formatCode>#,##0.00</c:formatCode>
                <c:ptCount val="1"/>
                <c:pt idx="0">
                  <c:v>3.7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7-F150-4638-8E7C-E4EF5E39CB6A}"/>
            </c:ext>
          </c:extLst>
        </c:ser>
        <c:dLbls>
          <c:showLegendKey val="0"/>
          <c:showVal val="0"/>
          <c:showCatName val="0"/>
          <c:showSerName val="0"/>
          <c:showPercent val="0"/>
          <c:showBubbleSize val="0"/>
        </c:dLbls>
        <c:axId val="1509330271"/>
        <c:axId val="1509351903"/>
      </c:scatterChart>
      <c:catAx>
        <c:axId val="1154865663"/>
        <c:scaling>
          <c:orientation val="minMax"/>
        </c:scaling>
        <c:delete val="0"/>
        <c:axPos val="l"/>
        <c:numFmt formatCode="General" sourceLinked="1"/>
        <c:majorTickMark val="none"/>
        <c:minorTickMark val="none"/>
        <c:tickLblPos val="none"/>
        <c:spPr>
          <a:ln w="12700">
            <a:noFill/>
          </a:ln>
        </c:spPr>
        <c:txPr>
          <a:bodyPr/>
          <a:lstStyle/>
          <a:p>
            <a:pPr>
              <a:defRPr smtId="4294967295">
                <a:solidFill>
                  <a:srgbClr val="000000"/>
                </a:solidFill>
              </a:defRPr>
            </a:pPr>
            <a:endParaRPr lang="en-US"/>
          </a:p>
        </c:txPr>
        <c:crossAx val="1"/>
        <c:crosses val="autoZero"/>
        <c:auto val="0"/>
        <c:lblAlgn val="ctr"/>
        <c:lblOffset val="100"/>
        <c:noMultiLvlLbl val="1"/>
      </c:catAx>
      <c:valAx>
        <c:axId val="1"/>
        <c:scaling>
          <c:orientation val="minMax"/>
          <c:max val="5"/>
          <c:min val="0"/>
        </c:scaling>
        <c:delete val="1"/>
        <c:axPos val="b"/>
        <c:numFmt formatCode="#,##0" sourceLinked="0"/>
        <c:majorTickMark val="out"/>
        <c:minorTickMark val="none"/>
        <c:tickLblPos val="nextTo"/>
        <c:crossAx val="1154865663"/>
        <c:crossesAt val="1"/>
        <c:crossBetween val="between"/>
        <c:majorUnit val="1"/>
        <c:minorUnit val="0.1"/>
      </c:valAx>
      <c:valAx>
        <c:axId val="1509330271"/>
        <c:scaling>
          <c:orientation val="minMax"/>
        </c:scaling>
        <c:delete val="1"/>
        <c:axPos val="b"/>
        <c:numFmt formatCode="0.00" sourceLinked="1"/>
        <c:majorTickMark val="out"/>
        <c:minorTickMark val="none"/>
        <c:tickLblPos val="nextTo"/>
        <c:crossAx val="1509351903"/>
        <c:crosses val="autoZero"/>
        <c:crossBetween val="midCat"/>
      </c:valAx>
      <c:valAx>
        <c:axId val="1509351903"/>
        <c:scaling>
          <c:orientation val="minMax"/>
          <c:max val="9"/>
        </c:scaling>
        <c:delete val="1"/>
        <c:axPos val="l"/>
        <c:numFmt formatCode="0.00" sourceLinked="1"/>
        <c:majorTickMark val="out"/>
        <c:minorTickMark val="none"/>
        <c:tickLblPos val="nextTo"/>
        <c:crossAx val="1509330271"/>
        <c:crosses val="autoZero"/>
        <c:crossBetween val="midCat"/>
      </c:valAx>
      <c:spPr>
        <a:noFill/>
        <a:ln>
          <a:noFill/>
        </a:ln>
      </c:spPr>
    </c:plotArea>
    <c:plotVisOnly val="1"/>
    <c:dispBlanksAs val="gap"/>
    <c:showDLblsOverMax val="0"/>
  </c:chart>
  <c:spPr>
    <a:noFill/>
    <a:ln>
      <a:noFill/>
    </a:ln>
  </c:spPr>
  <c:externalData r:id="rId2">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552667424082756E-2"/>
          <c:y val="0.12789101898670197"/>
          <c:w val="0.89955431222915649"/>
          <c:h val="0.70749789476394653"/>
        </c:manualLayout>
      </c:layout>
      <c:barChart>
        <c:barDir val="bar"/>
        <c:grouping val="stacked"/>
        <c:varyColors val="0"/>
        <c:ser>
          <c:idx val="0"/>
          <c:order val="0"/>
          <c:tx>
            <c:strRef>
              <c:f>Sheet1!$B$8</c:f>
              <c:strCache>
                <c:ptCount val="1"/>
                <c:pt idx="0">
                  <c:v>Current Maturity</c:v>
                </c:pt>
              </c:strCache>
            </c:strRef>
          </c:tx>
          <c:spPr>
            <a:ln>
              <a:noFill/>
            </a:ln>
          </c:spPr>
          <c:invertIfNegative val="0"/>
          <c:dPt>
            <c:idx val="1"/>
            <c:invertIfNegative val="0"/>
            <c:bubble3D val="0"/>
            <c:spPr>
              <a:solidFill>
                <a:srgbClr val="002869"/>
              </a:solidFill>
              <a:ln>
                <a:noFill/>
              </a:ln>
            </c:spPr>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1-3832-4236-BFC3-359BCD776F63}"/>
              </c:ext>
            </c:extLst>
          </c:dPt>
          <c:dPt>
            <c:idx val="3"/>
            <c:invertIfNegative val="0"/>
            <c:bubble3D val="0"/>
            <c:spPr>
              <a:solidFill>
                <a:srgbClr val="002869"/>
              </a:solidFill>
              <a:ln>
                <a:noFill/>
              </a:ln>
            </c:spPr>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3-3832-4236-BFC3-359BCD776F63}"/>
              </c:ext>
            </c:extLst>
          </c:dPt>
          <c:dLbls>
            <c:dLbl>
              <c:idx val="1"/>
              <c:spPr>
                <a:noFill/>
                <a:ln>
                  <a:noFill/>
                </a:ln>
                <a:effectLst/>
              </c:spPr>
              <c:txPr>
                <a:bodyPr wrap="square" lIns="38100" tIns="19050" rIns="38100" bIns="19050" anchor="ctr">
                  <a:spAutoFit/>
                </a:bodyPr>
                <a:lstStyle/>
                <a:p>
                  <a:pPr>
                    <a:defRPr sz="12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3832-4236-BFC3-359BCD776F63}"/>
                </c:ext>
              </c:extLst>
            </c:dLbl>
            <c:dLbl>
              <c:idx val="3"/>
              <c:tx>
                <c:rich>
                  <a:bodyPr/>
                  <a:lstStyle/>
                  <a:p>
                    <a:fld id="{02CCA8D1-8A57-45F3-9042-D0BBE99ABD9E}" type="VALUE">
                      <a:rPr lang="en-US" sz="1200" b="1">
                        <a:solidFill>
                          <a:schemeClr val="bg1"/>
                        </a:solidFill>
                        <a:latin typeface="Gartner Sans" panose="020B0504030402040204" pitchFamily="34" charset="0"/>
                      </a:rPr>
                      <a:pPr/>
                      <a:t>[VALUE]</a:t>
                    </a:fld>
                    <a:endParaRPr lang="en-US"/>
                  </a:p>
                </c:rich>
              </c:tx>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dlblFieldTable/>
                  <c15:showDataLabelsRange val="0"/>
                </c:ext>
                <c:ext xmlns:c16="http://schemas.microsoft.com/office/drawing/2014/chart" uri="{C3380CC4-5D6E-409C-BE32-E72D297353CC}">
                  <c16:uniqueId val="{00000003-3832-4236-BFC3-359BCD776F63}"/>
                </c:ext>
              </c:extLst>
            </c:dLbl>
            <c:spPr>
              <a:noFill/>
              <a:ln>
                <a:noFill/>
              </a:ln>
              <a:effectLst/>
            </c:spPr>
            <c:txPr>
              <a:bodyPr wrap="square" lIns="38100" tIns="19050" rIns="38100" bIns="19050" anchor="ctr">
                <a:spAutoFit/>
              </a:bodyPr>
              <a:lstStyle/>
              <a:p>
                <a:pPr>
                  <a:defRPr sz="1200"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inEnd"/>
            <c:showLegendKey val="0"/>
            <c:showVal val="0"/>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val>
            <c:numRef>
              <c:f>Sheet1!$D$18:$D$22</c:f>
              <c:numCache>
                <c:formatCode>#,##0.0</c:formatCode>
                <c:ptCount val="5"/>
                <c:pt idx="0">
                  <c:v>0</c:v>
                </c:pt>
                <c:pt idx="1">
                  <c:v>1.6</c:v>
                </c:pt>
                <c:pt idx="2">
                  <c:v>0</c:v>
                </c:pt>
                <c:pt idx="3">
                  <c:v>2.2999999999999998</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3832-4236-BFC3-359BCD776F63}"/>
            </c:ext>
          </c:extLst>
        </c:ser>
        <c:ser>
          <c:idx val="2"/>
          <c:order val="1"/>
          <c:tx>
            <c:strRef>
              <c:f>Sheet1!$F$17</c:f>
              <c:strCache>
                <c:ptCount val="1"/>
                <c:pt idx="0">
                  <c:v>10th Positive Bar</c:v>
                </c:pt>
              </c:strCache>
            </c:strRef>
          </c:tx>
          <c:spPr>
            <a:noFill/>
            <a:ln>
              <a:noFill/>
            </a:ln>
          </c:spPr>
          <c:invertIfNegative val="0"/>
          <c:val>
            <c:numRef>
              <c:f>Sheet1!$F$18:$F$22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3832-4236-BFC3-359BCD776F63}"/>
            </c:ext>
          </c:extLst>
        </c:ser>
        <c:ser>
          <c:idx val="4"/>
          <c:order val="2"/>
          <c:tx>
            <c:strRef>
              <c:f>Sheet1!$H$17</c:f>
              <c:strCache>
                <c:ptCount val="1"/>
                <c:pt idx="0">
                  <c:v>25th Positive Bar</c:v>
                </c:pt>
              </c:strCache>
            </c:strRef>
          </c:tx>
          <c:spPr>
            <a:solidFill>
              <a:srgbClr val="D9D9D9"/>
            </a:solidFill>
            <a:ln>
              <a:solidFill>
                <a:srgbClr val="D9D9D9"/>
              </a:solidFill>
            </a:ln>
          </c:spPr>
          <c:invertIfNegative val="0"/>
          <c:val>
            <c:numRef>
              <c:f>Sheet1!$H$18:$H$22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3832-4236-BFC3-359BCD776F63}"/>
            </c:ext>
          </c:extLst>
        </c:ser>
        <c:ser>
          <c:idx val="8"/>
          <c:order val="3"/>
          <c:tx>
            <c:strRef>
              <c:f>Sheet1!$L$17</c:f>
              <c:strCache>
                <c:ptCount val="1"/>
                <c:pt idx="0">
                  <c:v>90th Positive Bar</c:v>
                </c:pt>
              </c:strCache>
            </c:strRef>
          </c:tx>
          <c:spPr>
            <a:solidFill>
              <a:srgbClr val="D9D9D9"/>
            </a:solidFill>
            <a:ln>
              <a:noFill/>
            </a:ln>
          </c:spPr>
          <c:invertIfNegative val="0"/>
          <c:val>
            <c:numRef>
              <c:f>Sheet1!$L$18:$L$22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3832-4236-BFC3-359BCD776F63}"/>
            </c:ext>
          </c:extLst>
        </c:ser>
        <c:ser>
          <c:idx val="7"/>
          <c:order val="4"/>
          <c:tx>
            <c:strRef>
              <c:f>Sheet1!$K$17</c:f>
              <c:strCache>
                <c:ptCount val="1"/>
                <c:pt idx="0">
                  <c:v>90th Negative Bar</c:v>
                </c:pt>
              </c:strCache>
            </c:strRef>
          </c:tx>
          <c:spPr>
            <a:noFill/>
          </c:spPr>
          <c:invertIfNegative val="0"/>
          <c:val>
            <c:numRef>
              <c:f>Sheet1!$K$18:$K$22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3832-4236-BFC3-359BCD776F63}"/>
            </c:ext>
          </c:extLst>
        </c:ser>
        <c:ser>
          <c:idx val="5"/>
          <c:order val="5"/>
          <c:tx>
            <c:strRef>
              <c:f>Sheet1!$I$17</c:f>
              <c:strCache>
                <c:ptCount val="1"/>
                <c:pt idx="0">
                  <c:v>75th Negative Bar</c:v>
                </c:pt>
              </c:strCache>
            </c:strRef>
          </c:tx>
          <c:spPr>
            <a:noFill/>
          </c:spPr>
          <c:invertIfNegative val="0"/>
          <c:val>
            <c:numRef>
              <c:f>Sheet1!$I$18:$I$22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3832-4236-BFC3-359BCD776F63}"/>
            </c:ext>
          </c:extLst>
        </c:ser>
        <c:ser>
          <c:idx val="3"/>
          <c:order val="6"/>
          <c:tx>
            <c:strRef>
              <c:f>Sheet1!$G$17</c:f>
              <c:strCache>
                <c:ptCount val="1"/>
                <c:pt idx="0">
                  <c:v>25th Negative Bar</c:v>
                </c:pt>
              </c:strCache>
            </c:strRef>
          </c:tx>
          <c:spPr>
            <a:solidFill>
              <a:srgbClr val="BFBFBF"/>
            </a:solidFill>
            <a:ln>
              <a:solidFill>
                <a:srgbClr val="BFBFBF"/>
              </a:solidFill>
            </a:ln>
          </c:spPr>
          <c:invertIfNegative val="0"/>
          <c:val>
            <c:numRef>
              <c:f>Sheet1!$G$18:$G$22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3832-4236-BFC3-359BCD776F63}"/>
            </c:ext>
          </c:extLst>
        </c:ser>
        <c:ser>
          <c:idx val="1"/>
          <c:order val="7"/>
          <c:tx>
            <c:strRef>
              <c:f>Sheet1!$E$17</c:f>
              <c:strCache>
                <c:ptCount val="1"/>
                <c:pt idx="0">
                  <c:v>10th Negative Bar</c:v>
                </c:pt>
              </c:strCache>
            </c:strRef>
          </c:tx>
          <c:spPr>
            <a:solidFill>
              <a:srgbClr val="D9D9D9"/>
            </a:solidFill>
            <a:ln>
              <a:solidFill>
                <a:srgbClr val="D9D9D9"/>
              </a:solidFill>
            </a:ln>
          </c:spPr>
          <c:invertIfNegative val="0"/>
          <c:val>
            <c:numRef>
              <c:f>Sheet1!$E$18:$E$22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3832-4236-BFC3-359BCD776F63}"/>
            </c:ext>
          </c:extLst>
        </c:ser>
        <c:dLbls>
          <c:showLegendKey val="0"/>
          <c:showVal val="0"/>
          <c:showCatName val="0"/>
          <c:showSerName val="0"/>
          <c:showPercent val="0"/>
          <c:showBubbleSize val="0"/>
        </c:dLbls>
        <c:gapWidth val="9"/>
        <c:overlap val="100"/>
        <c:axId val="1154865663"/>
        <c:axId val="1"/>
      </c:barChart>
      <c:scatterChart>
        <c:scatterStyle val="lineMarker"/>
        <c:varyColors val="0"/>
        <c:ser>
          <c:idx val="11"/>
          <c:order val="8"/>
          <c:tx>
            <c:strRef>
              <c:f>Sheet1!$B$8</c:f>
              <c:strCache>
                <c:ptCount val="1"/>
                <c:pt idx="0">
                  <c:v>Current Maturity</c:v>
                </c:pt>
              </c:strCache>
            </c:strRef>
          </c:tx>
          <c:marker>
            <c:symbol val="none"/>
          </c:marker>
          <c:xVal>
            <c:numRef>
              <c:f>Sheet1!$D$8</c:f>
              <c:numCache>
                <c:formatCode>0.00</c:formatCode>
                <c:ptCount val="1"/>
                <c:pt idx="0">
                  <c:v>2.2999999999999998</c:v>
                </c:pt>
              </c:numCache>
            </c:numRef>
          </c:xVal>
          <c:yVal>
            <c:numRef>
              <c:f>Sheet1!$D$14</c:f>
              <c:numCache>
                <c:formatCode>0.00</c:formatCode>
                <c:ptCount val="1"/>
                <c:pt idx="0">
                  <c:v>0</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3832-4236-BFC3-359BCD776F63}"/>
            </c:ext>
          </c:extLst>
        </c:ser>
        <c:ser>
          <c:idx val="12"/>
          <c:order val="9"/>
          <c:tx>
            <c:strRef>
              <c:f>Sheet1!$B$9</c:f>
              <c:strCache>
                <c:ptCount val="1"/>
                <c:pt idx="0">
                  <c:v>Peers' Current Maturity</c:v>
                </c:pt>
              </c:strCache>
            </c:strRef>
          </c:tx>
          <c:marker>
            <c:symbol val="none"/>
          </c:marker>
          <c:xVal>
            <c:numRef>
              <c:f>Sheet1!$D$9</c:f>
              <c:numCache>
                <c:formatCode>0.00</c:formatCode>
                <c:ptCount val="1"/>
                <c:pt idx="0">
                  <c:v>1.6</c:v>
                </c:pt>
              </c:numCache>
            </c:numRef>
          </c:xVal>
          <c:yVal>
            <c:numRef>
              <c:f>Sheet1!$D$15</c:f>
              <c:numCache>
                <c:formatCode>0.00</c:formatCode>
                <c:ptCount val="1"/>
                <c:pt idx="0">
                  <c:v>0</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3832-4236-BFC3-359BCD776F63}"/>
            </c:ext>
          </c:extLst>
        </c:ser>
        <c:ser>
          <c:idx val="13"/>
          <c:order val="10"/>
          <c:tx>
            <c:strRef>
              <c:f>Sheet1!$B$11</c:f>
              <c:strCache>
                <c:ptCount val="1"/>
                <c:pt idx="0">
                  <c:v>Minimum</c:v>
                </c:pt>
              </c:strCache>
            </c:strRef>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3832-4236-BFC3-359BCD776F63}"/>
              </c:ext>
            </c:extLst>
          </c:dPt>
          <c:xVal>
            <c:numRef>
              <c:f>Sheet1!$D$11</c:f>
              <c:numCache>
                <c:formatCode>0.00</c:formatCode>
                <c:ptCount val="1"/>
                <c:pt idx="0">
                  <c:v>0</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3832-4236-BFC3-359BCD776F63}"/>
            </c:ext>
          </c:extLst>
        </c:ser>
        <c:ser>
          <c:idx val="14"/>
          <c:order val="11"/>
          <c:tx>
            <c:strRef>
              <c:f>Sheet1!$B$12</c:f>
              <c:strCache>
                <c:ptCount val="1"/>
                <c:pt idx="0">
                  <c:v>Maximum</c:v>
                </c:pt>
              </c:strCache>
            </c:strRef>
          </c:tx>
          <c:marker>
            <c:symbol val="none"/>
          </c:marker>
          <c:xVal>
            <c:numRef>
              <c:f>Sheet1!$D$12</c:f>
              <c:numCache>
                <c:formatCode>0.00</c:formatCode>
                <c:ptCount val="1"/>
                <c:pt idx="0">
                  <c:v>0</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3832-4236-BFC3-359BCD776F63}"/>
            </c:ext>
          </c:extLst>
        </c:ser>
        <c:ser>
          <c:idx val="15"/>
          <c:order val="12"/>
          <c:tx>
            <c:strRef>
              <c:f>Sheet1!$B$10</c:f>
              <c:strCache>
                <c:ptCount val="1"/>
                <c:pt idx="0">
                  <c:v>Target Maturity</c:v>
                </c:pt>
              </c:strCache>
            </c:strRef>
          </c:tx>
          <c:spPr>
            <a:ln>
              <a:noFill/>
            </a:ln>
          </c:spPr>
          <c:marker>
            <c:symbol val="none"/>
          </c:marker>
          <c:dLbls>
            <c:dLbl>
              <c:idx val="0"/>
              <c:spPr>
                <a:solidFill>
                  <a:srgbClr val="1F96FF"/>
                </a:solidFill>
                <a:ln>
                  <a:noFill/>
                </a:ln>
                <a:effectLst/>
              </c:spPr>
              <c:txPr>
                <a:bodyPr wrap="square" lIns="38100" tIns="19050" rIns="38100" bIns="19050" anchor="ctr">
                  <a:spAutoFit/>
                </a:bodyPr>
                <a:lstStyle/>
                <a:p>
                  <a:pPr>
                    <a:defRPr sz="12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3832-4236-BFC3-359BCD776F63}"/>
                </c:ext>
              </c:extLst>
            </c:dLbl>
            <c:spPr>
              <a:solidFill>
                <a:srgbClr val="1F96FF"/>
              </a:solidFill>
              <a:ln>
                <a:solidFill>
                  <a:srgbClr val="002856">
                    <a:lumMod val="50000"/>
                    <a:lumOff val="50000"/>
                  </a:srgbClr>
                </a:solidFill>
              </a:ln>
              <a:effectLst/>
            </c:spPr>
            <c:txPr>
              <a:bodyPr wrap="square" lIns="38100" tIns="19050" rIns="38100" bIns="19050" anchor="ctr">
                <a:spAutoFit/>
              </a:bodyPr>
              <a:lstStyle/>
              <a:p>
                <a:pPr>
                  <a:defRPr sz="12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34.5"/>
            <c:spPr>
              <a:ln w="25400">
                <a:solidFill>
                  <a:srgbClr val="1F96FF"/>
                </a:solidFill>
              </a:ln>
            </c:spPr>
          </c:errBars>
          <c:xVal>
            <c:numRef>
              <c:f>Sheet1!$D$10</c:f>
              <c:numCache>
                <c:formatCode>0.0</c:formatCode>
                <c:ptCount val="1"/>
                <c:pt idx="0">
                  <c:v>4</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3832-4236-BFC3-359BCD776F63}"/>
            </c:ext>
          </c:extLst>
        </c:ser>
        <c:ser>
          <c:idx val="16"/>
          <c:order val="13"/>
          <c:tx>
            <c:strRef>
              <c:f>Sheet1!$B$5</c:f>
              <c:strCache>
                <c:ptCount val="1"/>
                <c:pt idx="0">
                  <c:v>25th</c:v>
                </c:pt>
              </c:strCache>
            </c:strRef>
          </c:tx>
          <c:marker>
            <c:symbol val="none"/>
          </c:marker>
          <c:xVal>
            <c:numRef>
              <c:f>Sheet1!$D$5</c:f>
              <c:numCache>
                <c:formatCode>0.00</c:formatCode>
                <c:ptCount val="1"/>
                <c:pt idx="0">
                  <c:v>0</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3832-4236-BFC3-359BCD776F63}"/>
            </c:ext>
          </c:extLst>
        </c:ser>
        <c:ser>
          <c:idx val="17"/>
          <c:order val="14"/>
          <c:tx>
            <c:strRef>
              <c:f>Sheet1!$B$6</c:f>
              <c:strCache>
                <c:ptCount val="1"/>
                <c:pt idx="0">
                  <c:v>75th</c:v>
                </c:pt>
              </c:strCache>
            </c:strRef>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3832-4236-BFC3-359BCD776F63}"/>
              </c:ext>
            </c:extLst>
          </c:dPt>
          <c:xVal>
            <c:numRef>
              <c:f>Sheet1!$D$6</c:f>
              <c:numCache>
                <c:formatCode>0.00</c:formatCode>
                <c:ptCount val="1"/>
                <c:pt idx="0">
                  <c:v>0</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5-3832-4236-BFC3-359BCD776F63}"/>
            </c:ext>
          </c:extLst>
        </c:ser>
        <c:ser>
          <c:idx val="6"/>
          <c:order val="15"/>
          <c:tx>
            <c:strRef>
              <c:f>Sheet1!$B$13</c:f>
              <c:strCache>
                <c:ptCount val="1"/>
                <c:pt idx="0">
                  <c:v>Peers' Target Maturity</c:v>
                </c:pt>
              </c:strCache>
            </c:strRef>
          </c:tx>
          <c:marker>
            <c:symbol val="none"/>
          </c:marker>
          <c:dLbls>
            <c:spPr>
              <a:solidFill>
                <a:srgbClr val="1F96FF"/>
              </a:solidFill>
              <a:ln>
                <a:noFill/>
              </a:ln>
              <a:effectLst/>
            </c:spPr>
            <c:txPr>
              <a:bodyPr wrap="square" lIns="38100" tIns="19050" rIns="38100" bIns="19050" anchor="ctr">
                <a:spAutoFit/>
              </a:bodyPr>
              <a:lstStyle/>
              <a:p>
                <a:pPr>
                  <a:defRPr sz="12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errBars>
            <c:errDir val="y"/>
            <c:errBarType val="minus"/>
            <c:errValType val="percentage"/>
            <c:noEndCap val="1"/>
            <c:val val="70.5"/>
            <c:spPr>
              <a:ln w="25400">
                <a:solidFill>
                  <a:srgbClr val="1F96FF"/>
                </a:solidFill>
              </a:ln>
            </c:spPr>
          </c:errBars>
          <c:xVal>
            <c:numRef>
              <c:f>Sheet1!$D$13</c:f>
              <c:numCache>
                <c:formatCode>0.0</c:formatCode>
                <c:ptCount val="1"/>
                <c:pt idx="0">
                  <c:v>2.7</c:v>
                </c:pt>
              </c:numCache>
            </c:numRef>
          </c:xVal>
          <c:yVal>
            <c:numRef>
              <c:f>Sheet1!$E$16</c:f>
              <c:numCache>
                <c:formatCode>#,##0.00</c:formatCode>
                <c:ptCount val="1"/>
                <c:pt idx="0">
                  <c:v>3.7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7-3832-4236-BFC3-359BCD776F63}"/>
            </c:ext>
          </c:extLst>
        </c:ser>
        <c:dLbls>
          <c:showLegendKey val="0"/>
          <c:showVal val="0"/>
          <c:showCatName val="0"/>
          <c:showSerName val="0"/>
          <c:showPercent val="0"/>
          <c:showBubbleSize val="0"/>
        </c:dLbls>
        <c:axId val="1509330271"/>
        <c:axId val="1509351903"/>
      </c:scatterChart>
      <c:catAx>
        <c:axId val="1154865663"/>
        <c:scaling>
          <c:orientation val="minMax"/>
        </c:scaling>
        <c:delete val="0"/>
        <c:axPos val="l"/>
        <c:numFmt formatCode="General" sourceLinked="1"/>
        <c:majorTickMark val="none"/>
        <c:minorTickMark val="none"/>
        <c:tickLblPos val="none"/>
        <c:spPr>
          <a:ln w="12700">
            <a:noFill/>
          </a:ln>
        </c:spPr>
        <c:txPr>
          <a:bodyPr/>
          <a:lstStyle/>
          <a:p>
            <a:pPr>
              <a:defRPr smtId="4294967295">
                <a:solidFill>
                  <a:srgbClr val="000000"/>
                </a:solidFill>
              </a:defRPr>
            </a:pPr>
            <a:endParaRPr lang="en-US"/>
          </a:p>
        </c:txPr>
        <c:crossAx val="1"/>
        <c:crosses val="autoZero"/>
        <c:auto val="0"/>
        <c:lblAlgn val="ctr"/>
        <c:lblOffset val="100"/>
        <c:noMultiLvlLbl val="1"/>
      </c:catAx>
      <c:valAx>
        <c:axId val="1"/>
        <c:scaling>
          <c:orientation val="minMax"/>
          <c:max val="5"/>
          <c:min val="0"/>
        </c:scaling>
        <c:delete val="1"/>
        <c:axPos val="b"/>
        <c:numFmt formatCode="#,##0" sourceLinked="0"/>
        <c:majorTickMark val="out"/>
        <c:minorTickMark val="none"/>
        <c:tickLblPos val="nextTo"/>
        <c:crossAx val="1154865663"/>
        <c:crossesAt val="1"/>
        <c:crossBetween val="between"/>
        <c:majorUnit val="1"/>
        <c:minorUnit val="0.1"/>
      </c:valAx>
      <c:valAx>
        <c:axId val="1509330271"/>
        <c:scaling>
          <c:orientation val="minMax"/>
        </c:scaling>
        <c:delete val="1"/>
        <c:axPos val="b"/>
        <c:numFmt formatCode="0.00" sourceLinked="1"/>
        <c:majorTickMark val="out"/>
        <c:minorTickMark val="none"/>
        <c:tickLblPos val="nextTo"/>
        <c:crossAx val="1509351903"/>
        <c:crosses val="autoZero"/>
        <c:crossBetween val="midCat"/>
      </c:valAx>
      <c:valAx>
        <c:axId val="1509351903"/>
        <c:scaling>
          <c:orientation val="minMax"/>
          <c:max val="9"/>
        </c:scaling>
        <c:delete val="1"/>
        <c:axPos val="l"/>
        <c:numFmt formatCode="0.00" sourceLinked="1"/>
        <c:majorTickMark val="out"/>
        <c:minorTickMark val="none"/>
        <c:tickLblPos val="nextTo"/>
        <c:crossAx val="1509330271"/>
        <c:crosses val="autoZero"/>
        <c:crossBetween val="midCat"/>
      </c:valAx>
      <c:spPr>
        <a:noFill/>
        <a:ln>
          <a:noFill/>
        </a:ln>
      </c:spPr>
    </c:plotArea>
    <c:plotVisOnly val="1"/>
    <c:dispBlanksAs val="gap"/>
    <c:showDLblsOverMax val="0"/>
  </c:chart>
  <c:spPr>
    <a:noFill/>
    <a:ln>
      <a:noFill/>
    </a:ln>
  </c:sp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552667424082756E-2"/>
          <c:y val="0.12789101898670197"/>
          <c:w val="0.89955431222915649"/>
          <c:h val="0.70749789476394653"/>
        </c:manualLayout>
      </c:layout>
      <c:barChart>
        <c:barDir val="bar"/>
        <c:grouping val="stacked"/>
        <c:varyColors val="0"/>
        <c:ser>
          <c:idx val="0"/>
          <c:order val="0"/>
          <c:tx>
            <c:strRef>
              <c:f>Sheet1!$B$8</c:f>
              <c:strCache>
                <c:ptCount val="1"/>
                <c:pt idx="0">
                  <c:v>Current Maturity</c:v>
                </c:pt>
              </c:strCache>
            </c:strRef>
          </c:tx>
          <c:spPr>
            <a:ln>
              <a:noFill/>
            </a:ln>
          </c:spPr>
          <c:invertIfNegative val="0"/>
          <c:dPt>
            <c:idx val="1"/>
            <c:invertIfNegative val="0"/>
            <c:bubble3D val="0"/>
            <c:spPr>
              <a:solidFill>
                <a:srgbClr val="002869"/>
              </a:solidFill>
              <a:ln>
                <a:noFill/>
              </a:ln>
            </c:spPr>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1-8B1B-431B-BC23-C0B2EDED9185}"/>
              </c:ext>
            </c:extLst>
          </c:dPt>
          <c:dPt>
            <c:idx val="3"/>
            <c:invertIfNegative val="0"/>
            <c:bubble3D val="0"/>
            <c:spPr>
              <a:solidFill>
                <a:srgbClr val="002869"/>
              </a:solidFill>
              <a:ln>
                <a:noFill/>
              </a:ln>
            </c:spPr>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3-8B1B-431B-BC23-C0B2EDED9185}"/>
              </c:ext>
            </c:extLst>
          </c:dPt>
          <c:dLbls>
            <c:dLbl>
              <c:idx val="1"/>
              <c:spPr>
                <a:noFill/>
                <a:ln>
                  <a:noFill/>
                </a:ln>
                <a:effectLst/>
              </c:spPr>
              <c:txPr>
                <a:bodyPr wrap="square" lIns="38100" tIns="19050" rIns="38100" bIns="19050" anchor="ctr">
                  <a:spAutoFit/>
                </a:bodyPr>
                <a:lstStyle/>
                <a:p>
                  <a:pPr>
                    <a:defRPr sz="12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8B1B-431B-BC23-C0B2EDED9185}"/>
                </c:ext>
              </c:extLst>
            </c:dLbl>
            <c:dLbl>
              <c:idx val="3"/>
              <c:tx>
                <c:rich>
                  <a:bodyPr/>
                  <a:lstStyle/>
                  <a:p>
                    <a:fld id="{02CCA8D1-8A57-45F3-9042-D0BBE99ABD9E}" type="VALUE">
                      <a:rPr lang="en-US" sz="1200" b="1">
                        <a:solidFill>
                          <a:schemeClr val="bg1"/>
                        </a:solidFill>
                        <a:latin typeface="Gartner Sans" panose="020B0504030402040204" pitchFamily="34" charset="0"/>
                      </a:rPr>
                      <a:pPr/>
                      <a:t>[VALUE]</a:t>
                    </a:fld>
                    <a:endParaRPr lang="en-US"/>
                  </a:p>
                </c:rich>
              </c:tx>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dlblFieldTable/>
                  <c15:showDataLabelsRange val="0"/>
                </c:ext>
                <c:ext xmlns:c16="http://schemas.microsoft.com/office/drawing/2014/chart" uri="{C3380CC4-5D6E-409C-BE32-E72D297353CC}">
                  <c16:uniqueId val="{00000003-8B1B-431B-BC23-C0B2EDED9185}"/>
                </c:ext>
              </c:extLst>
            </c:dLbl>
            <c:spPr>
              <a:noFill/>
              <a:ln>
                <a:noFill/>
              </a:ln>
              <a:effectLst/>
            </c:spPr>
            <c:txPr>
              <a:bodyPr wrap="square" lIns="38100" tIns="19050" rIns="38100" bIns="19050" anchor="ctr">
                <a:spAutoFit/>
              </a:bodyPr>
              <a:lstStyle/>
              <a:p>
                <a:pPr>
                  <a:defRPr sz="1200"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inEnd"/>
            <c:showLegendKey val="0"/>
            <c:showVal val="0"/>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val>
            <c:numRef>
              <c:f>Sheet1!$D$18:$D$22</c:f>
              <c:numCache>
                <c:formatCode>#,##0.0</c:formatCode>
                <c:ptCount val="5"/>
                <c:pt idx="0">
                  <c:v>0</c:v>
                </c:pt>
                <c:pt idx="1">
                  <c:v>1.7</c:v>
                </c:pt>
                <c:pt idx="2">
                  <c:v>0</c:v>
                </c:pt>
                <c:pt idx="3">
                  <c:v>1.7</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8B1B-431B-BC23-C0B2EDED9185}"/>
            </c:ext>
          </c:extLst>
        </c:ser>
        <c:ser>
          <c:idx val="2"/>
          <c:order val="1"/>
          <c:tx>
            <c:strRef>
              <c:f>Sheet1!$F$17</c:f>
              <c:strCache>
                <c:ptCount val="1"/>
                <c:pt idx="0">
                  <c:v>10th Positive Bar</c:v>
                </c:pt>
              </c:strCache>
            </c:strRef>
          </c:tx>
          <c:spPr>
            <a:noFill/>
            <a:ln>
              <a:noFill/>
            </a:ln>
          </c:spPr>
          <c:invertIfNegative val="0"/>
          <c:val>
            <c:numRef>
              <c:f>Sheet1!$F$18:$F$22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8B1B-431B-BC23-C0B2EDED9185}"/>
            </c:ext>
          </c:extLst>
        </c:ser>
        <c:ser>
          <c:idx val="4"/>
          <c:order val="2"/>
          <c:tx>
            <c:strRef>
              <c:f>Sheet1!$H$17</c:f>
              <c:strCache>
                <c:ptCount val="1"/>
                <c:pt idx="0">
                  <c:v>25th Positive Bar</c:v>
                </c:pt>
              </c:strCache>
            </c:strRef>
          </c:tx>
          <c:spPr>
            <a:solidFill>
              <a:srgbClr val="D9D9D9"/>
            </a:solidFill>
            <a:ln>
              <a:solidFill>
                <a:srgbClr val="D9D9D9"/>
              </a:solidFill>
            </a:ln>
          </c:spPr>
          <c:invertIfNegative val="0"/>
          <c:val>
            <c:numRef>
              <c:f>Sheet1!$H$18:$H$22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8B1B-431B-BC23-C0B2EDED9185}"/>
            </c:ext>
          </c:extLst>
        </c:ser>
        <c:ser>
          <c:idx val="8"/>
          <c:order val="3"/>
          <c:tx>
            <c:strRef>
              <c:f>Sheet1!$L$17</c:f>
              <c:strCache>
                <c:ptCount val="1"/>
                <c:pt idx="0">
                  <c:v>90th Positive Bar</c:v>
                </c:pt>
              </c:strCache>
            </c:strRef>
          </c:tx>
          <c:spPr>
            <a:solidFill>
              <a:srgbClr val="D9D9D9"/>
            </a:solidFill>
            <a:ln>
              <a:noFill/>
            </a:ln>
          </c:spPr>
          <c:invertIfNegative val="0"/>
          <c:val>
            <c:numRef>
              <c:f>Sheet1!$L$18:$L$22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8B1B-431B-BC23-C0B2EDED9185}"/>
            </c:ext>
          </c:extLst>
        </c:ser>
        <c:ser>
          <c:idx val="7"/>
          <c:order val="4"/>
          <c:tx>
            <c:strRef>
              <c:f>Sheet1!$K$17</c:f>
              <c:strCache>
                <c:ptCount val="1"/>
                <c:pt idx="0">
                  <c:v>90th Negative Bar</c:v>
                </c:pt>
              </c:strCache>
            </c:strRef>
          </c:tx>
          <c:spPr>
            <a:noFill/>
          </c:spPr>
          <c:invertIfNegative val="0"/>
          <c:val>
            <c:numRef>
              <c:f>Sheet1!$K$18:$K$22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8B1B-431B-BC23-C0B2EDED9185}"/>
            </c:ext>
          </c:extLst>
        </c:ser>
        <c:ser>
          <c:idx val="5"/>
          <c:order val="5"/>
          <c:tx>
            <c:strRef>
              <c:f>Sheet1!$I$17</c:f>
              <c:strCache>
                <c:ptCount val="1"/>
                <c:pt idx="0">
                  <c:v>75th Negative Bar</c:v>
                </c:pt>
              </c:strCache>
            </c:strRef>
          </c:tx>
          <c:spPr>
            <a:noFill/>
          </c:spPr>
          <c:invertIfNegative val="0"/>
          <c:val>
            <c:numRef>
              <c:f>Sheet1!$I$18:$I$22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8B1B-431B-BC23-C0B2EDED9185}"/>
            </c:ext>
          </c:extLst>
        </c:ser>
        <c:ser>
          <c:idx val="3"/>
          <c:order val="6"/>
          <c:tx>
            <c:strRef>
              <c:f>Sheet1!$G$17</c:f>
              <c:strCache>
                <c:ptCount val="1"/>
                <c:pt idx="0">
                  <c:v>25th Negative Bar</c:v>
                </c:pt>
              </c:strCache>
            </c:strRef>
          </c:tx>
          <c:spPr>
            <a:solidFill>
              <a:srgbClr val="BFBFBF"/>
            </a:solidFill>
            <a:ln>
              <a:solidFill>
                <a:srgbClr val="BFBFBF"/>
              </a:solidFill>
            </a:ln>
          </c:spPr>
          <c:invertIfNegative val="0"/>
          <c:val>
            <c:numRef>
              <c:f>Sheet1!$G$18:$G$22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8B1B-431B-BC23-C0B2EDED9185}"/>
            </c:ext>
          </c:extLst>
        </c:ser>
        <c:ser>
          <c:idx val="1"/>
          <c:order val="7"/>
          <c:tx>
            <c:strRef>
              <c:f>Sheet1!$E$17</c:f>
              <c:strCache>
                <c:ptCount val="1"/>
                <c:pt idx="0">
                  <c:v>10th Negative Bar</c:v>
                </c:pt>
              </c:strCache>
            </c:strRef>
          </c:tx>
          <c:spPr>
            <a:solidFill>
              <a:srgbClr val="D9D9D9"/>
            </a:solidFill>
            <a:ln>
              <a:solidFill>
                <a:srgbClr val="D9D9D9"/>
              </a:solidFill>
            </a:ln>
          </c:spPr>
          <c:invertIfNegative val="0"/>
          <c:val>
            <c:numRef>
              <c:f>Sheet1!$E$18:$E$22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8B1B-431B-BC23-C0B2EDED9185}"/>
            </c:ext>
          </c:extLst>
        </c:ser>
        <c:dLbls>
          <c:showLegendKey val="0"/>
          <c:showVal val="0"/>
          <c:showCatName val="0"/>
          <c:showSerName val="0"/>
          <c:showPercent val="0"/>
          <c:showBubbleSize val="0"/>
        </c:dLbls>
        <c:gapWidth val="9"/>
        <c:overlap val="100"/>
        <c:axId val="1154865663"/>
        <c:axId val="1"/>
      </c:barChart>
      <c:scatterChart>
        <c:scatterStyle val="lineMarker"/>
        <c:varyColors val="0"/>
        <c:ser>
          <c:idx val="11"/>
          <c:order val="8"/>
          <c:tx>
            <c:strRef>
              <c:f>Sheet1!$B$8</c:f>
              <c:strCache>
                <c:ptCount val="1"/>
                <c:pt idx="0">
                  <c:v>Current Maturity</c:v>
                </c:pt>
              </c:strCache>
            </c:strRef>
          </c:tx>
          <c:marker>
            <c:symbol val="none"/>
          </c:marker>
          <c:xVal>
            <c:numRef>
              <c:f>Sheet1!$D$8</c:f>
              <c:numCache>
                <c:formatCode>0.00</c:formatCode>
                <c:ptCount val="1"/>
                <c:pt idx="0">
                  <c:v>1.7</c:v>
                </c:pt>
              </c:numCache>
            </c:numRef>
          </c:xVal>
          <c:yVal>
            <c:numRef>
              <c:f>Sheet1!$D$14</c:f>
              <c:numCache>
                <c:formatCode>0.00</c:formatCode>
                <c:ptCount val="1"/>
                <c:pt idx="0">
                  <c:v>0</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8B1B-431B-BC23-C0B2EDED9185}"/>
            </c:ext>
          </c:extLst>
        </c:ser>
        <c:ser>
          <c:idx val="12"/>
          <c:order val="9"/>
          <c:tx>
            <c:strRef>
              <c:f>Sheet1!$B$9</c:f>
              <c:strCache>
                <c:ptCount val="1"/>
                <c:pt idx="0">
                  <c:v>Peers' Current Maturity</c:v>
                </c:pt>
              </c:strCache>
            </c:strRef>
          </c:tx>
          <c:marker>
            <c:symbol val="none"/>
          </c:marker>
          <c:xVal>
            <c:numRef>
              <c:f>Sheet1!$D$9</c:f>
              <c:numCache>
                <c:formatCode>0.00</c:formatCode>
                <c:ptCount val="1"/>
                <c:pt idx="0">
                  <c:v>1.7</c:v>
                </c:pt>
              </c:numCache>
            </c:numRef>
          </c:xVal>
          <c:yVal>
            <c:numRef>
              <c:f>Sheet1!$D$15</c:f>
              <c:numCache>
                <c:formatCode>0.00</c:formatCode>
                <c:ptCount val="1"/>
                <c:pt idx="0">
                  <c:v>0</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8B1B-431B-BC23-C0B2EDED9185}"/>
            </c:ext>
          </c:extLst>
        </c:ser>
        <c:ser>
          <c:idx val="13"/>
          <c:order val="10"/>
          <c:tx>
            <c:strRef>
              <c:f>Sheet1!$B$11</c:f>
              <c:strCache>
                <c:ptCount val="1"/>
                <c:pt idx="0">
                  <c:v>Minimum</c:v>
                </c:pt>
              </c:strCache>
            </c:strRef>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8B1B-431B-BC23-C0B2EDED9185}"/>
              </c:ext>
            </c:extLst>
          </c:dPt>
          <c:xVal>
            <c:numRef>
              <c:f>Sheet1!$D$11</c:f>
              <c:numCache>
                <c:formatCode>0.00</c:formatCode>
                <c:ptCount val="1"/>
                <c:pt idx="0">
                  <c:v>0</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8B1B-431B-BC23-C0B2EDED9185}"/>
            </c:ext>
          </c:extLst>
        </c:ser>
        <c:ser>
          <c:idx val="14"/>
          <c:order val="11"/>
          <c:tx>
            <c:strRef>
              <c:f>Sheet1!$B$12</c:f>
              <c:strCache>
                <c:ptCount val="1"/>
                <c:pt idx="0">
                  <c:v>Maximum</c:v>
                </c:pt>
              </c:strCache>
            </c:strRef>
          </c:tx>
          <c:marker>
            <c:symbol val="none"/>
          </c:marker>
          <c:xVal>
            <c:numRef>
              <c:f>Sheet1!$D$12</c:f>
              <c:numCache>
                <c:formatCode>0.00</c:formatCode>
                <c:ptCount val="1"/>
                <c:pt idx="0">
                  <c:v>0</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8B1B-431B-BC23-C0B2EDED9185}"/>
            </c:ext>
          </c:extLst>
        </c:ser>
        <c:ser>
          <c:idx val="15"/>
          <c:order val="12"/>
          <c:tx>
            <c:strRef>
              <c:f>Sheet1!$B$10</c:f>
              <c:strCache>
                <c:ptCount val="1"/>
                <c:pt idx="0">
                  <c:v>Target Maturity</c:v>
                </c:pt>
              </c:strCache>
            </c:strRef>
          </c:tx>
          <c:spPr>
            <a:ln>
              <a:noFill/>
            </a:ln>
          </c:spPr>
          <c:marker>
            <c:symbol val="none"/>
          </c:marker>
          <c:dLbls>
            <c:dLbl>
              <c:idx val="0"/>
              <c:spPr>
                <a:solidFill>
                  <a:srgbClr val="1F96FF"/>
                </a:solidFill>
                <a:ln>
                  <a:noFill/>
                </a:ln>
                <a:effectLst/>
              </c:spPr>
              <c:txPr>
                <a:bodyPr wrap="square" lIns="38100" tIns="19050" rIns="38100" bIns="19050" anchor="ctr">
                  <a:spAutoFit/>
                </a:bodyPr>
                <a:lstStyle/>
                <a:p>
                  <a:pPr>
                    <a:defRPr sz="12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8B1B-431B-BC23-C0B2EDED9185}"/>
                </c:ext>
              </c:extLst>
            </c:dLbl>
            <c:spPr>
              <a:solidFill>
                <a:srgbClr val="1F96FF"/>
              </a:solidFill>
              <a:ln>
                <a:solidFill>
                  <a:srgbClr val="002856">
                    <a:lumMod val="50000"/>
                    <a:lumOff val="50000"/>
                  </a:srgbClr>
                </a:solidFill>
              </a:ln>
              <a:effectLst/>
            </c:spPr>
            <c:txPr>
              <a:bodyPr wrap="square" lIns="38100" tIns="19050" rIns="38100" bIns="19050" anchor="ctr">
                <a:spAutoFit/>
              </a:bodyPr>
              <a:lstStyle/>
              <a:p>
                <a:pPr>
                  <a:defRPr sz="12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34.5"/>
            <c:spPr>
              <a:ln w="25400">
                <a:solidFill>
                  <a:srgbClr val="1F96FF"/>
                </a:solidFill>
              </a:ln>
            </c:spPr>
          </c:errBars>
          <c:xVal>
            <c:numRef>
              <c:f>Sheet1!$D$10</c:f>
              <c:numCache>
                <c:formatCode>0.0</c:formatCode>
                <c:ptCount val="1"/>
                <c:pt idx="0">
                  <c:v>2.7</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8B1B-431B-BC23-C0B2EDED9185}"/>
            </c:ext>
          </c:extLst>
        </c:ser>
        <c:ser>
          <c:idx val="16"/>
          <c:order val="13"/>
          <c:tx>
            <c:strRef>
              <c:f>Sheet1!$B$5</c:f>
              <c:strCache>
                <c:ptCount val="1"/>
                <c:pt idx="0">
                  <c:v>25th</c:v>
                </c:pt>
              </c:strCache>
            </c:strRef>
          </c:tx>
          <c:marker>
            <c:symbol val="none"/>
          </c:marker>
          <c:xVal>
            <c:numRef>
              <c:f>Sheet1!$D$5</c:f>
              <c:numCache>
                <c:formatCode>0.00</c:formatCode>
                <c:ptCount val="1"/>
                <c:pt idx="0">
                  <c:v>0</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8B1B-431B-BC23-C0B2EDED9185}"/>
            </c:ext>
          </c:extLst>
        </c:ser>
        <c:ser>
          <c:idx val="17"/>
          <c:order val="14"/>
          <c:tx>
            <c:strRef>
              <c:f>Sheet1!$B$6</c:f>
              <c:strCache>
                <c:ptCount val="1"/>
                <c:pt idx="0">
                  <c:v>75th</c:v>
                </c:pt>
              </c:strCache>
            </c:strRef>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8B1B-431B-BC23-C0B2EDED9185}"/>
              </c:ext>
            </c:extLst>
          </c:dPt>
          <c:xVal>
            <c:numRef>
              <c:f>Sheet1!$D$6</c:f>
              <c:numCache>
                <c:formatCode>0.00</c:formatCode>
                <c:ptCount val="1"/>
                <c:pt idx="0">
                  <c:v>0</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5-8B1B-431B-BC23-C0B2EDED9185}"/>
            </c:ext>
          </c:extLst>
        </c:ser>
        <c:ser>
          <c:idx val="6"/>
          <c:order val="15"/>
          <c:tx>
            <c:strRef>
              <c:f>Sheet1!$B$13</c:f>
              <c:strCache>
                <c:ptCount val="1"/>
                <c:pt idx="0">
                  <c:v>Peers' Target Maturity</c:v>
                </c:pt>
              </c:strCache>
            </c:strRef>
          </c:tx>
          <c:marker>
            <c:symbol val="none"/>
          </c:marker>
          <c:dLbls>
            <c:spPr>
              <a:solidFill>
                <a:srgbClr val="1F96FF"/>
              </a:solidFill>
              <a:ln>
                <a:noFill/>
              </a:ln>
              <a:effectLst/>
            </c:spPr>
            <c:txPr>
              <a:bodyPr wrap="square" lIns="38100" tIns="19050" rIns="38100" bIns="19050" anchor="ctr">
                <a:spAutoFit/>
              </a:bodyPr>
              <a:lstStyle/>
              <a:p>
                <a:pPr>
                  <a:defRPr sz="12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errBars>
            <c:errDir val="y"/>
            <c:errBarType val="minus"/>
            <c:errValType val="percentage"/>
            <c:noEndCap val="1"/>
            <c:val val="70.5"/>
            <c:spPr>
              <a:ln w="25400">
                <a:solidFill>
                  <a:srgbClr val="1F96FF"/>
                </a:solidFill>
              </a:ln>
            </c:spPr>
          </c:errBars>
          <c:xVal>
            <c:numRef>
              <c:f>Sheet1!$D$13</c:f>
              <c:numCache>
                <c:formatCode>0.0</c:formatCode>
                <c:ptCount val="1"/>
                <c:pt idx="0">
                  <c:v>2.9</c:v>
                </c:pt>
              </c:numCache>
            </c:numRef>
          </c:xVal>
          <c:yVal>
            <c:numRef>
              <c:f>Sheet1!$E$16</c:f>
              <c:numCache>
                <c:formatCode>#,##0.00</c:formatCode>
                <c:ptCount val="1"/>
                <c:pt idx="0">
                  <c:v>3.7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7-8B1B-431B-BC23-C0B2EDED9185}"/>
            </c:ext>
          </c:extLst>
        </c:ser>
        <c:dLbls>
          <c:showLegendKey val="0"/>
          <c:showVal val="0"/>
          <c:showCatName val="0"/>
          <c:showSerName val="0"/>
          <c:showPercent val="0"/>
          <c:showBubbleSize val="0"/>
        </c:dLbls>
        <c:axId val="1509330271"/>
        <c:axId val="1509351903"/>
      </c:scatterChart>
      <c:catAx>
        <c:axId val="1154865663"/>
        <c:scaling>
          <c:orientation val="minMax"/>
        </c:scaling>
        <c:delete val="0"/>
        <c:axPos val="l"/>
        <c:numFmt formatCode="General" sourceLinked="1"/>
        <c:majorTickMark val="none"/>
        <c:minorTickMark val="none"/>
        <c:tickLblPos val="none"/>
        <c:spPr>
          <a:ln w="12700">
            <a:noFill/>
          </a:ln>
        </c:spPr>
        <c:txPr>
          <a:bodyPr/>
          <a:lstStyle/>
          <a:p>
            <a:pPr>
              <a:defRPr smtId="4294967295">
                <a:solidFill>
                  <a:srgbClr val="000000"/>
                </a:solidFill>
              </a:defRPr>
            </a:pPr>
            <a:endParaRPr lang="en-US"/>
          </a:p>
        </c:txPr>
        <c:crossAx val="1"/>
        <c:crosses val="autoZero"/>
        <c:auto val="0"/>
        <c:lblAlgn val="ctr"/>
        <c:lblOffset val="100"/>
        <c:noMultiLvlLbl val="1"/>
      </c:catAx>
      <c:valAx>
        <c:axId val="1"/>
        <c:scaling>
          <c:orientation val="minMax"/>
          <c:max val="5"/>
          <c:min val="0"/>
        </c:scaling>
        <c:delete val="1"/>
        <c:axPos val="b"/>
        <c:numFmt formatCode="#,##0" sourceLinked="0"/>
        <c:majorTickMark val="out"/>
        <c:minorTickMark val="none"/>
        <c:tickLblPos val="nextTo"/>
        <c:crossAx val="1154865663"/>
        <c:crossesAt val="1"/>
        <c:crossBetween val="between"/>
        <c:majorUnit val="1"/>
        <c:minorUnit val="0.1"/>
      </c:valAx>
      <c:valAx>
        <c:axId val="1509330271"/>
        <c:scaling>
          <c:orientation val="minMax"/>
        </c:scaling>
        <c:delete val="1"/>
        <c:axPos val="b"/>
        <c:numFmt formatCode="0.00" sourceLinked="1"/>
        <c:majorTickMark val="out"/>
        <c:minorTickMark val="none"/>
        <c:tickLblPos val="nextTo"/>
        <c:crossAx val="1509351903"/>
        <c:crosses val="autoZero"/>
        <c:crossBetween val="midCat"/>
      </c:valAx>
      <c:valAx>
        <c:axId val="1509351903"/>
        <c:scaling>
          <c:orientation val="minMax"/>
          <c:max val="9"/>
        </c:scaling>
        <c:delete val="1"/>
        <c:axPos val="l"/>
        <c:numFmt formatCode="0.00" sourceLinked="1"/>
        <c:majorTickMark val="out"/>
        <c:minorTickMark val="none"/>
        <c:tickLblPos val="nextTo"/>
        <c:crossAx val="1509330271"/>
        <c:crosses val="autoZero"/>
        <c:crossBetween val="midCat"/>
      </c:valAx>
      <c:spPr>
        <a:noFill/>
        <a:ln>
          <a:noFill/>
        </a:ln>
      </c:spPr>
    </c:plotArea>
    <c:plotVisOnly val="1"/>
    <c:dispBlanksAs val="gap"/>
    <c:showDLblsOverMax val="0"/>
  </c:chart>
  <c:spPr>
    <a:noFill/>
    <a:ln>
      <a:noFill/>
    </a:ln>
  </c:spPr>
  <c:externalData r:id="rId2">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552667424082756E-2"/>
          <c:y val="0.12789101898670197"/>
          <c:w val="0.89955431222915649"/>
          <c:h val="0.70749789476394653"/>
        </c:manualLayout>
      </c:layout>
      <c:barChart>
        <c:barDir val="bar"/>
        <c:grouping val="stacked"/>
        <c:varyColors val="0"/>
        <c:ser>
          <c:idx val="0"/>
          <c:order val="0"/>
          <c:tx>
            <c:strRef>
              <c:f>Sheet1!$B$8</c:f>
              <c:strCache>
                <c:ptCount val="1"/>
                <c:pt idx="0">
                  <c:v>Current Maturity</c:v>
                </c:pt>
              </c:strCache>
            </c:strRef>
          </c:tx>
          <c:spPr>
            <a:ln>
              <a:noFill/>
            </a:ln>
          </c:spPr>
          <c:invertIfNegative val="0"/>
          <c:dPt>
            <c:idx val="1"/>
            <c:invertIfNegative val="0"/>
            <c:bubble3D val="0"/>
            <c:spPr>
              <a:solidFill>
                <a:srgbClr val="002869"/>
              </a:solidFill>
              <a:ln>
                <a:noFill/>
              </a:ln>
            </c:spPr>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1-E037-483F-B844-31DC005D4F1F}"/>
              </c:ext>
            </c:extLst>
          </c:dPt>
          <c:dPt>
            <c:idx val="3"/>
            <c:invertIfNegative val="0"/>
            <c:bubble3D val="0"/>
            <c:spPr>
              <a:solidFill>
                <a:srgbClr val="002869"/>
              </a:solidFill>
              <a:ln>
                <a:noFill/>
              </a:ln>
            </c:spPr>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3-E037-483F-B844-31DC005D4F1F}"/>
              </c:ext>
            </c:extLst>
          </c:dPt>
          <c:dLbls>
            <c:dLbl>
              <c:idx val="1"/>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E037-483F-B844-31DC005D4F1F}"/>
                </c:ext>
              </c:extLst>
            </c:dLbl>
            <c:dLbl>
              <c:idx val="3"/>
              <c:tx>
                <c:rich>
                  <a:bodyPr/>
                  <a:lstStyle/>
                  <a:p>
                    <a:fld id="{02CCA8D1-8A57-45F3-9042-D0BBE99ABD9E}" type="VALUE">
                      <a:rPr lang="en-US" sz="1200" b="1">
                        <a:solidFill>
                          <a:schemeClr val="bg1"/>
                        </a:solidFill>
                        <a:latin typeface="Gartner Sans" panose="020B0504030402040204" pitchFamily="34" charset="0"/>
                      </a:rPr>
                      <a:pPr/>
                      <a:t>[VALUE]</a:t>
                    </a:fld>
                    <a:endParaRPr lang="en-US"/>
                  </a:p>
                </c:rich>
              </c:tx>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dlblFieldTable/>
                  <c15:showDataLabelsRange val="0"/>
                </c:ext>
                <c:ext xmlns:c16="http://schemas.microsoft.com/office/drawing/2014/chart" uri="{C3380CC4-5D6E-409C-BE32-E72D297353CC}">
                  <c16:uniqueId val="{00000003-E037-483F-B844-31DC005D4F1F}"/>
                </c:ext>
              </c:extLst>
            </c:dLbl>
            <c:spPr>
              <a:noFill/>
              <a:ln>
                <a:noFill/>
              </a:ln>
              <a:effectLst/>
            </c:spPr>
            <c:txPr>
              <a:bodyPr wrap="square" lIns="38100" tIns="19050" rIns="38100" bIns="19050" anchor="ctr">
                <a:spAutoFit/>
              </a:bodyPr>
              <a:lstStyle/>
              <a:p>
                <a:pPr>
                  <a:defRPr sz="12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inEnd"/>
            <c:showLegendKey val="0"/>
            <c:showVal val="0"/>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val>
            <c:numRef>
              <c:f>Sheet1!$D$18:$D$22</c:f>
              <c:numCache>
                <c:formatCode>#,##0.0</c:formatCode>
                <c:ptCount val="5"/>
                <c:pt idx="0">
                  <c:v>0</c:v>
                </c:pt>
                <c:pt idx="1">
                  <c:v>1.7</c:v>
                </c:pt>
                <c:pt idx="2">
                  <c:v>0</c:v>
                </c:pt>
                <c:pt idx="3">
                  <c:v>2.7</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E037-483F-B844-31DC005D4F1F}"/>
            </c:ext>
          </c:extLst>
        </c:ser>
        <c:ser>
          <c:idx val="2"/>
          <c:order val="1"/>
          <c:tx>
            <c:strRef>
              <c:f>Sheet1!$F$17</c:f>
              <c:strCache>
                <c:ptCount val="1"/>
                <c:pt idx="0">
                  <c:v>10th Positive Bar</c:v>
                </c:pt>
              </c:strCache>
            </c:strRef>
          </c:tx>
          <c:spPr>
            <a:noFill/>
            <a:ln>
              <a:noFill/>
            </a:ln>
          </c:spPr>
          <c:invertIfNegative val="0"/>
          <c:val>
            <c:numRef>
              <c:f>Sheet1!$F$18:$F$22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E037-483F-B844-31DC005D4F1F}"/>
            </c:ext>
          </c:extLst>
        </c:ser>
        <c:ser>
          <c:idx val="4"/>
          <c:order val="2"/>
          <c:tx>
            <c:strRef>
              <c:f>Sheet1!$H$17</c:f>
              <c:strCache>
                <c:ptCount val="1"/>
                <c:pt idx="0">
                  <c:v>25th Positive Bar</c:v>
                </c:pt>
              </c:strCache>
            </c:strRef>
          </c:tx>
          <c:spPr>
            <a:solidFill>
              <a:srgbClr val="D9D9D9"/>
            </a:solidFill>
            <a:ln>
              <a:solidFill>
                <a:srgbClr val="D9D9D9"/>
              </a:solidFill>
            </a:ln>
          </c:spPr>
          <c:invertIfNegative val="0"/>
          <c:val>
            <c:numRef>
              <c:f>Sheet1!$H$18:$H$22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E037-483F-B844-31DC005D4F1F}"/>
            </c:ext>
          </c:extLst>
        </c:ser>
        <c:ser>
          <c:idx val="8"/>
          <c:order val="3"/>
          <c:tx>
            <c:strRef>
              <c:f>Sheet1!$L$17</c:f>
              <c:strCache>
                <c:ptCount val="1"/>
                <c:pt idx="0">
                  <c:v>90th Positive Bar</c:v>
                </c:pt>
              </c:strCache>
            </c:strRef>
          </c:tx>
          <c:spPr>
            <a:solidFill>
              <a:srgbClr val="D9D9D9"/>
            </a:solidFill>
            <a:ln>
              <a:noFill/>
            </a:ln>
          </c:spPr>
          <c:invertIfNegative val="0"/>
          <c:val>
            <c:numRef>
              <c:f>Sheet1!$L$18:$L$22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E037-483F-B844-31DC005D4F1F}"/>
            </c:ext>
          </c:extLst>
        </c:ser>
        <c:ser>
          <c:idx val="7"/>
          <c:order val="4"/>
          <c:tx>
            <c:strRef>
              <c:f>Sheet1!$K$17</c:f>
              <c:strCache>
                <c:ptCount val="1"/>
                <c:pt idx="0">
                  <c:v>90th Negative Bar</c:v>
                </c:pt>
              </c:strCache>
            </c:strRef>
          </c:tx>
          <c:spPr>
            <a:noFill/>
          </c:spPr>
          <c:invertIfNegative val="0"/>
          <c:val>
            <c:numRef>
              <c:f>Sheet1!$K$18:$K$22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E037-483F-B844-31DC005D4F1F}"/>
            </c:ext>
          </c:extLst>
        </c:ser>
        <c:ser>
          <c:idx val="5"/>
          <c:order val="5"/>
          <c:tx>
            <c:strRef>
              <c:f>Sheet1!$I$17</c:f>
              <c:strCache>
                <c:ptCount val="1"/>
                <c:pt idx="0">
                  <c:v>75th Negative Bar</c:v>
                </c:pt>
              </c:strCache>
            </c:strRef>
          </c:tx>
          <c:spPr>
            <a:noFill/>
          </c:spPr>
          <c:invertIfNegative val="0"/>
          <c:val>
            <c:numRef>
              <c:f>Sheet1!$I$18:$I$22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E037-483F-B844-31DC005D4F1F}"/>
            </c:ext>
          </c:extLst>
        </c:ser>
        <c:ser>
          <c:idx val="3"/>
          <c:order val="6"/>
          <c:tx>
            <c:strRef>
              <c:f>Sheet1!$G$17</c:f>
              <c:strCache>
                <c:ptCount val="1"/>
                <c:pt idx="0">
                  <c:v>25th Negative Bar</c:v>
                </c:pt>
              </c:strCache>
            </c:strRef>
          </c:tx>
          <c:spPr>
            <a:solidFill>
              <a:srgbClr val="BFBFBF"/>
            </a:solidFill>
            <a:ln>
              <a:solidFill>
                <a:srgbClr val="BFBFBF"/>
              </a:solidFill>
            </a:ln>
          </c:spPr>
          <c:invertIfNegative val="0"/>
          <c:val>
            <c:numRef>
              <c:f>Sheet1!$G$18:$G$22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E037-483F-B844-31DC005D4F1F}"/>
            </c:ext>
          </c:extLst>
        </c:ser>
        <c:ser>
          <c:idx val="1"/>
          <c:order val="7"/>
          <c:tx>
            <c:strRef>
              <c:f>Sheet1!$E$17</c:f>
              <c:strCache>
                <c:ptCount val="1"/>
                <c:pt idx="0">
                  <c:v>10th Negative Bar</c:v>
                </c:pt>
              </c:strCache>
            </c:strRef>
          </c:tx>
          <c:spPr>
            <a:solidFill>
              <a:srgbClr val="D9D9D9"/>
            </a:solidFill>
            <a:ln>
              <a:solidFill>
                <a:srgbClr val="D9D9D9"/>
              </a:solidFill>
            </a:ln>
          </c:spPr>
          <c:invertIfNegative val="0"/>
          <c:val>
            <c:numRef>
              <c:f>Sheet1!$E$18:$E$22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E037-483F-B844-31DC005D4F1F}"/>
            </c:ext>
          </c:extLst>
        </c:ser>
        <c:dLbls>
          <c:showLegendKey val="0"/>
          <c:showVal val="0"/>
          <c:showCatName val="0"/>
          <c:showSerName val="0"/>
          <c:showPercent val="0"/>
          <c:showBubbleSize val="0"/>
        </c:dLbls>
        <c:gapWidth val="9"/>
        <c:overlap val="100"/>
        <c:axId val="1154865663"/>
        <c:axId val="1"/>
      </c:barChart>
      <c:scatterChart>
        <c:scatterStyle val="lineMarker"/>
        <c:varyColors val="0"/>
        <c:ser>
          <c:idx val="11"/>
          <c:order val="8"/>
          <c:tx>
            <c:strRef>
              <c:f>Sheet1!$B$8</c:f>
              <c:strCache>
                <c:ptCount val="1"/>
                <c:pt idx="0">
                  <c:v>Current Maturity</c:v>
                </c:pt>
              </c:strCache>
            </c:strRef>
          </c:tx>
          <c:marker>
            <c:symbol val="none"/>
          </c:marker>
          <c:xVal>
            <c:numRef>
              <c:f>Sheet1!$D$8</c:f>
              <c:numCache>
                <c:formatCode>0.00</c:formatCode>
                <c:ptCount val="1"/>
                <c:pt idx="0">
                  <c:v>2.7</c:v>
                </c:pt>
              </c:numCache>
            </c:numRef>
          </c:xVal>
          <c:yVal>
            <c:numRef>
              <c:f>Sheet1!$D$14</c:f>
              <c:numCache>
                <c:formatCode>0.00</c:formatCode>
                <c:ptCount val="1"/>
                <c:pt idx="0">
                  <c:v>0</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E037-483F-B844-31DC005D4F1F}"/>
            </c:ext>
          </c:extLst>
        </c:ser>
        <c:ser>
          <c:idx val="12"/>
          <c:order val="9"/>
          <c:tx>
            <c:strRef>
              <c:f>Sheet1!$B$9</c:f>
              <c:strCache>
                <c:ptCount val="1"/>
                <c:pt idx="0">
                  <c:v>Peers' Current Maturity</c:v>
                </c:pt>
              </c:strCache>
            </c:strRef>
          </c:tx>
          <c:marker>
            <c:symbol val="none"/>
          </c:marker>
          <c:xVal>
            <c:numRef>
              <c:f>Sheet1!$D$9</c:f>
              <c:numCache>
                <c:formatCode>0.00</c:formatCode>
                <c:ptCount val="1"/>
                <c:pt idx="0">
                  <c:v>1.7</c:v>
                </c:pt>
              </c:numCache>
            </c:numRef>
          </c:xVal>
          <c:yVal>
            <c:numRef>
              <c:f>Sheet1!$D$15</c:f>
              <c:numCache>
                <c:formatCode>0.00</c:formatCode>
                <c:ptCount val="1"/>
                <c:pt idx="0">
                  <c:v>0</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E037-483F-B844-31DC005D4F1F}"/>
            </c:ext>
          </c:extLst>
        </c:ser>
        <c:ser>
          <c:idx val="13"/>
          <c:order val="10"/>
          <c:tx>
            <c:strRef>
              <c:f>Sheet1!$B$11</c:f>
              <c:strCache>
                <c:ptCount val="1"/>
                <c:pt idx="0">
                  <c:v>Minimum</c:v>
                </c:pt>
              </c:strCache>
            </c:strRef>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E037-483F-B844-31DC005D4F1F}"/>
              </c:ext>
            </c:extLst>
          </c:dPt>
          <c:xVal>
            <c:numRef>
              <c:f>Sheet1!$D$11</c:f>
              <c:numCache>
                <c:formatCode>0.00</c:formatCode>
                <c:ptCount val="1"/>
                <c:pt idx="0">
                  <c:v>0</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E037-483F-B844-31DC005D4F1F}"/>
            </c:ext>
          </c:extLst>
        </c:ser>
        <c:ser>
          <c:idx val="14"/>
          <c:order val="11"/>
          <c:tx>
            <c:strRef>
              <c:f>Sheet1!$B$12</c:f>
              <c:strCache>
                <c:ptCount val="1"/>
                <c:pt idx="0">
                  <c:v>Maximum</c:v>
                </c:pt>
              </c:strCache>
            </c:strRef>
          </c:tx>
          <c:marker>
            <c:symbol val="none"/>
          </c:marker>
          <c:xVal>
            <c:numRef>
              <c:f>Sheet1!$D$12</c:f>
              <c:numCache>
                <c:formatCode>0.00</c:formatCode>
                <c:ptCount val="1"/>
                <c:pt idx="0">
                  <c:v>0</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E037-483F-B844-31DC005D4F1F}"/>
            </c:ext>
          </c:extLst>
        </c:ser>
        <c:ser>
          <c:idx val="15"/>
          <c:order val="12"/>
          <c:tx>
            <c:strRef>
              <c:f>Sheet1!$B$10</c:f>
              <c:strCache>
                <c:ptCount val="1"/>
                <c:pt idx="0">
                  <c:v>Target Maturity</c:v>
                </c:pt>
              </c:strCache>
            </c:strRef>
          </c:tx>
          <c:spPr>
            <a:ln>
              <a:noFill/>
            </a:ln>
          </c:spPr>
          <c:marker>
            <c:symbol val="none"/>
          </c:marker>
          <c:dLbls>
            <c:dLbl>
              <c:idx val="0"/>
              <c:spPr>
                <a:solidFill>
                  <a:srgbClr val="1F96FF"/>
                </a:solidFill>
                <a:ln>
                  <a:noFill/>
                </a:ln>
                <a:effectLst/>
              </c:spPr>
              <c:txPr>
                <a:bodyPr wrap="square" lIns="38100" tIns="19050" rIns="38100" bIns="19050" anchor="ctr">
                  <a:spAutoFit/>
                </a:bodyPr>
                <a:lstStyle/>
                <a:p>
                  <a:pPr>
                    <a:defRPr sz="12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E037-483F-B844-31DC005D4F1F}"/>
                </c:ext>
              </c:extLst>
            </c:dLbl>
            <c:spPr>
              <a:solidFill>
                <a:srgbClr val="1F96FF"/>
              </a:solidFill>
              <a:ln>
                <a:solidFill>
                  <a:srgbClr val="002856">
                    <a:lumMod val="50000"/>
                    <a:lumOff val="50000"/>
                  </a:srgbClr>
                </a:solidFill>
              </a:ln>
              <a:effectLst/>
            </c:spPr>
            <c:txPr>
              <a:bodyPr wrap="square" lIns="38100" tIns="19050" rIns="38100" bIns="19050" anchor="ctr">
                <a:spAutoFit/>
              </a:bodyPr>
              <a:lstStyle/>
              <a:p>
                <a:pPr>
                  <a:defRPr sz="12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34.5"/>
            <c:spPr>
              <a:ln w="25400">
                <a:solidFill>
                  <a:srgbClr val="1F96FF"/>
                </a:solidFill>
              </a:ln>
            </c:spPr>
          </c:errBars>
          <c:xVal>
            <c:numRef>
              <c:f>Sheet1!$D$10</c:f>
              <c:numCache>
                <c:formatCode>0.0</c:formatCode>
                <c:ptCount val="1"/>
                <c:pt idx="0">
                  <c:v>3</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E037-483F-B844-31DC005D4F1F}"/>
            </c:ext>
          </c:extLst>
        </c:ser>
        <c:ser>
          <c:idx val="16"/>
          <c:order val="13"/>
          <c:tx>
            <c:strRef>
              <c:f>Sheet1!$B$5</c:f>
              <c:strCache>
                <c:ptCount val="1"/>
                <c:pt idx="0">
                  <c:v>25th</c:v>
                </c:pt>
              </c:strCache>
            </c:strRef>
          </c:tx>
          <c:marker>
            <c:symbol val="none"/>
          </c:marker>
          <c:xVal>
            <c:numRef>
              <c:f>Sheet1!$D$5</c:f>
              <c:numCache>
                <c:formatCode>0.00</c:formatCode>
                <c:ptCount val="1"/>
                <c:pt idx="0">
                  <c:v>0</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E037-483F-B844-31DC005D4F1F}"/>
            </c:ext>
          </c:extLst>
        </c:ser>
        <c:ser>
          <c:idx val="17"/>
          <c:order val="14"/>
          <c:tx>
            <c:strRef>
              <c:f>Sheet1!$B$6</c:f>
              <c:strCache>
                <c:ptCount val="1"/>
                <c:pt idx="0">
                  <c:v>75th</c:v>
                </c:pt>
              </c:strCache>
            </c:strRef>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E037-483F-B844-31DC005D4F1F}"/>
              </c:ext>
            </c:extLst>
          </c:dPt>
          <c:xVal>
            <c:numRef>
              <c:f>Sheet1!$D$6</c:f>
              <c:numCache>
                <c:formatCode>0.00</c:formatCode>
                <c:ptCount val="1"/>
                <c:pt idx="0">
                  <c:v>0</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5-E037-483F-B844-31DC005D4F1F}"/>
            </c:ext>
          </c:extLst>
        </c:ser>
        <c:ser>
          <c:idx val="6"/>
          <c:order val="15"/>
          <c:tx>
            <c:strRef>
              <c:f>Sheet1!$B$13</c:f>
              <c:strCache>
                <c:ptCount val="1"/>
                <c:pt idx="0">
                  <c:v>Peers' Target Maturity</c:v>
                </c:pt>
              </c:strCache>
            </c:strRef>
          </c:tx>
          <c:marker>
            <c:symbol val="none"/>
          </c:marker>
          <c:dLbls>
            <c:spPr>
              <a:solidFill>
                <a:srgbClr val="1F96FF"/>
              </a:solidFill>
              <a:ln>
                <a:noFill/>
              </a:ln>
              <a:effectLst/>
            </c:spPr>
            <c:txPr>
              <a:bodyPr wrap="square" lIns="38100" tIns="19050" rIns="38100" bIns="19050" anchor="ctr">
                <a:spAutoFit/>
              </a:bodyPr>
              <a:lstStyle/>
              <a:p>
                <a:pPr>
                  <a:defRPr sz="12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errBars>
            <c:errDir val="y"/>
            <c:errBarType val="minus"/>
            <c:errValType val="percentage"/>
            <c:noEndCap val="1"/>
            <c:val val="70.5"/>
            <c:spPr>
              <a:ln w="25400">
                <a:solidFill>
                  <a:srgbClr val="1F96FF"/>
                </a:solidFill>
              </a:ln>
            </c:spPr>
          </c:errBars>
          <c:xVal>
            <c:numRef>
              <c:f>Sheet1!$D$13</c:f>
              <c:numCache>
                <c:formatCode>0.0</c:formatCode>
                <c:ptCount val="1"/>
                <c:pt idx="0">
                  <c:v>3</c:v>
                </c:pt>
              </c:numCache>
            </c:numRef>
          </c:xVal>
          <c:yVal>
            <c:numRef>
              <c:f>Sheet1!$E$16</c:f>
              <c:numCache>
                <c:formatCode>#,##0.00</c:formatCode>
                <c:ptCount val="1"/>
                <c:pt idx="0">
                  <c:v>3.7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6-E037-483F-B844-31DC005D4F1F}"/>
            </c:ext>
          </c:extLst>
        </c:ser>
        <c:dLbls>
          <c:showLegendKey val="0"/>
          <c:showVal val="0"/>
          <c:showCatName val="0"/>
          <c:showSerName val="0"/>
          <c:showPercent val="0"/>
          <c:showBubbleSize val="0"/>
        </c:dLbls>
        <c:axId val="1509330271"/>
        <c:axId val="1509351903"/>
      </c:scatterChart>
      <c:catAx>
        <c:axId val="1154865663"/>
        <c:scaling>
          <c:orientation val="minMax"/>
        </c:scaling>
        <c:delete val="0"/>
        <c:axPos val="l"/>
        <c:numFmt formatCode="General" sourceLinked="1"/>
        <c:majorTickMark val="none"/>
        <c:minorTickMark val="none"/>
        <c:tickLblPos val="none"/>
        <c:spPr>
          <a:ln w="12700">
            <a:noFill/>
          </a:ln>
        </c:spPr>
        <c:txPr>
          <a:bodyPr/>
          <a:lstStyle/>
          <a:p>
            <a:pPr>
              <a:defRPr smtId="4294967295">
                <a:solidFill>
                  <a:srgbClr val="000000"/>
                </a:solidFill>
              </a:defRPr>
            </a:pPr>
            <a:endParaRPr lang="en-US"/>
          </a:p>
        </c:txPr>
        <c:crossAx val="1"/>
        <c:crosses val="autoZero"/>
        <c:auto val="0"/>
        <c:lblAlgn val="ctr"/>
        <c:lblOffset val="100"/>
        <c:noMultiLvlLbl val="1"/>
      </c:catAx>
      <c:valAx>
        <c:axId val="1"/>
        <c:scaling>
          <c:orientation val="minMax"/>
          <c:max val="5"/>
          <c:min val="0"/>
        </c:scaling>
        <c:delete val="1"/>
        <c:axPos val="b"/>
        <c:numFmt formatCode="#,##0" sourceLinked="0"/>
        <c:majorTickMark val="out"/>
        <c:minorTickMark val="none"/>
        <c:tickLblPos val="nextTo"/>
        <c:crossAx val="1154865663"/>
        <c:crossesAt val="1"/>
        <c:crossBetween val="between"/>
        <c:majorUnit val="1"/>
        <c:minorUnit val="0.1"/>
      </c:valAx>
      <c:valAx>
        <c:axId val="1509330271"/>
        <c:scaling>
          <c:orientation val="minMax"/>
        </c:scaling>
        <c:delete val="1"/>
        <c:axPos val="b"/>
        <c:numFmt formatCode="0.00" sourceLinked="1"/>
        <c:majorTickMark val="out"/>
        <c:minorTickMark val="none"/>
        <c:tickLblPos val="nextTo"/>
        <c:crossAx val="1509351903"/>
        <c:crosses val="autoZero"/>
        <c:crossBetween val="midCat"/>
      </c:valAx>
      <c:valAx>
        <c:axId val="1509351903"/>
        <c:scaling>
          <c:orientation val="minMax"/>
          <c:max val="9"/>
        </c:scaling>
        <c:delete val="1"/>
        <c:axPos val="l"/>
        <c:numFmt formatCode="0.00" sourceLinked="1"/>
        <c:majorTickMark val="out"/>
        <c:minorTickMark val="none"/>
        <c:tickLblPos val="nextTo"/>
        <c:crossAx val="1509330271"/>
        <c:crosses val="autoZero"/>
        <c:crossBetween val="midCat"/>
      </c:valAx>
      <c:spPr>
        <a:noFill/>
        <a:ln>
          <a:noFill/>
        </a:ln>
      </c:spPr>
    </c:plotArea>
    <c:plotVisOnly val="1"/>
    <c:dispBlanksAs val="gap"/>
    <c:showDLblsOverMax val="0"/>
  </c:chart>
  <c:spPr>
    <a:noFill/>
    <a:ln>
      <a:noFill/>
    </a:ln>
  </c:spPr>
  <c:externalData r:id="rId2">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552667424082756E-2"/>
          <c:y val="0.12789101898670197"/>
          <c:w val="0.89955431222915649"/>
          <c:h val="0.70749789476394653"/>
        </c:manualLayout>
      </c:layout>
      <c:barChart>
        <c:barDir val="bar"/>
        <c:grouping val="stacked"/>
        <c:varyColors val="0"/>
        <c:ser>
          <c:idx val="0"/>
          <c:order val="0"/>
          <c:tx>
            <c:strRef>
              <c:f>Sheet1!$B$8</c:f>
              <c:strCache>
                <c:ptCount val="1"/>
                <c:pt idx="0">
                  <c:v>Current Maturity</c:v>
                </c:pt>
              </c:strCache>
            </c:strRef>
          </c:tx>
          <c:spPr>
            <a:ln>
              <a:noFill/>
            </a:ln>
          </c:spPr>
          <c:invertIfNegative val="0"/>
          <c:dPt>
            <c:idx val="1"/>
            <c:invertIfNegative val="0"/>
            <c:bubble3D val="0"/>
            <c:spPr>
              <a:solidFill>
                <a:srgbClr val="002869"/>
              </a:solidFill>
              <a:ln>
                <a:noFill/>
              </a:ln>
            </c:spPr>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1-F150-4638-8E7C-E4EF5E39CB6A}"/>
              </c:ext>
            </c:extLst>
          </c:dPt>
          <c:dPt>
            <c:idx val="3"/>
            <c:invertIfNegative val="0"/>
            <c:bubble3D val="0"/>
            <c:spPr>
              <a:solidFill>
                <a:srgbClr val="002869"/>
              </a:solidFill>
              <a:ln>
                <a:noFill/>
              </a:ln>
            </c:spPr>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3-F150-4638-8E7C-E4EF5E39CB6A}"/>
              </c:ext>
            </c:extLst>
          </c:dPt>
          <c:dLbls>
            <c:dLbl>
              <c:idx val="1"/>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F150-4638-8E7C-E4EF5E39CB6A}"/>
                </c:ext>
              </c:extLst>
            </c:dLbl>
            <c:dLbl>
              <c:idx val="3"/>
              <c:tx>
                <c:rich>
                  <a:bodyPr/>
                  <a:lstStyle/>
                  <a:p>
                    <a:fld id="{02CCA8D1-8A57-45F3-9042-D0BBE99ABD9E}" type="VALUE">
                      <a:rPr lang="en-US" sz="1200" b="1">
                        <a:solidFill>
                          <a:schemeClr val="bg1"/>
                        </a:solidFill>
                        <a:latin typeface="Gartner Sans" panose="020B0504030402040204" pitchFamily="34" charset="0"/>
                      </a:rPr>
                      <a:pPr/>
                      <a:t>[VALUE]</a:t>
                    </a:fld>
                    <a:endParaRPr lang="en-US"/>
                  </a:p>
                </c:rich>
              </c:tx>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dlblFieldTable/>
                  <c15:showDataLabelsRange val="0"/>
                </c:ext>
                <c:ext xmlns:c16="http://schemas.microsoft.com/office/drawing/2014/chart" uri="{C3380CC4-5D6E-409C-BE32-E72D297353CC}">
                  <c16:uniqueId val="{00000003-F150-4638-8E7C-E4EF5E39CB6A}"/>
                </c:ext>
              </c:extLst>
            </c:dLbl>
            <c:spPr>
              <a:noFill/>
              <a:ln>
                <a:noFill/>
              </a:ln>
              <a:effectLst/>
            </c:spPr>
            <c:txPr>
              <a:bodyPr wrap="square" lIns="38100" tIns="19050" rIns="38100" bIns="19050" anchor="ctr">
                <a:spAutoFit/>
              </a:bodyPr>
              <a:lstStyle/>
              <a:p>
                <a:pPr>
                  <a:defRPr sz="12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showLegendKey val="0"/>
            <c:showVal val="0"/>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val>
            <c:numRef>
              <c:f>Sheet1!$D$18:$D$22</c:f>
              <c:numCache>
                <c:formatCode>#,##0.0</c:formatCode>
                <c:ptCount val="5"/>
                <c:pt idx="0">
                  <c:v>0</c:v>
                </c:pt>
                <c:pt idx="1">
                  <c:v>1.8</c:v>
                </c:pt>
                <c:pt idx="2">
                  <c:v>0</c:v>
                </c:pt>
                <c:pt idx="3">
                  <c:v>2.4</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F150-4638-8E7C-E4EF5E39CB6A}"/>
            </c:ext>
          </c:extLst>
        </c:ser>
        <c:ser>
          <c:idx val="2"/>
          <c:order val="1"/>
          <c:tx>
            <c:strRef>
              <c:f>Sheet1!$F$17</c:f>
              <c:strCache>
                <c:ptCount val="1"/>
                <c:pt idx="0">
                  <c:v>10th Positive Bar</c:v>
                </c:pt>
              </c:strCache>
            </c:strRef>
          </c:tx>
          <c:spPr>
            <a:noFill/>
            <a:ln>
              <a:noFill/>
            </a:ln>
          </c:spPr>
          <c:invertIfNegative val="0"/>
          <c:val>
            <c:numRef>
              <c:f>Sheet1!$F$18:$F$22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F150-4638-8E7C-E4EF5E39CB6A}"/>
            </c:ext>
          </c:extLst>
        </c:ser>
        <c:ser>
          <c:idx val="4"/>
          <c:order val="2"/>
          <c:tx>
            <c:strRef>
              <c:f>Sheet1!$H$17</c:f>
              <c:strCache>
                <c:ptCount val="1"/>
                <c:pt idx="0">
                  <c:v>25th Positive Bar</c:v>
                </c:pt>
              </c:strCache>
            </c:strRef>
          </c:tx>
          <c:spPr>
            <a:solidFill>
              <a:srgbClr val="D9D9D9"/>
            </a:solidFill>
            <a:ln>
              <a:solidFill>
                <a:srgbClr val="D9D9D9"/>
              </a:solidFill>
            </a:ln>
          </c:spPr>
          <c:invertIfNegative val="0"/>
          <c:val>
            <c:numRef>
              <c:f>Sheet1!$H$18:$H$22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F150-4638-8E7C-E4EF5E39CB6A}"/>
            </c:ext>
          </c:extLst>
        </c:ser>
        <c:ser>
          <c:idx val="8"/>
          <c:order val="3"/>
          <c:tx>
            <c:strRef>
              <c:f>Sheet1!$L$17</c:f>
              <c:strCache>
                <c:ptCount val="1"/>
                <c:pt idx="0">
                  <c:v>90th Positive Bar</c:v>
                </c:pt>
              </c:strCache>
            </c:strRef>
          </c:tx>
          <c:spPr>
            <a:solidFill>
              <a:srgbClr val="D9D9D9"/>
            </a:solidFill>
            <a:ln>
              <a:noFill/>
            </a:ln>
          </c:spPr>
          <c:invertIfNegative val="0"/>
          <c:val>
            <c:numRef>
              <c:f>Sheet1!$L$18:$L$22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F150-4638-8E7C-E4EF5E39CB6A}"/>
            </c:ext>
          </c:extLst>
        </c:ser>
        <c:ser>
          <c:idx val="7"/>
          <c:order val="4"/>
          <c:tx>
            <c:strRef>
              <c:f>Sheet1!$K$17</c:f>
              <c:strCache>
                <c:ptCount val="1"/>
                <c:pt idx="0">
                  <c:v>90th Negative Bar</c:v>
                </c:pt>
              </c:strCache>
            </c:strRef>
          </c:tx>
          <c:spPr>
            <a:noFill/>
          </c:spPr>
          <c:invertIfNegative val="0"/>
          <c:val>
            <c:numRef>
              <c:f>Sheet1!$K$18:$K$22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F150-4638-8E7C-E4EF5E39CB6A}"/>
            </c:ext>
          </c:extLst>
        </c:ser>
        <c:ser>
          <c:idx val="5"/>
          <c:order val="5"/>
          <c:tx>
            <c:strRef>
              <c:f>Sheet1!$I$17</c:f>
              <c:strCache>
                <c:ptCount val="1"/>
                <c:pt idx="0">
                  <c:v>75th Negative Bar</c:v>
                </c:pt>
              </c:strCache>
            </c:strRef>
          </c:tx>
          <c:spPr>
            <a:noFill/>
          </c:spPr>
          <c:invertIfNegative val="0"/>
          <c:val>
            <c:numRef>
              <c:f>Sheet1!$I$18:$I$22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F150-4638-8E7C-E4EF5E39CB6A}"/>
            </c:ext>
          </c:extLst>
        </c:ser>
        <c:ser>
          <c:idx val="3"/>
          <c:order val="6"/>
          <c:tx>
            <c:strRef>
              <c:f>Sheet1!$G$17</c:f>
              <c:strCache>
                <c:ptCount val="1"/>
                <c:pt idx="0">
                  <c:v>25th Negative Bar</c:v>
                </c:pt>
              </c:strCache>
            </c:strRef>
          </c:tx>
          <c:spPr>
            <a:solidFill>
              <a:srgbClr val="BFBFBF"/>
            </a:solidFill>
            <a:ln>
              <a:solidFill>
                <a:srgbClr val="BFBFBF"/>
              </a:solidFill>
            </a:ln>
          </c:spPr>
          <c:invertIfNegative val="0"/>
          <c:val>
            <c:numRef>
              <c:f>Sheet1!$G$18:$G$22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F150-4638-8E7C-E4EF5E39CB6A}"/>
            </c:ext>
          </c:extLst>
        </c:ser>
        <c:ser>
          <c:idx val="1"/>
          <c:order val="7"/>
          <c:tx>
            <c:strRef>
              <c:f>Sheet1!$E$17</c:f>
              <c:strCache>
                <c:ptCount val="1"/>
                <c:pt idx="0">
                  <c:v>10th Negative Bar</c:v>
                </c:pt>
              </c:strCache>
            </c:strRef>
          </c:tx>
          <c:spPr>
            <a:solidFill>
              <a:srgbClr val="D9D9D9"/>
            </a:solidFill>
            <a:ln>
              <a:solidFill>
                <a:srgbClr val="D9D9D9"/>
              </a:solidFill>
            </a:ln>
          </c:spPr>
          <c:invertIfNegative val="0"/>
          <c:val>
            <c:numRef>
              <c:f>Sheet1!$E$18:$E$22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F150-4638-8E7C-E4EF5E39CB6A}"/>
            </c:ext>
          </c:extLst>
        </c:ser>
        <c:dLbls>
          <c:showLegendKey val="0"/>
          <c:showVal val="0"/>
          <c:showCatName val="0"/>
          <c:showSerName val="0"/>
          <c:showPercent val="0"/>
          <c:showBubbleSize val="0"/>
        </c:dLbls>
        <c:gapWidth val="9"/>
        <c:overlap val="100"/>
        <c:axId val="1154865663"/>
        <c:axId val="1"/>
      </c:barChart>
      <c:scatterChart>
        <c:scatterStyle val="lineMarker"/>
        <c:varyColors val="0"/>
        <c:ser>
          <c:idx val="11"/>
          <c:order val="8"/>
          <c:tx>
            <c:strRef>
              <c:f>Sheet1!$B$8</c:f>
              <c:strCache>
                <c:ptCount val="1"/>
                <c:pt idx="0">
                  <c:v>Current Maturity</c:v>
                </c:pt>
              </c:strCache>
            </c:strRef>
          </c:tx>
          <c:marker>
            <c:symbol val="none"/>
          </c:marker>
          <c:xVal>
            <c:numRef>
              <c:f>Sheet1!$D$8</c:f>
              <c:numCache>
                <c:formatCode>0.00</c:formatCode>
                <c:ptCount val="1"/>
                <c:pt idx="0">
                  <c:v>2.4</c:v>
                </c:pt>
              </c:numCache>
            </c:numRef>
          </c:xVal>
          <c:yVal>
            <c:numRef>
              <c:f>Sheet1!$D$14</c:f>
              <c:numCache>
                <c:formatCode>0.00</c:formatCode>
                <c:ptCount val="1"/>
                <c:pt idx="0">
                  <c:v>0</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F150-4638-8E7C-E4EF5E39CB6A}"/>
            </c:ext>
          </c:extLst>
        </c:ser>
        <c:ser>
          <c:idx val="12"/>
          <c:order val="9"/>
          <c:tx>
            <c:strRef>
              <c:f>Sheet1!$B$9</c:f>
              <c:strCache>
                <c:ptCount val="1"/>
                <c:pt idx="0">
                  <c:v>Peers' Current Maturity</c:v>
                </c:pt>
              </c:strCache>
            </c:strRef>
          </c:tx>
          <c:marker>
            <c:symbol val="none"/>
          </c:marker>
          <c:xVal>
            <c:numRef>
              <c:f>Sheet1!$D$9</c:f>
              <c:numCache>
                <c:formatCode>0.00</c:formatCode>
                <c:ptCount val="1"/>
                <c:pt idx="0">
                  <c:v>1.8</c:v>
                </c:pt>
              </c:numCache>
            </c:numRef>
          </c:xVal>
          <c:yVal>
            <c:numRef>
              <c:f>Sheet1!$D$15</c:f>
              <c:numCache>
                <c:formatCode>0.00</c:formatCode>
                <c:ptCount val="1"/>
                <c:pt idx="0">
                  <c:v>0</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F150-4638-8E7C-E4EF5E39CB6A}"/>
            </c:ext>
          </c:extLst>
        </c:ser>
        <c:ser>
          <c:idx val="13"/>
          <c:order val="10"/>
          <c:tx>
            <c:strRef>
              <c:f>Sheet1!$B$11</c:f>
              <c:strCache>
                <c:ptCount val="1"/>
                <c:pt idx="0">
                  <c:v>Minimum</c:v>
                </c:pt>
              </c:strCache>
            </c:strRef>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F150-4638-8E7C-E4EF5E39CB6A}"/>
              </c:ext>
            </c:extLst>
          </c:dPt>
          <c:xVal>
            <c:numRef>
              <c:f>Sheet1!$D$11</c:f>
              <c:numCache>
                <c:formatCode>0.00</c:formatCode>
                <c:ptCount val="1"/>
                <c:pt idx="0">
                  <c:v>0</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F150-4638-8E7C-E4EF5E39CB6A}"/>
            </c:ext>
          </c:extLst>
        </c:ser>
        <c:ser>
          <c:idx val="14"/>
          <c:order val="11"/>
          <c:tx>
            <c:strRef>
              <c:f>Sheet1!$B$12</c:f>
              <c:strCache>
                <c:ptCount val="1"/>
                <c:pt idx="0">
                  <c:v>Maximum</c:v>
                </c:pt>
              </c:strCache>
            </c:strRef>
          </c:tx>
          <c:marker>
            <c:symbol val="none"/>
          </c:marker>
          <c:xVal>
            <c:numRef>
              <c:f>Sheet1!$D$12</c:f>
              <c:numCache>
                <c:formatCode>0.00</c:formatCode>
                <c:ptCount val="1"/>
                <c:pt idx="0">
                  <c:v>0</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F150-4638-8E7C-E4EF5E39CB6A}"/>
            </c:ext>
          </c:extLst>
        </c:ser>
        <c:ser>
          <c:idx val="15"/>
          <c:order val="12"/>
          <c:tx>
            <c:strRef>
              <c:f>Sheet1!$B$10</c:f>
              <c:strCache>
                <c:ptCount val="1"/>
                <c:pt idx="0">
                  <c:v>Target Maturity</c:v>
                </c:pt>
              </c:strCache>
            </c:strRef>
          </c:tx>
          <c:spPr>
            <a:ln>
              <a:noFill/>
            </a:ln>
          </c:spPr>
          <c:marker>
            <c:symbol val="none"/>
          </c:marker>
          <c:dLbls>
            <c:dLbl>
              <c:idx val="0"/>
              <c:spPr>
                <a:solidFill>
                  <a:srgbClr val="1F96FF"/>
                </a:solidFill>
                <a:ln>
                  <a:noFill/>
                </a:ln>
                <a:effectLst/>
              </c:spPr>
              <c:txPr>
                <a:bodyPr wrap="square" lIns="38100" tIns="19050" rIns="38100" bIns="19050" anchor="ctr">
                  <a:spAutoFit/>
                </a:bodyPr>
                <a:lstStyle/>
                <a:p>
                  <a:pPr>
                    <a:defRPr sz="12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F150-4638-8E7C-E4EF5E39CB6A}"/>
                </c:ext>
              </c:extLst>
            </c:dLbl>
            <c:spPr>
              <a:solidFill>
                <a:srgbClr val="1F96FF"/>
              </a:solidFill>
              <a:ln>
                <a:solidFill>
                  <a:srgbClr val="002856">
                    <a:lumMod val="50000"/>
                    <a:lumOff val="50000"/>
                  </a:srgbClr>
                </a:solidFill>
              </a:ln>
              <a:effectLst/>
            </c:spPr>
            <c:txPr>
              <a:bodyPr wrap="square" lIns="38100" tIns="19050" rIns="38100" bIns="19050" anchor="ctr">
                <a:spAutoFit/>
              </a:bodyPr>
              <a:lstStyle/>
              <a:p>
                <a:pPr>
                  <a:defRPr sz="12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34.5"/>
            <c:spPr>
              <a:ln w="25400">
                <a:solidFill>
                  <a:srgbClr val="1F96FF"/>
                </a:solidFill>
              </a:ln>
            </c:spPr>
          </c:errBars>
          <c:xVal>
            <c:numRef>
              <c:f>Sheet1!$D$10</c:f>
              <c:numCache>
                <c:formatCode>0.0</c:formatCode>
                <c:ptCount val="1"/>
                <c:pt idx="0">
                  <c:v>3.2</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F150-4638-8E7C-E4EF5E39CB6A}"/>
            </c:ext>
          </c:extLst>
        </c:ser>
        <c:ser>
          <c:idx val="16"/>
          <c:order val="13"/>
          <c:tx>
            <c:strRef>
              <c:f>Sheet1!$B$5</c:f>
              <c:strCache>
                <c:ptCount val="1"/>
                <c:pt idx="0">
                  <c:v>25th</c:v>
                </c:pt>
              </c:strCache>
            </c:strRef>
          </c:tx>
          <c:marker>
            <c:symbol val="none"/>
          </c:marker>
          <c:xVal>
            <c:numRef>
              <c:f>Sheet1!$D$5</c:f>
              <c:numCache>
                <c:formatCode>0.00</c:formatCode>
                <c:ptCount val="1"/>
                <c:pt idx="0">
                  <c:v>0</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F150-4638-8E7C-E4EF5E39CB6A}"/>
            </c:ext>
          </c:extLst>
        </c:ser>
        <c:ser>
          <c:idx val="17"/>
          <c:order val="14"/>
          <c:tx>
            <c:strRef>
              <c:f>Sheet1!$B$6</c:f>
              <c:strCache>
                <c:ptCount val="1"/>
                <c:pt idx="0">
                  <c:v>75th</c:v>
                </c:pt>
              </c:strCache>
            </c:strRef>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F150-4638-8E7C-E4EF5E39CB6A}"/>
              </c:ext>
            </c:extLst>
          </c:dPt>
          <c:xVal>
            <c:numRef>
              <c:f>Sheet1!$D$6</c:f>
              <c:numCache>
                <c:formatCode>0.00</c:formatCode>
                <c:ptCount val="1"/>
                <c:pt idx="0">
                  <c:v>0</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5-F150-4638-8E7C-E4EF5E39CB6A}"/>
            </c:ext>
          </c:extLst>
        </c:ser>
        <c:ser>
          <c:idx val="6"/>
          <c:order val="15"/>
          <c:tx>
            <c:strRef>
              <c:f>Sheet1!$B$13</c:f>
              <c:strCache>
                <c:ptCount val="1"/>
                <c:pt idx="0">
                  <c:v>Peers' Target Maturity</c:v>
                </c:pt>
              </c:strCache>
            </c:strRef>
          </c:tx>
          <c:marker>
            <c:symbol val="none"/>
          </c:marker>
          <c:dLbls>
            <c:spPr>
              <a:solidFill>
                <a:srgbClr val="1F96FF"/>
              </a:solidFill>
              <a:ln>
                <a:noFill/>
              </a:ln>
              <a:effectLst/>
            </c:spPr>
            <c:txPr>
              <a:bodyPr wrap="square" lIns="38100" tIns="19050" rIns="38100" bIns="19050" anchor="ctr">
                <a:spAutoFit/>
              </a:bodyPr>
              <a:lstStyle/>
              <a:p>
                <a:pPr>
                  <a:defRPr sz="12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errBars>
            <c:errDir val="y"/>
            <c:errBarType val="minus"/>
            <c:errValType val="percentage"/>
            <c:noEndCap val="1"/>
            <c:val val="70.5"/>
            <c:spPr>
              <a:ln w="25400">
                <a:solidFill>
                  <a:srgbClr val="1F96FF"/>
                </a:solidFill>
              </a:ln>
            </c:spPr>
          </c:errBars>
          <c:xVal>
            <c:numRef>
              <c:f>Sheet1!$D$13</c:f>
              <c:numCache>
                <c:formatCode>0.0</c:formatCode>
                <c:ptCount val="1"/>
                <c:pt idx="0">
                  <c:v>2.8</c:v>
                </c:pt>
              </c:numCache>
            </c:numRef>
          </c:xVal>
          <c:yVal>
            <c:numRef>
              <c:f>Sheet1!$E$16</c:f>
              <c:numCache>
                <c:formatCode>#,##0.00</c:formatCode>
                <c:ptCount val="1"/>
                <c:pt idx="0">
                  <c:v>3.7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7-F150-4638-8E7C-E4EF5E39CB6A}"/>
            </c:ext>
          </c:extLst>
        </c:ser>
        <c:dLbls>
          <c:showLegendKey val="0"/>
          <c:showVal val="0"/>
          <c:showCatName val="0"/>
          <c:showSerName val="0"/>
          <c:showPercent val="0"/>
          <c:showBubbleSize val="0"/>
        </c:dLbls>
        <c:axId val="1509330271"/>
        <c:axId val="1509351903"/>
      </c:scatterChart>
      <c:catAx>
        <c:axId val="1154865663"/>
        <c:scaling>
          <c:orientation val="minMax"/>
        </c:scaling>
        <c:delete val="0"/>
        <c:axPos val="l"/>
        <c:numFmt formatCode="General" sourceLinked="1"/>
        <c:majorTickMark val="none"/>
        <c:minorTickMark val="none"/>
        <c:tickLblPos val="none"/>
        <c:spPr>
          <a:ln w="12700">
            <a:noFill/>
          </a:ln>
        </c:spPr>
        <c:txPr>
          <a:bodyPr/>
          <a:lstStyle/>
          <a:p>
            <a:pPr>
              <a:defRPr smtId="4294967295">
                <a:solidFill>
                  <a:srgbClr val="000000"/>
                </a:solidFill>
              </a:defRPr>
            </a:pPr>
            <a:endParaRPr lang="en-US"/>
          </a:p>
        </c:txPr>
        <c:crossAx val="1"/>
        <c:crosses val="autoZero"/>
        <c:auto val="0"/>
        <c:lblAlgn val="ctr"/>
        <c:lblOffset val="100"/>
        <c:noMultiLvlLbl val="1"/>
      </c:catAx>
      <c:valAx>
        <c:axId val="1"/>
        <c:scaling>
          <c:orientation val="minMax"/>
          <c:max val="5"/>
          <c:min val="0"/>
        </c:scaling>
        <c:delete val="1"/>
        <c:axPos val="b"/>
        <c:numFmt formatCode="#,##0" sourceLinked="0"/>
        <c:majorTickMark val="out"/>
        <c:minorTickMark val="none"/>
        <c:tickLblPos val="nextTo"/>
        <c:crossAx val="1154865663"/>
        <c:crossesAt val="1"/>
        <c:crossBetween val="between"/>
        <c:majorUnit val="1"/>
        <c:minorUnit val="0.1"/>
      </c:valAx>
      <c:valAx>
        <c:axId val="1509330271"/>
        <c:scaling>
          <c:orientation val="minMax"/>
        </c:scaling>
        <c:delete val="1"/>
        <c:axPos val="b"/>
        <c:numFmt formatCode="0.00" sourceLinked="1"/>
        <c:majorTickMark val="out"/>
        <c:minorTickMark val="none"/>
        <c:tickLblPos val="nextTo"/>
        <c:crossAx val="1509351903"/>
        <c:crosses val="autoZero"/>
        <c:crossBetween val="midCat"/>
      </c:valAx>
      <c:valAx>
        <c:axId val="1509351903"/>
        <c:scaling>
          <c:orientation val="minMax"/>
          <c:max val="9"/>
        </c:scaling>
        <c:delete val="1"/>
        <c:axPos val="l"/>
        <c:numFmt formatCode="0.00" sourceLinked="1"/>
        <c:majorTickMark val="out"/>
        <c:minorTickMark val="none"/>
        <c:tickLblPos val="nextTo"/>
        <c:crossAx val="1509330271"/>
        <c:crosses val="autoZero"/>
        <c:crossBetween val="midCat"/>
      </c:valAx>
      <c:spPr>
        <a:noFill/>
        <a:ln>
          <a:noFill/>
        </a:ln>
      </c:spPr>
    </c:plotArea>
    <c:plotVisOnly val="1"/>
    <c:dispBlanksAs val="gap"/>
    <c:showDLblsOverMax val="0"/>
  </c:chart>
  <c:spPr>
    <a:noFill/>
    <a:ln>
      <a:noFill/>
    </a:ln>
  </c:spPr>
  <c:externalData r:id="rId2">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552667424082756E-2"/>
          <c:y val="0.12789101898670197"/>
          <c:w val="0.89955431222915649"/>
          <c:h val="0.70749789476394653"/>
        </c:manualLayout>
      </c:layout>
      <c:barChart>
        <c:barDir val="bar"/>
        <c:grouping val="stacked"/>
        <c:varyColors val="0"/>
        <c:ser>
          <c:idx val="0"/>
          <c:order val="0"/>
          <c:tx>
            <c:strRef>
              <c:f>Sheet1!$B$8</c:f>
              <c:strCache>
                <c:ptCount val="1"/>
                <c:pt idx="0">
                  <c:v>Current Maturity</c:v>
                </c:pt>
              </c:strCache>
            </c:strRef>
          </c:tx>
          <c:spPr>
            <a:ln>
              <a:noFill/>
            </a:ln>
          </c:spPr>
          <c:invertIfNegative val="0"/>
          <c:dPt>
            <c:idx val="1"/>
            <c:invertIfNegative val="0"/>
            <c:bubble3D val="0"/>
            <c:spPr>
              <a:solidFill>
                <a:srgbClr val="002869"/>
              </a:solidFill>
              <a:ln>
                <a:noFill/>
              </a:ln>
            </c:spPr>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1-3832-4236-BFC3-359BCD776F63}"/>
              </c:ext>
            </c:extLst>
          </c:dPt>
          <c:dPt>
            <c:idx val="3"/>
            <c:invertIfNegative val="0"/>
            <c:bubble3D val="0"/>
            <c:spPr>
              <a:solidFill>
                <a:srgbClr val="002869"/>
              </a:solidFill>
              <a:ln>
                <a:noFill/>
              </a:ln>
            </c:spPr>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3-3832-4236-BFC3-359BCD776F63}"/>
              </c:ext>
            </c:extLst>
          </c:dPt>
          <c:dLbls>
            <c:dLbl>
              <c:idx val="1"/>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3832-4236-BFC3-359BCD776F63}"/>
                </c:ext>
              </c:extLst>
            </c:dLbl>
            <c:dLbl>
              <c:idx val="3"/>
              <c:tx>
                <c:rich>
                  <a:bodyPr/>
                  <a:lstStyle/>
                  <a:p>
                    <a:fld id="{02CCA8D1-8A57-45F3-9042-D0BBE99ABD9E}" type="VALUE">
                      <a:rPr lang="en-US" sz="1200" b="1">
                        <a:solidFill>
                          <a:schemeClr val="bg1"/>
                        </a:solidFill>
                        <a:latin typeface="Gartner Sans" panose="020B0504030402040204" pitchFamily="34" charset="0"/>
                      </a:rPr>
                      <a:pPr/>
                      <a:t>[VALUE]</a:t>
                    </a:fld>
                    <a:endParaRPr lang="en-US"/>
                  </a:p>
                </c:rich>
              </c:tx>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dlblFieldTable/>
                  <c15:showDataLabelsRange val="0"/>
                </c:ext>
                <c:ext xmlns:c16="http://schemas.microsoft.com/office/drawing/2014/chart" uri="{C3380CC4-5D6E-409C-BE32-E72D297353CC}">
                  <c16:uniqueId val="{00000003-3832-4236-BFC3-359BCD776F63}"/>
                </c:ext>
              </c:extLst>
            </c:dLbl>
            <c:spPr>
              <a:noFill/>
              <a:ln>
                <a:noFill/>
              </a:ln>
              <a:effectLst/>
            </c:spPr>
            <c:txPr>
              <a:bodyPr wrap="square" lIns="38100" tIns="19050" rIns="38100" bIns="19050" anchor="ctr">
                <a:spAutoFit/>
              </a:bodyPr>
              <a:lstStyle/>
              <a:p>
                <a:pPr>
                  <a:defRPr sz="1200" b="0"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inEnd"/>
            <c:showLegendKey val="0"/>
            <c:showVal val="0"/>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val>
            <c:numRef>
              <c:f>Sheet1!$D$18:$D$22</c:f>
              <c:numCache>
                <c:formatCode>#,##0.0</c:formatCode>
                <c:ptCount val="5"/>
                <c:pt idx="0">
                  <c:v>0</c:v>
                </c:pt>
                <c:pt idx="1">
                  <c:v>1.7</c:v>
                </c:pt>
                <c:pt idx="2">
                  <c:v>0</c:v>
                </c:pt>
                <c:pt idx="3">
                  <c:v>1.7</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3832-4236-BFC3-359BCD776F63}"/>
            </c:ext>
          </c:extLst>
        </c:ser>
        <c:ser>
          <c:idx val="2"/>
          <c:order val="1"/>
          <c:tx>
            <c:strRef>
              <c:f>Sheet1!$F$17</c:f>
              <c:strCache>
                <c:ptCount val="1"/>
                <c:pt idx="0">
                  <c:v>10th Positive Bar</c:v>
                </c:pt>
              </c:strCache>
            </c:strRef>
          </c:tx>
          <c:spPr>
            <a:noFill/>
            <a:ln>
              <a:noFill/>
            </a:ln>
          </c:spPr>
          <c:invertIfNegative val="0"/>
          <c:val>
            <c:numRef>
              <c:f>Sheet1!$F$18:$F$22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3832-4236-BFC3-359BCD776F63}"/>
            </c:ext>
          </c:extLst>
        </c:ser>
        <c:ser>
          <c:idx val="4"/>
          <c:order val="2"/>
          <c:tx>
            <c:strRef>
              <c:f>Sheet1!$H$17</c:f>
              <c:strCache>
                <c:ptCount val="1"/>
                <c:pt idx="0">
                  <c:v>25th Positive Bar</c:v>
                </c:pt>
              </c:strCache>
            </c:strRef>
          </c:tx>
          <c:spPr>
            <a:solidFill>
              <a:srgbClr val="D9D9D9"/>
            </a:solidFill>
            <a:ln>
              <a:solidFill>
                <a:srgbClr val="D9D9D9"/>
              </a:solidFill>
            </a:ln>
          </c:spPr>
          <c:invertIfNegative val="0"/>
          <c:val>
            <c:numRef>
              <c:f>Sheet1!$H$18:$H$22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3832-4236-BFC3-359BCD776F63}"/>
            </c:ext>
          </c:extLst>
        </c:ser>
        <c:ser>
          <c:idx val="8"/>
          <c:order val="3"/>
          <c:tx>
            <c:strRef>
              <c:f>Sheet1!$L$17</c:f>
              <c:strCache>
                <c:ptCount val="1"/>
                <c:pt idx="0">
                  <c:v>90th Positive Bar</c:v>
                </c:pt>
              </c:strCache>
            </c:strRef>
          </c:tx>
          <c:spPr>
            <a:solidFill>
              <a:srgbClr val="D9D9D9"/>
            </a:solidFill>
            <a:ln>
              <a:noFill/>
            </a:ln>
          </c:spPr>
          <c:invertIfNegative val="0"/>
          <c:val>
            <c:numRef>
              <c:f>Sheet1!$L$18:$L$22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3832-4236-BFC3-359BCD776F63}"/>
            </c:ext>
          </c:extLst>
        </c:ser>
        <c:ser>
          <c:idx val="7"/>
          <c:order val="4"/>
          <c:tx>
            <c:strRef>
              <c:f>Sheet1!$K$17</c:f>
              <c:strCache>
                <c:ptCount val="1"/>
                <c:pt idx="0">
                  <c:v>90th Negative Bar</c:v>
                </c:pt>
              </c:strCache>
            </c:strRef>
          </c:tx>
          <c:spPr>
            <a:noFill/>
          </c:spPr>
          <c:invertIfNegative val="0"/>
          <c:val>
            <c:numRef>
              <c:f>Sheet1!$K$18:$K$22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3832-4236-BFC3-359BCD776F63}"/>
            </c:ext>
          </c:extLst>
        </c:ser>
        <c:ser>
          <c:idx val="5"/>
          <c:order val="5"/>
          <c:tx>
            <c:strRef>
              <c:f>Sheet1!$I$17</c:f>
              <c:strCache>
                <c:ptCount val="1"/>
                <c:pt idx="0">
                  <c:v>75th Negative Bar</c:v>
                </c:pt>
              </c:strCache>
            </c:strRef>
          </c:tx>
          <c:spPr>
            <a:noFill/>
          </c:spPr>
          <c:invertIfNegative val="0"/>
          <c:val>
            <c:numRef>
              <c:f>Sheet1!$I$18:$I$22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3832-4236-BFC3-359BCD776F63}"/>
            </c:ext>
          </c:extLst>
        </c:ser>
        <c:ser>
          <c:idx val="3"/>
          <c:order val="6"/>
          <c:tx>
            <c:strRef>
              <c:f>Sheet1!$G$17</c:f>
              <c:strCache>
                <c:ptCount val="1"/>
                <c:pt idx="0">
                  <c:v>25th Negative Bar</c:v>
                </c:pt>
              </c:strCache>
            </c:strRef>
          </c:tx>
          <c:spPr>
            <a:solidFill>
              <a:srgbClr val="BFBFBF"/>
            </a:solidFill>
            <a:ln>
              <a:solidFill>
                <a:srgbClr val="BFBFBF"/>
              </a:solidFill>
            </a:ln>
          </c:spPr>
          <c:invertIfNegative val="0"/>
          <c:val>
            <c:numRef>
              <c:f>Sheet1!$G$18:$G$22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3832-4236-BFC3-359BCD776F63}"/>
            </c:ext>
          </c:extLst>
        </c:ser>
        <c:ser>
          <c:idx val="1"/>
          <c:order val="7"/>
          <c:tx>
            <c:strRef>
              <c:f>Sheet1!$E$17</c:f>
              <c:strCache>
                <c:ptCount val="1"/>
                <c:pt idx="0">
                  <c:v>10th Negative Bar</c:v>
                </c:pt>
              </c:strCache>
            </c:strRef>
          </c:tx>
          <c:spPr>
            <a:solidFill>
              <a:srgbClr val="D9D9D9"/>
            </a:solidFill>
            <a:ln>
              <a:solidFill>
                <a:srgbClr val="D9D9D9"/>
              </a:solidFill>
            </a:ln>
          </c:spPr>
          <c:invertIfNegative val="0"/>
          <c:val>
            <c:numRef>
              <c:f>Sheet1!$E$18:$E$22</c:f>
              <c:numCache>
                <c:formatCode>#,##0.00</c:formatCode>
                <c:ptCount val="5"/>
                <c:pt idx="0">
                  <c:v>0</c:v>
                </c:pt>
                <c:pt idx="1">
                  <c:v>0</c:v>
                </c:pt>
                <c:pt idx="2">
                  <c:v>0</c:v>
                </c:pt>
                <c:pt idx="3">
                  <c:v>0</c:v>
                </c:pt>
                <c:pt idx="4">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3832-4236-BFC3-359BCD776F63}"/>
            </c:ext>
          </c:extLst>
        </c:ser>
        <c:dLbls>
          <c:showLegendKey val="0"/>
          <c:showVal val="0"/>
          <c:showCatName val="0"/>
          <c:showSerName val="0"/>
          <c:showPercent val="0"/>
          <c:showBubbleSize val="0"/>
        </c:dLbls>
        <c:gapWidth val="9"/>
        <c:overlap val="100"/>
        <c:axId val="1154865663"/>
        <c:axId val="1"/>
      </c:barChart>
      <c:scatterChart>
        <c:scatterStyle val="lineMarker"/>
        <c:varyColors val="0"/>
        <c:ser>
          <c:idx val="11"/>
          <c:order val="8"/>
          <c:tx>
            <c:strRef>
              <c:f>Sheet1!$B$8</c:f>
              <c:strCache>
                <c:ptCount val="1"/>
                <c:pt idx="0">
                  <c:v>Current Maturity</c:v>
                </c:pt>
              </c:strCache>
            </c:strRef>
          </c:tx>
          <c:marker>
            <c:symbol val="none"/>
          </c:marker>
          <c:xVal>
            <c:numRef>
              <c:f>Sheet1!$D$8</c:f>
              <c:numCache>
                <c:formatCode>0.00</c:formatCode>
                <c:ptCount val="1"/>
                <c:pt idx="0">
                  <c:v>1.7</c:v>
                </c:pt>
              </c:numCache>
            </c:numRef>
          </c:xVal>
          <c:yVal>
            <c:numRef>
              <c:f>Sheet1!$D$14</c:f>
              <c:numCache>
                <c:formatCode>0.00</c:formatCode>
                <c:ptCount val="1"/>
                <c:pt idx="0">
                  <c:v>0</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3832-4236-BFC3-359BCD776F63}"/>
            </c:ext>
          </c:extLst>
        </c:ser>
        <c:ser>
          <c:idx val="12"/>
          <c:order val="9"/>
          <c:tx>
            <c:strRef>
              <c:f>Sheet1!$B$9</c:f>
              <c:strCache>
                <c:ptCount val="1"/>
                <c:pt idx="0">
                  <c:v>Peers' Current Maturity</c:v>
                </c:pt>
              </c:strCache>
            </c:strRef>
          </c:tx>
          <c:marker>
            <c:symbol val="none"/>
          </c:marker>
          <c:xVal>
            <c:numRef>
              <c:f>Sheet1!$D$9</c:f>
              <c:numCache>
                <c:formatCode>0.00</c:formatCode>
                <c:ptCount val="1"/>
                <c:pt idx="0">
                  <c:v>1.7</c:v>
                </c:pt>
              </c:numCache>
            </c:numRef>
          </c:xVal>
          <c:yVal>
            <c:numRef>
              <c:f>Sheet1!$D$15</c:f>
              <c:numCache>
                <c:formatCode>0.00</c:formatCode>
                <c:ptCount val="1"/>
                <c:pt idx="0">
                  <c:v>0</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3832-4236-BFC3-359BCD776F63}"/>
            </c:ext>
          </c:extLst>
        </c:ser>
        <c:ser>
          <c:idx val="13"/>
          <c:order val="10"/>
          <c:tx>
            <c:strRef>
              <c:f>Sheet1!$B$11</c:f>
              <c:strCache>
                <c:ptCount val="1"/>
                <c:pt idx="0">
                  <c:v>Minimum</c:v>
                </c:pt>
              </c:strCache>
            </c:strRef>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3832-4236-BFC3-359BCD776F63}"/>
              </c:ext>
            </c:extLst>
          </c:dPt>
          <c:xVal>
            <c:numRef>
              <c:f>Sheet1!$D$11</c:f>
              <c:numCache>
                <c:formatCode>0.00</c:formatCode>
                <c:ptCount val="1"/>
                <c:pt idx="0">
                  <c:v>0</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3832-4236-BFC3-359BCD776F63}"/>
            </c:ext>
          </c:extLst>
        </c:ser>
        <c:ser>
          <c:idx val="14"/>
          <c:order val="11"/>
          <c:tx>
            <c:strRef>
              <c:f>Sheet1!$B$12</c:f>
              <c:strCache>
                <c:ptCount val="1"/>
                <c:pt idx="0">
                  <c:v>Maximum</c:v>
                </c:pt>
              </c:strCache>
            </c:strRef>
          </c:tx>
          <c:marker>
            <c:symbol val="none"/>
          </c:marker>
          <c:xVal>
            <c:numRef>
              <c:f>Sheet1!$D$12</c:f>
              <c:numCache>
                <c:formatCode>0.00</c:formatCode>
                <c:ptCount val="1"/>
                <c:pt idx="0">
                  <c:v>0</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3832-4236-BFC3-359BCD776F63}"/>
            </c:ext>
          </c:extLst>
        </c:ser>
        <c:ser>
          <c:idx val="15"/>
          <c:order val="12"/>
          <c:tx>
            <c:strRef>
              <c:f>Sheet1!$B$10</c:f>
              <c:strCache>
                <c:ptCount val="1"/>
                <c:pt idx="0">
                  <c:v>Target Maturity</c:v>
                </c:pt>
              </c:strCache>
            </c:strRef>
          </c:tx>
          <c:spPr>
            <a:ln>
              <a:noFill/>
            </a:ln>
          </c:spPr>
          <c:marker>
            <c:symbol val="none"/>
          </c:marker>
          <c:dLbls>
            <c:dLbl>
              <c:idx val="0"/>
              <c:spPr>
                <a:solidFill>
                  <a:srgbClr val="1F96FF"/>
                </a:solidFill>
                <a:ln>
                  <a:noFill/>
                </a:ln>
                <a:effectLst/>
              </c:spPr>
              <c:txPr>
                <a:bodyPr wrap="square" lIns="38100" tIns="19050" rIns="38100" bIns="19050" anchor="ctr">
                  <a:spAutoFit/>
                </a:bodyPr>
                <a:lstStyle/>
                <a:p>
                  <a:pPr>
                    <a:defRPr sz="12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3832-4236-BFC3-359BCD776F63}"/>
                </c:ext>
              </c:extLst>
            </c:dLbl>
            <c:spPr>
              <a:solidFill>
                <a:srgbClr val="1F96FF"/>
              </a:solidFill>
              <a:ln>
                <a:solidFill>
                  <a:srgbClr val="002856">
                    <a:lumMod val="50000"/>
                    <a:lumOff val="50000"/>
                  </a:srgbClr>
                </a:solidFill>
              </a:ln>
              <a:effectLst/>
            </c:spPr>
            <c:txPr>
              <a:bodyPr wrap="square" lIns="38100" tIns="19050" rIns="38100" bIns="19050" anchor="ctr">
                <a:spAutoFit/>
              </a:bodyPr>
              <a:lstStyle/>
              <a:p>
                <a:pPr>
                  <a:defRPr sz="12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34.5"/>
            <c:spPr>
              <a:ln w="25400">
                <a:solidFill>
                  <a:srgbClr val="1F96FF"/>
                </a:solidFill>
              </a:ln>
            </c:spPr>
          </c:errBars>
          <c:xVal>
            <c:numRef>
              <c:f>Sheet1!$D$10</c:f>
              <c:numCache>
                <c:formatCode>0.0</c:formatCode>
                <c:ptCount val="1"/>
                <c:pt idx="0">
                  <c:v>3</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3832-4236-BFC3-359BCD776F63}"/>
            </c:ext>
          </c:extLst>
        </c:ser>
        <c:ser>
          <c:idx val="16"/>
          <c:order val="13"/>
          <c:tx>
            <c:strRef>
              <c:f>Sheet1!$B$5</c:f>
              <c:strCache>
                <c:ptCount val="1"/>
                <c:pt idx="0">
                  <c:v>25th</c:v>
                </c:pt>
              </c:strCache>
            </c:strRef>
          </c:tx>
          <c:marker>
            <c:symbol val="none"/>
          </c:marker>
          <c:xVal>
            <c:numRef>
              <c:f>Sheet1!$D$5</c:f>
              <c:numCache>
                <c:formatCode>0.00</c:formatCode>
                <c:ptCount val="1"/>
                <c:pt idx="0">
                  <c:v>0</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3832-4236-BFC3-359BCD776F63}"/>
            </c:ext>
          </c:extLst>
        </c:ser>
        <c:ser>
          <c:idx val="17"/>
          <c:order val="14"/>
          <c:tx>
            <c:strRef>
              <c:f>Sheet1!$B$6</c:f>
              <c:strCache>
                <c:ptCount val="1"/>
                <c:pt idx="0">
                  <c:v>75th</c:v>
                </c:pt>
              </c:strCache>
            </c:strRef>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3832-4236-BFC3-359BCD776F63}"/>
              </c:ext>
            </c:extLst>
          </c:dPt>
          <c:xVal>
            <c:numRef>
              <c:f>Sheet1!$D$6</c:f>
              <c:numCache>
                <c:formatCode>0.00</c:formatCode>
                <c:ptCount val="1"/>
                <c:pt idx="0">
                  <c:v>0</c:v>
                </c:pt>
              </c:numCache>
            </c:numRef>
          </c:xVal>
          <c:yVal>
            <c:numRef>
              <c:f>Sheet1!$D$16</c:f>
              <c:numCache>
                <c:formatCode>0.00</c:formatCode>
                <c:ptCount val="1"/>
                <c:pt idx="0">
                  <c:v>7.75</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5-3832-4236-BFC3-359BCD776F63}"/>
            </c:ext>
          </c:extLst>
        </c:ser>
        <c:ser>
          <c:idx val="6"/>
          <c:order val="15"/>
          <c:tx>
            <c:strRef>
              <c:f>Sheet1!$B$13</c:f>
              <c:strCache>
                <c:ptCount val="1"/>
                <c:pt idx="0">
                  <c:v>Peers' Target Maturity</c:v>
                </c:pt>
              </c:strCache>
            </c:strRef>
          </c:tx>
          <c:marker>
            <c:symbol val="none"/>
          </c:marker>
          <c:dLbls>
            <c:spPr>
              <a:solidFill>
                <a:srgbClr val="1F96FF"/>
              </a:solidFill>
              <a:ln>
                <a:noFill/>
              </a:ln>
              <a:effectLst/>
            </c:spPr>
            <c:txPr>
              <a:bodyPr wrap="square" lIns="38100" tIns="19050" rIns="38100" bIns="19050" anchor="ctr">
                <a:spAutoFit/>
              </a:bodyPr>
              <a:lstStyle/>
              <a:p>
                <a:pPr>
                  <a:defRPr sz="1200" b="1" smtId="4294967295">
                    <a:solidFill>
                      <a:schemeClr val="bg1"/>
                    </a:solidFill>
                    <a:latin typeface="Gartner Sans" panose="020B0504030402040204" pitchFamily="34" charset="0"/>
                    <a:ea typeface="Roboto" panose="02000000000000000000" pitchFamily="2" charset="0"/>
                    <a:cs typeface="Roboto" panose="02000000000000000000" pitchFamily="2" charset="0"/>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errBars>
            <c:errDir val="y"/>
            <c:errBarType val="minus"/>
            <c:errValType val="percentage"/>
            <c:noEndCap val="1"/>
            <c:val val="70.5"/>
            <c:spPr>
              <a:ln w="25400">
                <a:solidFill>
                  <a:srgbClr val="1F96FF"/>
                </a:solidFill>
              </a:ln>
            </c:spPr>
          </c:errBars>
          <c:xVal>
            <c:numRef>
              <c:f>Sheet1!$D$13</c:f>
              <c:numCache>
                <c:formatCode>0.0</c:formatCode>
                <c:ptCount val="1"/>
                <c:pt idx="0">
                  <c:v>2.9</c:v>
                </c:pt>
              </c:numCache>
            </c:numRef>
          </c:xVal>
          <c:yVal>
            <c:numRef>
              <c:f>Sheet1!$E$16</c:f>
              <c:numCache>
                <c:formatCode>#,##0.00</c:formatCode>
                <c:ptCount val="1"/>
                <c:pt idx="0">
                  <c:v>3.7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7-3832-4236-BFC3-359BCD776F63}"/>
            </c:ext>
          </c:extLst>
        </c:ser>
        <c:dLbls>
          <c:showLegendKey val="0"/>
          <c:showVal val="0"/>
          <c:showCatName val="0"/>
          <c:showSerName val="0"/>
          <c:showPercent val="0"/>
          <c:showBubbleSize val="0"/>
        </c:dLbls>
        <c:axId val="1509330271"/>
        <c:axId val="1509351903"/>
      </c:scatterChart>
      <c:catAx>
        <c:axId val="1154865663"/>
        <c:scaling>
          <c:orientation val="minMax"/>
        </c:scaling>
        <c:delete val="0"/>
        <c:axPos val="l"/>
        <c:numFmt formatCode="General" sourceLinked="1"/>
        <c:majorTickMark val="none"/>
        <c:minorTickMark val="none"/>
        <c:tickLblPos val="none"/>
        <c:spPr>
          <a:ln w="12700">
            <a:noFill/>
          </a:ln>
        </c:spPr>
        <c:txPr>
          <a:bodyPr/>
          <a:lstStyle/>
          <a:p>
            <a:pPr>
              <a:defRPr smtId="4294967295">
                <a:solidFill>
                  <a:srgbClr val="000000"/>
                </a:solidFill>
              </a:defRPr>
            </a:pPr>
            <a:endParaRPr lang="en-US"/>
          </a:p>
        </c:txPr>
        <c:crossAx val="1"/>
        <c:crosses val="autoZero"/>
        <c:auto val="0"/>
        <c:lblAlgn val="ctr"/>
        <c:lblOffset val="100"/>
        <c:noMultiLvlLbl val="1"/>
      </c:catAx>
      <c:valAx>
        <c:axId val="1"/>
        <c:scaling>
          <c:orientation val="minMax"/>
          <c:max val="5"/>
          <c:min val="0"/>
        </c:scaling>
        <c:delete val="1"/>
        <c:axPos val="b"/>
        <c:numFmt formatCode="#,##0" sourceLinked="0"/>
        <c:majorTickMark val="out"/>
        <c:minorTickMark val="none"/>
        <c:tickLblPos val="nextTo"/>
        <c:crossAx val="1154865663"/>
        <c:crossesAt val="1"/>
        <c:crossBetween val="between"/>
        <c:majorUnit val="1"/>
        <c:minorUnit val="0.1"/>
      </c:valAx>
      <c:valAx>
        <c:axId val="1509330271"/>
        <c:scaling>
          <c:orientation val="minMax"/>
        </c:scaling>
        <c:delete val="1"/>
        <c:axPos val="b"/>
        <c:numFmt formatCode="0.00" sourceLinked="1"/>
        <c:majorTickMark val="out"/>
        <c:minorTickMark val="none"/>
        <c:tickLblPos val="nextTo"/>
        <c:crossAx val="1509351903"/>
        <c:crosses val="autoZero"/>
        <c:crossBetween val="midCat"/>
      </c:valAx>
      <c:valAx>
        <c:axId val="1509351903"/>
        <c:scaling>
          <c:orientation val="minMax"/>
          <c:max val="9"/>
        </c:scaling>
        <c:delete val="1"/>
        <c:axPos val="l"/>
        <c:numFmt formatCode="0.00" sourceLinked="1"/>
        <c:majorTickMark val="out"/>
        <c:minorTickMark val="none"/>
        <c:tickLblPos val="nextTo"/>
        <c:crossAx val="1509330271"/>
        <c:crosses val="autoZero"/>
        <c:crossBetween val="midCat"/>
      </c:valAx>
      <c:spPr>
        <a:noFill/>
        <a:ln>
          <a:noFill/>
        </a:ln>
      </c:spPr>
    </c:plotArea>
    <c:plotVisOnly val="1"/>
    <c:dispBlanksAs val="gap"/>
    <c:showDLblsOverMax val="0"/>
  </c:chart>
  <c:spPr>
    <a:noFill/>
    <a:ln>
      <a:noFill/>
    </a:ln>
  </c:spPr>
  <c:externalData r:id="rId2">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2538004666566849E-2"/>
          <c:y val="4.1897796094417572E-2"/>
          <c:w val="0.97492396831512451"/>
          <c:h val="0.3077244758605957"/>
        </c:manualLayout>
      </c:layout>
      <c:barChart>
        <c:barDir val="col"/>
        <c:grouping val="clustered"/>
        <c:varyColors val="0"/>
        <c:ser>
          <c:idx val="2"/>
          <c:order val="1"/>
          <c:tx>
            <c:strRef>
              <c:f>Sheet1!$C$2</c:f>
              <c:strCache>
                <c:ptCount val="1"/>
                <c:pt idx="0">
                  <c:v>Current Maturity</c:v>
                </c:pt>
              </c:strCache>
            </c:strRef>
          </c:tx>
          <c:spPr>
            <a:solidFill>
              <a:srgbClr val="000000"/>
            </a:solidFill>
            <a:ln w="0">
              <a:solidFill>
                <a:schemeClr val="accent1"/>
              </a:solidFill>
            </a:ln>
            <a:effectLst>
              <a:outerShdw blurRad="50800" dist="25400" dir="5400000" algn="ctr" rotWithShape="0">
                <a:schemeClr val="tx2">
                  <a:lumMod val="90000"/>
                  <a:lumOff val="10000"/>
                </a:schemeClr>
              </a:outerShdw>
            </a:effectLst>
          </c:spPr>
          <c:invertIfNegative val="0"/>
          <c:cat>
            <c:strRef>
              <c:f>Sheet1!$B$3:$B$27</c:f>
              <c:strCache>
                <c:ptCount val="25"/>
                <c:pt idx="0">
                  <c:v>Monitor &amp; interpret AI trends</c:v>
                </c:pt>
                <c:pt idx="1">
                  <c:v>Develop &amp; rationalize the AI vision</c:v>
                </c:pt>
                <c:pt idx="2">
                  <c:v>Develop &amp; refine the AI strategy</c:v>
                </c:pt>
                <c:pt idx="3">
                  <c:v>Develop &amp; coordinate the AI roadmap</c:v>
                </c:pt>
                <c:pt idx="4">
                  <c:v>Promote AI-driven innovation </c:v>
                </c:pt>
                <c:pt idx="5">
                  <c:v>Manage the AI use-case portfolio</c:v>
                </c:pt>
                <c:pt idx="6">
                  <c:v>Manage AI value propositions</c:v>
                </c:pt>
                <c:pt idx="7">
                  <c:v>Develop the AI product portfolio</c:v>
                </c:pt>
                <c:pt idx="8">
                  <c:v>Develop external AI partnerships</c:v>
                </c:pt>
                <c:pt idx="9">
                  <c:v>Manage the AI ecosystem</c:v>
                </c:pt>
                <c:pt idx="10">
                  <c:v>Evolve the internal operating model</c:v>
                </c:pt>
                <c:pt idx="11">
                  <c:v>Manage AI-related change &amp; culture</c:v>
                </c:pt>
                <c:pt idx="12">
                  <c:v>Evolve AI-related roles &amp; staffing</c:v>
                </c:pt>
                <c:pt idx="13">
                  <c:v>Deliver AI training &amp; literacy</c:v>
                </c:pt>
                <c:pt idx="14">
                  <c:v>Evolve AI policies &amp; controls</c:v>
                </c:pt>
                <c:pt idx="15">
                  <c:v>Develop AI governance teams &amp; roles</c:v>
                </c:pt>
                <c:pt idx="16">
                  <c:v>Monitor AI &amp; enforce policies</c:v>
                </c:pt>
                <c:pt idx="17">
                  <c:v>Design &amp; architect AI</c:v>
                </c:pt>
                <c:pt idx="18">
                  <c:v>Develop, test &amp; integrate AI</c:v>
                </c:pt>
                <c:pt idx="19">
                  <c:v>Deploy, operate &amp; scale AI</c:v>
                </c:pt>
                <c:pt idx="20">
                  <c:v>Manage AI platform &amp; infrastructure</c:v>
                </c:pt>
                <c:pt idx="21">
                  <c:v>Manage AI engineering</c:v>
                </c:pt>
                <c:pt idx="22">
                  <c:v>Acquire &amp; prepare AI data</c:v>
                </c:pt>
                <c:pt idx="23">
                  <c:v>Manage &amp; govern AI data</c:v>
                </c:pt>
                <c:pt idx="24">
                  <c:v>Analyze AI data</c:v>
                </c:pt>
              </c:strCache>
            </c:strRef>
          </c:cat>
          <c:val>
            <c:numRef>
              <c:f>Sheet1!$C$3:$C$27</c:f>
              <c:numCache>
                <c:formatCode>General</c:formatCode>
                <c:ptCount val="25"/>
                <c:pt idx="0">
                  <c:v>2</c:v>
                </c:pt>
                <c:pt idx="1">
                  <c:v>3</c:v>
                </c:pt>
                <c:pt idx="2">
                  <c:v>5</c:v>
                </c:pt>
                <c:pt idx="3">
                  <c:v>3</c:v>
                </c:pt>
                <c:pt idx="4">
                  <c:v>4</c:v>
                </c:pt>
                <c:pt idx="5">
                  <c:v>1</c:v>
                </c:pt>
                <c:pt idx="6">
                  <c:v>1</c:v>
                </c:pt>
                <c:pt idx="7">
                  <c:v>4</c:v>
                </c:pt>
                <c:pt idx="8">
                  <c:v>2</c:v>
                </c:pt>
                <c:pt idx="9">
                  <c:v>3</c:v>
                </c:pt>
                <c:pt idx="10">
                  <c:v>2</c:v>
                </c:pt>
                <c:pt idx="11">
                  <c:v>1</c:v>
                </c:pt>
                <c:pt idx="12">
                  <c:v>2</c:v>
                </c:pt>
                <c:pt idx="13">
                  <c:v>2</c:v>
                </c:pt>
                <c:pt idx="14">
                  <c:v>1</c:v>
                </c:pt>
                <c:pt idx="15">
                  <c:v>5</c:v>
                </c:pt>
                <c:pt idx="16">
                  <c:v>2</c:v>
                </c:pt>
                <c:pt idx="17">
                  <c:v>2</c:v>
                </c:pt>
                <c:pt idx="18">
                  <c:v>3</c:v>
                </c:pt>
                <c:pt idx="19">
                  <c:v>4</c:v>
                </c:pt>
                <c:pt idx="20">
                  <c:v>1</c:v>
                </c:pt>
                <c:pt idx="21">
                  <c:v>2</c:v>
                </c:pt>
                <c:pt idx="22">
                  <c:v>1</c:v>
                </c:pt>
                <c:pt idx="23">
                  <c:v>2</c:v>
                </c:pt>
                <c:pt idx="24">
                  <c:v>2</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0-4494-49DF-A4CF-142896EE4B47}"/>
            </c:ext>
          </c:extLst>
        </c:ser>
        <c:dLbls>
          <c:showLegendKey val="0"/>
          <c:showVal val="0"/>
          <c:showCatName val="0"/>
          <c:showSerName val="0"/>
          <c:showPercent val="0"/>
          <c:showBubbleSize val="0"/>
        </c:dLbls>
        <c:gapWidth val="215"/>
        <c:overlap val="100"/>
        <c:axId val="1690759888"/>
        <c:axId val="1690757392"/>
      </c:barChart>
      <c:barChart>
        <c:barDir val="col"/>
        <c:grouping val="clustered"/>
        <c:varyColors val="0"/>
        <c:ser>
          <c:idx val="0"/>
          <c:order val="0"/>
          <c:tx>
            <c:strRef>
              <c:f>Sheet1!$D$2</c:f>
              <c:strCache>
                <c:ptCount val="1"/>
                <c:pt idx="0">
                  <c:v>Importance</c:v>
                </c:pt>
              </c:strCache>
            </c:strRef>
          </c:tx>
          <c:spPr>
            <a:noFill/>
            <a:ln>
              <a:noFill/>
            </a:ln>
            <a:effectLst/>
          </c:spPr>
          <c:invertIfNegative val="0"/>
          <c:errBars>
            <c:errBarType val="minus"/>
            <c:errValType val="fixedVal"/>
            <c:noEndCap val="1"/>
            <c:val val="0.12999999523162842"/>
            <c:spPr>
              <a:noFill/>
              <a:ln w="127000" cap="flat" cmpd="sng" algn="ctr">
                <a:solidFill>
                  <a:srgbClr val="1F96FF"/>
                </a:solidFill>
                <a:round/>
              </a:ln>
              <a:effectLst/>
            </c:spPr>
          </c:errBars>
          <c:cat>
            <c:strRef>
              <c:f>Sheet1!$B$3:$B$27</c:f>
              <c:strCache>
                <c:ptCount val="25"/>
                <c:pt idx="0">
                  <c:v>Monitor &amp; interpret AI trends</c:v>
                </c:pt>
                <c:pt idx="1">
                  <c:v>Develop &amp; rationalize the AI vision</c:v>
                </c:pt>
                <c:pt idx="2">
                  <c:v>Develop &amp; refine the AI strategy</c:v>
                </c:pt>
                <c:pt idx="3">
                  <c:v>Develop &amp; coordinate the AI roadmap</c:v>
                </c:pt>
                <c:pt idx="4">
                  <c:v>Promote AI-driven innovation </c:v>
                </c:pt>
                <c:pt idx="5">
                  <c:v>Manage the AI use-case portfolio</c:v>
                </c:pt>
                <c:pt idx="6">
                  <c:v>Manage AI value propositions</c:v>
                </c:pt>
                <c:pt idx="7">
                  <c:v>Develop the AI product portfolio</c:v>
                </c:pt>
                <c:pt idx="8">
                  <c:v>Develop external AI partnerships</c:v>
                </c:pt>
                <c:pt idx="9">
                  <c:v>Manage the AI ecosystem</c:v>
                </c:pt>
                <c:pt idx="10">
                  <c:v>Evolve the internal operating model</c:v>
                </c:pt>
                <c:pt idx="11">
                  <c:v>Manage AI-related change &amp; culture</c:v>
                </c:pt>
                <c:pt idx="12">
                  <c:v>Evolve AI-related roles &amp; staffing</c:v>
                </c:pt>
                <c:pt idx="13">
                  <c:v>Deliver AI training &amp; literacy</c:v>
                </c:pt>
                <c:pt idx="14">
                  <c:v>Evolve AI policies &amp; controls</c:v>
                </c:pt>
                <c:pt idx="15">
                  <c:v>Develop AI governance teams &amp; roles</c:v>
                </c:pt>
                <c:pt idx="16">
                  <c:v>Monitor AI &amp; enforce policies</c:v>
                </c:pt>
                <c:pt idx="17">
                  <c:v>Design &amp; architect AI</c:v>
                </c:pt>
                <c:pt idx="18">
                  <c:v>Develop, test &amp; integrate AI</c:v>
                </c:pt>
                <c:pt idx="19">
                  <c:v>Deploy, operate &amp; scale AI</c:v>
                </c:pt>
                <c:pt idx="20">
                  <c:v>Manage AI platform &amp; infrastructure</c:v>
                </c:pt>
                <c:pt idx="21">
                  <c:v>Manage AI engineering</c:v>
                </c:pt>
                <c:pt idx="22">
                  <c:v>Acquire &amp; prepare AI data</c:v>
                </c:pt>
                <c:pt idx="23">
                  <c:v>Manage &amp; govern AI data</c:v>
                </c:pt>
                <c:pt idx="24">
                  <c:v>Analyze AI data</c:v>
                </c:pt>
              </c:strCache>
            </c:strRef>
          </c:cat>
          <c:val>
            <c:numRef>
              <c:f>Sheet1!$D$3:$D$27</c:f>
              <c:numCache>
                <c:formatCode>General</c:formatCode>
                <c:ptCount val="25"/>
                <c:pt idx="0">
                  <c:v>1</c:v>
                </c:pt>
                <c:pt idx="1">
                  <c:v>4</c:v>
                </c:pt>
                <c:pt idx="2">
                  <c:v>4</c:v>
                </c:pt>
                <c:pt idx="3">
                  <c:v>5</c:v>
                </c:pt>
                <c:pt idx="4">
                  <c:v>4</c:v>
                </c:pt>
                <c:pt idx="5">
                  <c:v>2</c:v>
                </c:pt>
                <c:pt idx="6">
                  <c:v>4</c:v>
                </c:pt>
                <c:pt idx="7">
                  <c:v>1</c:v>
                </c:pt>
                <c:pt idx="8">
                  <c:v>2</c:v>
                </c:pt>
                <c:pt idx="9">
                  <c:v>2</c:v>
                </c:pt>
                <c:pt idx="10">
                  <c:v>2</c:v>
                </c:pt>
                <c:pt idx="11">
                  <c:v>2</c:v>
                </c:pt>
                <c:pt idx="12">
                  <c:v>4</c:v>
                </c:pt>
                <c:pt idx="13">
                  <c:v>4</c:v>
                </c:pt>
                <c:pt idx="14">
                  <c:v>2</c:v>
                </c:pt>
                <c:pt idx="15">
                  <c:v>5</c:v>
                </c:pt>
                <c:pt idx="16">
                  <c:v>1</c:v>
                </c:pt>
                <c:pt idx="17">
                  <c:v>1</c:v>
                </c:pt>
                <c:pt idx="18">
                  <c:v>3</c:v>
                </c:pt>
                <c:pt idx="19">
                  <c:v>1</c:v>
                </c:pt>
                <c:pt idx="20">
                  <c:v>3</c:v>
                </c:pt>
                <c:pt idx="21">
                  <c:v>4</c:v>
                </c:pt>
                <c:pt idx="22">
                  <c:v>1</c:v>
                </c:pt>
                <c:pt idx="23">
                  <c:v>2</c:v>
                </c:pt>
                <c:pt idx="24">
                  <c:v>4</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1-4494-49DF-A4CF-142896EE4B47}"/>
            </c:ext>
          </c:extLst>
        </c:ser>
        <c:dLbls>
          <c:showLegendKey val="0"/>
          <c:showVal val="0"/>
          <c:showCatName val="0"/>
          <c:showSerName val="0"/>
          <c:showPercent val="0"/>
          <c:showBubbleSize val="0"/>
        </c:dLbls>
        <c:gapWidth val="90"/>
        <c:overlap val="100"/>
        <c:axId val="1690755728"/>
        <c:axId val="1690761136"/>
      </c:barChart>
      <c:lineChart>
        <c:grouping val="standard"/>
        <c:varyColors val="0"/>
        <c:ser>
          <c:idx val="1"/>
          <c:order val="2"/>
          <c:tx>
            <c:strRef>
              <c:f>Sheet1!$E$2</c:f>
              <c:strCache>
                <c:ptCount val="1"/>
                <c:pt idx="0">
                  <c:v>Target Maturity</c:v>
                </c:pt>
              </c:strCache>
            </c:strRef>
          </c:tx>
          <c:spPr>
            <a:ln w="28575" cap="rnd">
              <a:noFill/>
              <a:round/>
            </a:ln>
            <a:effectLst/>
          </c:spPr>
          <c:marker>
            <c:symbol val="diamond"/>
            <c:size val="7"/>
            <c:spPr>
              <a:solidFill>
                <a:srgbClr val="FF540A"/>
              </a:solidFill>
              <a:ln w="9525">
                <a:noFill/>
              </a:ln>
              <a:effectLst/>
            </c:spPr>
          </c:marker>
          <c:cat>
            <c:strRef>
              <c:f>Sheet1!$B$3:$B$27</c:f>
              <c:strCache>
                <c:ptCount val="25"/>
                <c:pt idx="0">
                  <c:v>Monitor &amp; interpret AI trends</c:v>
                </c:pt>
                <c:pt idx="1">
                  <c:v>Develop &amp; rationalize the AI vision</c:v>
                </c:pt>
                <c:pt idx="2">
                  <c:v>Develop &amp; refine the AI strategy</c:v>
                </c:pt>
                <c:pt idx="3">
                  <c:v>Develop &amp; coordinate the AI roadmap</c:v>
                </c:pt>
                <c:pt idx="4">
                  <c:v>Promote AI-driven innovation </c:v>
                </c:pt>
                <c:pt idx="5">
                  <c:v>Manage the AI use-case portfolio</c:v>
                </c:pt>
                <c:pt idx="6">
                  <c:v>Manage AI value propositions</c:v>
                </c:pt>
                <c:pt idx="7">
                  <c:v>Develop the AI product portfolio</c:v>
                </c:pt>
                <c:pt idx="8">
                  <c:v>Develop external AI partnerships</c:v>
                </c:pt>
                <c:pt idx="9">
                  <c:v>Manage the AI ecosystem</c:v>
                </c:pt>
                <c:pt idx="10">
                  <c:v>Evolve the internal operating model</c:v>
                </c:pt>
                <c:pt idx="11">
                  <c:v>Manage AI-related change &amp; culture</c:v>
                </c:pt>
                <c:pt idx="12">
                  <c:v>Evolve AI-related roles &amp; staffing</c:v>
                </c:pt>
                <c:pt idx="13">
                  <c:v>Deliver AI training &amp; literacy</c:v>
                </c:pt>
                <c:pt idx="14">
                  <c:v>Evolve AI policies &amp; controls</c:v>
                </c:pt>
                <c:pt idx="15">
                  <c:v>Develop AI governance teams &amp; roles</c:v>
                </c:pt>
                <c:pt idx="16">
                  <c:v>Monitor AI &amp; enforce policies</c:v>
                </c:pt>
                <c:pt idx="17">
                  <c:v>Design &amp; architect AI</c:v>
                </c:pt>
                <c:pt idx="18">
                  <c:v>Develop, test &amp; integrate AI</c:v>
                </c:pt>
                <c:pt idx="19">
                  <c:v>Deploy, operate &amp; scale AI</c:v>
                </c:pt>
                <c:pt idx="20">
                  <c:v>Manage AI platform &amp; infrastructure</c:v>
                </c:pt>
                <c:pt idx="21">
                  <c:v>Manage AI engineering</c:v>
                </c:pt>
                <c:pt idx="22">
                  <c:v>Acquire &amp; prepare AI data</c:v>
                </c:pt>
                <c:pt idx="23">
                  <c:v>Manage &amp; govern AI data</c:v>
                </c:pt>
                <c:pt idx="24">
                  <c:v>Analyze AI data</c:v>
                </c:pt>
              </c:strCache>
            </c:strRef>
          </c:cat>
          <c:val>
            <c:numRef>
              <c:f>Sheet1!$E$3:$E$27</c:f>
              <c:numCache>
                <c:formatCode>0.00</c:formatCode>
                <c:ptCount val="25"/>
                <c:pt idx="0">
                  <c:v>4</c:v>
                </c:pt>
                <c:pt idx="1">
                  <c:v>5</c:v>
                </c:pt>
                <c:pt idx="2">
                  <c:v>5</c:v>
                </c:pt>
                <c:pt idx="3">
                  <c:v>5</c:v>
                </c:pt>
                <c:pt idx="4">
                  <c:v>5</c:v>
                </c:pt>
                <c:pt idx="5">
                  <c:v>2</c:v>
                </c:pt>
                <c:pt idx="6">
                  <c:v>3</c:v>
                </c:pt>
                <c:pt idx="7">
                  <c:v>5</c:v>
                </c:pt>
                <c:pt idx="8">
                  <c:v>3</c:v>
                </c:pt>
                <c:pt idx="9">
                  <c:v>4</c:v>
                </c:pt>
                <c:pt idx="10">
                  <c:v>5</c:v>
                </c:pt>
                <c:pt idx="11">
                  <c:v>2</c:v>
                </c:pt>
                <c:pt idx="12">
                  <c:v>3</c:v>
                </c:pt>
                <c:pt idx="13">
                  <c:v>3</c:v>
                </c:pt>
                <c:pt idx="14">
                  <c:v>2</c:v>
                </c:pt>
                <c:pt idx="15">
                  <c:v>5</c:v>
                </c:pt>
                <c:pt idx="16">
                  <c:v>2</c:v>
                </c:pt>
                <c:pt idx="17">
                  <c:v>3</c:v>
                </c:pt>
                <c:pt idx="18">
                  <c:v>4</c:v>
                </c:pt>
                <c:pt idx="19">
                  <c:v>5</c:v>
                </c:pt>
                <c:pt idx="20">
                  <c:v>2</c:v>
                </c:pt>
                <c:pt idx="21">
                  <c:v>2</c:v>
                </c:pt>
                <c:pt idx="22">
                  <c:v>1</c:v>
                </c:pt>
                <c:pt idx="23">
                  <c:v>3</c:v>
                </c:pt>
                <c:pt idx="24">
                  <c:v>5</c:v>
                </c:pt>
              </c:numCache>
            </c:numRef>
          </c: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2-4494-49DF-A4CF-142896EE4B47}"/>
            </c:ext>
          </c:extLst>
        </c:ser>
        <c:dLbls>
          <c:showLegendKey val="0"/>
          <c:showVal val="0"/>
          <c:showCatName val="0"/>
          <c:showSerName val="0"/>
          <c:showPercent val="0"/>
          <c:showBubbleSize val="0"/>
        </c:dLbls>
        <c:marker val="1"/>
        <c:smooth val="0"/>
        <c:axId val="1690759888"/>
        <c:axId val="1690757392"/>
      </c:lineChart>
      <c:catAx>
        <c:axId val="1690759888"/>
        <c:scaling>
          <c:orientation val="minMax"/>
        </c:scaling>
        <c:delete val="0"/>
        <c:axPos val="b"/>
        <c:majorGridlines>
          <c:spPr>
            <a:ln w="31750" cap="flat" cmpd="sng" algn="ctr">
              <a:solidFill>
                <a:schemeClr val="tx1">
                  <a:lumMod val="15000"/>
                  <a:lumOff val="85000"/>
                </a:schemeClr>
              </a:solidFill>
              <a:round/>
            </a:ln>
            <a:effectLst/>
          </c:spPr>
        </c:majorGridlines>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lgn="r">
              <a:defRPr sz="800" b="0" i="0" u="none" strike="noStrike" kern="1200" baseline="0" smtId="4294967295">
                <a:solidFill>
                  <a:schemeClr val="tx1">
                    <a:lumMod val="65000"/>
                    <a:lumOff val="35000"/>
                  </a:schemeClr>
                </a:solidFill>
                <a:latin typeface="+mn-lt"/>
                <a:ea typeface="+mn-ea"/>
                <a:cs typeface="+mn-cs"/>
              </a:defRPr>
            </a:pPr>
            <a:endParaRPr lang="en-US"/>
          </a:p>
        </c:txPr>
        <c:crossAx val="1690757392"/>
        <c:crosses val="autoZero"/>
        <c:auto val="0"/>
        <c:lblAlgn val="ctr"/>
        <c:lblOffset val="100"/>
        <c:noMultiLvlLbl val="0"/>
      </c:catAx>
      <c:valAx>
        <c:axId val="1690757392"/>
        <c:scaling>
          <c:orientation val="minMax"/>
          <c:max val="5.2"/>
          <c:min val="0"/>
        </c:scaling>
        <c:delete val="0"/>
        <c:axPos val="l"/>
        <c:numFmt formatCode="General" sourceLinked="1"/>
        <c:majorTickMark val="out"/>
        <c:minorTickMark val="none"/>
        <c:tickLblPos val="nextTo"/>
        <c:spPr>
          <a:noFill/>
          <a:ln>
            <a:solidFill>
              <a:schemeClr val="accent1"/>
            </a:solidFill>
          </a:ln>
          <a:effectLst/>
        </c:spPr>
        <c:txPr>
          <a:bodyPr rot="-60000000" spcFirstLastPara="1" vertOverflow="ellipsis" vert="horz" wrap="square" anchor="ctr" anchorCtr="1"/>
          <a:lstStyle/>
          <a:p>
            <a:pPr>
              <a:defRPr sz="800" b="0" i="0" u="none" strike="noStrike" kern="1200" baseline="0" smtId="4294967295">
                <a:solidFill>
                  <a:schemeClr val="tx1">
                    <a:lumMod val="65000"/>
                    <a:lumOff val="35000"/>
                  </a:schemeClr>
                </a:solidFill>
                <a:latin typeface="+mn-lt"/>
                <a:ea typeface="+mn-ea"/>
                <a:cs typeface="+mn-cs"/>
              </a:defRPr>
            </a:pPr>
            <a:endParaRPr lang="en-US"/>
          </a:p>
        </c:txPr>
        <c:crossAx val="1690759888"/>
        <c:crosses val="autoZero"/>
        <c:crossBetween val="between"/>
        <c:majorUnit val="1"/>
      </c:valAx>
      <c:valAx>
        <c:axId val="1690761136"/>
        <c:scaling>
          <c:orientation val="minMax"/>
          <c:max val="5.2"/>
          <c:min val="0"/>
        </c:scaling>
        <c:delete val="1"/>
        <c:axPos val="l"/>
        <c:numFmt formatCode="General" sourceLinked="1"/>
        <c:majorTickMark val="out"/>
        <c:minorTickMark val="none"/>
        <c:tickLblPos val="nextTo"/>
        <c:crossAx val="1690755728"/>
        <c:crosses val="autoZero"/>
        <c:crossBetween val="between"/>
      </c:valAx>
      <c:catAx>
        <c:axId val="1690755728"/>
        <c:scaling>
          <c:orientation val="minMax"/>
        </c:scaling>
        <c:delete val="1"/>
        <c:axPos val="b"/>
        <c:numFmt formatCode="General" sourceLinked="1"/>
        <c:majorTickMark val="out"/>
        <c:minorTickMark val="none"/>
        <c:tickLblPos val="nextTo"/>
        <c:crossAx val="1690761136"/>
        <c:crosses val="autoZero"/>
        <c:auto val="0"/>
        <c:lblAlgn val="ctr"/>
        <c:lblOffset val="100"/>
        <c:noMultiLvlLbl val="0"/>
      </c:catAx>
      <c:spPr>
        <a:noFill/>
        <a:ln>
          <a:noFill/>
        </a:ln>
        <a:effectLst/>
      </c:spPr>
    </c:plotArea>
    <c:plotVisOnly val="1"/>
    <c:dispBlanksAs val="gap"/>
    <c:showDLblsOverMax val="0"/>
    <c:extLst xmlns:a14="http://schemas.microsoft.com/office/drawing/2010/main" xmlns:wp="http://schemas.openxmlformats.org/drawingml/2006/wordprocessingDrawing" xmlns:w="http://schemas.openxmlformats.org/wordprocessingml/2006/main" xmlns:m="http://schemas.openxmlformats.org/officeDocument/2006/math">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657136380672455E-2"/>
          <c:y val="3.0699737370014191E-2"/>
          <c:w val="0.95532488822937012"/>
          <c:h val="0.95688581466674805"/>
        </c:manualLayout>
      </c:layout>
      <c:barChart>
        <c:barDir val="bar"/>
        <c:grouping val="stacked"/>
        <c:varyColors val="0"/>
        <c:ser>
          <c:idx val="0"/>
          <c:order val="0"/>
          <c:tx>
            <c:strRef>
              <c:f>Sheet1!$D$15</c:f>
              <c:strCache>
                <c:ptCount val="1"/>
                <c:pt idx="0">
                  <c:v>Current Maturity</c:v>
                </c:pt>
              </c:strCache>
            </c:strRef>
          </c:tx>
          <c:spPr>
            <a:solidFill>
              <a:srgbClr val="002856"/>
            </a:solidFill>
            <a:ln>
              <a:solidFill>
                <a:srgbClr val="002856"/>
              </a:solidFill>
              <a:miter lim="800000"/>
            </a:ln>
          </c:spPr>
          <c:invertIfNegative val="0"/>
          <c:dLbls>
            <c:dLbl>
              <c:idx val="0"/>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D82F-4555-850F-00C175142776}"/>
                </c:ext>
              </c:extLst>
            </c:dLbl>
            <c:dLbl>
              <c:idx val="1"/>
              <c:spPr/>
              <c:txPr>
                <a:bodyPr wrap="square" lIns="38100" tIns="19050" rIns="38100" bIns="19050" anchor="ctr">
                  <a:spAutoFit/>
                </a:bodyPr>
                <a:lstStyle/>
                <a:p>
                  <a:pPr>
                    <a:defRPr sz="1100" smtId="4294967295">
                      <a:solidFill>
                        <a:schemeClr val="bg1"/>
                      </a:solidFill>
                    </a:defRPr>
                  </a:pPr>
                  <a:endParaRPr lang="en-US"/>
                </a:p>
              </c:txPr>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D82F-4555-850F-00C175142776}"/>
                </c:ext>
              </c:extLst>
            </c:dLbl>
            <c:dLbl>
              <c:idx val="2"/>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D82F-4555-850F-00C175142776}"/>
                </c:ext>
              </c:extLst>
            </c:dLbl>
            <c:dLbl>
              <c:idx val="3"/>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D82F-4555-850F-00C175142776}"/>
                </c:ext>
              </c:extLst>
            </c:dLbl>
            <c:spPr>
              <a:noFill/>
              <a:ln>
                <a:noFill/>
              </a:ln>
              <a:effectLst/>
            </c:spPr>
            <c:txPr>
              <a:bodyPr wrap="square" lIns="38100" tIns="19050" rIns="38100" bIns="19050" anchor="ctr">
                <a:spAutoFit/>
              </a:bodyPr>
              <a:lstStyle/>
              <a:p>
                <a:pPr>
                  <a:defRPr sz="1100" smtId="4294967295">
                    <a:solidFill>
                      <a:schemeClr val="bg1"/>
                    </a:solidFill>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cat>
            <c:multiLvlStrRef>
              <c:f>Sheet1!$A$4:$A$7</c:f>
            </c:multiLvlStrRef>
          </c:cat>
          <c:val>
            <c:numRef>
              <c:f>Sheet1!$D$16:$D$19</c:f>
              <c:numCache>
                <c:formatCode>0.0</c:formatCode>
                <c:ptCount val="4"/>
                <c:pt idx="0" formatCode="0.00">
                  <c:v>0</c:v>
                </c:pt>
                <c:pt idx="1">
                  <c:v>2</c:v>
                </c:pt>
                <c:pt idx="2">
                  <c:v>0</c:v>
                </c:pt>
                <c:pt idx="3" formatCode="0.0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D82F-4555-850F-00C175142776}"/>
            </c:ext>
          </c:extLst>
        </c:ser>
        <c:ser>
          <c:idx val="10"/>
          <c:order val="1"/>
          <c:tx>
            <c:strRef>
              <c:f>Sheet1!$F$15</c:f>
              <c:strCache>
                <c:ptCount val="1"/>
                <c:pt idx="0">
                  <c:v>10th Positive Bar</c:v>
                </c:pt>
              </c:strCache>
            </c:strRef>
          </c:tx>
          <c:spPr>
            <a:noFill/>
            <a:ln>
              <a:noFill/>
            </a:ln>
          </c:spPr>
          <c:invertIfNegative val="0"/>
          <c:cat>
            <c:multiLvlStrRef>
              <c:f>Sheet1!$A$4:$A$7</c:f>
            </c:multiLvlStrRef>
          </c:cat>
          <c:val>
            <c:numRef>
              <c:f>Sheet1!$F$16:$F$19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D82F-4555-850F-00C175142776}"/>
            </c:ext>
          </c:extLst>
        </c:ser>
        <c:ser>
          <c:idx val="3"/>
          <c:order val="2"/>
          <c:tx>
            <c:strRef>
              <c:f>Sheet1!$H$15</c:f>
              <c:strCache>
                <c:ptCount val="1"/>
                <c:pt idx="0">
                  <c:v>25th Positive Bar</c:v>
                </c:pt>
              </c:strCache>
            </c:strRef>
          </c:tx>
          <c:spPr>
            <a:noFill/>
          </c:spPr>
          <c:invertIfNegative val="0"/>
          <c:cat>
            <c:multiLvlStrRef>
              <c:f>Sheet1!$A$4:$A$7</c:f>
            </c:multiLvlStrRef>
          </c:cat>
          <c:val>
            <c:numRef>
              <c:f>Sheet1!$H$16:$H$19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D82F-4555-850F-00C175142776}"/>
            </c:ext>
          </c:extLst>
        </c:ser>
        <c:ser>
          <c:idx val="5"/>
          <c:order val="3"/>
          <c:tx>
            <c:strRef>
              <c:f>Sheet1!$J$15</c:f>
              <c:strCache>
                <c:ptCount val="1"/>
                <c:pt idx="0">
                  <c:v>75th Positive Bar</c:v>
                </c:pt>
              </c:strCache>
            </c:strRef>
          </c:tx>
          <c:spPr>
            <a:solidFill>
              <a:srgbClr val="BFBFBF"/>
            </a:solidFill>
            <a:ln>
              <a:solidFill>
                <a:srgbClr val="BFBFBF"/>
              </a:solidFill>
            </a:ln>
          </c:spPr>
          <c:invertIfNegative val="0"/>
          <c:cat>
            <c:multiLvlStrRef>
              <c:f>Sheet1!$A$4:$A$7</c:f>
            </c:multiLvlStrRef>
          </c:cat>
          <c:val>
            <c:numRef>
              <c:f>Sheet1!$J$16:$J$19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D82F-4555-850F-00C175142776}"/>
            </c:ext>
          </c:extLst>
        </c:ser>
        <c:ser>
          <c:idx val="7"/>
          <c:order val="4"/>
          <c:tx>
            <c:strRef>
              <c:f>Sheet1!$L$15</c:f>
              <c:strCache>
                <c:ptCount val="1"/>
                <c:pt idx="0">
                  <c:v>90th Positive Bar</c:v>
                </c:pt>
              </c:strCache>
            </c:strRef>
          </c:tx>
          <c:spPr>
            <a:noFill/>
          </c:spPr>
          <c:invertIfNegative val="0"/>
          <c:cat>
            <c:multiLvlStrRef>
              <c:f>Sheet1!$A$4:$A$7</c:f>
            </c:multiLvlStrRef>
          </c:cat>
          <c:val>
            <c:numRef>
              <c:f>Sheet1!$L$16:$L$19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D82F-4555-850F-00C175142776}"/>
            </c:ext>
          </c:extLst>
        </c:ser>
        <c:ser>
          <c:idx val="6"/>
          <c:order val="8"/>
          <c:tx>
            <c:strRef>
              <c:f>Sheet1!$K$15</c:f>
              <c:strCache>
                <c:ptCount val="1"/>
                <c:pt idx="0">
                  <c:v>90th Negative Bar</c:v>
                </c:pt>
              </c:strCache>
            </c:strRef>
          </c:tx>
          <c:spPr>
            <a:noFill/>
          </c:spPr>
          <c:invertIfNegative val="0"/>
          <c:cat>
            <c:multiLvlStrRef>
              <c:f>Sheet1!$A$4:$A$7</c:f>
            </c:multiLvlStrRef>
          </c:cat>
          <c:val>
            <c:numRef>
              <c:f>Sheet1!$K$16:$K$19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D82F-4555-850F-00C175142776}"/>
            </c:ext>
          </c:extLst>
        </c:ser>
        <c:ser>
          <c:idx val="4"/>
          <c:order val="9"/>
          <c:tx>
            <c:strRef>
              <c:f>Sheet1!$I$15</c:f>
              <c:strCache>
                <c:ptCount val="1"/>
                <c:pt idx="0">
                  <c:v>75th Negative Bar</c:v>
                </c:pt>
              </c:strCache>
            </c:strRef>
          </c:tx>
          <c:spPr>
            <a:noFill/>
          </c:spPr>
          <c:invertIfNegative val="0"/>
          <c:cat>
            <c:multiLvlStrRef>
              <c:f>Sheet1!$A$4:$A$7</c:f>
            </c:multiLvlStrRef>
          </c:cat>
          <c:val>
            <c:numRef>
              <c:f>Sheet1!$I$16:$I$19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D82F-4555-850F-00C175142776}"/>
            </c:ext>
          </c:extLst>
        </c:ser>
        <c:ser>
          <c:idx val="2"/>
          <c:order val="10"/>
          <c:tx>
            <c:strRef>
              <c:f>Sheet1!$G$15</c:f>
              <c:strCache>
                <c:ptCount val="1"/>
                <c:pt idx="0">
                  <c:v>25th Negative Bar</c:v>
                </c:pt>
              </c:strCache>
            </c:strRef>
          </c:tx>
          <c:spPr>
            <a:solidFill>
              <a:srgbClr val="BFBFBF"/>
            </a:solidFill>
            <a:ln>
              <a:solidFill>
                <a:srgbClr val="BFBFBF"/>
              </a:solidFill>
            </a:ln>
          </c:spPr>
          <c:invertIfNegative val="0"/>
          <c:cat>
            <c:multiLvlStrRef>
              <c:f>Sheet1!$A$4:$A$7</c:f>
            </c:multiLvlStrRef>
          </c:cat>
          <c:val>
            <c:numRef>
              <c:f>Sheet1!$G$16:$G$19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D82F-4555-850F-00C175142776}"/>
            </c:ext>
          </c:extLst>
        </c:ser>
        <c:ser>
          <c:idx val="1"/>
          <c:order val="11"/>
          <c:tx>
            <c:strRef>
              <c:f>Sheet1!$E$15</c:f>
              <c:strCache>
                <c:ptCount val="1"/>
                <c:pt idx="0">
                  <c:v>10th Negative Bar</c:v>
                </c:pt>
              </c:strCache>
            </c:strRef>
          </c:tx>
          <c:spPr>
            <a:noFill/>
          </c:spPr>
          <c:invertIfNegative val="0"/>
          <c:cat>
            <c:multiLvlStrRef>
              <c:f>Sheet1!$A$4:$A$7</c:f>
            </c:multiLvlStrRef>
          </c:cat>
          <c:val>
            <c:numRef>
              <c:f>Sheet1!$E$16:$E$19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D82F-4555-850F-00C175142776}"/>
            </c:ext>
          </c:extLst>
        </c:ser>
        <c:ser>
          <c:idx val="15"/>
          <c:order val="14"/>
          <c:tx>
            <c:strRef>
              <c:f>Sheet1!$M$15</c:f>
              <c:strCache>
                <c:ptCount val="1"/>
                <c:pt idx="0">
                  <c:v>Benchmarks Omitted Bar</c:v>
                </c:pt>
              </c:strCache>
            </c:strRef>
          </c:tx>
          <c:spPr>
            <a:noFill/>
          </c:spPr>
          <c:invertIfNegative val="0"/>
          <c:cat>
            <c:multiLvlStrRef>
              <c:f>Sheet1!$A$4:$A$7</c:f>
            </c:multiLvlStrRef>
          </c:cat>
          <c:val>
            <c:numRef>
              <c:f>Sheet1!$M$16:$M$19</c:f>
              <c:numCache>
                <c:formatCode>General</c:formatCode>
                <c:ptCount val="4"/>
                <c:pt idx="0">
                  <c:v>0</c:v>
                </c:pt>
                <c:pt idx="1">
                  <c:v>0</c:v>
                </c:pt>
                <c:pt idx="2">
                  <c:v>0</c:v>
                </c:pt>
                <c:pt idx="3" formatCode="&quot;$&quot;#,##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D82F-4555-850F-00C175142776}"/>
            </c:ext>
          </c:extLst>
        </c:ser>
        <c:dLbls>
          <c:showLegendKey val="0"/>
          <c:showVal val="0"/>
          <c:showCatName val="0"/>
          <c:showSerName val="0"/>
          <c:showPercent val="0"/>
          <c:showBubbleSize val="0"/>
        </c:dLbls>
        <c:gapWidth val="0"/>
        <c:overlap val="100"/>
        <c:axId val="1154865663"/>
        <c:axId val="1"/>
      </c:barChart>
      <c:scatterChart>
        <c:scatterStyle val="lineMarker"/>
        <c:varyColors val="0"/>
        <c:ser>
          <c:idx val="8"/>
          <c:order val="5"/>
          <c:tx>
            <c:strRef>
              <c:f>Sheet1!$B$9</c:f>
              <c:strCache>
                <c:ptCount val="1"/>
                <c:pt idx="0">
                  <c:v>Target Maturity</c:v>
                </c:pt>
              </c:strCache>
            </c:strRef>
          </c:tx>
          <c:marker>
            <c:symbol val="none"/>
          </c:marker>
          <c:dLbls>
            <c:dLbl>
              <c:idx val="0"/>
              <c:spPr>
                <a:solidFill>
                  <a:srgbClr val="1F96FF"/>
                </a:solidFill>
                <a:ln>
                  <a:noFill/>
                </a:ln>
                <a:effectLst/>
              </c:spPr>
              <c:txPr>
                <a:bodyPr wrap="square" lIns="38100" tIns="19050" rIns="38100" bIns="19050" anchor="ctr">
                  <a:spAutoFit/>
                </a:bodyPr>
                <a:lstStyle/>
                <a:p>
                  <a:pPr>
                    <a:defRPr sz="1100" smtId="4294967295">
                      <a:solidFill>
                        <a:srgbClr val="FFFFFF"/>
                      </a:solidFill>
                      <a:latin typeface="Roboto Medium" panose="02000000000000000000" pitchFamily="2" charset="0"/>
                      <a:ea typeface="Roboto Medium"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D82F-4555-850F-00C175142776}"/>
                </c:ext>
              </c:extLst>
            </c:dLbl>
            <c:spPr>
              <a:solidFill>
                <a:srgbClr val="1F96FF"/>
              </a:solidFill>
              <a:ln>
                <a:noFill/>
              </a:ln>
              <a:effectLst/>
            </c:spPr>
            <c:txPr>
              <a:bodyPr wrap="square" lIns="38100" tIns="19050" rIns="38100" bIns="19050" anchor="ctr">
                <a:spAutoFit/>
              </a:bodyPr>
              <a:lstStyle/>
              <a:p>
                <a:pPr>
                  <a:defRPr sz="1100" smtId="4294967295">
                    <a:solidFill>
                      <a:srgbClr val="FFFFFF"/>
                    </a:solidFill>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40"/>
            <c:spPr>
              <a:ln w="25400">
                <a:solidFill>
                  <a:srgbClr val="1F96FF"/>
                </a:solidFill>
              </a:ln>
            </c:spPr>
          </c:errBars>
          <c:xVal>
            <c:numRef>
              <c:f>Sheet1!$D$9</c:f>
              <c:numCache>
                <c:formatCode>0.0</c:formatCode>
                <c:ptCount val="1"/>
                <c:pt idx="0">
                  <c:v>4</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D82F-4555-850F-00C175142776}"/>
            </c:ext>
          </c:extLst>
        </c:ser>
        <c:ser>
          <c:idx val="11"/>
          <c:order val="6"/>
          <c:tx>
            <c:strRef>
              <c:f>Sheet1!$B$11</c:f>
              <c:strCache>
                <c:ptCount val="1"/>
                <c:pt idx="0">
                  <c:v>Maximum</c:v>
                </c:pt>
              </c:strCache>
            </c:strRef>
          </c:tx>
          <c:marker>
            <c:symbol val="none"/>
          </c:marker>
          <c:xVal>
            <c:numRef>
              <c:f>Sheet1!$D$11</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D82F-4555-850F-00C175142776}"/>
            </c:ext>
          </c:extLst>
        </c:ser>
        <c:ser>
          <c:idx val="9"/>
          <c:order val="7"/>
          <c:tx>
            <c:strRef>
              <c:f>Sheet1!$B$8</c:f>
              <c:strCache>
                <c:ptCount val="1"/>
                <c:pt idx="0">
                  <c:v>Client</c:v>
                </c:pt>
              </c:strCache>
            </c:strRef>
          </c:tx>
          <c:marker>
            <c:symbol val="none"/>
          </c:marker>
          <c:xVal>
            <c:numRef>
              <c:f>Sheet1!$D$8</c:f>
              <c:numCache>
                <c:formatCode>0.00</c:formatCode>
                <c:ptCount val="1"/>
                <c:pt idx="0">
                  <c:v>0</c:v>
                </c:pt>
              </c:numCache>
            </c:numRef>
          </c:xVal>
          <c:yVal>
            <c:numRef>
              <c:f>Sheet1!$D$14</c:f>
              <c:numCache>
                <c:formatCode>_(* #,##0_);_(* \(#,##0\);_(* "-"??_);_(@_)</c:formatCode>
                <c:ptCount val="1"/>
                <c:pt idx="0">
                  <c:v>3</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D82F-4555-850F-00C175142776}"/>
            </c:ext>
          </c:extLst>
        </c:ser>
        <c:ser>
          <c:idx val="13"/>
          <c:order val="12"/>
          <c:tx>
            <c:v>25th Scatter Label</c:v>
          </c:tx>
          <c:marker>
            <c:symbol val="none"/>
          </c:marker>
          <c:xVal>
            <c:numRef>
              <c:f>Sheet1!$D$5</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D82F-4555-850F-00C175142776}"/>
            </c:ext>
          </c:extLst>
        </c:ser>
        <c:ser>
          <c:idx val="14"/>
          <c:order val="13"/>
          <c:tx>
            <c:v>75 Scatter Label</c:v>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0-76A6-4947-9B72-52838E75A002}"/>
              </c:ext>
            </c:extLst>
          </c:dPt>
          <c:xVal>
            <c:numRef>
              <c:f>Sheet1!$D$6</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D82F-4555-850F-00C175142776}"/>
            </c:ext>
          </c:extLst>
        </c:ser>
        <c:dLbls>
          <c:showLegendKey val="0"/>
          <c:showVal val="0"/>
          <c:showCatName val="0"/>
          <c:showSerName val="0"/>
          <c:showPercent val="0"/>
          <c:showBubbleSize val="0"/>
        </c:dLbls>
        <c:axId val="928322959"/>
        <c:axId val="928311311"/>
      </c:scatterChart>
      <c:catAx>
        <c:axId val="1154865663"/>
        <c:scaling>
          <c:orientation val="minMax"/>
        </c:scaling>
        <c:delete val="1"/>
        <c:axPos val="l"/>
        <c:numFmt formatCode="General" sourceLinked="1"/>
        <c:majorTickMark val="out"/>
        <c:minorTickMark val="none"/>
        <c:tickLblPos val="nextTo"/>
        <c:crossAx val="1"/>
        <c:crossesAt val="0"/>
        <c:auto val="0"/>
        <c:lblAlgn val="ctr"/>
        <c:lblOffset val="100"/>
        <c:noMultiLvlLbl val="1"/>
      </c:catAx>
      <c:valAx>
        <c:axId val="1"/>
        <c:scaling>
          <c:orientation val="minMax"/>
          <c:max val="5.0999999999999996"/>
          <c:min val="0"/>
        </c:scaling>
        <c:delete val="1"/>
        <c:axPos val="b"/>
        <c:numFmt formatCode="0.0" sourceLinked="0"/>
        <c:majorTickMark val="out"/>
        <c:minorTickMark val="none"/>
        <c:tickLblPos val="nextTo"/>
        <c:crossAx val="1154865663"/>
        <c:crossesAt val="1"/>
        <c:crossBetween val="between"/>
        <c:majorUnit val="1"/>
      </c:valAx>
      <c:valAx>
        <c:axId val="928322959"/>
        <c:scaling>
          <c:orientation val="minMax"/>
          <c:max val="1.6000000000000003E-3"/>
        </c:scaling>
        <c:delete val="1"/>
        <c:axPos val="b"/>
        <c:numFmt formatCode="0.0" sourceLinked="1"/>
        <c:majorTickMark val="out"/>
        <c:minorTickMark val="none"/>
        <c:tickLblPos val="nextTo"/>
        <c:crossAx val="928311311"/>
        <c:crosses val="autoZero"/>
        <c:crossBetween val="midCat"/>
      </c:valAx>
      <c:valAx>
        <c:axId val="928311311"/>
        <c:scaling>
          <c:orientation val="minMax"/>
          <c:max val="3"/>
          <c:min val="1"/>
        </c:scaling>
        <c:delete val="1"/>
        <c:axPos val="l"/>
        <c:numFmt formatCode="_(* #,##0_);_(* \(#,##0\);_(* &quot;-&quot;??_);_(@_)" sourceLinked="0"/>
        <c:majorTickMark val="out"/>
        <c:minorTickMark val="none"/>
        <c:tickLblPos val="nextTo"/>
        <c:crossAx val="928322959"/>
        <c:crosses val="autoZero"/>
        <c:crossBetween val="midCat"/>
        <c:majorUnit val="1"/>
        <c:minorUnit val="1"/>
      </c:valAx>
      <c:spPr>
        <a:noFill/>
        <a:ln>
          <a:noFill/>
        </a:ln>
      </c:spPr>
    </c:plotArea>
    <c:plotVisOnly val="1"/>
    <c:dispBlanksAs val="gap"/>
    <c:showDLblsOverMax val="0"/>
  </c:chart>
  <c:spPr>
    <a:noFill/>
    <a:ln>
      <a:noFill/>
    </a:ln>
  </c:spPr>
  <c:externalData r:id="rId2">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764448955655098E-2"/>
          <c:y val="4.3114185333251953E-2"/>
          <c:w val="0.95532488822937012"/>
          <c:h val="0.95688581466674805"/>
        </c:manualLayout>
      </c:layout>
      <c:barChart>
        <c:barDir val="bar"/>
        <c:grouping val="stacked"/>
        <c:varyColors val="0"/>
        <c:ser>
          <c:idx val="0"/>
          <c:order val="0"/>
          <c:tx>
            <c:strRef>
              <c:f>Sheet1!$D$15</c:f>
              <c:strCache>
                <c:ptCount val="1"/>
                <c:pt idx="0">
                  <c:v>Current Maturity</c:v>
                </c:pt>
              </c:strCache>
            </c:strRef>
          </c:tx>
          <c:spPr>
            <a:solidFill>
              <a:srgbClr val="002856"/>
            </a:solidFill>
            <a:ln>
              <a:solidFill>
                <a:srgbClr val="002856"/>
              </a:solidFill>
              <a:miter lim="800000"/>
            </a:ln>
          </c:spPr>
          <c:invertIfNegative val="0"/>
          <c:dLbls>
            <c:dLbl>
              <c:idx val="0"/>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E67D-466B-B33D-6BE9BF964D91}"/>
                </c:ext>
              </c:extLst>
            </c:dLbl>
            <c:dLbl>
              <c:idx val="1"/>
              <c:spPr/>
              <c:txPr>
                <a:bodyPr wrap="square" lIns="38100" tIns="19050" rIns="38100" bIns="19050" anchor="ctr">
                  <a:spAutoFit/>
                </a:bodyPr>
                <a:lstStyle/>
                <a:p>
                  <a:pPr>
                    <a:defRPr sz="1100" smtId="4294967295">
                      <a:solidFill>
                        <a:schemeClr val="bg1"/>
                      </a:solidFill>
                    </a:defRPr>
                  </a:pPr>
                  <a:endParaRPr lang="en-US"/>
                </a:p>
              </c:txPr>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E67D-466B-B33D-6BE9BF964D91}"/>
                </c:ext>
              </c:extLst>
            </c:dLbl>
            <c:dLbl>
              <c:idx val="2"/>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E67D-466B-B33D-6BE9BF964D91}"/>
                </c:ext>
              </c:extLst>
            </c:dLbl>
            <c:dLbl>
              <c:idx val="3"/>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E67D-466B-B33D-6BE9BF964D91}"/>
                </c:ext>
              </c:extLst>
            </c:dLbl>
            <c:spPr>
              <a:noFill/>
              <a:ln>
                <a:noFill/>
              </a:ln>
              <a:effectLst/>
            </c:spPr>
            <c:txPr>
              <a:bodyPr wrap="square" lIns="38100" tIns="19050" rIns="38100" bIns="19050" anchor="ctr">
                <a:spAutoFit/>
              </a:bodyPr>
              <a:lstStyle/>
              <a:p>
                <a:pPr>
                  <a:defRPr sz="1100" smtId="4294967295">
                    <a:solidFill>
                      <a:schemeClr val="bg1"/>
                    </a:solidFill>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cat>
            <c:multiLvlStrRef>
              <c:f>Sheet1!$A$4:$A$7</c:f>
            </c:multiLvlStrRef>
          </c:cat>
          <c:val>
            <c:numRef>
              <c:f>Sheet1!$D$16:$D$19</c:f>
              <c:numCache>
                <c:formatCode>0.0</c:formatCode>
                <c:ptCount val="4"/>
                <c:pt idx="0" formatCode="0.00">
                  <c:v>0</c:v>
                </c:pt>
                <c:pt idx="1">
                  <c:v>3</c:v>
                </c:pt>
                <c:pt idx="2">
                  <c:v>0</c:v>
                </c:pt>
                <c:pt idx="3" formatCode="0.0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E67D-466B-B33D-6BE9BF964D91}"/>
            </c:ext>
          </c:extLst>
        </c:ser>
        <c:ser>
          <c:idx val="10"/>
          <c:order val="1"/>
          <c:tx>
            <c:strRef>
              <c:f>Sheet1!$F$15</c:f>
              <c:strCache>
                <c:ptCount val="1"/>
                <c:pt idx="0">
                  <c:v>10th Positive Bar</c:v>
                </c:pt>
              </c:strCache>
            </c:strRef>
          </c:tx>
          <c:spPr>
            <a:noFill/>
            <a:ln>
              <a:noFill/>
            </a:ln>
          </c:spPr>
          <c:invertIfNegative val="0"/>
          <c:cat>
            <c:multiLvlStrRef>
              <c:f>Sheet1!$A$4:$A$7</c:f>
            </c:multiLvlStrRef>
          </c:cat>
          <c:val>
            <c:numRef>
              <c:f>Sheet1!$F$16:$F$19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E67D-466B-B33D-6BE9BF964D91}"/>
            </c:ext>
          </c:extLst>
        </c:ser>
        <c:ser>
          <c:idx val="3"/>
          <c:order val="2"/>
          <c:tx>
            <c:strRef>
              <c:f>Sheet1!$H$15</c:f>
              <c:strCache>
                <c:ptCount val="1"/>
                <c:pt idx="0">
                  <c:v>25th Positive Bar</c:v>
                </c:pt>
              </c:strCache>
            </c:strRef>
          </c:tx>
          <c:spPr>
            <a:noFill/>
          </c:spPr>
          <c:invertIfNegative val="0"/>
          <c:cat>
            <c:multiLvlStrRef>
              <c:f>Sheet1!$A$4:$A$7</c:f>
            </c:multiLvlStrRef>
          </c:cat>
          <c:val>
            <c:numRef>
              <c:f>Sheet1!$H$16:$H$19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E67D-466B-B33D-6BE9BF964D91}"/>
            </c:ext>
          </c:extLst>
        </c:ser>
        <c:ser>
          <c:idx val="5"/>
          <c:order val="3"/>
          <c:tx>
            <c:strRef>
              <c:f>Sheet1!$J$15</c:f>
              <c:strCache>
                <c:ptCount val="1"/>
                <c:pt idx="0">
                  <c:v>75th Positive Bar</c:v>
                </c:pt>
              </c:strCache>
            </c:strRef>
          </c:tx>
          <c:spPr>
            <a:solidFill>
              <a:srgbClr val="BFBFBF"/>
            </a:solidFill>
            <a:ln>
              <a:solidFill>
                <a:srgbClr val="BFBFBF"/>
              </a:solidFill>
            </a:ln>
          </c:spPr>
          <c:invertIfNegative val="0"/>
          <c:cat>
            <c:multiLvlStrRef>
              <c:f>Sheet1!$A$4:$A$7</c:f>
            </c:multiLvlStrRef>
          </c:cat>
          <c:val>
            <c:numRef>
              <c:f>Sheet1!$J$16:$J$19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E67D-466B-B33D-6BE9BF964D91}"/>
            </c:ext>
          </c:extLst>
        </c:ser>
        <c:ser>
          <c:idx val="7"/>
          <c:order val="4"/>
          <c:tx>
            <c:strRef>
              <c:f>Sheet1!$L$15</c:f>
              <c:strCache>
                <c:ptCount val="1"/>
                <c:pt idx="0">
                  <c:v>90th Positive Bar</c:v>
                </c:pt>
              </c:strCache>
            </c:strRef>
          </c:tx>
          <c:spPr>
            <a:noFill/>
          </c:spPr>
          <c:invertIfNegative val="0"/>
          <c:cat>
            <c:multiLvlStrRef>
              <c:f>Sheet1!$A$4:$A$7</c:f>
            </c:multiLvlStrRef>
          </c:cat>
          <c:val>
            <c:numRef>
              <c:f>Sheet1!$L$16:$L$19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E67D-466B-B33D-6BE9BF964D91}"/>
            </c:ext>
          </c:extLst>
        </c:ser>
        <c:ser>
          <c:idx val="6"/>
          <c:order val="8"/>
          <c:tx>
            <c:strRef>
              <c:f>Sheet1!$K$15</c:f>
              <c:strCache>
                <c:ptCount val="1"/>
                <c:pt idx="0">
                  <c:v>90th Negative Bar</c:v>
                </c:pt>
              </c:strCache>
            </c:strRef>
          </c:tx>
          <c:spPr>
            <a:noFill/>
          </c:spPr>
          <c:invertIfNegative val="0"/>
          <c:cat>
            <c:multiLvlStrRef>
              <c:f>Sheet1!$A$4:$A$7</c:f>
            </c:multiLvlStrRef>
          </c:cat>
          <c:val>
            <c:numRef>
              <c:f>Sheet1!$K$16:$K$19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E67D-466B-B33D-6BE9BF964D91}"/>
            </c:ext>
          </c:extLst>
        </c:ser>
        <c:ser>
          <c:idx val="4"/>
          <c:order val="9"/>
          <c:tx>
            <c:strRef>
              <c:f>Sheet1!$I$15</c:f>
              <c:strCache>
                <c:ptCount val="1"/>
                <c:pt idx="0">
                  <c:v>75th Negative Bar</c:v>
                </c:pt>
              </c:strCache>
            </c:strRef>
          </c:tx>
          <c:spPr>
            <a:noFill/>
          </c:spPr>
          <c:invertIfNegative val="0"/>
          <c:cat>
            <c:multiLvlStrRef>
              <c:f>Sheet1!$A$4:$A$7</c:f>
            </c:multiLvlStrRef>
          </c:cat>
          <c:val>
            <c:numRef>
              <c:f>Sheet1!$I$16:$I$19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E67D-466B-B33D-6BE9BF964D91}"/>
            </c:ext>
          </c:extLst>
        </c:ser>
        <c:ser>
          <c:idx val="2"/>
          <c:order val="10"/>
          <c:tx>
            <c:strRef>
              <c:f>Sheet1!$G$15</c:f>
              <c:strCache>
                <c:ptCount val="1"/>
                <c:pt idx="0">
                  <c:v>25th Negative Bar</c:v>
                </c:pt>
              </c:strCache>
            </c:strRef>
          </c:tx>
          <c:spPr>
            <a:solidFill>
              <a:srgbClr val="BFBFBF"/>
            </a:solidFill>
            <a:ln>
              <a:solidFill>
                <a:srgbClr val="BFBFBF"/>
              </a:solidFill>
            </a:ln>
          </c:spPr>
          <c:invertIfNegative val="0"/>
          <c:cat>
            <c:multiLvlStrRef>
              <c:f>Sheet1!$A$4:$A$7</c:f>
            </c:multiLvlStrRef>
          </c:cat>
          <c:val>
            <c:numRef>
              <c:f>Sheet1!$G$16:$G$19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E67D-466B-B33D-6BE9BF964D91}"/>
            </c:ext>
          </c:extLst>
        </c:ser>
        <c:ser>
          <c:idx val="1"/>
          <c:order val="11"/>
          <c:tx>
            <c:strRef>
              <c:f>Sheet1!$E$15</c:f>
              <c:strCache>
                <c:ptCount val="1"/>
                <c:pt idx="0">
                  <c:v>10th Negative Bar</c:v>
                </c:pt>
              </c:strCache>
            </c:strRef>
          </c:tx>
          <c:spPr>
            <a:noFill/>
          </c:spPr>
          <c:invertIfNegative val="0"/>
          <c:cat>
            <c:multiLvlStrRef>
              <c:f>Sheet1!$A$4:$A$7</c:f>
            </c:multiLvlStrRef>
          </c:cat>
          <c:val>
            <c:numRef>
              <c:f>Sheet1!$E$16:$E$19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E67D-466B-B33D-6BE9BF964D91}"/>
            </c:ext>
          </c:extLst>
        </c:ser>
        <c:ser>
          <c:idx val="15"/>
          <c:order val="14"/>
          <c:tx>
            <c:strRef>
              <c:f>Sheet1!$M$15</c:f>
              <c:strCache>
                <c:ptCount val="1"/>
                <c:pt idx="0">
                  <c:v>Benchmarks Omitted Bar</c:v>
                </c:pt>
              </c:strCache>
            </c:strRef>
          </c:tx>
          <c:spPr>
            <a:noFill/>
          </c:spPr>
          <c:invertIfNegative val="0"/>
          <c:cat>
            <c:multiLvlStrRef>
              <c:f>Sheet1!$A$4:$A$7</c:f>
            </c:multiLvlStrRef>
          </c:cat>
          <c:val>
            <c:numRef>
              <c:f>Sheet1!$M$16:$M$19</c:f>
              <c:numCache>
                <c:formatCode>General</c:formatCode>
                <c:ptCount val="4"/>
                <c:pt idx="0">
                  <c:v>0</c:v>
                </c:pt>
                <c:pt idx="1">
                  <c:v>0</c:v>
                </c:pt>
                <c:pt idx="2">
                  <c:v>0</c:v>
                </c:pt>
                <c:pt idx="3" formatCode="&quot;$&quot;#,##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E67D-466B-B33D-6BE9BF964D91}"/>
            </c:ext>
          </c:extLst>
        </c:ser>
        <c:dLbls>
          <c:showLegendKey val="0"/>
          <c:showVal val="0"/>
          <c:showCatName val="0"/>
          <c:showSerName val="0"/>
          <c:showPercent val="0"/>
          <c:showBubbleSize val="0"/>
        </c:dLbls>
        <c:gapWidth val="0"/>
        <c:overlap val="100"/>
        <c:axId val="1154865663"/>
        <c:axId val="1"/>
      </c:barChart>
      <c:scatterChart>
        <c:scatterStyle val="lineMarker"/>
        <c:varyColors val="0"/>
        <c:ser>
          <c:idx val="8"/>
          <c:order val="5"/>
          <c:tx>
            <c:strRef>
              <c:f>Sheet1!$B$9</c:f>
              <c:strCache>
                <c:ptCount val="1"/>
                <c:pt idx="0">
                  <c:v>Target Maturity</c:v>
                </c:pt>
              </c:strCache>
            </c:strRef>
          </c:tx>
          <c:marker>
            <c:symbol val="none"/>
          </c:marker>
          <c:dLbls>
            <c:dLbl>
              <c:idx val="0"/>
              <c:spPr>
                <a:solidFill>
                  <a:srgbClr val="1F96FF"/>
                </a:solidFill>
                <a:ln>
                  <a:noFill/>
                </a:ln>
                <a:effectLst/>
              </c:spPr>
              <c:txPr>
                <a:bodyPr wrap="square" lIns="38100" tIns="19050" rIns="38100" bIns="19050" anchor="ctr">
                  <a:spAutoFit/>
                </a:bodyPr>
                <a:lstStyle/>
                <a:p>
                  <a:pPr>
                    <a:defRPr sz="1100" smtId="4294967295">
                      <a:solidFill>
                        <a:srgbClr val="FFFFFF"/>
                      </a:solidFill>
                      <a:latin typeface="Roboto Medium" panose="02000000000000000000" pitchFamily="2" charset="0"/>
                      <a:ea typeface="Roboto Medium"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E67D-466B-B33D-6BE9BF964D91}"/>
                </c:ext>
              </c:extLst>
            </c:dLbl>
            <c:spPr>
              <a:solidFill>
                <a:srgbClr val="1F96FF"/>
              </a:solidFill>
              <a:ln>
                <a:noFill/>
              </a:ln>
              <a:effectLst/>
            </c:spPr>
            <c:txPr>
              <a:bodyPr wrap="square" lIns="38100" tIns="19050" rIns="38100" bIns="19050" anchor="ctr">
                <a:spAutoFit/>
              </a:bodyPr>
              <a:lstStyle/>
              <a:p>
                <a:pPr>
                  <a:defRPr sz="1100" smtId="4294967295">
                    <a:solidFill>
                      <a:srgbClr val="FFFFFF"/>
                    </a:solidFill>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40"/>
            <c:spPr>
              <a:ln w="25400">
                <a:solidFill>
                  <a:srgbClr val="1F96FF"/>
                </a:solidFill>
              </a:ln>
            </c:spPr>
          </c:errBars>
          <c:xVal>
            <c:numRef>
              <c:f>Sheet1!$D$9</c:f>
              <c:numCache>
                <c:formatCode>0.0</c:formatCode>
                <c:ptCount val="1"/>
                <c:pt idx="0">
                  <c:v>5</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E67D-466B-B33D-6BE9BF964D91}"/>
            </c:ext>
          </c:extLst>
        </c:ser>
        <c:ser>
          <c:idx val="11"/>
          <c:order val="6"/>
          <c:tx>
            <c:strRef>
              <c:f>Sheet1!$B$11</c:f>
              <c:strCache>
                <c:ptCount val="1"/>
                <c:pt idx="0">
                  <c:v>Maximum</c:v>
                </c:pt>
              </c:strCache>
            </c:strRef>
          </c:tx>
          <c:marker>
            <c:symbol val="none"/>
          </c:marker>
          <c:xVal>
            <c:numRef>
              <c:f>Sheet1!$D$11</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E67D-466B-B33D-6BE9BF964D91}"/>
            </c:ext>
          </c:extLst>
        </c:ser>
        <c:ser>
          <c:idx val="9"/>
          <c:order val="7"/>
          <c:tx>
            <c:strRef>
              <c:f>Sheet1!$B$8</c:f>
              <c:strCache>
                <c:ptCount val="1"/>
                <c:pt idx="0">
                  <c:v>Client</c:v>
                </c:pt>
              </c:strCache>
            </c:strRef>
          </c:tx>
          <c:marker>
            <c:symbol val="none"/>
          </c:marker>
          <c:xVal>
            <c:numRef>
              <c:f>Sheet1!$D$8</c:f>
              <c:numCache>
                <c:formatCode>0.00</c:formatCode>
                <c:ptCount val="1"/>
                <c:pt idx="0">
                  <c:v>0</c:v>
                </c:pt>
              </c:numCache>
            </c:numRef>
          </c:xVal>
          <c:yVal>
            <c:numRef>
              <c:f>Sheet1!$D$14</c:f>
              <c:numCache>
                <c:formatCode>_(* #,##0_);_(* \(#,##0\);_(* "-"??_);_(@_)</c:formatCode>
                <c:ptCount val="1"/>
                <c:pt idx="0">
                  <c:v>3</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E67D-466B-B33D-6BE9BF964D91}"/>
            </c:ext>
          </c:extLst>
        </c:ser>
        <c:ser>
          <c:idx val="13"/>
          <c:order val="12"/>
          <c:tx>
            <c:v>25th Scatter Label</c:v>
          </c:tx>
          <c:marker>
            <c:symbol val="none"/>
          </c:marker>
          <c:xVal>
            <c:numRef>
              <c:f>Sheet1!$D$5</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E67D-466B-B33D-6BE9BF964D91}"/>
            </c:ext>
          </c:extLst>
        </c:ser>
        <c:ser>
          <c:idx val="14"/>
          <c:order val="13"/>
          <c:tx>
            <c:v>75 Scatter Label</c:v>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E67D-466B-B33D-6BE9BF964D91}"/>
              </c:ext>
            </c:extLst>
          </c:dPt>
          <c:xVal>
            <c:numRef>
              <c:f>Sheet1!$D$6</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E67D-466B-B33D-6BE9BF964D91}"/>
            </c:ext>
          </c:extLst>
        </c:ser>
        <c:dLbls>
          <c:showLegendKey val="0"/>
          <c:showVal val="0"/>
          <c:showCatName val="0"/>
          <c:showSerName val="0"/>
          <c:showPercent val="0"/>
          <c:showBubbleSize val="0"/>
        </c:dLbls>
        <c:axId val="928322959"/>
        <c:axId val="928311311"/>
      </c:scatterChart>
      <c:catAx>
        <c:axId val="1154865663"/>
        <c:scaling>
          <c:orientation val="minMax"/>
        </c:scaling>
        <c:delete val="1"/>
        <c:axPos val="l"/>
        <c:numFmt formatCode="General" sourceLinked="1"/>
        <c:majorTickMark val="out"/>
        <c:minorTickMark val="none"/>
        <c:tickLblPos val="nextTo"/>
        <c:crossAx val="1"/>
        <c:crossesAt val="0"/>
        <c:auto val="0"/>
        <c:lblAlgn val="ctr"/>
        <c:lblOffset val="100"/>
        <c:noMultiLvlLbl val="1"/>
      </c:catAx>
      <c:valAx>
        <c:axId val="1"/>
        <c:scaling>
          <c:orientation val="minMax"/>
          <c:max val="5.0999999999999996"/>
          <c:min val="0"/>
        </c:scaling>
        <c:delete val="1"/>
        <c:axPos val="b"/>
        <c:numFmt formatCode="0.0" sourceLinked="0"/>
        <c:majorTickMark val="out"/>
        <c:minorTickMark val="none"/>
        <c:tickLblPos val="nextTo"/>
        <c:crossAx val="1154865663"/>
        <c:crossesAt val="1"/>
        <c:crossBetween val="between"/>
        <c:majorUnit val="1"/>
      </c:valAx>
      <c:valAx>
        <c:axId val="928322959"/>
        <c:scaling>
          <c:orientation val="minMax"/>
          <c:max val="1.6000000000000003E-3"/>
        </c:scaling>
        <c:delete val="1"/>
        <c:axPos val="b"/>
        <c:numFmt formatCode="0.0" sourceLinked="1"/>
        <c:majorTickMark val="out"/>
        <c:minorTickMark val="none"/>
        <c:tickLblPos val="nextTo"/>
        <c:crossAx val="928311311"/>
        <c:crosses val="autoZero"/>
        <c:crossBetween val="midCat"/>
      </c:valAx>
      <c:valAx>
        <c:axId val="928311311"/>
        <c:scaling>
          <c:orientation val="minMax"/>
          <c:max val="3"/>
          <c:min val="1"/>
        </c:scaling>
        <c:delete val="1"/>
        <c:axPos val="l"/>
        <c:numFmt formatCode="_(* #,##0_);_(* \(#,##0\);_(* &quot;-&quot;??_);_(@_)" sourceLinked="0"/>
        <c:majorTickMark val="out"/>
        <c:minorTickMark val="none"/>
        <c:tickLblPos val="nextTo"/>
        <c:crossAx val="928322959"/>
        <c:crosses val="autoZero"/>
        <c:crossBetween val="midCat"/>
        <c:majorUnit val="1"/>
        <c:minorUnit val="1"/>
      </c:valAx>
      <c:spPr>
        <a:noFill/>
        <a:ln>
          <a:noFill/>
        </a:ln>
      </c:spPr>
    </c:plotArea>
    <c:plotVisOnly val="1"/>
    <c:dispBlanksAs val="gap"/>
    <c:showDLblsOverMax val="0"/>
  </c:chart>
  <c:spPr>
    <a:noFill/>
    <a:ln>
      <a:noFill/>
    </a:ln>
  </c:spPr>
  <c:externalData r:id="rId2">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657136380672455E-2"/>
          <c:y val="3.0699737370014191E-2"/>
          <c:w val="0.95532488822937012"/>
          <c:h val="0.95688581466674805"/>
        </c:manualLayout>
      </c:layout>
      <c:barChart>
        <c:barDir val="bar"/>
        <c:grouping val="stacked"/>
        <c:varyColors val="0"/>
        <c:ser>
          <c:idx val="0"/>
          <c:order val="0"/>
          <c:tx>
            <c:strRef>
              <c:f>Sheet1!$D$15</c:f>
              <c:strCache>
                <c:ptCount val="1"/>
                <c:pt idx="0">
                  <c:v>Current Maturity</c:v>
                </c:pt>
              </c:strCache>
            </c:strRef>
          </c:tx>
          <c:spPr>
            <a:solidFill>
              <a:srgbClr val="002856"/>
            </a:solidFill>
            <a:ln>
              <a:solidFill>
                <a:srgbClr val="002856"/>
              </a:solidFill>
              <a:miter lim="800000"/>
            </a:ln>
          </c:spPr>
          <c:invertIfNegative val="0"/>
          <c:dLbls>
            <c:dLbl>
              <c:idx val="0"/>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AEE0-415A-A87A-BECC9292B21A}"/>
                </c:ext>
              </c:extLst>
            </c:dLbl>
            <c:dLbl>
              <c:idx val="1"/>
              <c:spPr/>
              <c:txPr>
                <a:bodyPr wrap="square" lIns="38100" tIns="19050" rIns="38100" bIns="19050" anchor="ctr">
                  <a:spAutoFit/>
                </a:bodyPr>
                <a:lstStyle/>
                <a:p>
                  <a:pPr>
                    <a:defRPr sz="1100" smtId="4294967295">
                      <a:solidFill>
                        <a:schemeClr val="bg1"/>
                      </a:solidFill>
                    </a:defRPr>
                  </a:pPr>
                  <a:endParaRPr lang="en-US"/>
                </a:p>
              </c:txPr>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AEE0-415A-A87A-BECC9292B21A}"/>
                </c:ext>
              </c:extLst>
            </c:dLbl>
            <c:dLbl>
              <c:idx val="2"/>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AEE0-415A-A87A-BECC9292B21A}"/>
                </c:ext>
              </c:extLst>
            </c:dLbl>
            <c:dLbl>
              <c:idx val="3"/>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AEE0-415A-A87A-BECC9292B21A}"/>
                </c:ext>
              </c:extLst>
            </c:dLbl>
            <c:spPr>
              <a:noFill/>
              <a:ln>
                <a:noFill/>
              </a:ln>
              <a:effectLst/>
            </c:spPr>
            <c:txPr>
              <a:bodyPr wrap="square" lIns="38100" tIns="19050" rIns="38100" bIns="19050" anchor="ctr">
                <a:spAutoFit/>
              </a:bodyPr>
              <a:lstStyle/>
              <a:p>
                <a:pPr>
                  <a:defRPr sz="1100" smtId="4294967295">
                    <a:solidFill>
                      <a:schemeClr val="bg1"/>
                    </a:solidFill>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cat>
            <c:multiLvlStrRef>
              <c:f>Sheet1!$A$4:$A$7</c:f>
            </c:multiLvlStrRef>
          </c:cat>
          <c:val>
            <c:numRef>
              <c:f>Sheet1!$D$16:$D$19</c:f>
              <c:numCache>
                <c:formatCode>0.0</c:formatCode>
                <c:ptCount val="4"/>
                <c:pt idx="0" formatCode="0.00">
                  <c:v>0</c:v>
                </c:pt>
                <c:pt idx="1">
                  <c:v>3</c:v>
                </c:pt>
                <c:pt idx="2">
                  <c:v>0</c:v>
                </c:pt>
                <c:pt idx="3" formatCode="0.0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AEE0-415A-A87A-BECC9292B21A}"/>
            </c:ext>
          </c:extLst>
        </c:ser>
        <c:ser>
          <c:idx val="10"/>
          <c:order val="1"/>
          <c:tx>
            <c:strRef>
              <c:f>Sheet1!$F$15</c:f>
              <c:strCache>
                <c:ptCount val="1"/>
                <c:pt idx="0">
                  <c:v>10th Positive Bar</c:v>
                </c:pt>
              </c:strCache>
            </c:strRef>
          </c:tx>
          <c:spPr>
            <a:noFill/>
            <a:ln>
              <a:noFill/>
            </a:ln>
          </c:spPr>
          <c:invertIfNegative val="0"/>
          <c:cat>
            <c:multiLvlStrRef>
              <c:f>Sheet1!$A$4:$A$7</c:f>
            </c:multiLvlStrRef>
          </c:cat>
          <c:val>
            <c:numRef>
              <c:f>Sheet1!$F$16:$F$19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AEE0-415A-A87A-BECC9292B21A}"/>
            </c:ext>
          </c:extLst>
        </c:ser>
        <c:ser>
          <c:idx val="3"/>
          <c:order val="2"/>
          <c:tx>
            <c:strRef>
              <c:f>Sheet1!$H$15</c:f>
              <c:strCache>
                <c:ptCount val="1"/>
                <c:pt idx="0">
                  <c:v>25th Positive Bar</c:v>
                </c:pt>
              </c:strCache>
            </c:strRef>
          </c:tx>
          <c:spPr>
            <a:noFill/>
          </c:spPr>
          <c:invertIfNegative val="0"/>
          <c:cat>
            <c:multiLvlStrRef>
              <c:f>Sheet1!$A$4:$A$7</c:f>
            </c:multiLvlStrRef>
          </c:cat>
          <c:val>
            <c:numRef>
              <c:f>Sheet1!$H$16:$H$19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AEE0-415A-A87A-BECC9292B21A}"/>
            </c:ext>
          </c:extLst>
        </c:ser>
        <c:ser>
          <c:idx val="5"/>
          <c:order val="3"/>
          <c:tx>
            <c:strRef>
              <c:f>Sheet1!$J$15</c:f>
              <c:strCache>
                <c:ptCount val="1"/>
                <c:pt idx="0">
                  <c:v>75th Positive Bar</c:v>
                </c:pt>
              </c:strCache>
            </c:strRef>
          </c:tx>
          <c:spPr>
            <a:solidFill>
              <a:srgbClr val="BFBFBF"/>
            </a:solidFill>
            <a:ln>
              <a:solidFill>
                <a:srgbClr val="BFBFBF"/>
              </a:solidFill>
            </a:ln>
          </c:spPr>
          <c:invertIfNegative val="0"/>
          <c:cat>
            <c:multiLvlStrRef>
              <c:f>Sheet1!$A$4:$A$7</c:f>
            </c:multiLvlStrRef>
          </c:cat>
          <c:val>
            <c:numRef>
              <c:f>Sheet1!$J$16:$J$19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AEE0-415A-A87A-BECC9292B21A}"/>
            </c:ext>
          </c:extLst>
        </c:ser>
        <c:ser>
          <c:idx val="7"/>
          <c:order val="4"/>
          <c:tx>
            <c:strRef>
              <c:f>Sheet1!$L$15</c:f>
              <c:strCache>
                <c:ptCount val="1"/>
                <c:pt idx="0">
                  <c:v>90th Positive Bar</c:v>
                </c:pt>
              </c:strCache>
            </c:strRef>
          </c:tx>
          <c:spPr>
            <a:noFill/>
          </c:spPr>
          <c:invertIfNegative val="0"/>
          <c:cat>
            <c:multiLvlStrRef>
              <c:f>Sheet1!$A$4:$A$7</c:f>
            </c:multiLvlStrRef>
          </c:cat>
          <c:val>
            <c:numRef>
              <c:f>Sheet1!$L$16:$L$19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AEE0-415A-A87A-BECC9292B21A}"/>
            </c:ext>
          </c:extLst>
        </c:ser>
        <c:ser>
          <c:idx val="6"/>
          <c:order val="8"/>
          <c:tx>
            <c:strRef>
              <c:f>Sheet1!$K$15</c:f>
              <c:strCache>
                <c:ptCount val="1"/>
                <c:pt idx="0">
                  <c:v>90th Negative Bar</c:v>
                </c:pt>
              </c:strCache>
            </c:strRef>
          </c:tx>
          <c:spPr>
            <a:noFill/>
          </c:spPr>
          <c:invertIfNegative val="0"/>
          <c:cat>
            <c:multiLvlStrRef>
              <c:f>Sheet1!$A$4:$A$7</c:f>
            </c:multiLvlStrRef>
          </c:cat>
          <c:val>
            <c:numRef>
              <c:f>Sheet1!$K$16:$K$19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AEE0-415A-A87A-BECC9292B21A}"/>
            </c:ext>
          </c:extLst>
        </c:ser>
        <c:ser>
          <c:idx val="4"/>
          <c:order val="9"/>
          <c:tx>
            <c:strRef>
              <c:f>Sheet1!$I$15</c:f>
              <c:strCache>
                <c:ptCount val="1"/>
                <c:pt idx="0">
                  <c:v>75th Negative Bar</c:v>
                </c:pt>
              </c:strCache>
            </c:strRef>
          </c:tx>
          <c:spPr>
            <a:noFill/>
          </c:spPr>
          <c:invertIfNegative val="0"/>
          <c:cat>
            <c:multiLvlStrRef>
              <c:f>Sheet1!$A$4:$A$7</c:f>
            </c:multiLvlStrRef>
          </c:cat>
          <c:val>
            <c:numRef>
              <c:f>Sheet1!$I$16:$I$19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AEE0-415A-A87A-BECC9292B21A}"/>
            </c:ext>
          </c:extLst>
        </c:ser>
        <c:ser>
          <c:idx val="2"/>
          <c:order val="10"/>
          <c:tx>
            <c:strRef>
              <c:f>Sheet1!$G$15</c:f>
              <c:strCache>
                <c:ptCount val="1"/>
                <c:pt idx="0">
                  <c:v>25th Negative Bar</c:v>
                </c:pt>
              </c:strCache>
            </c:strRef>
          </c:tx>
          <c:spPr>
            <a:solidFill>
              <a:srgbClr val="BFBFBF"/>
            </a:solidFill>
            <a:ln>
              <a:solidFill>
                <a:srgbClr val="BFBFBF"/>
              </a:solidFill>
            </a:ln>
          </c:spPr>
          <c:invertIfNegative val="0"/>
          <c:cat>
            <c:multiLvlStrRef>
              <c:f>Sheet1!$A$4:$A$7</c:f>
            </c:multiLvlStrRef>
          </c:cat>
          <c:val>
            <c:numRef>
              <c:f>Sheet1!$G$16:$G$19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AEE0-415A-A87A-BECC9292B21A}"/>
            </c:ext>
          </c:extLst>
        </c:ser>
        <c:ser>
          <c:idx val="1"/>
          <c:order val="11"/>
          <c:tx>
            <c:strRef>
              <c:f>Sheet1!$E$15</c:f>
              <c:strCache>
                <c:ptCount val="1"/>
                <c:pt idx="0">
                  <c:v>10th Negative Bar</c:v>
                </c:pt>
              </c:strCache>
            </c:strRef>
          </c:tx>
          <c:spPr>
            <a:noFill/>
          </c:spPr>
          <c:invertIfNegative val="0"/>
          <c:cat>
            <c:multiLvlStrRef>
              <c:f>Sheet1!$A$4:$A$7</c:f>
            </c:multiLvlStrRef>
          </c:cat>
          <c:val>
            <c:numRef>
              <c:f>Sheet1!$E$16:$E$19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AEE0-415A-A87A-BECC9292B21A}"/>
            </c:ext>
          </c:extLst>
        </c:ser>
        <c:ser>
          <c:idx val="15"/>
          <c:order val="14"/>
          <c:tx>
            <c:strRef>
              <c:f>Sheet1!$M$15</c:f>
              <c:strCache>
                <c:ptCount val="1"/>
                <c:pt idx="0">
                  <c:v>Benchmarks Omitted Bar</c:v>
                </c:pt>
              </c:strCache>
            </c:strRef>
          </c:tx>
          <c:spPr>
            <a:noFill/>
          </c:spPr>
          <c:invertIfNegative val="0"/>
          <c:cat>
            <c:multiLvlStrRef>
              <c:f>Sheet1!$A$4:$A$7</c:f>
            </c:multiLvlStrRef>
          </c:cat>
          <c:val>
            <c:numRef>
              <c:f>Sheet1!$M$16:$M$19</c:f>
              <c:numCache>
                <c:formatCode>General</c:formatCode>
                <c:ptCount val="4"/>
                <c:pt idx="0">
                  <c:v>0</c:v>
                </c:pt>
                <c:pt idx="1">
                  <c:v>0</c:v>
                </c:pt>
                <c:pt idx="2">
                  <c:v>0</c:v>
                </c:pt>
                <c:pt idx="3" formatCode="&quot;$&quot;#,##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AEE0-415A-A87A-BECC9292B21A}"/>
            </c:ext>
          </c:extLst>
        </c:ser>
        <c:dLbls>
          <c:showLegendKey val="0"/>
          <c:showVal val="0"/>
          <c:showCatName val="0"/>
          <c:showSerName val="0"/>
          <c:showPercent val="0"/>
          <c:showBubbleSize val="0"/>
        </c:dLbls>
        <c:gapWidth val="0"/>
        <c:overlap val="100"/>
        <c:axId val="1154865663"/>
        <c:axId val="1"/>
      </c:barChart>
      <c:scatterChart>
        <c:scatterStyle val="lineMarker"/>
        <c:varyColors val="0"/>
        <c:ser>
          <c:idx val="8"/>
          <c:order val="5"/>
          <c:tx>
            <c:strRef>
              <c:f>Sheet1!$B$9</c:f>
              <c:strCache>
                <c:ptCount val="1"/>
                <c:pt idx="0">
                  <c:v>Target Maturity</c:v>
                </c:pt>
              </c:strCache>
            </c:strRef>
          </c:tx>
          <c:marker>
            <c:symbol val="none"/>
          </c:marker>
          <c:dLbls>
            <c:dLbl>
              <c:idx val="0"/>
              <c:spPr>
                <a:solidFill>
                  <a:srgbClr val="1F96FF"/>
                </a:solidFill>
                <a:ln>
                  <a:noFill/>
                </a:ln>
                <a:effectLst/>
              </c:spPr>
              <c:txPr>
                <a:bodyPr wrap="square" lIns="38100" tIns="19050" rIns="38100" bIns="19050" anchor="ctr">
                  <a:spAutoFit/>
                </a:bodyPr>
                <a:lstStyle/>
                <a:p>
                  <a:pPr>
                    <a:defRPr sz="1100" smtId="4294967295">
                      <a:solidFill>
                        <a:srgbClr val="FFFFFF"/>
                      </a:solidFill>
                      <a:latin typeface="Roboto Medium" panose="02000000000000000000" pitchFamily="2" charset="0"/>
                      <a:ea typeface="Roboto Medium"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AEE0-415A-A87A-BECC9292B21A}"/>
                </c:ext>
              </c:extLst>
            </c:dLbl>
            <c:spPr>
              <a:solidFill>
                <a:srgbClr val="1F96FF"/>
              </a:solidFill>
              <a:ln>
                <a:noFill/>
              </a:ln>
              <a:effectLst/>
            </c:spPr>
            <c:txPr>
              <a:bodyPr wrap="square" lIns="38100" tIns="19050" rIns="38100" bIns="19050" anchor="ctr">
                <a:spAutoFit/>
              </a:bodyPr>
              <a:lstStyle/>
              <a:p>
                <a:pPr>
                  <a:defRPr sz="1100" smtId="4294967295">
                    <a:solidFill>
                      <a:srgbClr val="FFFFFF"/>
                    </a:solidFill>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40"/>
            <c:spPr>
              <a:ln w="25400">
                <a:solidFill>
                  <a:srgbClr val="1F96FF"/>
                </a:solidFill>
              </a:ln>
            </c:spPr>
          </c:errBars>
          <c:xVal>
            <c:numRef>
              <c:f>Sheet1!$D$9</c:f>
              <c:numCache>
                <c:formatCode>0.0</c:formatCode>
                <c:ptCount val="1"/>
                <c:pt idx="0">
                  <c:v>5</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AEE0-415A-A87A-BECC9292B21A}"/>
            </c:ext>
          </c:extLst>
        </c:ser>
        <c:ser>
          <c:idx val="11"/>
          <c:order val="6"/>
          <c:tx>
            <c:strRef>
              <c:f>Sheet1!$B$11</c:f>
              <c:strCache>
                <c:ptCount val="1"/>
                <c:pt idx="0">
                  <c:v>Maximum</c:v>
                </c:pt>
              </c:strCache>
            </c:strRef>
          </c:tx>
          <c:marker>
            <c:symbol val="none"/>
          </c:marker>
          <c:xVal>
            <c:numRef>
              <c:f>Sheet1!$D$11</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AEE0-415A-A87A-BECC9292B21A}"/>
            </c:ext>
          </c:extLst>
        </c:ser>
        <c:ser>
          <c:idx val="9"/>
          <c:order val="7"/>
          <c:tx>
            <c:strRef>
              <c:f>Sheet1!$B$8</c:f>
              <c:strCache>
                <c:ptCount val="1"/>
                <c:pt idx="0">
                  <c:v>Client</c:v>
                </c:pt>
              </c:strCache>
            </c:strRef>
          </c:tx>
          <c:marker>
            <c:symbol val="none"/>
          </c:marker>
          <c:xVal>
            <c:numRef>
              <c:f>Sheet1!$D$8</c:f>
              <c:numCache>
                <c:formatCode>0.00</c:formatCode>
                <c:ptCount val="1"/>
                <c:pt idx="0">
                  <c:v>0</c:v>
                </c:pt>
              </c:numCache>
            </c:numRef>
          </c:xVal>
          <c:yVal>
            <c:numRef>
              <c:f>Sheet1!$D$14</c:f>
              <c:numCache>
                <c:formatCode>_(* #,##0_);_(* \(#,##0\);_(* "-"??_);_(@_)</c:formatCode>
                <c:ptCount val="1"/>
                <c:pt idx="0">
                  <c:v>3</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AEE0-415A-A87A-BECC9292B21A}"/>
            </c:ext>
          </c:extLst>
        </c:ser>
        <c:ser>
          <c:idx val="13"/>
          <c:order val="12"/>
          <c:tx>
            <c:v>25th Scatter Label</c:v>
          </c:tx>
          <c:marker>
            <c:symbol val="none"/>
          </c:marker>
          <c:xVal>
            <c:numRef>
              <c:f>Sheet1!$D$5</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AEE0-415A-A87A-BECC9292B21A}"/>
            </c:ext>
          </c:extLst>
        </c:ser>
        <c:ser>
          <c:idx val="14"/>
          <c:order val="13"/>
          <c:tx>
            <c:v>75 Scatter Label</c:v>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AEE0-415A-A87A-BECC9292B21A}"/>
              </c:ext>
            </c:extLst>
          </c:dPt>
          <c:xVal>
            <c:numRef>
              <c:f>Sheet1!$D$6</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AEE0-415A-A87A-BECC9292B21A}"/>
            </c:ext>
          </c:extLst>
        </c:ser>
        <c:dLbls>
          <c:showLegendKey val="0"/>
          <c:showVal val="0"/>
          <c:showCatName val="0"/>
          <c:showSerName val="0"/>
          <c:showPercent val="0"/>
          <c:showBubbleSize val="0"/>
        </c:dLbls>
        <c:axId val="928322959"/>
        <c:axId val="928311311"/>
      </c:scatterChart>
      <c:catAx>
        <c:axId val="1154865663"/>
        <c:scaling>
          <c:orientation val="minMax"/>
        </c:scaling>
        <c:delete val="1"/>
        <c:axPos val="l"/>
        <c:numFmt formatCode="General" sourceLinked="1"/>
        <c:majorTickMark val="out"/>
        <c:minorTickMark val="none"/>
        <c:tickLblPos val="nextTo"/>
        <c:crossAx val="1"/>
        <c:crossesAt val="0"/>
        <c:auto val="0"/>
        <c:lblAlgn val="ctr"/>
        <c:lblOffset val="100"/>
        <c:noMultiLvlLbl val="1"/>
      </c:catAx>
      <c:valAx>
        <c:axId val="1"/>
        <c:scaling>
          <c:orientation val="minMax"/>
          <c:max val="5.0999999999999996"/>
          <c:min val="0"/>
        </c:scaling>
        <c:delete val="1"/>
        <c:axPos val="b"/>
        <c:numFmt formatCode="0.0" sourceLinked="0"/>
        <c:majorTickMark val="out"/>
        <c:minorTickMark val="none"/>
        <c:tickLblPos val="nextTo"/>
        <c:crossAx val="1154865663"/>
        <c:crossesAt val="1"/>
        <c:crossBetween val="between"/>
        <c:majorUnit val="1"/>
      </c:valAx>
      <c:valAx>
        <c:axId val="928322959"/>
        <c:scaling>
          <c:orientation val="minMax"/>
          <c:max val="1.6000000000000003E-3"/>
        </c:scaling>
        <c:delete val="1"/>
        <c:axPos val="b"/>
        <c:numFmt formatCode="0.0" sourceLinked="1"/>
        <c:majorTickMark val="out"/>
        <c:minorTickMark val="none"/>
        <c:tickLblPos val="nextTo"/>
        <c:crossAx val="928311311"/>
        <c:crosses val="autoZero"/>
        <c:crossBetween val="midCat"/>
      </c:valAx>
      <c:valAx>
        <c:axId val="928311311"/>
        <c:scaling>
          <c:orientation val="minMax"/>
          <c:max val="3"/>
          <c:min val="1"/>
        </c:scaling>
        <c:delete val="1"/>
        <c:axPos val="l"/>
        <c:numFmt formatCode="_(* #,##0_);_(* \(#,##0\);_(* &quot;-&quot;??_);_(@_)" sourceLinked="0"/>
        <c:majorTickMark val="out"/>
        <c:minorTickMark val="none"/>
        <c:tickLblPos val="nextTo"/>
        <c:crossAx val="928322959"/>
        <c:crosses val="autoZero"/>
        <c:crossBetween val="midCat"/>
        <c:majorUnit val="1"/>
        <c:minorUnit val="1"/>
      </c:valAx>
      <c:spPr>
        <a:noFill/>
        <a:ln>
          <a:noFill/>
        </a:ln>
      </c:spPr>
    </c:plotArea>
    <c:plotVisOnly val="1"/>
    <c:dispBlanksAs val="gap"/>
    <c:showDLblsOverMax val="0"/>
  </c:chart>
  <c:spPr>
    <a:noFill/>
    <a:ln>
      <a:noFill/>
    </a:ln>
  </c:spPr>
  <c:externalData r:id="rId2">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657136380672455E-2"/>
          <c:y val="3.0699737370014191E-2"/>
          <c:w val="0.95532488822937012"/>
          <c:h val="0.95688581466674805"/>
        </c:manualLayout>
      </c:layout>
      <c:barChart>
        <c:barDir val="bar"/>
        <c:grouping val="stacked"/>
        <c:varyColors val="0"/>
        <c:ser>
          <c:idx val="0"/>
          <c:order val="0"/>
          <c:tx>
            <c:strRef>
              <c:f>Sheet1!$D$15</c:f>
              <c:strCache>
                <c:ptCount val="1"/>
                <c:pt idx="0">
                  <c:v>Current Maturity</c:v>
                </c:pt>
              </c:strCache>
            </c:strRef>
          </c:tx>
          <c:spPr>
            <a:solidFill>
              <a:srgbClr val="002856"/>
            </a:solidFill>
            <a:ln>
              <a:solidFill>
                <a:srgbClr val="002856"/>
              </a:solidFill>
              <a:miter lim="800000"/>
            </a:ln>
          </c:spPr>
          <c:invertIfNegative val="0"/>
          <c:dLbls>
            <c:dLbl>
              <c:idx val="0"/>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2E40-4B98-B317-F87FDC5EC32F}"/>
                </c:ext>
              </c:extLst>
            </c:dLbl>
            <c:dLbl>
              <c:idx val="1"/>
              <c:spPr/>
              <c:txPr>
                <a:bodyPr wrap="square" lIns="38100" tIns="19050" rIns="38100" bIns="19050" anchor="ctr">
                  <a:spAutoFit/>
                </a:bodyPr>
                <a:lstStyle/>
                <a:p>
                  <a:pPr>
                    <a:defRPr sz="1100" smtId="4294967295">
                      <a:solidFill>
                        <a:schemeClr val="bg1"/>
                      </a:solidFill>
                    </a:defRPr>
                  </a:pPr>
                  <a:endParaRPr lang="en-US"/>
                </a:p>
              </c:txPr>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2E40-4B98-B317-F87FDC5EC32F}"/>
                </c:ext>
              </c:extLst>
            </c:dLbl>
            <c:dLbl>
              <c:idx val="2"/>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2E40-4B98-B317-F87FDC5EC32F}"/>
                </c:ext>
              </c:extLst>
            </c:dLbl>
            <c:dLbl>
              <c:idx val="3"/>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2E40-4B98-B317-F87FDC5EC32F}"/>
                </c:ext>
              </c:extLst>
            </c:dLbl>
            <c:spPr>
              <a:noFill/>
              <a:ln>
                <a:noFill/>
              </a:ln>
              <a:effectLst/>
            </c:spPr>
            <c:txPr>
              <a:bodyPr wrap="square" lIns="38100" tIns="19050" rIns="38100" bIns="19050" anchor="ctr">
                <a:spAutoFit/>
              </a:bodyPr>
              <a:lstStyle/>
              <a:p>
                <a:pPr>
                  <a:defRPr sz="1100" smtId="4294967295">
                    <a:solidFill>
                      <a:schemeClr val="bg1"/>
                    </a:solidFill>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cat>
            <c:multiLvlStrRef>
              <c:f>Sheet1!$A$4:$A$7</c:f>
            </c:multiLvlStrRef>
          </c:cat>
          <c:val>
            <c:numRef>
              <c:f>Sheet1!$D$16:$D$19</c:f>
              <c:numCache>
                <c:formatCode>0.0</c:formatCode>
                <c:ptCount val="4"/>
                <c:pt idx="0" formatCode="0.00">
                  <c:v>0</c:v>
                </c:pt>
                <c:pt idx="1">
                  <c:v>4</c:v>
                </c:pt>
                <c:pt idx="2">
                  <c:v>0</c:v>
                </c:pt>
                <c:pt idx="3" formatCode="0.0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2E40-4B98-B317-F87FDC5EC32F}"/>
            </c:ext>
          </c:extLst>
        </c:ser>
        <c:ser>
          <c:idx val="10"/>
          <c:order val="1"/>
          <c:tx>
            <c:strRef>
              <c:f>Sheet1!$F$15</c:f>
              <c:strCache>
                <c:ptCount val="1"/>
                <c:pt idx="0">
                  <c:v>10th Positive Bar</c:v>
                </c:pt>
              </c:strCache>
            </c:strRef>
          </c:tx>
          <c:spPr>
            <a:noFill/>
            <a:ln>
              <a:noFill/>
            </a:ln>
          </c:spPr>
          <c:invertIfNegative val="0"/>
          <c:cat>
            <c:multiLvlStrRef>
              <c:f>Sheet1!$A$4:$A$7</c:f>
            </c:multiLvlStrRef>
          </c:cat>
          <c:val>
            <c:numRef>
              <c:f>Sheet1!$F$16:$F$19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2E40-4B98-B317-F87FDC5EC32F}"/>
            </c:ext>
          </c:extLst>
        </c:ser>
        <c:ser>
          <c:idx val="3"/>
          <c:order val="2"/>
          <c:tx>
            <c:strRef>
              <c:f>Sheet1!$H$15</c:f>
              <c:strCache>
                <c:ptCount val="1"/>
                <c:pt idx="0">
                  <c:v>25th Positive Bar</c:v>
                </c:pt>
              </c:strCache>
            </c:strRef>
          </c:tx>
          <c:spPr>
            <a:noFill/>
          </c:spPr>
          <c:invertIfNegative val="0"/>
          <c:cat>
            <c:multiLvlStrRef>
              <c:f>Sheet1!$A$4:$A$7</c:f>
            </c:multiLvlStrRef>
          </c:cat>
          <c:val>
            <c:numRef>
              <c:f>Sheet1!$H$16:$H$19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2E40-4B98-B317-F87FDC5EC32F}"/>
            </c:ext>
          </c:extLst>
        </c:ser>
        <c:ser>
          <c:idx val="5"/>
          <c:order val="3"/>
          <c:tx>
            <c:strRef>
              <c:f>Sheet1!$J$15</c:f>
              <c:strCache>
                <c:ptCount val="1"/>
                <c:pt idx="0">
                  <c:v>75th Positive Bar</c:v>
                </c:pt>
              </c:strCache>
            </c:strRef>
          </c:tx>
          <c:spPr>
            <a:solidFill>
              <a:srgbClr val="BFBFBF"/>
            </a:solidFill>
            <a:ln>
              <a:solidFill>
                <a:srgbClr val="BFBFBF"/>
              </a:solidFill>
            </a:ln>
          </c:spPr>
          <c:invertIfNegative val="0"/>
          <c:cat>
            <c:multiLvlStrRef>
              <c:f>Sheet1!$A$4:$A$7</c:f>
            </c:multiLvlStrRef>
          </c:cat>
          <c:val>
            <c:numRef>
              <c:f>Sheet1!$J$16:$J$19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2E40-4B98-B317-F87FDC5EC32F}"/>
            </c:ext>
          </c:extLst>
        </c:ser>
        <c:ser>
          <c:idx val="7"/>
          <c:order val="4"/>
          <c:tx>
            <c:strRef>
              <c:f>Sheet1!$L$15</c:f>
              <c:strCache>
                <c:ptCount val="1"/>
                <c:pt idx="0">
                  <c:v>90th Positive Bar</c:v>
                </c:pt>
              </c:strCache>
            </c:strRef>
          </c:tx>
          <c:spPr>
            <a:noFill/>
          </c:spPr>
          <c:invertIfNegative val="0"/>
          <c:cat>
            <c:multiLvlStrRef>
              <c:f>Sheet1!$A$4:$A$7</c:f>
            </c:multiLvlStrRef>
          </c:cat>
          <c:val>
            <c:numRef>
              <c:f>Sheet1!$L$16:$L$19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2E40-4B98-B317-F87FDC5EC32F}"/>
            </c:ext>
          </c:extLst>
        </c:ser>
        <c:ser>
          <c:idx val="6"/>
          <c:order val="8"/>
          <c:tx>
            <c:strRef>
              <c:f>Sheet1!$K$15</c:f>
              <c:strCache>
                <c:ptCount val="1"/>
                <c:pt idx="0">
                  <c:v>90th Negative Bar</c:v>
                </c:pt>
              </c:strCache>
            </c:strRef>
          </c:tx>
          <c:spPr>
            <a:noFill/>
          </c:spPr>
          <c:invertIfNegative val="0"/>
          <c:cat>
            <c:multiLvlStrRef>
              <c:f>Sheet1!$A$4:$A$7</c:f>
            </c:multiLvlStrRef>
          </c:cat>
          <c:val>
            <c:numRef>
              <c:f>Sheet1!$K$16:$K$19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2E40-4B98-B317-F87FDC5EC32F}"/>
            </c:ext>
          </c:extLst>
        </c:ser>
        <c:ser>
          <c:idx val="4"/>
          <c:order val="9"/>
          <c:tx>
            <c:strRef>
              <c:f>Sheet1!$I$15</c:f>
              <c:strCache>
                <c:ptCount val="1"/>
                <c:pt idx="0">
                  <c:v>75th Negative Bar</c:v>
                </c:pt>
              </c:strCache>
            </c:strRef>
          </c:tx>
          <c:spPr>
            <a:noFill/>
          </c:spPr>
          <c:invertIfNegative val="0"/>
          <c:cat>
            <c:multiLvlStrRef>
              <c:f>Sheet1!$A$4:$A$7</c:f>
            </c:multiLvlStrRef>
          </c:cat>
          <c:val>
            <c:numRef>
              <c:f>Sheet1!$I$16:$I$19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2E40-4B98-B317-F87FDC5EC32F}"/>
            </c:ext>
          </c:extLst>
        </c:ser>
        <c:ser>
          <c:idx val="2"/>
          <c:order val="10"/>
          <c:tx>
            <c:strRef>
              <c:f>Sheet1!$G$15</c:f>
              <c:strCache>
                <c:ptCount val="1"/>
                <c:pt idx="0">
                  <c:v>25th Negative Bar</c:v>
                </c:pt>
              </c:strCache>
            </c:strRef>
          </c:tx>
          <c:spPr>
            <a:solidFill>
              <a:srgbClr val="BFBFBF"/>
            </a:solidFill>
            <a:ln>
              <a:solidFill>
                <a:srgbClr val="BFBFBF"/>
              </a:solidFill>
            </a:ln>
          </c:spPr>
          <c:invertIfNegative val="0"/>
          <c:cat>
            <c:multiLvlStrRef>
              <c:f>Sheet1!$A$4:$A$7</c:f>
            </c:multiLvlStrRef>
          </c:cat>
          <c:val>
            <c:numRef>
              <c:f>Sheet1!$G$16:$G$19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2E40-4B98-B317-F87FDC5EC32F}"/>
            </c:ext>
          </c:extLst>
        </c:ser>
        <c:ser>
          <c:idx val="1"/>
          <c:order val="11"/>
          <c:tx>
            <c:strRef>
              <c:f>Sheet1!$E$15</c:f>
              <c:strCache>
                <c:ptCount val="1"/>
                <c:pt idx="0">
                  <c:v>10th Negative Bar</c:v>
                </c:pt>
              </c:strCache>
            </c:strRef>
          </c:tx>
          <c:spPr>
            <a:noFill/>
          </c:spPr>
          <c:invertIfNegative val="0"/>
          <c:cat>
            <c:multiLvlStrRef>
              <c:f>Sheet1!$A$4:$A$7</c:f>
            </c:multiLvlStrRef>
          </c:cat>
          <c:val>
            <c:numRef>
              <c:f>Sheet1!$E$16:$E$19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2E40-4B98-B317-F87FDC5EC32F}"/>
            </c:ext>
          </c:extLst>
        </c:ser>
        <c:ser>
          <c:idx val="15"/>
          <c:order val="14"/>
          <c:tx>
            <c:strRef>
              <c:f>Sheet1!$M$15</c:f>
              <c:strCache>
                <c:ptCount val="1"/>
                <c:pt idx="0">
                  <c:v>Benchmarks Omitted Bar</c:v>
                </c:pt>
              </c:strCache>
            </c:strRef>
          </c:tx>
          <c:spPr>
            <a:noFill/>
          </c:spPr>
          <c:invertIfNegative val="0"/>
          <c:cat>
            <c:multiLvlStrRef>
              <c:f>Sheet1!$A$4:$A$7</c:f>
            </c:multiLvlStrRef>
          </c:cat>
          <c:val>
            <c:numRef>
              <c:f>Sheet1!$M$16:$M$19</c:f>
              <c:numCache>
                <c:formatCode>General</c:formatCode>
                <c:ptCount val="4"/>
                <c:pt idx="0">
                  <c:v>0</c:v>
                </c:pt>
                <c:pt idx="1">
                  <c:v>0</c:v>
                </c:pt>
                <c:pt idx="2">
                  <c:v>0</c:v>
                </c:pt>
                <c:pt idx="3" formatCode="&quot;$&quot;#,##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2E40-4B98-B317-F87FDC5EC32F}"/>
            </c:ext>
          </c:extLst>
        </c:ser>
        <c:dLbls>
          <c:showLegendKey val="0"/>
          <c:showVal val="0"/>
          <c:showCatName val="0"/>
          <c:showSerName val="0"/>
          <c:showPercent val="0"/>
          <c:showBubbleSize val="0"/>
        </c:dLbls>
        <c:gapWidth val="0"/>
        <c:overlap val="100"/>
        <c:axId val="1154865663"/>
        <c:axId val="1"/>
      </c:barChart>
      <c:scatterChart>
        <c:scatterStyle val="lineMarker"/>
        <c:varyColors val="0"/>
        <c:ser>
          <c:idx val="8"/>
          <c:order val="5"/>
          <c:tx>
            <c:strRef>
              <c:f>Sheet1!$B$9</c:f>
              <c:strCache>
                <c:ptCount val="1"/>
                <c:pt idx="0">
                  <c:v>Target Maturity</c:v>
                </c:pt>
              </c:strCache>
            </c:strRef>
          </c:tx>
          <c:marker>
            <c:symbol val="none"/>
          </c:marker>
          <c:dLbls>
            <c:dLbl>
              <c:idx val="0"/>
              <c:spPr>
                <a:solidFill>
                  <a:srgbClr val="1F96FF"/>
                </a:solidFill>
                <a:ln>
                  <a:noFill/>
                </a:ln>
                <a:effectLst/>
              </c:spPr>
              <c:txPr>
                <a:bodyPr wrap="square" lIns="38100" tIns="19050" rIns="38100" bIns="19050" anchor="ctr">
                  <a:spAutoFit/>
                </a:bodyPr>
                <a:lstStyle/>
                <a:p>
                  <a:pPr>
                    <a:defRPr sz="1100" smtId="4294967295">
                      <a:solidFill>
                        <a:srgbClr val="FFFFFF"/>
                      </a:solidFill>
                      <a:latin typeface="Roboto Medium" panose="02000000000000000000" pitchFamily="2" charset="0"/>
                      <a:ea typeface="Roboto Medium"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2E40-4B98-B317-F87FDC5EC32F}"/>
                </c:ext>
              </c:extLst>
            </c:dLbl>
            <c:spPr>
              <a:solidFill>
                <a:srgbClr val="1F96FF"/>
              </a:solidFill>
              <a:ln>
                <a:noFill/>
              </a:ln>
              <a:effectLst/>
            </c:spPr>
            <c:txPr>
              <a:bodyPr wrap="square" lIns="38100" tIns="19050" rIns="38100" bIns="19050" anchor="ctr">
                <a:spAutoFit/>
              </a:bodyPr>
              <a:lstStyle/>
              <a:p>
                <a:pPr>
                  <a:defRPr sz="1100" smtId="4294967295">
                    <a:solidFill>
                      <a:srgbClr val="FFFFFF"/>
                    </a:solidFill>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40"/>
            <c:spPr>
              <a:ln w="25400">
                <a:solidFill>
                  <a:srgbClr val="1F96FF"/>
                </a:solidFill>
              </a:ln>
            </c:spPr>
          </c:errBars>
          <c:xVal>
            <c:numRef>
              <c:f>Sheet1!$D$9</c:f>
              <c:numCache>
                <c:formatCode>0.0</c:formatCode>
                <c:ptCount val="1"/>
                <c:pt idx="0">
                  <c:v>5</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2E40-4B98-B317-F87FDC5EC32F}"/>
            </c:ext>
          </c:extLst>
        </c:ser>
        <c:ser>
          <c:idx val="11"/>
          <c:order val="6"/>
          <c:tx>
            <c:strRef>
              <c:f>Sheet1!$B$11</c:f>
              <c:strCache>
                <c:ptCount val="1"/>
                <c:pt idx="0">
                  <c:v>Maximum</c:v>
                </c:pt>
              </c:strCache>
            </c:strRef>
          </c:tx>
          <c:marker>
            <c:symbol val="none"/>
          </c:marker>
          <c:xVal>
            <c:numRef>
              <c:f>Sheet1!$D$11</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2E40-4B98-B317-F87FDC5EC32F}"/>
            </c:ext>
          </c:extLst>
        </c:ser>
        <c:ser>
          <c:idx val="9"/>
          <c:order val="7"/>
          <c:tx>
            <c:strRef>
              <c:f>Sheet1!$B$8</c:f>
              <c:strCache>
                <c:ptCount val="1"/>
                <c:pt idx="0">
                  <c:v>Client</c:v>
                </c:pt>
              </c:strCache>
            </c:strRef>
          </c:tx>
          <c:marker>
            <c:symbol val="none"/>
          </c:marker>
          <c:xVal>
            <c:numRef>
              <c:f>Sheet1!$D$8</c:f>
              <c:numCache>
                <c:formatCode>0.00</c:formatCode>
                <c:ptCount val="1"/>
                <c:pt idx="0">
                  <c:v>0</c:v>
                </c:pt>
              </c:numCache>
            </c:numRef>
          </c:xVal>
          <c:yVal>
            <c:numRef>
              <c:f>Sheet1!$D$14</c:f>
              <c:numCache>
                <c:formatCode>_(* #,##0_);_(* \(#,##0\);_(* "-"??_);_(@_)</c:formatCode>
                <c:ptCount val="1"/>
                <c:pt idx="0">
                  <c:v>3</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2E40-4B98-B317-F87FDC5EC32F}"/>
            </c:ext>
          </c:extLst>
        </c:ser>
        <c:ser>
          <c:idx val="13"/>
          <c:order val="12"/>
          <c:tx>
            <c:v>25th Scatter Label</c:v>
          </c:tx>
          <c:marker>
            <c:symbol val="none"/>
          </c:marker>
          <c:xVal>
            <c:numRef>
              <c:f>Sheet1!$D$5</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2E40-4B98-B317-F87FDC5EC32F}"/>
            </c:ext>
          </c:extLst>
        </c:ser>
        <c:ser>
          <c:idx val="14"/>
          <c:order val="13"/>
          <c:tx>
            <c:v>75 Scatter Label</c:v>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2E40-4B98-B317-F87FDC5EC32F}"/>
              </c:ext>
            </c:extLst>
          </c:dPt>
          <c:xVal>
            <c:numRef>
              <c:f>Sheet1!$D$6</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2E40-4B98-B317-F87FDC5EC32F}"/>
            </c:ext>
          </c:extLst>
        </c:ser>
        <c:dLbls>
          <c:showLegendKey val="0"/>
          <c:showVal val="0"/>
          <c:showCatName val="0"/>
          <c:showSerName val="0"/>
          <c:showPercent val="0"/>
          <c:showBubbleSize val="0"/>
        </c:dLbls>
        <c:axId val="928322959"/>
        <c:axId val="928311311"/>
      </c:scatterChart>
      <c:catAx>
        <c:axId val="1154865663"/>
        <c:scaling>
          <c:orientation val="minMax"/>
        </c:scaling>
        <c:delete val="1"/>
        <c:axPos val="l"/>
        <c:numFmt formatCode="General" sourceLinked="1"/>
        <c:majorTickMark val="out"/>
        <c:minorTickMark val="none"/>
        <c:tickLblPos val="nextTo"/>
        <c:crossAx val="1"/>
        <c:crossesAt val="0"/>
        <c:auto val="0"/>
        <c:lblAlgn val="ctr"/>
        <c:lblOffset val="100"/>
        <c:noMultiLvlLbl val="1"/>
      </c:catAx>
      <c:valAx>
        <c:axId val="1"/>
        <c:scaling>
          <c:orientation val="minMax"/>
          <c:max val="5.0999999999999996"/>
          <c:min val="0"/>
        </c:scaling>
        <c:delete val="1"/>
        <c:axPos val="b"/>
        <c:numFmt formatCode="0.0" sourceLinked="0"/>
        <c:majorTickMark val="out"/>
        <c:minorTickMark val="none"/>
        <c:tickLblPos val="nextTo"/>
        <c:crossAx val="1154865663"/>
        <c:crossesAt val="1"/>
        <c:crossBetween val="between"/>
        <c:majorUnit val="1"/>
      </c:valAx>
      <c:valAx>
        <c:axId val="928322959"/>
        <c:scaling>
          <c:orientation val="minMax"/>
          <c:max val="1.6000000000000003E-3"/>
        </c:scaling>
        <c:delete val="1"/>
        <c:axPos val="b"/>
        <c:numFmt formatCode="0.0" sourceLinked="1"/>
        <c:majorTickMark val="out"/>
        <c:minorTickMark val="none"/>
        <c:tickLblPos val="nextTo"/>
        <c:crossAx val="928311311"/>
        <c:crosses val="autoZero"/>
        <c:crossBetween val="midCat"/>
      </c:valAx>
      <c:valAx>
        <c:axId val="928311311"/>
        <c:scaling>
          <c:orientation val="minMax"/>
          <c:max val="3"/>
          <c:min val="1"/>
        </c:scaling>
        <c:delete val="1"/>
        <c:axPos val="l"/>
        <c:numFmt formatCode="_(* #,##0_);_(* \(#,##0\);_(* &quot;-&quot;??_);_(@_)" sourceLinked="0"/>
        <c:majorTickMark val="out"/>
        <c:minorTickMark val="none"/>
        <c:tickLblPos val="nextTo"/>
        <c:crossAx val="928322959"/>
        <c:crosses val="autoZero"/>
        <c:crossBetween val="midCat"/>
        <c:majorUnit val="1"/>
        <c:minorUnit val="1"/>
      </c:valAx>
      <c:spPr>
        <a:noFill/>
        <a:ln>
          <a:noFill/>
        </a:ln>
      </c:spPr>
    </c:plotArea>
    <c:plotVisOnly val="1"/>
    <c:dispBlanksAs val="gap"/>
    <c:showDLblsOverMax val="0"/>
  </c:chart>
  <c:spPr>
    <a:noFill/>
    <a:ln>
      <a:noFill/>
    </a:ln>
  </c:spPr>
  <c:externalData r:id="rId2">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657136380672455E-2"/>
          <c:y val="3.0699737370014191E-2"/>
          <c:w val="0.95532488822937012"/>
          <c:h val="0.95688581466674805"/>
        </c:manualLayout>
      </c:layout>
      <c:barChart>
        <c:barDir val="bar"/>
        <c:grouping val="stacked"/>
        <c:varyColors val="0"/>
        <c:ser>
          <c:idx val="0"/>
          <c:order val="0"/>
          <c:tx>
            <c:strRef>
              <c:f>Sheet1!$D$15</c:f>
              <c:strCache>
                <c:ptCount val="1"/>
                <c:pt idx="0">
                  <c:v>Current Maturity</c:v>
                </c:pt>
              </c:strCache>
            </c:strRef>
          </c:tx>
          <c:spPr>
            <a:solidFill>
              <a:srgbClr val="002856"/>
            </a:solidFill>
            <a:ln>
              <a:solidFill>
                <a:srgbClr val="002856"/>
              </a:solidFill>
              <a:miter lim="800000"/>
            </a:ln>
          </c:spPr>
          <c:invertIfNegative val="0"/>
          <c:dLbls>
            <c:dLbl>
              <c:idx val="0"/>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DC8E-41D9-8073-54A08DDDE271}"/>
                </c:ext>
              </c:extLst>
            </c:dLbl>
            <c:dLbl>
              <c:idx val="1"/>
              <c:spPr/>
              <c:txPr>
                <a:bodyPr wrap="square" lIns="38100" tIns="19050" rIns="38100" bIns="19050" anchor="ctr">
                  <a:spAutoFit/>
                </a:bodyPr>
                <a:lstStyle/>
                <a:p>
                  <a:pPr>
                    <a:defRPr sz="1100" smtId="4294967295">
                      <a:solidFill>
                        <a:schemeClr val="bg1"/>
                      </a:solidFill>
                    </a:defRPr>
                  </a:pPr>
                  <a:endParaRPr lang="en-US"/>
                </a:p>
              </c:txPr>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DC8E-41D9-8073-54A08DDDE271}"/>
                </c:ext>
              </c:extLst>
            </c:dLbl>
            <c:dLbl>
              <c:idx val="2"/>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DC8E-41D9-8073-54A08DDDE271}"/>
                </c:ext>
              </c:extLst>
            </c:dLbl>
            <c:dLbl>
              <c:idx val="3"/>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DC8E-41D9-8073-54A08DDDE271}"/>
                </c:ext>
              </c:extLst>
            </c:dLbl>
            <c:spPr>
              <a:noFill/>
              <a:ln>
                <a:noFill/>
              </a:ln>
              <a:effectLst/>
            </c:spPr>
            <c:txPr>
              <a:bodyPr wrap="square" lIns="38100" tIns="19050" rIns="38100" bIns="19050" anchor="ctr">
                <a:spAutoFit/>
              </a:bodyPr>
              <a:lstStyle/>
              <a:p>
                <a:pPr>
                  <a:defRPr sz="1100" smtId="4294967295">
                    <a:solidFill>
                      <a:schemeClr val="bg1"/>
                    </a:solidFill>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cat>
            <c:multiLvlStrRef>
              <c:f>Sheet1!$A$4:$A$7</c:f>
            </c:multiLvlStrRef>
          </c:cat>
          <c:val>
            <c:numRef>
              <c:f>Sheet1!$D$16:$D$19</c:f>
              <c:numCache>
                <c:formatCode>0.0</c:formatCode>
                <c:ptCount val="4"/>
                <c:pt idx="0" formatCode="0.00">
                  <c:v>0</c:v>
                </c:pt>
                <c:pt idx="1">
                  <c:v>5</c:v>
                </c:pt>
                <c:pt idx="2">
                  <c:v>0</c:v>
                </c:pt>
                <c:pt idx="3" formatCode="0.0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DC8E-41D9-8073-54A08DDDE271}"/>
            </c:ext>
          </c:extLst>
        </c:ser>
        <c:ser>
          <c:idx val="10"/>
          <c:order val="1"/>
          <c:tx>
            <c:strRef>
              <c:f>Sheet1!$F$15</c:f>
              <c:strCache>
                <c:ptCount val="1"/>
                <c:pt idx="0">
                  <c:v>10th Positive Bar</c:v>
                </c:pt>
              </c:strCache>
            </c:strRef>
          </c:tx>
          <c:spPr>
            <a:noFill/>
            <a:ln>
              <a:noFill/>
            </a:ln>
          </c:spPr>
          <c:invertIfNegative val="0"/>
          <c:cat>
            <c:multiLvlStrRef>
              <c:f>Sheet1!$A$4:$A$7</c:f>
            </c:multiLvlStrRef>
          </c:cat>
          <c:val>
            <c:numRef>
              <c:f>Sheet1!$F$16:$F$19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DC8E-41D9-8073-54A08DDDE271}"/>
            </c:ext>
          </c:extLst>
        </c:ser>
        <c:ser>
          <c:idx val="3"/>
          <c:order val="2"/>
          <c:tx>
            <c:strRef>
              <c:f>Sheet1!$H$15</c:f>
              <c:strCache>
                <c:ptCount val="1"/>
                <c:pt idx="0">
                  <c:v>25th Positive Bar</c:v>
                </c:pt>
              </c:strCache>
            </c:strRef>
          </c:tx>
          <c:spPr>
            <a:noFill/>
          </c:spPr>
          <c:invertIfNegative val="0"/>
          <c:cat>
            <c:multiLvlStrRef>
              <c:f>Sheet1!$A$4:$A$7</c:f>
            </c:multiLvlStrRef>
          </c:cat>
          <c:val>
            <c:numRef>
              <c:f>Sheet1!$H$16:$H$19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DC8E-41D9-8073-54A08DDDE271}"/>
            </c:ext>
          </c:extLst>
        </c:ser>
        <c:ser>
          <c:idx val="5"/>
          <c:order val="3"/>
          <c:tx>
            <c:strRef>
              <c:f>Sheet1!$J$15</c:f>
              <c:strCache>
                <c:ptCount val="1"/>
                <c:pt idx="0">
                  <c:v>75th Positive Bar</c:v>
                </c:pt>
              </c:strCache>
            </c:strRef>
          </c:tx>
          <c:spPr>
            <a:solidFill>
              <a:srgbClr val="BFBFBF"/>
            </a:solidFill>
            <a:ln>
              <a:solidFill>
                <a:srgbClr val="BFBFBF"/>
              </a:solidFill>
            </a:ln>
          </c:spPr>
          <c:invertIfNegative val="0"/>
          <c:cat>
            <c:multiLvlStrRef>
              <c:f>Sheet1!$A$4:$A$7</c:f>
            </c:multiLvlStrRef>
          </c:cat>
          <c:val>
            <c:numRef>
              <c:f>Sheet1!$J$16:$J$19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DC8E-41D9-8073-54A08DDDE271}"/>
            </c:ext>
          </c:extLst>
        </c:ser>
        <c:ser>
          <c:idx val="7"/>
          <c:order val="4"/>
          <c:tx>
            <c:strRef>
              <c:f>Sheet1!$L$15</c:f>
              <c:strCache>
                <c:ptCount val="1"/>
                <c:pt idx="0">
                  <c:v>90th Positive Bar</c:v>
                </c:pt>
              </c:strCache>
            </c:strRef>
          </c:tx>
          <c:spPr>
            <a:noFill/>
          </c:spPr>
          <c:invertIfNegative val="0"/>
          <c:cat>
            <c:multiLvlStrRef>
              <c:f>Sheet1!$A$4:$A$7</c:f>
            </c:multiLvlStrRef>
          </c:cat>
          <c:val>
            <c:numRef>
              <c:f>Sheet1!$L$16:$L$19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DC8E-41D9-8073-54A08DDDE271}"/>
            </c:ext>
          </c:extLst>
        </c:ser>
        <c:ser>
          <c:idx val="6"/>
          <c:order val="8"/>
          <c:tx>
            <c:strRef>
              <c:f>Sheet1!$K$15</c:f>
              <c:strCache>
                <c:ptCount val="1"/>
                <c:pt idx="0">
                  <c:v>90th Negative Bar</c:v>
                </c:pt>
              </c:strCache>
            </c:strRef>
          </c:tx>
          <c:spPr>
            <a:noFill/>
          </c:spPr>
          <c:invertIfNegative val="0"/>
          <c:cat>
            <c:multiLvlStrRef>
              <c:f>Sheet1!$A$4:$A$7</c:f>
            </c:multiLvlStrRef>
          </c:cat>
          <c:val>
            <c:numRef>
              <c:f>Sheet1!$K$16:$K$19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DC8E-41D9-8073-54A08DDDE271}"/>
            </c:ext>
          </c:extLst>
        </c:ser>
        <c:ser>
          <c:idx val="4"/>
          <c:order val="9"/>
          <c:tx>
            <c:strRef>
              <c:f>Sheet1!$I$15</c:f>
              <c:strCache>
                <c:ptCount val="1"/>
                <c:pt idx="0">
                  <c:v>75th Negative Bar</c:v>
                </c:pt>
              </c:strCache>
            </c:strRef>
          </c:tx>
          <c:spPr>
            <a:noFill/>
          </c:spPr>
          <c:invertIfNegative val="0"/>
          <c:cat>
            <c:multiLvlStrRef>
              <c:f>Sheet1!$A$4:$A$7</c:f>
            </c:multiLvlStrRef>
          </c:cat>
          <c:val>
            <c:numRef>
              <c:f>Sheet1!$I$16:$I$19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DC8E-41D9-8073-54A08DDDE271}"/>
            </c:ext>
          </c:extLst>
        </c:ser>
        <c:ser>
          <c:idx val="2"/>
          <c:order val="10"/>
          <c:tx>
            <c:strRef>
              <c:f>Sheet1!$G$15</c:f>
              <c:strCache>
                <c:ptCount val="1"/>
                <c:pt idx="0">
                  <c:v>25th Negative Bar</c:v>
                </c:pt>
              </c:strCache>
            </c:strRef>
          </c:tx>
          <c:spPr>
            <a:solidFill>
              <a:srgbClr val="BFBFBF"/>
            </a:solidFill>
            <a:ln>
              <a:solidFill>
                <a:srgbClr val="BFBFBF"/>
              </a:solidFill>
            </a:ln>
          </c:spPr>
          <c:invertIfNegative val="0"/>
          <c:cat>
            <c:multiLvlStrRef>
              <c:f>Sheet1!$A$4:$A$7</c:f>
            </c:multiLvlStrRef>
          </c:cat>
          <c:val>
            <c:numRef>
              <c:f>Sheet1!$G$16:$G$19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DC8E-41D9-8073-54A08DDDE271}"/>
            </c:ext>
          </c:extLst>
        </c:ser>
        <c:ser>
          <c:idx val="1"/>
          <c:order val="11"/>
          <c:tx>
            <c:strRef>
              <c:f>Sheet1!$E$15</c:f>
              <c:strCache>
                <c:ptCount val="1"/>
                <c:pt idx="0">
                  <c:v>10th Negative Bar</c:v>
                </c:pt>
              </c:strCache>
            </c:strRef>
          </c:tx>
          <c:spPr>
            <a:noFill/>
          </c:spPr>
          <c:invertIfNegative val="0"/>
          <c:cat>
            <c:multiLvlStrRef>
              <c:f>Sheet1!$A$4:$A$7</c:f>
            </c:multiLvlStrRef>
          </c:cat>
          <c:val>
            <c:numRef>
              <c:f>Sheet1!$E$16:$E$19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DC8E-41D9-8073-54A08DDDE271}"/>
            </c:ext>
          </c:extLst>
        </c:ser>
        <c:ser>
          <c:idx val="15"/>
          <c:order val="14"/>
          <c:tx>
            <c:strRef>
              <c:f>Sheet1!$M$15</c:f>
              <c:strCache>
                <c:ptCount val="1"/>
                <c:pt idx="0">
                  <c:v>Benchmarks Omitted Bar</c:v>
                </c:pt>
              </c:strCache>
            </c:strRef>
          </c:tx>
          <c:spPr>
            <a:noFill/>
          </c:spPr>
          <c:invertIfNegative val="0"/>
          <c:cat>
            <c:multiLvlStrRef>
              <c:f>Sheet1!$A$4:$A$7</c:f>
            </c:multiLvlStrRef>
          </c:cat>
          <c:val>
            <c:numRef>
              <c:f>Sheet1!$M$16:$M$19</c:f>
              <c:numCache>
                <c:formatCode>General</c:formatCode>
                <c:ptCount val="4"/>
                <c:pt idx="0">
                  <c:v>0</c:v>
                </c:pt>
                <c:pt idx="1">
                  <c:v>0</c:v>
                </c:pt>
                <c:pt idx="2">
                  <c:v>0</c:v>
                </c:pt>
                <c:pt idx="3" formatCode="&quot;$&quot;#,##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DC8E-41D9-8073-54A08DDDE271}"/>
            </c:ext>
          </c:extLst>
        </c:ser>
        <c:dLbls>
          <c:showLegendKey val="0"/>
          <c:showVal val="0"/>
          <c:showCatName val="0"/>
          <c:showSerName val="0"/>
          <c:showPercent val="0"/>
          <c:showBubbleSize val="0"/>
        </c:dLbls>
        <c:gapWidth val="0"/>
        <c:overlap val="100"/>
        <c:axId val="1154865663"/>
        <c:axId val="1"/>
      </c:barChart>
      <c:scatterChart>
        <c:scatterStyle val="lineMarker"/>
        <c:varyColors val="0"/>
        <c:ser>
          <c:idx val="8"/>
          <c:order val="5"/>
          <c:tx>
            <c:strRef>
              <c:f>Sheet1!$B$9</c:f>
              <c:strCache>
                <c:ptCount val="1"/>
                <c:pt idx="0">
                  <c:v>Target Maturity</c:v>
                </c:pt>
              </c:strCache>
            </c:strRef>
          </c:tx>
          <c:marker>
            <c:symbol val="none"/>
          </c:marker>
          <c:dLbls>
            <c:dLbl>
              <c:idx val="0"/>
              <c:spPr>
                <a:solidFill>
                  <a:srgbClr val="1F96FF"/>
                </a:solidFill>
                <a:ln>
                  <a:noFill/>
                </a:ln>
                <a:effectLst/>
              </c:spPr>
              <c:txPr>
                <a:bodyPr wrap="square" lIns="38100" tIns="19050" rIns="38100" bIns="19050" anchor="ctr">
                  <a:spAutoFit/>
                </a:bodyPr>
                <a:lstStyle/>
                <a:p>
                  <a:pPr>
                    <a:defRPr sz="1100" smtId="4294967295">
                      <a:solidFill>
                        <a:srgbClr val="FFFFFF"/>
                      </a:solidFill>
                      <a:latin typeface="Roboto Medium" panose="02000000000000000000" pitchFamily="2" charset="0"/>
                      <a:ea typeface="Roboto Medium"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DC8E-41D9-8073-54A08DDDE271}"/>
                </c:ext>
              </c:extLst>
            </c:dLbl>
            <c:spPr>
              <a:solidFill>
                <a:srgbClr val="1F96FF"/>
              </a:solidFill>
              <a:ln>
                <a:noFill/>
              </a:ln>
              <a:effectLst/>
            </c:spPr>
            <c:txPr>
              <a:bodyPr wrap="square" lIns="38100" tIns="19050" rIns="38100" bIns="19050" anchor="ctr">
                <a:spAutoFit/>
              </a:bodyPr>
              <a:lstStyle/>
              <a:p>
                <a:pPr>
                  <a:defRPr sz="1100" smtId="4294967295">
                    <a:solidFill>
                      <a:srgbClr val="FFFFFF"/>
                    </a:solidFill>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40"/>
            <c:spPr>
              <a:ln w="25400">
                <a:solidFill>
                  <a:srgbClr val="1F96FF"/>
                </a:solidFill>
              </a:ln>
            </c:spPr>
          </c:errBars>
          <c:xVal>
            <c:numRef>
              <c:f>Sheet1!$D$9</c:f>
              <c:numCache>
                <c:formatCode>0.0</c:formatCode>
                <c:ptCount val="1"/>
                <c:pt idx="0">
                  <c:v>5</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DC8E-41D9-8073-54A08DDDE271}"/>
            </c:ext>
          </c:extLst>
        </c:ser>
        <c:ser>
          <c:idx val="11"/>
          <c:order val="6"/>
          <c:tx>
            <c:strRef>
              <c:f>Sheet1!$B$11</c:f>
              <c:strCache>
                <c:ptCount val="1"/>
                <c:pt idx="0">
                  <c:v>Maximum</c:v>
                </c:pt>
              </c:strCache>
            </c:strRef>
          </c:tx>
          <c:marker>
            <c:symbol val="none"/>
          </c:marker>
          <c:xVal>
            <c:numRef>
              <c:f>Sheet1!$D$11</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DC8E-41D9-8073-54A08DDDE271}"/>
            </c:ext>
          </c:extLst>
        </c:ser>
        <c:ser>
          <c:idx val="9"/>
          <c:order val="7"/>
          <c:tx>
            <c:strRef>
              <c:f>Sheet1!$B$8</c:f>
              <c:strCache>
                <c:ptCount val="1"/>
                <c:pt idx="0">
                  <c:v>Client</c:v>
                </c:pt>
              </c:strCache>
            </c:strRef>
          </c:tx>
          <c:marker>
            <c:symbol val="none"/>
          </c:marker>
          <c:xVal>
            <c:numRef>
              <c:f>Sheet1!$D$8</c:f>
              <c:numCache>
                <c:formatCode>0.00</c:formatCode>
                <c:ptCount val="1"/>
                <c:pt idx="0">
                  <c:v>0</c:v>
                </c:pt>
              </c:numCache>
            </c:numRef>
          </c:xVal>
          <c:yVal>
            <c:numRef>
              <c:f>Sheet1!$D$14</c:f>
              <c:numCache>
                <c:formatCode>_(* #,##0_);_(* \(#,##0\);_(* "-"??_);_(@_)</c:formatCode>
                <c:ptCount val="1"/>
                <c:pt idx="0">
                  <c:v>3</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DC8E-41D9-8073-54A08DDDE271}"/>
            </c:ext>
          </c:extLst>
        </c:ser>
        <c:ser>
          <c:idx val="13"/>
          <c:order val="12"/>
          <c:tx>
            <c:v>25th Scatter Label</c:v>
          </c:tx>
          <c:marker>
            <c:symbol val="none"/>
          </c:marker>
          <c:xVal>
            <c:numRef>
              <c:f>Sheet1!$D$5</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DC8E-41D9-8073-54A08DDDE271}"/>
            </c:ext>
          </c:extLst>
        </c:ser>
        <c:ser>
          <c:idx val="14"/>
          <c:order val="13"/>
          <c:tx>
            <c:v>75 Scatter Label</c:v>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DC8E-41D9-8073-54A08DDDE271}"/>
              </c:ext>
            </c:extLst>
          </c:dPt>
          <c:xVal>
            <c:numRef>
              <c:f>Sheet1!$D$6</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DC8E-41D9-8073-54A08DDDE271}"/>
            </c:ext>
          </c:extLst>
        </c:ser>
        <c:dLbls>
          <c:showLegendKey val="0"/>
          <c:showVal val="0"/>
          <c:showCatName val="0"/>
          <c:showSerName val="0"/>
          <c:showPercent val="0"/>
          <c:showBubbleSize val="0"/>
        </c:dLbls>
        <c:axId val="928322959"/>
        <c:axId val="928311311"/>
      </c:scatterChart>
      <c:catAx>
        <c:axId val="1154865663"/>
        <c:scaling>
          <c:orientation val="minMax"/>
        </c:scaling>
        <c:delete val="1"/>
        <c:axPos val="l"/>
        <c:numFmt formatCode="General" sourceLinked="1"/>
        <c:majorTickMark val="out"/>
        <c:minorTickMark val="none"/>
        <c:tickLblPos val="nextTo"/>
        <c:crossAx val="1"/>
        <c:crossesAt val="0"/>
        <c:auto val="0"/>
        <c:lblAlgn val="ctr"/>
        <c:lblOffset val="100"/>
        <c:noMultiLvlLbl val="1"/>
      </c:catAx>
      <c:valAx>
        <c:axId val="1"/>
        <c:scaling>
          <c:orientation val="minMax"/>
          <c:max val="5.0999999999999996"/>
          <c:min val="0"/>
        </c:scaling>
        <c:delete val="1"/>
        <c:axPos val="b"/>
        <c:numFmt formatCode="0.0" sourceLinked="0"/>
        <c:majorTickMark val="out"/>
        <c:minorTickMark val="none"/>
        <c:tickLblPos val="nextTo"/>
        <c:crossAx val="1154865663"/>
        <c:crossesAt val="1"/>
        <c:crossBetween val="between"/>
        <c:majorUnit val="1"/>
      </c:valAx>
      <c:valAx>
        <c:axId val="928322959"/>
        <c:scaling>
          <c:orientation val="minMax"/>
          <c:max val="1.6000000000000003E-3"/>
        </c:scaling>
        <c:delete val="1"/>
        <c:axPos val="b"/>
        <c:numFmt formatCode="0.0" sourceLinked="1"/>
        <c:majorTickMark val="out"/>
        <c:minorTickMark val="none"/>
        <c:tickLblPos val="nextTo"/>
        <c:crossAx val="928311311"/>
        <c:crosses val="autoZero"/>
        <c:crossBetween val="midCat"/>
      </c:valAx>
      <c:valAx>
        <c:axId val="928311311"/>
        <c:scaling>
          <c:orientation val="minMax"/>
          <c:max val="3"/>
          <c:min val="1"/>
        </c:scaling>
        <c:delete val="1"/>
        <c:axPos val="l"/>
        <c:numFmt formatCode="_(* #,##0_);_(* \(#,##0\);_(* &quot;-&quot;??_);_(@_)" sourceLinked="0"/>
        <c:majorTickMark val="out"/>
        <c:minorTickMark val="none"/>
        <c:tickLblPos val="nextTo"/>
        <c:crossAx val="928322959"/>
        <c:crosses val="autoZero"/>
        <c:crossBetween val="midCat"/>
        <c:majorUnit val="1"/>
        <c:minorUnit val="1"/>
      </c:valAx>
      <c:spPr>
        <a:noFill/>
        <a:ln>
          <a:noFill/>
        </a:ln>
      </c:spPr>
    </c:plotArea>
    <c:plotVisOnly val="1"/>
    <c:dispBlanksAs val="gap"/>
    <c:showDLblsOverMax val="0"/>
  </c:chart>
  <c:spPr>
    <a:noFill/>
    <a:ln>
      <a:noFill/>
    </a:ln>
  </c:spPr>
  <c:externalData r:id="rId2">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657136380672455E-2"/>
          <c:y val="3.0699737370014191E-2"/>
          <c:w val="0.95532488822937012"/>
          <c:h val="0.95688581466674805"/>
        </c:manualLayout>
      </c:layout>
      <c:barChart>
        <c:barDir val="bar"/>
        <c:grouping val="stacked"/>
        <c:varyColors val="0"/>
        <c:ser>
          <c:idx val="0"/>
          <c:order val="0"/>
          <c:tx>
            <c:strRef>
              <c:f>Sheet1!$D$15</c:f>
              <c:strCache>
                <c:ptCount val="1"/>
                <c:pt idx="0">
                  <c:v>Current Maturity</c:v>
                </c:pt>
              </c:strCache>
            </c:strRef>
          </c:tx>
          <c:spPr>
            <a:solidFill>
              <a:srgbClr val="002856"/>
            </a:solidFill>
            <a:ln>
              <a:solidFill>
                <a:srgbClr val="002856"/>
              </a:solidFill>
              <a:miter lim="800000"/>
            </a:ln>
          </c:spPr>
          <c:invertIfNegative val="0"/>
          <c:dLbls>
            <c:dLbl>
              <c:idx val="0"/>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5D6E-4D2B-92DF-739EFE0DC21A}"/>
                </c:ext>
              </c:extLst>
            </c:dLbl>
            <c:dLbl>
              <c:idx val="1"/>
              <c:spPr/>
              <c:txPr>
                <a:bodyPr wrap="square" lIns="38100" tIns="19050" rIns="38100" bIns="19050" anchor="ctr">
                  <a:spAutoFit/>
                </a:bodyPr>
                <a:lstStyle/>
                <a:p>
                  <a:pPr>
                    <a:defRPr sz="1100" smtId="4294967295">
                      <a:solidFill>
                        <a:schemeClr val="bg1"/>
                      </a:solidFill>
                    </a:defRPr>
                  </a:pPr>
                  <a:endParaRPr lang="en-US"/>
                </a:p>
              </c:txPr>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5D6E-4D2B-92DF-739EFE0DC21A}"/>
                </c:ext>
              </c:extLst>
            </c:dLbl>
            <c:dLbl>
              <c:idx val="2"/>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5D6E-4D2B-92DF-739EFE0DC21A}"/>
                </c:ext>
              </c:extLst>
            </c:dLbl>
            <c:dLbl>
              <c:idx val="3"/>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5D6E-4D2B-92DF-739EFE0DC21A}"/>
                </c:ext>
              </c:extLst>
            </c:dLbl>
            <c:spPr>
              <a:noFill/>
              <a:ln>
                <a:noFill/>
              </a:ln>
              <a:effectLst/>
            </c:spPr>
            <c:txPr>
              <a:bodyPr wrap="square" lIns="38100" tIns="19050" rIns="38100" bIns="19050" anchor="ctr">
                <a:spAutoFit/>
              </a:bodyPr>
              <a:lstStyle/>
              <a:p>
                <a:pPr>
                  <a:defRPr sz="1100" smtId="4294967295">
                    <a:solidFill>
                      <a:schemeClr val="bg1"/>
                    </a:solidFill>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cat>
            <c:multiLvlStrRef>
              <c:f>Sheet1!$A$4:$A$7</c:f>
            </c:multiLvlStrRef>
          </c:cat>
          <c:val>
            <c:numRef>
              <c:f>Sheet1!$D$16:$D$19</c:f>
              <c:numCache>
                <c:formatCode>0.0</c:formatCode>
                <c:ptCount val="4"/>
                <c:pt idx="0" formatCode="0.00">
                  <c:v>0</c:v>
                </c:pt>
                <c:pt idx="1">
                  <c:v>1</c:v>
                </c:pt>
                <c:pt idx="2">
                  <c:v>0</c:v>
                </c:pt>
                <c:pt idx="3" formatCode="0.0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5D6E-4D2B-92DF-739EFE0DC21A}"/>
            </c:ext>
          </c:extLst>
        </c:ser>
        <c:ser>
          <c:idx val="10"/>
          <c:order val="1"/>
          <c:tx>
            <c:strRef>
              <c:f>Sheet1!$F$15</c:f>
              <c:strCache>
                <c:ptCount val="1"/>
                <c:pt idx="0">
                  <c:v>10th Positive Bar</c:v>
                </c:pt>
              </c:strCache>
            </c:strRef>
          </c:tx>
          <c:spPr>
            <a:noFill/>
            <a:ln>
              <a:noFill/>
            </a:ln>
          </c:spPr>
          <c:invertIfNegative val="0"/>
          <c:cat>
            <c:multiLvlStrRef>
              <c:f>Sheet1!$A$4:$A$7</c:f>
            </c:multiLvlStrRef>
          </c:cat>
          <c:val>
            <c:numRef>
              <c:f>Sheet1!$F$16:$F$19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5D6E-4D2B-92DF-739EFE0DC21A}"/>
            </c:ext>
          </c:extLst>
        </c:ser>
        <c:ser>
          <c:idx val="3"/>
          <c:order val="2"/>
          <c:tx>
            <c:strRef>
              <c:f>Sheet1!$H$15</c:f>
              <c:strCache>
                <c:ptCount val="1"/>
                <c:pt idx="0">
                  <c:v>25th Positive Bar</c:v>
                </c:pt>
              </c:strCache>
            </c:strRef>
          </c:tx>
          <c:spPr>
            <a:noFill/>
          </c:spPr>
          <c:invertIfNegative val="0"/>
          <c:cat>
            <c:multiLvlStrRef>
              <c:f>Sheet1!$A$4:$A$7</c:f>
            </c:multiLvlStrRef>
          </c:cat>
          <c:val>
            <c:numRef>
              <c:f>Sheet1!$H$16:$H$19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5D6E-4D2B-92DF-739EFE0DC21A}"/>
            </c:ext>
          </c:extLst>
        </c:ser>
        <c:ser>
          <c:idx val="5"/>
          <c:order val="3"/>
          <c:tx>
            <c:strRef>
              <c:f>Sheet1!$J$15</c:f>
              <c:strCache>
                <c:ptCount val="1"/>
                <c:pt idx="0">
                  <c:v>75th Positive Bar</c:v>
                </c:pt>
              </c:strCache>
            </c:strRef>
          </c:tx>
          <c:spPr>
            <a:solidFill>
              <a:srgbClr val="BFBFBF"/>
            </a:solidFill>
            <a:ln>
              <a:solidFill>
                <a:srgbClr val="BFBFBF"/>
              </a:solidFill>
            </a:ln>
          </c:spPr>
          <c:invertIfNegative val="0"/>
          <c:cat>
            <c:multiLvlStrRef>
              <c:f>Sheet1!$A$4:$A$7</c:f>
            </c:multiLvlStrRef>
          </c:cat>
          <c:val>
            <c:numRef>
              <c:f>Sheet1!$J$16:$J$19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5D6E-4D2B-92DF-739EFE0DC21A}"/>
            </c:ext>
          </c:extLst>
        </c:ser>
        <c:ser>
          <c:idx val="7"/>
          <c:order val="4"/>
          <c:tx>
            <c:strRef>
              <c:f>Sheet1!$L$15</c:f>
              <c:strCache>
                <c:ptCount val="1"/>
                <c:pt idx="0">
                  <c:v>90th Positive Bar</c:v>
                </c:pt>
              </c:strCache>
            </c:strRef>
          </c:tx>
          <c:spPr>
            <a:noFill/>
          </c:spPr>
          <c:invertIfNegative val="0"/>
          <c:cat>
            <c:multiLvlStrRef>
              <c:f>Sheet1!$A$4:$A$7</c:f>
            </c:multiLvlStrRef>
          </c:cat>
          <c:val>
            <c:numRef>
              <c:f>Sheet1!$L$16:$L$19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5D6E-4D2B-92DF-739EFE0DC21A}"/>
            </c:ext>
          </c:extLst>
        </c:ser>
        <c:ser>
          <c:idx val="6"/>
          <c:order val="8"/>
          <c:tx>
            <c:strRef>
              <c:f>Sheet1!$K$15</c:f>
              <c:strCache>
                <c:ptCount val="1"/>
                <c:pt idx="0">
                  <c:v>90th Negative Bar</c:v>
                </c:pt>
              </c:strCache>
            </c:strRef>
          </c:tx>
          <c:spPr>
            <a:noFill/>
          </c:spPr>
          <c:invertIfNegative val="0"/>
          <c:cat>
            <c:multiLvlStrRef>
              <c:f>Sheet1!$A$4:$A$7</c:f>
            </c:multiLvlStrRef>
          </c:cat>
          <c:val>
            <c:numRef>
              <c:f>Sheet1!$K$16:$K$19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5D6E-4D2B-92DF-739EFE0DC21A}"/>
            </c:ext>
          </c:extLst>
        </c:ser>
        <c:ser>
          <c:idx val="4"/>
          <c:order val="9"/>
          <c:tx>
            <c:strRef>
              <c:f>Sheet1!$I$15</c:f>
              <c:strCache>
                <c:ptCount val="1"/>
                <c:pt idx="0">
                  <c:v>75th Negative Bar</c:v>
                </c:pt>
              </c:strCache>
            </c:strRef>
          </c:tx>
          <c:spPr>
            <a:noFill/>
          </c:spPr>
          <c:invertIfNegative val="0"/>
          <c:cat>
            <c:multiLvlStrRef>
              <c:f>Sheet1!$A$4:$A$7</c:f>
            </c:multiLvlStrRef>
          </c:cat>
          <c:val>
            <c:numRef>
              <c:f>Sheet1!$I$16:$I$19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5D6E-4D2B-92DF-739EFE0DC21A}"/>
            </c:ext>
          </c:extLst>
        </c:ser>
        <c:ser>
          <c:idx val="2"/>
          <c:order val="10"/>
          <c:tx>
            <c:strRef>
              <c:f>Sheet1!$G$15</c:f>
              <c:strCache>
                <c:ptCount val="1"/>
                <c:pt idx="0">
                  <c:v>25th Negative Bar</c:v>
                </c:pt>
              </c:strCache>
            </c:strRef>
          </c:tx>
          <c:spPr>
            <a:solidFill>
              <a:srgbClr val="BFBFBF"/>
            </a:solidFill>
            <a:ln>
              <a:solidFill>
                <a:srgbClr val="BFBFBF"/>
              </a:solidFill>
            </a:ln>
          </c:spPr>
          <c:invertIfNegative val="0"/>
          <c:cat>
            <c:multiLvlStrRef>
              <c:f>Sheet1!$A$4:$A$7</c:f>
            </c:multiLvlStrRef>
          </c:cat>
          <c:val>
            <c:numRef>
              <c:f>Sheet1!$G$16:$G$19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5D6E-4D2B-92DF-739EFE0DC21A}"/>
            </c:ext>
          </c:extLst>
        </c:ser>
        <c:ser>
          <c:idx val="1"/>
          <c:order val="11"/>
          <c:tx>
            <c:strRef>
              <c:f>Sheet1!$E$15</c:f>
              <c:strCache>
                <c:ptCount val="1"/>
                <c:pt idx="0">
                  <c:v>10th Negative Bar</c:v>
                </c:pt>
              </c:strCache>
            </c:strRef>
          </c:tx>
          <c:spPr>
            <a:noFill/>
          </c:spPr>
          <c:invertIfNegative val="0"/>
          <c:cat>
            <c:multiLvlStrRef>
              <c:f>Sheet1!$A$4:$A$7</c:f>
            </c:multiLvlStrRef>
          </c:cat>
          <c:val>
            <c:numRef>
              <c:f>Sheet1!$E$16:$E$19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5D6E-4D2B-92DF-739EFE0DC21A}"/>
            </c:ext>
          </c:extLst>
        </c:ser>
        <c:ser>
          <c:idx val="15"/>
          <c:order val="14"/>
          <c:tx>
            <c:strRef>
              <c:f>Sheet1!$M$15</c:f>
              <c:strCache>
                <c:ptCount val="1"/>
                <c:pt idx="0">
                  <c:v>Benchmarks Omitted Bar</c:v>
                </c:pt>
              </c:strCache>
            </c:strRef>
          </c:tx>
          <c:spPr>
            <a:noFill/>
          </c:spPr>
          <c:invertIfNegative val="0"/>
          <c:cat>
            <c:multiLvlStrRef>
              <c:f>Sheet1!$A$4:$A$7</c:f>
            </c:multiLvlStrRef>
          </c:cat>
          <c:val>
            <c:numRef>
              <c:f>Sheet1!$M$16:$M$19</c:f>
              <c:numCache>
                <c:formatCode>General</c:formatCode>
                <c:ptCount val="4"/>
                <c:pt idx="0">
                  <c:v>0</c:v>
                </c:pt>
                <c:pt idx="1">
                  <c:v>0</c:v>
                </c:pt>
                <c:pt idx="2">
                  <c:v>0</c:v>
                </c:pt>
                <c:pt idx="3" formatCode="&quot;$&quot;#,##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5D6E-4D2B-92DF-739EFE0DC21A}"/>
            </c:ext>
          </c:extLst>
        </c:ser>
        <c:dLbls>
          <c:showLegendKey val="0"/>
          <c:showVal val="0"/>
          <c:showCatName val="0"/>
          <c:showSerName val="0"/>
          <c:showPercent val="0"/>
          <c:showBubbleSize val="0"/>
        </c:dLbls>
        <c:gapWidth val="0"/>
        <c:overlap val="100"/>
        <c:axId val="1154865663"/>
        <c:axId val="1"/>
      </c:barChart>
      <c:scatterChart>
        <c:scatterStyle val="lineMarker"/>
        <c:varyColors val="0"/>
        <c:ser>
          <c:idx val="8"/>
          <c:order val="5"/>
          <c:tx>
            <c:strRef>
              <c:f>Sheet1!$B$9</c:f>
              <c:strCache>
                <c:ptCount val="1"/>
                <c:pt idx="0">
                  <c:v>Target Maturity</c:v>
                </c:pt>
              </c:strCache>
            </c:strRef>
          </c:tx>
          <c:marker>
            <c:symbol val="none"/>
          </c:marker>
          <c:dLbls>
            <c:dLbl>
              <c:idx val="0"/>
              <c:spPr>
                <a:solidFill>
                  <a:srgbClr val="1F96FF"/>
                </a:solidFill>
                <a:ln>
                  <a:noFill/>
                </a:ln>
                <a:effectLst/>
              </c:spPr>
              <c:txPr>
                <a:bodyPr wrap="square" lIns="38100" tIns="19050" rIns="38100" bIns="19050" anchor="ctr">
                  <a:spAutoFit/>
                </a:bodyPr>
                <a:lstStyle/>
                <a:p>
                  <a:pPr>
                    <a:defRPr sz="1100" smtId="4294967295">
                      <a:solidFill>
                        <a:srgbClr val="FFFFFF"/>
                      </a:solidFill>
                      <a:latin typeface="Roboto Medium" panose="02000000000000000000" pitchFamily="2" charset="0"/>
                      <a:ea typeface="Roboto Medium"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5D6E-4D2B-92DF-739EFE0DC21A}"/>
                </c:ext>
              </c:extLst>
            </c:dLbl>
            <c:spPr>
              <a:solidFill>
                <a:srgbClr val="1F96FF"/>
              </a:solidFill>
              <a:ln>
                <a:noFill/>
              </a:ln>
              <a:effectLst/>
            </c:spPr>
            <c:txPr>
              <a:bodyPr wrap="square" lIns="38100" tIns="19050" rIns="38100" bIns="19050" anchor="ctr">
                <a:spAutoFit/>
              </a:bodyPr>
              <a:lstStyle/>
              <a:p>
                <a:pPr>
                  <a:defRPr sz="1100" smtId="4294967295">
                    <a:solidFill>
                      <a:srgbClr val="FFFFFF"/>
                    </a:solidFill>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40"/>
            <c:spPr>
              <a:ln w="25400">
                <a:solidFill>
                  <a:srgbClr val="1F96FF"/>
                </a:solidFill>
              </a:ln>
            </c:spPr>
          </c:errBars>
          <c:xVal>
            <c:numRef>
              <c:f>Sheet1!$D$9</c:f>
              <c:numCache>
                <c:formatCode>0.0</c:formatCode>
                <c:ptCount val="1"/>
                <c:pt idx="0">
                  <c:v>2</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5D6E-4D2B-92DF-739EFE0DC21A}"/>
            </c:ext>
          </c:extLst>
        </c:ser>
        <c:ser>
          <c:idx val="11"/>
          <c:order val="6"/>
          <c:tx>
            <c:strRef>
              <c:f>Sheet1!$B$11</c:f>
              <c:strCache>
                <c:ptCount val="1"/>
                <c:pt idx="0">
                  <c:v>Maximum</c:v>
                </c:pt>
              </c:strCache>
            </c:strRef>
          </c:tx>
          <c:marker>
            <c:symbol val="none"/>
          </c:marker>
          <c:xVal>
            <c:numRef>
              <c:f>Sheet1!$D$11</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5D6E-4D2B-92DF-739EFE0DC21A}"/>
            </c:ext>
          </c:extLst>
        </c:ser>
        <c:ser>
          <c:idx val="9"/>
          <c:order val="7"/>
          <c:tx>
            <c:strRef>
              <c:f>Sheet1!$B$8</c:f>
              <c:strCache>
                <c:ptCount val="1"/>
                <c:pt idx="0">
                  <c:v>Client</c:v>
                </c:pt>
              </c:strCache>
            </c:strRef>
          </c:tx>
          <c:marker>
            <c:symbol val="none"/>
          </c:marker>
          <c:xVal>
            <c:numRef>
              <c:f>Sheet1!$D$8</c:f>
              <c:numCache>
                <c:formatCode>0.00</c:formatCode>
                <c:ptCount val="1"/>
                <c:pt idx="0">
                  <c:v>0</c:v>
                </c:pt>
              </c:numCache>
            </c:numRef>
          </c:xVal>
          <c:yVal>
            <c:numRef>
              <c:f>Sheet1!$D$14</c:f>
              <c:numCache>
                <c:formatCode>_(* #,##0_);_(* \(#,##0\);_(* "-"??_);_(@_)</c:formatCode>
                <c:ptCount val="1"/>
                <c:pt idx="0">
                  <c:v>3</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5D6E-4D2B-92DF-739EFE0DC21A}"/>
            </c:ext>
          </c:extLst>
        </c:ser>
        <c:ser>
          <c:idx val="13"/>
          <c:order val="12"/>
          <c:tx>
            <c:v>25th Scatter Label</c:v>
          </c:tx>
          <c:marker>
            <c:symbol val="none"/>
          </c:marker>
          <c:xVal>
            <c:numRef>
              <c:f>Sheet1!$D$5</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5D6E-4D2B-92DF-739EFE0DC21A}"/>
            </c:ext>
          </c:extLst>
        </c:ser>
        <c:ser>
          <c:idx val="14"/>
          <c:order val="13"/>
          <c:tx>
            <c:v>75 Scatter Label</c:v>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5D6E-4D2B-92DF-739EFE0DC21A}"/>
              </c:ext>
            </c:extLst>
          </c:dPt>
          <c:xVal>
            <c:numRef>
              <c:f>Sheet1!$D$6</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5D6E-4D2B-92DF-739EFE0DC21A}"/>
            </c:ext>
          </c:extLst>
        </c:ser>
        <c:dLbls>
          <c:showLegendKey val="0"/>
          <c:showVal val="0"/>
          <c:showCatName val="0"/>
          <c:showSerName val="0"/>
          <c:showPercent val="0"/>
          <c:showBubbleSize val="0"/>
        </c:dLbls>
        <c:axId val="928322959"/>
        <c:axId val="928311311"/>
      </c:scatterChart>
      <c:catAx>
        <c:axId val="1154865663"/>
        <c:scaling>
          <c:orientation val="minMax"/>
        </c:scaling>
        <c:delete val="1"/>
        <c:axPos val="l"/>
        <c:numFmt formatCode="General" sourceLinked="1"/>
        <c:majorTickMark val="out"/>
        <c:minorTickMark val="none"/>
        <c:tickLblPos val="nextTo"/>
        <c:crossAx val="1"/>
        <c:crossesAt val="0"/>
        <c:auto val="0"/>
        <c:lblAlgn val="ctr"/>
        <c:lblOffset val="100"/>
        <c:noMultiLvlLbl val="1"/>
      </c:catAx>
      <c:valAx>
        <c:axId val="1"/>
        <c:scaling>
          <c:orientation val="minMax"/>
          <c:max val="5.0999999999999996"/>
          <c:min val="0"/>
        </c:scaling>
        <c:delete val="1"/>
        <c:axPos val="b"/>
        <c:numFmt formatCode="0.0" sourceLinked="0"/>
        <c:majorTickMark val="out"/>
        <c:minorTickMark val="none"/>
        <c:tickLblPos val="nextTo"/>
        <c:crossAx val="1154865663"/>
        <c:crossesAt val="1"/>
        <c:crossBetween val="between"/>
        <c:majorUnit val="1"/>
      </c:valAx>
      <c:valAx>
        <c:axId val="928322959"/>
        <c:scaling>
          <c:orientation val="minMax"/>
          <c:max val="1.6000000000000003E-3"/>
        </c:scaling>
        <c:delete val="1"/>
        <c:axPos val="b"/>
        <c:numFmt formatCode="0.0" sourceLinked="1"/>
        <c:majorTickMark val="out"/>
        <c:minorTickMark val="none"/>
        <c:tickLblPos val="nextTo"/>
        <c:crossAx val="928311311"/>
        <c:crosses val="autoZero"/>
        <c:crossBetween val="midCat"/>
      </c:valAx>
      <c:valAx>
        <c:axId val="928311311"/>
        <c:scaling>
          <c:orientation val="minMax"/>
          <c:max val="3"/>
          <c:min val="1"/>
        </c:scaling>
        <c:delete val="1"/>
        <c:axPos val="l"/>
        <c:numFmt formatCode="_(* #,##0_);_(* \(#,##0\);_(* &quot;-&quot;??_);_(@_)" sourceLinked="0"/>
        <c:majorTickMark val="out"/>
        <c:minorTickMark val="none"/>
        <c:tickLblPos val="nextTo"/>
        <c:crossAx val="928322959"/>
        <c:crosses val="autoZero"/>
        <c:crossBetween val="midCat"/>
        <c:majorUnit val="1"/>
        <c:minorUnit val="1"/>
      </c:valAx>
      <c:spPr>
        <a:noFill/>
        <a:ln>
          <a:noFill/>
        </a:ln>
      </c:spPr>
    </c:plotArea>
    <c:plotVisOnly val="1"/>
    <c:dispBlanksAs val="gap"/>
    <c:showDLblsOverMax val="0"/>
  </c:chart>
  <c:spPr>
    <a:noFill/>
    <a:ln>
      <a:noFill/>
    </a:ln>
  </c:spPr>
  <c:externalData r:id="rId2">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764448955655098E-2"/>
          <c:y val="4.3114185333251953E-2"/>
          <c:w val="0.95532488822937012"/>
          <c:h val="0.95688581466674805"/>
        </c:manualLayout>
      </c:layout>
      <c:barChart>
        <c:barDir val="bar"/>
        <c:grouping val="stacked"/>
        <c:varyColors val="0"/>
        <c:ser>
          <c:idx val="0"/>
          <c:order val="0"/>
          <c:tx>
            <c:strRef>
              <c:f>Sheet1!$D$15</c:f>
              <c:strCache>
                <c:ptCount val="1"/>
                <c:pt idx="0">
                  <c:v>Current Maturity</c:v>
                </c:pt>
              </c:strCache>
            </c:strRef>
          </c:tx>
          <c:spPr>
            <a:solidFill>
              <a:srgbClr val="002856"/>
            </a:solidFill>
            <a:ln>
              <a:solidFill>
                <a:srgbClr val="002856"/>
              </a:solidFill>
              <a:miter lim="800000"/>
            </a:ln>
          </c:spPr>
          <c:invertIfNegative val="0"/>
          <c:dLbls>
            <c:dLbl>
              <c:idx val="0"/>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17BB-4FE6-B351-8D075AE0530E}"/>
                </c:ext>
              </c:extLst>
            </c:dLbl>
            <c:dLbl>
              <c:idx val="1"/>
              <c:spPr/>
              <c:txPr>
                <a:bodyPr wrap="square" lIns="38100" tIns="19050" rIns="38100" bIns="19050" anchor="ctr">
                  <a:spAutoFit/>
                </a:bodyPr>
                <a:lstStyle/>
                <a:p>
                  <a:pPr>
                    <a:defRPr sz="1100" smtId="4294967295">
                      <a:solidFill>
                        <a:schemeClr val="bg1"/>
                      </a:solidFill>
                    </a:defRPr>
                  </a:pPr>
                  <a:endParaRPr lang="en-US"/>
                </a:p>
              </c:txPr>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17BB-4FE6-B351-8D075AE0530E}"/>
                </c:ext>
              </c:extLst>
            </c:dLbl>
            <c:dLbl>
              <c:idx val="2"/>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17BB-4FE6-B351-8D075AE0530E}"/>
                </c:ext>
              </c:extLst>
            </c:dLbl>
            <c:dLbl>
              <c:idx val="3"/>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17BB-4FE6-B351-8D075AE0530E}"/>
                </c:ext>
              </c:extLst>
            </c:dLbl>
            <c:spPr>
              <a:noFill/>
              <a:ln>
                <a:noFill/>
              </a:ln>
              <a:effectLst/>
            </c:spPr>
            <c:txPr>
              <a:bodyPr wrap="square" lIns="38100" tIns="19050" rIns="38100" bIns="19050" anchor="ctr">
                <a:spAutoFit/>
              </a:bodyPr>
              <a:lstStyle/>
              <a:p>
                <a:pPr>
                  <a:defRPr sz="1100" smtId="4294967295">
                    <a:solidFill>
                      <a:schemeClr val="bg1"/>
                    </a:solidFill>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cat>
            <c:multiLvlStrRef>
              <c:f>Sheet1!$A$4:$A$7</c:f>
            </c:multiLvlStrRef>
          </c:cat>
          <c:val>
            <c:numRef>
              <c:f>Sheet1!$D$16:$D$19</c:f>
              <c:numCache>
                <c:formatCode>0.0</c:formatCode>
                <c:ptCount val="4"/>
                <c:pt idx="0" formatCode="0.00">
                  <c:v>0</c:v>
                </c:pt>
                <c:pt idx="1">
                  <c:v>1</c:v>
                </c:pt>
                <c:pt idx="2">
                  <c:v>0</c:v>
                </c:pt>
                <c:pt idx="3" formatCode="0.0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17BB-4FE6-B351-8D075AE0530E}"/>
            </c:ext>
          </c:extLst>
        </c:ser>
        <c:ser>
          <c:idx val="10"/>
          <c:order val="1"/>
          <c:tx>
            <c:strRef>
              <c:f>Sheet1!$F$15</c:f>
              <c:strCache>
                <c:ptCount val="1"/>
                <c:pt idx="0">
                  <c:v>10th Positive Bar</c:v>
                </c:pt>
              </c:strCache>
            </c:strRef>
          </c:tx>
          <c:spPr>
            <a:noFill/>
            <a:ln>
              <a:noFill/>
            </a:ln>
          </c:spPr>
          <c:invertIfNegative val="0"/>
          <c:cat>
            <c:multiLvlStrRef>
              <c:f>Sheet1!$A$4:$A$7</c:f>
            </c:multiLvlStrRef>
          </c:cat>
          <c:val>
            <c:numRef>
              <c:f>Sheet1!$F$16:$F$19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17BB-4FE6-B351-8D075AE0530E}"/>
            </c:ext>
          </c:extLst>
        </c:ser>
        <c:ser>
          <c:idx val="3"/>
          <c:order val="2"/>
          <c:tx>
            <c:strRef>
              <c:f>Sheet1!$H$15</c:f>
              <c:strCache>
                <c:ptCount val="1"/>
                <c:pt idx="0">
                  <c:v>25th Positive Bar</c:v>
                </c:pt>
              </c:strCache>
            </c:strRef>
          </c:tx>
          <c:spPr>
            <a:noFill/>
          </c:spPr>
          <c:invertIfNegative val="0"/>
          <c:cat>
            <c:multiLvlStrRef>
              <c:f>Sheet1!$A$4:$A$7</c:f>
            </c:multiLvlStrRef>
          </c:cat>
          <c:val>
            <c:numRef>
              <c:f>Sheet1!$H$16:$H$19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17BB-4FE6-B351-8D075AE0530E}"/>
            </c:ext>
          </c:extLst>
        </c:ser>
        <c:ser>
          <c:idx val="5"/>
          <c:order val="3"/>
          <c:tx>
            <c:strRef>
              <c:f>Sheet1!$J$15</c:f>
              <c:strCache>
                <c:ptCount val="1"/>
                <c:pt idx="0">
                  <c:v>75th Positive Bar</c:v>
                </c:pt>
              </c:strCache>
            </c:strRef>
          </c:tx>
          <c:spPr>
            <a:solidFill>
              <a:srgbClr val="BFBFBF"/>
            </a:solidFill>
            <a:ln>
              <a:solidFill>
                <a:srgbClr val="BFBFBF"/>
              </a:solidFill>
            </a:ln>
          </c:spPr>
          <c:invertIfNegative val="0"/>
          <c:cat>
            <c:multiLvlStrRef>
              <c:f>Sheet1!$A$4:$A$7</c:f>
            </c:multiLvlStrRef>
          </c:cat>
          <c:val>
            <c:numRef>
              <c:f>Sheet1!$J$16:$J$19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17BB-4FE6-B351-8D075AE0530E}"/>
            </c:ext>
          </c:extLst>
        </c:ser>
        <c:ser>
          <c:idx val="7"/>
          <c:order val="4"/>
          <c:tx>
            <c:strRef>
              <c:f>Sheet1!$L$15</c:f>
              <c:strCache>
                <c:ptCount val="1"/>
                <c:pt idx="0">
                  <c:v>90th Positive Bar</c:v>
                </c:pt>
              </c:strCache>
            </c:strRef>
          </c:tx>
          <c:spPr>
            <a:noFill/>
          </c:spPr>
          <c:invertIfNegative val="0"/>
          <c:cat>
            <c:multiLvlStrRef>
              <c:f>Sheet1!$A$4:$A$7</c:f>
            </c:multiLvlStrRef>
          </c:cat>
          <c:val>
            <c:numRef>
              <c:f>Sheet1!$L$16:$L$19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17BB-4FE6-B351-8D075AE0530E}"/>
            </c:ext>
          </c:extLst>
        </c:ser>
        <c:ser>
          <c:idx val="6"/>
          <c:order val="8"/>
          <c:tx>
            <c:strRef>
              <c:f>Sheet1!$K$15</c:f>
              <c:strCache>
                <c:ptCount val="1"/>
                <c:pt idx="0">
                  <c:v>90th Negative Bar</c:v>
                </c:pt>
              </c:strCache>
            </c:strRef>
          </c:tx>
          <c:spPr>
            <a:noFill/>
          </c:spPr>
          <c:invertIfNegative val="0"/>
          <c:cat>
            <c:multiLvlStrRef>
              <c:f>Sheet1!$A$4:$A$7</c:f>
            </c:multiLvlStrRef>
          </c:cat>
          <c:val>
            <c:numRef>
              <c:f>Sheet1!$K$16:$K$19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17BB-4FE6-B351-8D075AE0530E}"/>
            </c:ext>
          </c:extLst>
        </c:ser>
        <c:ser>
          <c:idx val="4"/>
          <c:order val="9"/>
          <c:tx>
            <c:strRef>
              <c:f>Sheet1!$I$15</c:f>
              <c:strCache>
                <c:ptCount val="1"/>
                <c:pt idx="0">
                  <c:v>75th Negative Bar</c:v>
                </c:pt>
              </c:strCache>
            </c:strRef>
          </c:tx>
          <c:spPr>
            <a:noFill/>
          </c:spPr>
          <c:invertIfNegative val="0"/>
          <c:cat>
            <c:multiLvlStrRef>
              <c:f>Sheet1!$A$4:$A$7</c:f>
            </c:multiLvlStrRef>
          </c:cat>
          <c:val>
            <c:numRef>
              <c:f>Sheet1!$I$16:$I$19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17BB-4FE6-B351-8D075AE0530E}"/>
            </c:ext>
          </c:extLst>
        </c:ser>
        <c:ser>
          <c:idx val="2"/>
          <c:order val="10"/>
          <c:tx>
            <c:strRef>
              <c:f>Sheet1!$G$15</c:f>
              <c:strCache>
                <c:ptCount val="1"/>
                <c:pt idx="0">
                  <c:v>25th Negative Bar</c:v>
                </c:pt>
              </c:strCache>
            </c:strRef>
          </c:tx>
          <c:spPr>
            <a:solidFill>
              <a:srgbClr val="BFBFBF"/>
            </a:solidFill>
            <a:ln>
              <a:solidFill>
                <a:srgbClr val="BFBFBF"/>
              </a:solidFill>
            </a:ln>
          </c:spPr>
          <c:invertIfNegative val="0"/>
          <c:cat>
            <c:multiLvlStrRef>
              <c:f>Sheet1!$A$4:$A$7</c:f>
            </c:multiLvlStrRef>
          </c:cat>
          <c:val>
            <c:numRef>
              <c:f>Sheet1!$G$16:$G$19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17BB-4FE6-B351-8D075AE0530E}"/>
            </c:ext>
          </c:extLst>
        </c:ser>
        <c:ser>
          <c:idx val="1"/>
          <c:order val="11"/>
          <c:tx>
            <c:strRef>
              <c:f>Sheet1!$E$15</c:f>
              <c:strCache>
                <c:ptCount val="1"/>
                <c:pt idx="0">
                  <c:v>10th Negative Bar</c:v>
                </c:pt>
              </c:strCache>
            </c:strRef>
          </c:tx>
          <c:spPr>
            <a:noFill/>
          </c:spPr>
          <c:invertIfNegative val="0"/>
          <c:cat>
            <c:multiLvlStrRef>
              <c:f>Sheet1!$A$4:$A$7</c:f>
            </c:multiLvlStrRef>
          </c:cat>
          <c:val>
            <c:numRef>
              <c:f>Sheet1!$E$16:$E$19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17BB-4FE6-B351-8D075AE0530E}"/>
            </c:ext>
          </c:extLst>
        </c:ser>
        <c:ser>
          <c:idx val="15"/>
          <c:order val="14"/>
          <c:tx>
            <c:strRef>
              <c:f>Sheet1!$M$15</c:f>
              <c:strCache>
                <c:ptCount val="1"/>
                <c:pt idx="0">
                  <c:v>Benchmarks Omitted Bar</c:v>
                </c:pt>
              </c:strCache>
            </c:strRef>
          </c:tx>
          <c:spPr>
            <a:noFill/>
          </c:spPr>
          <c:invertIfNegative val="0"/>
          <c:cat>
            <c:multiLvlStrRef>
              <c:f>Sheet1!$A$4:$A$7</c:f>
            </c:multiLvlStrRef>
          </c:cat>
          <c:val>
            <c:numRef>
              <c:f>Sheet1!$M$16:$M$19</c:f>
              <c:numCache>
                <c:formatCode>General</c:formatCode>
                <c:ptCount val="4"/>
                <c:pt idx="0">
                  <c:v>0</c:v>
                </c:pt>
                <c:pt idx="1">
                  <c:v>0</c:v>
                </c:pt>
                <c:pt idx="2">
                  <c:v>0</c:v>
                </c:pt>
                <c:pt idx="3" formatCode="&quot;$&quot;#,##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17BB-4FE6-B351-8D075AE0530E}"/>
            </c:ext>
          </c:extLst>
        </c:ser>
        <c:dLbls>
          <c:showLegendKey val="0"/>
          <c:showVal val="0"/>
          <c:showCatName val="0"/>
          <c:showSerName val="0"/>
          <c:showPercent val="0"/>
          <c:showBubbleSize val="0"/>
        </c:dLbls>
        <c:gapWidth val="0"/>
        <c:overlap val="100"/>
        <c:axId val="1154865663"/>
        <c:axId val="1"/>
      </c:barChart>
      <c:scatterChart>
        <c:scatterStyle val="lineMarker"/>
        <c:varyColors val="0"/>
        <c:ser>
          <c:idx val="8"/>
          <c:order val="5"/>
          <c:tx>
            <c:strRef>
              <c:f>Sheet1!$B$9</c:f>
              <c:strCache>
                <c:ptCount val="1"/>
                <c:pt idx="0">
                  <c:v>Target Maturity</c:v>
                </c:pt>
              </c:strCache>
            </c:strRef>
          </c:tx>
          <c:marker>
            <c:symbol val="none"/>
          </c:marker>
          <c:dLbls>
            <c:dLbl>
              <c:idx val="0"/>
              <c:spPr>
                <a:solidFill>
                  <a:srgbClr val="1F96FF"/>
                </a:solidFill>
                <a:ln>
                  <a:noFill/>
                </a:ln>
                <a:effectLst/>
              </c:spPr>
              <c:txPr>
                <a:bodyPr wrap="square" lIns="38100" tIns="19050" rIns="38100" bIns="19050" anchor="ctr">
                  <a:spAutoFit/>
                </a:bodyPr>
                <a:lstStyle/>
                <a:p>
                  <a:pPr>
                    <a:defRPr sz="1100" smtId="4294967295">
                      <a:solidFill>
                        <a:srgbClr val="FFFFFF"/>
                      </a:solidFill>
                      <a:latin typeface="Roboto Medium" panose="02000000000000000000" pitchFamily="2" charset="0"/>
                      <a:ea typeface="Roboto Medium"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17BB-4FE6-B351-8D075AE0530E}"/>
                </c:ext>
              </c:extLst>
            </c:dLbl>
            <c:spPr>
              <a:solidFill>
                <a:srgbClr val="1F96FF"/>
              </a:solidFill>
              <a:ln>
                <a:noFill/>
              </a:ln>
              <a:effectLst/>
            </c:spPr>
            <c:txPr>
              <a:bodyPr wrap="square" lIns="38100" tIns="19050" rIns="38100" bIns="19050" anchor="ctr">
                <a:spAutoFit/>
              </a:bodyPr>
              <a:lstStyle/>
              <a:p>
                <a:pPr>
                  <a:defRPr sz="1100" smtId="4294967295">
                    <a:solidFill>
                      <a:srgbClr val="FFFFFF"/>
                    </a:solidFill>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40"/>
            <c:spPr>
              <a:ln w="25400">
                <a:solidFill>
                  <a:srgbClr val="1F96FF"/>
                </a:solidFill>
              </a:ln>
            </c:spPr>
          </c:errBars>
          <c:xVal>
            <c:numRef>
              <c:f>Sheet1!$D$9</c:f>
              <c:numCache>
                <c:formatCode>0.0</c:formatCode>
                <c:ptCount val="1"/>
                <c:pt idx="0">
                  <c:v>3</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17BB-4FE6-B351-8D075AE0530E}"/>
            </c:ext>
          </c:extLst>
        </c:ser>
        <c:ser>
          <c:idx val="11"/>
          <c:order val="6"/>
          <c:tx>
            <c:strRef>
              <c:f>Sheet1!$B$11</c:f>
              <c:strCache>
                <c:ptCount val="1"/>
                <c:pt idx="0">
                  <c:v>Maximum</c:v>
                </c:pt>
              </c:strCache>
            </c:strRef>
          </c:tx>
          <c:marker>
            <c:symbol val="none"/>
          </c:marker>
          <c:xVal>
            <c:numRef>
              <c:f>Sheet1!$D$11</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17BB-4FE6-B351-8D075AE0530E}"/>
            </c:ext>
          </c:extLst>
        </c:ser>
        <c:ser>
          <c:idx val="9"/>
          <c:order val="7"/>
          <c:tx>
            <c:strRef>
              <c:f>Sheet1!$B$8</c:f>
              <c:strCache>
                <c:ptCount val="1"/>
                <c:pt idx="0">
                  <c:v>Client</c:v>
                </c:pt>
              </c:strCache>
            </c:strRef>
          </c:tx>
          <c:marker>
            <c:symbol val="none"/>
          </c:marker>
          <c:xVal>
            <c:numRef>
              <c:f>Sheet1!$D$8</c:f>
              <c:numCache>
                <c:formatCode>0.00</c:formatCode>
                <c:ptCount val="1"/>
                <c:pt idx="0">
                  <c:v>0</c:v>
                </c:pt>
              </c:numCache>
            </c:numRef>
          </c:xVal>
          <c:yVal>
            <c:numRef>
              <c:f>Sheet1!$D$14</c:f>
              <c:numCache>
                <c:formatCode>_(* #,##0_);_(* \(#,##0\);_(* "-"??_);_(@_)</c:formatCode>
                <c:ptCount val="1"/>
                <c:pt idx="0">
                  <c:v>3</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17BB-4FE6-B351-8D075AE0530E}"/>
            </c:ext>
          </c:extLst>
        </c:ser>
        <c:ser>
          <c:idx val="13"/>
          <c:order val="12"/>
          <c:tx>
            <c:v>25th Scatter Label</c:v>
          </c:tx>
          <c:marker>
            <c:symbol val="none"/>
          </c:marker>
          <c:xVal>
            <c:numRef>
              <c:f>Sheet1!$D$5</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17BB-4FE6-B351-8D075AE0530E}"/>
            </c:ext>
          </c:extLst>
        </c:ser>
        <c:ser>
          <c:idx val="14"/>
          <c:order val="13"/>
          <c:tx>
            <c:v>75 Scatter Label</c:v>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17BB-4FE6-B351-8D075AE0530E}"/>
              </c:ext>
            </c:extLst>
          </c:dPt>
          <c:xVal>
            <c:numRef>
              <c:f>Sheet1!$D$6</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17BB-4FE6-B351-8D075AE0530E}"/>
            </c:ext>
          </c:extLst>
        </c:ser>
        <c:dLbls>
          <c:showLegendKey val="0"/>
          <c:showVal val="0"/>
          <c:showCatName val="0"/>
          <c:showSerName val="0"/>
          <c:showPercent val="0"/>
          <c:showBubbleSize val="0"/>
        </c:dLbls>
        <c:axId val="928322959"/>
        <c:axId val="928311311"/>
      </c:scatterChart>
      <c:catAx>
        <c:axId val="1154865663"/>
        <c:scaling>
          <c:orientation val="minMax"/>
        </c:scaling>
        <c:delete val="1"/>
        <c:axPos val="l"/>
        <c:numFmt formatCode="General" sourceLinked="1"/>
        <c:majorTickMark val="out"/>
        <c:minorTickMark val="none"/>
        <c:tickLblPos val="nextTo"/>
        <c:crossAx val="1"/>
        <c:crossesAt val="0"/>
        <c:auto val="0"/>
        <c:lblAlgn val="ctr"/>
        <c:lblOffset val="100"/>
        <c:noMultiLvlLbl val="1"/>
      </c:catAx>
      <c:valAx>
        <c:axId val="1"/>
        <c:scaling>
          <c:orientation val="minMax"/>
          <c:max val="5.0999999999999996"/>
          <c:min val="0"/>
        </c:scaling>
        <c:delete val="1"/>
        <c:axPos val="b"/>
        <c:numFmt formatCode="0.0" sourceLinked="0"/>
        <c:majorTickMark val="out"/>
        <c:minorTickMark val="none"/>
        <c:tickLblPos val="nextTo"/>
        <c:crossAx val="1154865663"/>
        <c:crossesAt val="1"/>
        <c:crossBetween val="between"/>
        <c:majorUnit val="1"/>
      </c:valAx>
      <c:valAx>
        <c:axId val="928322959"/>
        <c:scaling>
          <c:orientation val="minMax"/>
          <c:max val="1.6000000000000003E-3"/>
        </c:scaling>
        <c:delete val="1"/>
        <c:axPos val="b"/>
        <c:numFmt formatCode="0.0" sourceLinked="1"/>
        <c:majorTickMark val="out"/>
        <c:minorTickMark val="none"/>
        <c:tickLblPos val="nextTo"/>
        <c:crossAx val="928311311"/>
        <c:crosses val="autoZero"/>
        <c:crossBetween val="midCat"/>
      </c:valAx>
      <c:valAx>
        <c:axId val="928311311"/>
        <c:scaling>
          <c:orientation val="minMax"/>
          <c:max val="3"/>
          <c:min val="1"/>
        </c:scaling>
        <c:delete val="1"/>
        <c:axPos val="l"/>
        <c:numFmt formatCode="_(* #,##0_);_(* \(#,##0\);_(* &quot;-&quot;??_);_(@_)" sourceLinked="0"/>
        <c:majorTickMark val="out"/>
        <c:minorTickMark val="none"/>
        <c:tickLblPos val="nextTo"/>
        <c:crossAx val="928322959"/>
        <c:crosses val="autoZero"/>
        <c:crossBetween val="midCat"/>
        <c:majorUnit val="1"/>
        <c:minorUnit val="1"/>
      </c:valAx>
      <c:spPr>
        <a:noFill/>
        <a:ln>
          <a:noFill/>
        </a:ln>
      </c:spPr>
    </c:plotArea>
    <c:plotVisOnly val="1"/>
    <c:dispBlanksAs val="gap"/>
    <c:showDLblsOverMax val="0"/>
  </c:chart>
  <c:spPr>
    <a:noFill/>
    <a:ln>
      <a:noFill/>
    </a:ln>
  </c:spPr>
  <c:externalData r:id="rId2">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657136380672455E-2"/>
          <c:y val="3.0699737370014191E-2"/>
          <c:w val="0.95532488822937012"/>
          <c:h val="0.95688581466674805"/>
        </c:manualLayout>
      </c:layout>
      <c:barChart>
        <c:barDir val="bar"/>
        <c:grouping val="stacked"/>
        <c:varyColors val="0"/>
        <c:ser>
          <c:idx val="0"/>
          <c:order val="0"/>
          <c:tx>
            <c:strRef>
              <c:f>Sheet1!$D$15</c:f>
              <c:strCache>
                <c:ptCount val="1"/>
                <c:pt idx="0">
                  <c:v>Current Maturity</c:v>
                </c:pt>
              </c:strCache>
            </c:strRef>
          </c:tx>
          <c:spPr>
            <a:solidFill>
              <a:srgbClr val="002856"/>
            </a:solidFill>
            <a:ln>
              <a:solidFill>
                <a:srgbClr val="002856"/>
              </a:solidFill>
              <a:miter lim="800000"/>
            </a:ln>
          </c:spPr>
          <c:invertIfNegative val="0"/>
          <c:dLbls>
            <c:dLbl>
              <c:idx val="0"/>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69B3-4A36-AA34-57581A70656F}"/>
                </c:ext>
              </c:extLst>
            </c:dLbl>
            <c:dLbl>
              <c:idx val="1"/>
              <c:spPr/>
              <c:txPr>
                <a:bodyPr wrap="square" lIns="38100" tIns="19050" rIns="38100" bIns="19050" anchor="ctr">
                  <a:spAutoFit/>
                </a:bodyPr>
                <a:lstStyle/>
                <a:p>
                  <a:pPr>
                    <a:defRPr sz="1100" smtId="4294967295">
                      <a:solidFill>
                        <a:schemeClr val="bg1"/>
                      </a:solidFill>
                    </a:defRPr>
                  </a:pPr>
                  <a:endParaRPr lang="en-US"/>
                </a:p>
              </c:txPr>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69B3-4A36-AA34-57581A70656F}"/>
                </c:ext>
              </c:extLst>
            </c:dLbl>
            <c:dLbl>
              <c:idx val="2"/>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69B3-4A36-AA34-57581A70656F}"/>
                </c:ext>
              </c:extLst>
            </c:dLbl>
            <c:dLbl>
              <c:idx val="3"/>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69B3-4A36-AA34-57581A70656F}"/>
                </c:ext>
              </c:extLst>
            </c:dLbl>
            <c:spPr>
              <a:noFill/>
              <a:ln>
                <a:noFill/>
              </a:ln>
              <a:effectLst/>
            </c:spPr>
            <c:txPr>
              <a:bodyPr wrap="square" lIns="38100" tIns="19050" rIns="38100" bIns="19050" anchor="ctr">
                <a:spAutoFit/>
              </a:bodyPr>
              <a:lstStyle/>
              <a:p>
                <a:pPr>
                  <a:defRPr sz="1100" smtId="4294967295">
                    <a:solidFill>
                      <a:schemeClr val="bg1"/>
                    </a:solidFill>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cat>
            <c:multiLvlStrRef>
              <c:f>Sheet1!$A$4:$A$7</c:f>
            </c:multiLvlStrRef>
          </c:cat>
          <c:val>
            <c:numRef>
              <c:f>Sheet1!$D$16:$D$19</c:f>
              <c:numCache>
                <c:formatCode>0.0</c:formatCode>
                <c:ptCount val="4"/>
                <c:pt idx="0" formatCode="0.00">
                  <c:v>0</c:v>
                </c:pt>
                <c:pt idx="1">
                  <c:v>4</c:v>
                </c:pt>
                <c:pt idx="2">
                  <c:v>0</c:v>
                </c:pt>
                <c:pt idx="3" formatCode="0.0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69B3-4A36-AA34-57581A70656F}"/>
            </c:ext>
          </c:extLst>
        </c:ser>
        <c:ser>
          <c:idx val="10"/>
          <c:order val="1"/>
          <c:tx>
            <c:strRef>
              <c:f>Sheet1!$F$15</c:f>
              <c:strCache>
                <c:ptCount val="1"/>
                <c:pt idx="0">
                  <c:v>10th Positive Bar</c:v>
                </c:pt>
              </c:strCache>
            </c:strRef>
          </c:tx>
          <c:spPr>
            <a:noFill/>
            <a:ln>
              <a:noFill/>
            </a:ln>
          </c:spPr>
          <c:invertIfNegative val="0"/>
          <c:cat>
            <c:multiLvlStrRef>
              <c:f>Sheet1!$A$4:$A$7</c:f>
            </c:multiLvlStrRef>
          </c:cat>
          <c:val>
            <c:numRef>
              <c:f>Sheet1!$F$16:$F$19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69B3-4A36-AA34-57581A70656F}"/>
            </c:ext>
          </c:extLst>
        </c:ser>
        <c:ser>
          <c:idx val="3"/>
          <c:order val="2"/>
          <c:tx>
            <c:strRef>
              <c:f>Sheet1!$H$15</c:f>
              <c:strCache>
                <c:ptCount val="1"/>
                <c:pt idx="0">
                  <c:v>25th Positive Bar</c:v>
                </c:pt>
              </c:strCache>
            </c:strRef>
          </c:tx>
          <c:spPr>
            <a:noFill/>
          </c:spPr>
          <c:invertIfNegative val="0"/>
          <c:cat>
            <c:multiLvlStrRef>
              <c:f>Sheet1!$A$4:$A$7</c:f>
            </c:multiLvlStrRef>
          </c:cat>
          <c:val>
            <c:numRef>
              <c:f>Sheet1!$H$16:$H$19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69B3-4A36-AA34-57581A70656F}"/>
            </c:ext>
          </c:extLst>
        </c:ser>
        <c:ser>
          <c:idx val="5"/>
          <c:order val="3"/>
          <c:tx>
            <c:strRef>
              <c:f>Sheet1!$J$15</c:f>
              <c:strCache>
                <c:ptCount val="1"/>
                <c:pt idx="0">
                  <c:v>75th Positive Bar</c:v>
                </c:pt>
              </c:strCache>
            </c:strRef>
          </c:tx>
          <c:spPr>
            <a:solidFill>
              <a:srgbClr val="BFBFBF"/>
            </a:solidFill>
            <a:ln>
              <a:solidFill>
                <a:srgbClr val="BFBFBF"/>
              </a:solidFill>
            </a:ln>
          </c:spPr>
          <c:invertIfNegative val="0"/>
          <c:cat>
            <c:multiLvlStrRef>
              <c:f>Sheet1!$A$4:$A$7</c:f>
            </c:multiLvlStrRef>
          </c:cat>
          <c:val>
            <c:numRef>
              <c:f>Sheet1!$J$16:$J$19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69B3-4A36-AA34-57581A70656F}"/>
            </c:ext>
          </c:extLst>
        </c:ser>
        <c:ser>
          <c:idx val="7"/>
          <c:order val="4"/>
          <c:tx>
            <c:strRef>
              <c:f>Sheet1!$L$15</c:f>
              <c:strCache>
                <c:ptCount val="1"/>
                <c:pt idx="0">
                  <c:v>90th Positive Bar</c:v>
                </c:pt>
              </c:strCache>
            </c:strRef>
          </c:tx>
          <c:spPr>
            <a:noFill/>
          </c:spPr>
          <c:invertIfNegative val="0"/>
          <c:cat>
            <c:multiLvlStrRef>
              <c:f>Sheet1!$A$4:$A$7</c:f>
            </c:multiLvlStrRef>
          </c:cat>
          <c:val>
            <c:numRef>
              <c:f>Sheet1!$L$16:$L$19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69B3-4A36-AA34-57581A70656F}"/>
            </c:ext>
          </c:extLst>
        </c:ser>
        <c:ser>
          <c:idx val="6"/>
          <c:order val="8"/>
          <c:tx>
            <c:strRef>
              <c:f>Sheet1!$K$15</c:f>
              <c:strCache>
                <c:ptCount val="1"/>
                <c:pt idx="0">
                  <c:v>90th Negative Bar</c:v>
                </c:pt>
              </c:strCache>
            </c:strRef>
          </c:tx>
          <c:spPr>
            <a:noFill/>
          </c:spPr>
          <c:invertIfNegative val="0"/>
          <c:cat>
            <c:multiLvlStrRef>
              <c:f>Sheet1!$A$4:$A$7</c:f>
            </c:multiLvlStrRef>
          </c:cat>
          <c:val>
            <c:numRef>
              <c:f>Sheet1!$K$16:$K$19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69B3-4A36-AA34-57581A70656F}"/>
            </c:ext>
          </c:extLst>
        </c:ser>
        <c:ser>
          <c:idx val="4"/>
          <c:order val="9"/>
          <c:tx>
            <c:strRef>
              <c:f>Sheet1!$I$15</c:f>
              <c:strCache>
                <c:ptCount val="1"/>
                <c:pt idx="0">
                  <c:v>75th Negative Bar</c:v>
                </c:pt>
              </c:strCache>
            </c:strRef>
          </c:tx>
          <c:spPr>
            <a:noFill/>
          </c:spPr>
          <c:invertIfNegative val="0"/>
          <c:cat>
            <c:multiLvlStrRef>
              <c:f>Sheet1!$A$4:$A$7</c:f>
            </c:multiLvlStrRef>
          </c:cat>
          <c:val>
            <c:numRef>
              <c:f>Sheet1!$I$16:$I$19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69B3-4A36-AA34-57581A70656F}"/>
            </c:ext>
          </c:extLst>
        </c:ser>
        <c:ser>
          <c:idx val="2"/>
          <c:order val="10"/>
          <c:tx>
            <c:strRef>
              <c:f>Sheet1!$G$15</c:f>
              <c:strCache>
                <c:ptCount val="1"/>
                <c:pt idx="0">
                  <c:v>25th Negative Bar</c:v>
                </c:pt>
              </c:strCache>
            </c:strRef>
          </c:tx>
          <c:spPr>
            <a:solidFill>
              <a:srgbClr val="BFBFBF"/>
            </a:solidFill>
            <a:ln>
              <a:solidFill>
                <a:srgbClr val="BFBFBF"/>
              </a:solidFill>
            </a:ln>
          </c:spPr>
          <c:invertIfNegative val="0"/>
          <c:cat>
            <c:multiLvlStrRef>
              <c:f>Sheet1!$A$4:$A$7</c:f>
            </c:multiLvlStrRef>
          </c:cat>
          <c:val>
            <c:numRef>
              <c:f>Sheet1!$G$16:$G$19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69B3-4A36-AA34-57581A70656F}"/>
            </c:ext>
          </c:extLst>
        </c:ser>
        <c:ser>
          <c:idx val="1"/>
          <c:order val="11"/>
          <c:tx>
            <c:strRef>
              <c:f>Sheet1!$E$15</c:f>
              <c:strCache>
                <c:ptCount val="1"/>
                <c:pt idx="0">
                  <c:v>10th Negative Bar</c:v>
                </c:pt>
              </c:strCache>
            </c:strRef>
          </c:tx>
          <c:spPr>
            <a:noFill/>
          </c:spPr>
          <c:invertIfNegative val="0"/>
          <c:cat>
            <c:multiLvlStrRef>
              <c:f>Sheet1!$A$4:$A$7</c:f>
            </c:multiLvlStrRef>
          </c:cat>
          <c:val>
            <c:numRef>
              <c:f>Sheet1!$E$16:$E$19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69B3-4A36-AA34-57581A70656F}"/>
            </c:ext>
          </c:extLst>
        </c:ser>
        <c:ser>
          <c:idx val="15"/>
          <c:order val="14"/>
          <c:tx>
            <c:strRef>
              <c:f>Sheet1!$M$15</c:f>
              <c:strCache>
                <c:ptCount val="1"/>
                <c:pt idx="0">
                  <c:v>Benchmarks Omitted Bar</c:v>
                </c:pt>
              </c:strCache>
            </c:strRef>
          </c:tx>
          <c:spPr>
            <a:noFill/>
          </c:spPr>
          <c:invertIfNegative val="0"/>
          <c:cat>
            <c:multiLvlStrRef>
              <c:f>Sheet1!$A$4:$A$7</c:f>
            </c:multiLvlStrRef>
          </c:cat>
          <c:val>
            <c:numRef>
              <c:f>Sheet1!$M$16:$M$19</c:f>
              <c:numCache>
                <c:formatCode>General</c:formatCode>
                <c:ptCount val="4"/>
                <c:pt idx="0">
                  <c:v>0</c:v>
                </c:pt>
                <c:pt idx="1">
                  <c:v>0</c:v>
                </c:pt>
                <c:pt idx="2">
                  <c:v>0</c:v>
                </c:pt>
                <c:pt idx="3" formatCode="&quot;$&quot;#,##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69B3-4A36-AA34-57581A70656F}"/>
            </c:ext>
          </c:extLst>
        </c:ser>
        <c:dLbls>
          <c:showLegendKey val="0"/>
          <c:showVal val="0"/>
          <c:showCatName val="0"/>
          <c:showSerName val="0"/>
          <c:showPercent val="0"/>
          <c:showBubbleSize val="0"/>
        </c:dLbls>
        <c:gapWidth val="0"/>
        <c:overlap val="100"/>
        <c:axId val="1154865663"/>
        <c:axId val="1"/>
      </c:barChart>
      <c:scatterChart>
        <c:scatterStyle val="lineMarker"/>
        <c:varyColors val="0"/>
        <c:ser>
          <c:idx val="8"/>
          <c:order val="5"/>
          <c:tx>
            <c:strRef>
              <c:f>Sheet1!$B$9</c:f>
              <c:strCache>
                <c:ptCount val="1"/>
                <c:pt idx="0">
                  <c:v>Target Maturity</c:v>
                </c:pt>
              </c:strCache>
            </c:strRef>
          </c:tx>
          <c:marker>
            <c:symbol val="none"/>
          </c:marker>
          <c:dLbls>
            <c:dLbl>
              <c:idx val="0"/>
              <c:spPr>
                <a:solidFill>
                  <a:srgbClr val="1F96FF"/>
                </a:solidFill>
                <a:ln>
                  <a:noFill/>
                </a:ln>
                <a:effectLst/>
              </c:spPr>
              <c:txPr>
                <a:bodyPr wrap="square" lIns="38100" tIns="19050" rIns="38100" bIns="19050" anchor="ctr">
                  <a:spAutoFit/>
                </a:bodyPr>
                <a:lstStyle/>
                <a:p>
                  <a:pPr>
                    <a:defRPr sz="1100" smtId="4294967295">
                      <a:solidFill>
                        <a:srgbClr val="FFFFFF"/>
                      </a:solidFill>
                      <a:latin typeface="Roboto Medium" panose="02000000000000000000" pitchFamily="2" charset="0"/>
                      <a:ea typeface="Roboto Medium"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69B3-4A36-AA34-57581A70656F}"/>
                </c:ext>
              </c:extLst>
            </c:dLbl>
            <c:spPr>
              <a:solidFill>
                <a:srgbClr val="1F96FF"/>
              </a:solidFill>
              <a:ln>
                <a:noFill/>
              </a:ln>
              <a:effectLst/>
            </c:spPr>
            <c:txPr>
              <a:bodyPr wrap="square" lIns="38100" tIns="19050" rIns="38100" bIns="19050" anchor="ctr">
                <a:spAutoFit/>
              </a:bodyPr>
              <a:lstStyle/>
              <a:p>
                <a:pPr>
                  <a:defRPr sz="1100" smtId="4294967295">
                    <a:solidFill>
                      <a:srgbClr val="FFFFFF"/>
                    </a:solidFill>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40"/>
            <c:spPr>
              <a:ln w="25400">
                <a:solidFill>
                  <a:srgbClr val="1F96FF"/>
                </a:solidFill>
              </a:ln>
            </c:spPr>
          </c:errBars>
          <c:xVal>
            <c:numRef>
              <c:f>Sheet1!$D$9</c:f>
              <c:numCache>
                <c:formatCode>0.0</c:formatCode>
                <c:ptCount val="1"/>
                <c:pt idx="0">
                  <c:v>5</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69B3-4A36-AA34-57581A70656F}"/>
            </c:ext>
          </c:extLst>
        </c:ser>
        <c:ser>
          <c:idx val="11"/>
          <c:order val="6"/>
          <c:tx>
            <c:strRef>
              <c:f>Sheet1!$B$11</c:f>
              <c:strCache>
                <c:ptCount val="1"/>
                <c:pt idx="0">
                  <c:v>Maximum</c:v>
                </c:pt>
              </c:strCache>
            </c:strRef>
          </c:tx>
          <c:marker>
            <c:symbol val="none"/>
          </c:marker>
          <c:xVal>
            <c:numRef>
              <c:f>Sheet1!$D$11</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69B3-4A36-AA34-57581A70656F}"/>
            </c:ext>
          </c:extLst>
        </c:ser>
        <c:ser>
          <c:idx val="9"/>
          <c:order val="7"/>
          <c:tx>
            <c:strRef>
              <c:f>Sheet1!$B$8</c:f>
              <c:strCache>
                <c:ptCount val="1"/>
                <c:pt idx="0">
                  <c:v>Client</c:v>
                </c:pt>
              </c:strCache>
            </c:strRef>
          </c:tx>
          <c:marker>
            <c:symbol val="none"/>
          </c:marker>
          <c:xVal>
            <c:numRef>
              <c:f>Sheet1!$D$8</c:f>
              <c:numCache>
                <c:formatCode>0.00</c:formatCode>
                <c:ptCount val="1"/>
                <c:pt idx="0">
                  <c:v>0</c:v>
                </c:pt>
              </c:numCache>
            </c:numRef>
          </c:xVal>
          <c:yVal>
            <c:numRef>
              <c:f>Sheet1!$D$14</c:f>
              <c:numCache>
                <c:formatCode>_(* #,##0_);_(* \(#,##0\);_(* "-"??_);_(@_)</c:formatCode>
                <c:ptCount val="1"/>
                <c:pt idx="0">
                  <c:v>3</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69B3-4A36-AA34-57581A70656F}"/>
            </c:ext>
          </c:extLst>
        </c:ser>
        <c:ser>
          <c:idx val="13"/>
          <c:order val="12"/>
          <c:tx>
            <c:v>25th Scatter Label</c:v>
          </c:tx>
          <c:marker>
            <c:symbol val="none"/>
          </c:marker>
          <c:xVal>
            <c:numRef>
              <c:f>Sheet1!$D$5</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69B3-4A36-AA34-57581A70656F}"/>
            </c:ext>
          </c:extLst>
        </c:ser>
        <c:ser>
          <c:idx val="14"/>
          <c:order val="13"/>
          <c:tx>
            <c:v>75 Scatter Label</c:v>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69B3-4A36-AA34-57581A70656F}"/>
              </c:ext>
            </c:extLst>
          </c:dPt>
          <c:xVal>
            <c:numRef>
              <c:f>Sheet1!$D$6</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69B3-4A36-AA34-57581A70656F}"/>
            </c:ext>
          </c:extLst>
        </c:ser>
        <c:dLbls>
          <c:showLegendKey val="0"/>
          <c:showVal val="0"/>
          <c:showCatName val="0"/>
          <c:showSerName val="0"/>
          <c:showPercent val="0"/>
          <c:showBubbleSize val="0"/>
        </c:dLbls>
        <c:axId val="928322959"/>
        <c:axId val="928311311"/>
      </c:scatterChart>
      <c:catAx>
        <c:axId val="1154865663"/>
        <c:scaling>
          <c:orientation val="minMax"/>
        </c:scaling>
        <c:delete val="1"/>
        <c:axPos val="l"/>
        <c:numFmt formatCode="General" sourceLinked="1"/>
        <c:majorTickMark val="out"/>
        <c:minorTickMark val="none"/>
        <c:tickLblPos val="nextTo"/>
        <c:crossAx val="1"/>
        <c:crossesAt val="0"/>
        <c:auto val="0"/>
        <c:lblAlgn val="ctr"/>
        <c:lblOffset val="100"/>
        <c:noMultiLvlLbl val="1"/>
      </c:catAx>
      <c:valAx>
        <c:axId val="1"/>
        <c:scaling>
          <c:orientation val="minMax"/>
          <c:max val="5.0999999999999996"/>
          <c:min val="0"/>
        </c:scaling>
        <c:delete val="1"/>
        <c:axPos val="b"/>
        <c:numFmt formatCode="0.0" sourceLinked="0"/>
        <c:majorTickMark val="out"/>
        <c:minorTickMark val="none"/>
        <c:tickLblPos val="nextTo"/>
        <c:crossAx val="1154865663"/>
        <c:crossesAt val="1"/>
        <c:crossBetween val="between"/>
        <c:majorUnit val="1"/>
      </c:valAx>
      <c:valAx>
        <c:axId val="928322959"/>
        <c:scaling>
          <c:orientation val="minMax"/>
          <c:max val="1.6000000000000003E-3"/>
        </c:scaling>
        <c:delete val="1"/>
        <c:axPos val="b"/>
        <c:numFmt formatCode="0.0" sourceLinked="1"/>
        <c:majorTickMark val="out"/>
        <c:minorTickMark val="none"/>
        <c:tickLblPos val="nextTo"/>
        <c:crossAx val="928311311"/>
        <c:crosses val="autoZero"/>
        <c:crossBetween val="midCat"/>
      </c:valAx>
      <c:valAx>
        <c:axId val="928311311"/>
        <c:scaling>
          <c:orientation val="minMax"/>
          <c:max val="3"/>
          <c:min val="1"/>
        </c:scaling>
        <c:delete val="1"/>
        <c:axPos val="l"/>
        <c:numFmt formatCode="_(* #,##0_);_(* \(#,##0\);_(* &quot;-&quot;??_);_(@_)" sourceLinked="0"/>
        <c:majorTickMark val="out"/>
        <c:minorTickMark val="none"/>
        <c:tickLblPos val="nextTo"/>
        <c:crossAx val="928322959"/>
        <c:crosses val="autoZero"/>
        <c:crossBetween val="midCat"/>
        <c:majorUnit val="1"/>
        <c:minorUnit val="1"/>
      </c:valAx>
      <c:spPr>
        <a:noFill/>
        <a:ln>
          <a:noFill/>
        </a:ln>
      </c:spPr>
    </c:plotArea>
    <c:plotVisOnly val="1"/>
    <c:dispBlanksAs val="gap"/>
    <c:showDLblsOverMax val="0"/>
  </c:chart>
  <c:spPr>
    <a:noFill/>
    <a:ln>
      <a:noFill/>
    </a:ln>
  </c:spPr>
  <c:externalData r:id="rId2">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657136380672455E-2"/>
          <c:y val="3.0699737370014191E-2"/>
          <c:w val="0.95532488822937012"/>
          <c:h val="0.95688581466674805"/>
        </c:manualLayout>
      </c:layout>
      <c:barChart>
        <c:barDir val="bar"/>
        <c:grouping val="stacked"/>
        <c:varyColors val="0"/>
        <c:ser>
          <c:idx val="0"/>
          <c:order val="0"/>
          <c:tx>
            <c:strRef>
              <c:f>Sheet1!$D$15</c:f>
              <c:strCache>
                <c:ptCount val="1"/>
                <c:pt idx="0">
                  <c:v>Current Maturity</c:v>
                </c:pt>
              </c:strCache>
            </c:strRef>
          </c:tx>
          <c:spPr>
            <a:solidFill>
              <a:srgbClr val="002856"/>
            </a:solidFill>
            <a:ln>
              <a:solidFill>
                <a:srgbClr val="002856"/>
              </a:solidFill>
              <a:miter lim="800000"/>
            </a:ln>
          </c:spPr>
          <c:invertIfNegative val="0"/>
          <c:dLbls>
            <c:dLbl>
              <c:idx val="0"/>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DF2A-41A5-A8C3-C849003897B1}"/>
                </c:ext>
              </c:extLst>
            </c:dLbl>
            <c:dLbl>
              <c:idx val="1"/>
              <c:spPr/>
              <c:txPr>
                <a:bodyPr wrap="square" lIns="38100" tIns="19050" rIns="38100" bIns="19050" anchor="ctr">
                  <a:spAutoFit/>
                </a:bodyPr>
                <a:lstStyle/>
                <a:p>
                  <a:pPr>
                    <a:defRPr sz="1100" smtId="4294967295">
                      <a:solidFill>
                        <a:schemeClr val="bg1"/>
                      </a:solidFill>
                    </a:defRPr>
                  </a:pPr>
                  <a:endParaRPr lang="en-US"/>
                </a:p>
              </c:txPr>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DF2A-41A5-A8C3-C849003897B1}"/>
                </c:ext>
              </c:extLst>
            </c:dLbl>
            <c:dLbl>
              <c:idx val="2"/>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DF2A-41A5-A8C3-C849003897B1}"/>
                </c:ext>
              </c:extLst>
            </c:dLbl>
            <c:dLbl>
              <c:idx val="3"/>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DF2A-41A5-A8C3-C849003897B1}"/>
                </c:ext>
              </c:extLst>
            </c:dLbl>
            <c:spPr>
              <a:noFill/>
              <a:ln>
                <a:noFill/>
              </a:ln>
              <a:effectLst/>
            </c:spPr>
            <c:txPr>
              <a:bodyPr wrap="square" lIns="38100" tIns="19050" rIns="38100" bIns="19050" anchor="ctr">
                <a:spAutoFit/>
              </a:bodyPr>
              <a:lstStyle/>
              <a:p>
                <a:pPr>
                  <a:defRPr sz="1100" smtId="4294967295">
                    <a:solidFill>
                      <a:schemeClr val="bg1"/>
                    </a:solidFill>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cat>
            <c:multiLvlStrRef>
              <c:f>Sheet1!$A$4:$A$7</c:f>
            </c:multiLvlStrRef>
          </c:cat>
          <c:val>
            <c:numRef>
              <c:f>Sheet1!$D$16:$D$19</c:f>
              <c:numCache>
                <c:formatCode>0.0</c:formatCode>
                <c:ptCount val="4"/>
                <c:pt idx="0" formatCode="0.00">
                  <c:v>0</c:v>
                </c:pt>
                <c:pt idx="1">
                  <c:v>2</c:v>
                </c:pt>
                <c:pt idx="2">
                  <c:v>0</c:v>
                </c:pt>
                <c:pt idx="3" formatCode="0.0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DF2A-41A5-A8C3-C849003897B1}"/>
            </c:ext>
          </c:extLst>
        </c:ser>
        <c:ser>
          <c:idx val="10"/>
          <c:order val="1"/>
          <c:tx>
            <c:strRef>
              <c:f>Sheet1!$F$15</c:f>
              <c:strCache>
                <c:ptCount val="1"/>
                <c:pt idx="0">
                  <c:v>10th Positive Bar</c:v>
                </c:pt>
              </c:strCache>
            </c:strRef>
          </c:tx>
          <c:spPr>
            <a:noFill/>
            <a:ln>
              <a:noFill/>
            </a:ln>
          </c:spPr>
          <c:invertIfNegative val="0"/>
          <c:cat>
            <c:multiLvlStrRef>
              <c:f>Sheet1!$A$4:$A$7</c:f>
            </c:multiLvlStrRef>
          </c:cat>
          <c:val>
            <c:numRef>
              <c:f>Sheet1!$F$16:$F$19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DF2A-41A5-A8C3-C849003897B1}"/>
            </c:ext>
          </c:extLst>
        </c:ser>
        <c:ser>
          <c:idx val="3"/>
          <c:order val="2"/>
          <c:tx>
            <c:strRef>
              <c:f>Sheet1!$H$15</c:f>
              <c:strCache>
                <c:ptCount val="1"/>
                <c:pt idx="0">
                  <c:v>25th Positive Bar</c:v>
                </c:pt>
              </c:strCache>
            </c:strRef>
          </c:tx>
          <c:spPr>
            <a:noFill/>
          </c:spPr>
          <c:invertIfNegative val="0"/>
          <c:cat>
            <c:multiLvlStrRef>
              <c:f>Sheet1!$A$4:$A$7</c:f>
            </c:multiLvlStrRef>
          </c:cat>
          <c:val>
            <c:numRef>
              <c:f>Sheet1!$H$16:$H$19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DF2A-41A5-A8C3-C849003897B1}"/>
            </c:ext>
          </c:extLst>
        </c:ser>
        <c:ser>
          <c:idx val="5"/>
          <c:order val="3"/>
          <c:tx>
            <c:strRef>
              <c:f>Sheet1!$J$15</c:f>
              <c:strCache>
                <c:ptCount val="1"/>
                <c:pt idx="0">
                  <c:v>75th Positive Bar</c:v>
                </c:pt>
              </c:strCache>
            </c:strRef>
          </c:tx>
          <c:spPr>
            <a:solidFill>
              <a:srgbClr val="BFBFBF"/>
            </a:solidFill>
            <a:ln>
              <a:solidFill>
                <a:srgbClr val="BFBFBF"/>
              </a:solidFill>
            </a:ln>
          </c:spPr>
          <c:invertIfNegative val="0"/>
          <c:cat>
            <c:multiLvlStrRef>
              <c:f>Sheet1!$A$4:$A$7</c:f>
            </c:multiLvlStrRef>
          </c:cat>
          <c:val>
            <c:numRef>
              <c:f>Sheet1!$J$16:$J$19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DF2A-41A5-A8C3-C849003897B1}"/>
            </c:ext>
          </c:extLst>
        </c:ser>
        <c:ser>
          <c:idx val="7"/>
          <c:order val="4"/>
          <c:tx>
            <c:strRef>
              <c:f>Sheet1!$L$15</c:f>
              <c:strCache>
                <c:ptCount val="1"/>
                <c:pt idx="0">
                  <c:v>90th Positive Bar</c:v>
                </c:pt>
              </c:strCache>
            </c:strRef>
          </c:tx>
          <c:spPr>
            <a:noFill/>
          </c:spPr>
          <c:invertIfNegative val="0"/>
          <c:cat>
            <c:multiLvlStrRef>
              <c:f>Sheet1!$A$4:$A$7</c:f>
            </c:multiLvlStrRef>
          </c:cat>
          <c:val>
            <c:numRef>
              <c:f>Sheet1!$L$16:$L$19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DF2A-41A5-A8C3-C849003897B1}"/>
            </c:ext>
          </c:extLst>
        </c:ser>
        <c:ser>
          <c:idx val="6"/>
          <c:order val="8"/>
          <c:tx>
            <c:strRef>
              <c:f>Sheet1!$K$15</c:f>
              <c:strCache>
                <c:ptCount val="1"/>
                <c:pt idx="0">
                  <c:v>90th Negative Bar</c:v>
                </c:pt>
              </c:strCache>
            </c:strRef>
          </c:tx>
          <c:spPr>
            <a:noFill/>
          </c:spPr>
          <c:invertIfNegative val="0"/>
          <c:cat>
            <c:multiLvlStrRef>
              <c:f>Sheet1!$A$4:$A$7</c:f>
            </c:multiLvlStrRef>
          </c:cat>
          <c:val>
            <c:numRef>
              <c:f>Sheet1!$K$16:$K$19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DF2A-41A5-A8C3-C849003897B1}"/>
            </c:ext>
          </c:extLst>
        </c:ser>
        <c:ser>
          <c:idx val="4"/>
          <c:order val="9"/>
          <c:tx>
            <c:strRef>
              <c:f>Sheet1!$I$15</c:f>
              <c:strCache>
                <c:ptCount val="1"/>
                <c:pt idx="0">
                  <c:v>75th Negative Bar</c:v>
                </c:pt>
              </c:strCache>
            </c:strRef>
          </c:tx>
          <c:spPr>
            <a:noFill/>
          </c:spPr>
          <c:invertIfNegative val="0"/>
          <c:cat>
            <c:multiLvlStrRef>
              <c:f>Sheet1!$A$4:$A$7</c:f>
            </c:multiLvlStrRef>
          </c:cat>
          <c:val>
            <c:numRef>
              <c:f>Sheet1!$I$16:$I$19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DF2A-41A5-A8C3-C849003897B1}"/>
            </c:ext>
          </c:extLst>
        </c:ser>
        <c:ser>
          <c:idx val="2"/>
          <c:order val="10"/>
          <c:tx>
            <c:strRef>
              <c:f>Sheet1!$G$15</c:f>
              <c:strCache>
                <c:ptCount val="1"/>
                <c:pt idx="0">
                  <c:v>25th Negative Bar</c:v>
                </c:pt>
              </c:strCache>
            </c:strRef>
          </c:tx>
          <c:spPr>
            <a:solidFill>
              <a:srgbClr val="BFBFBF"/>
            </a:solidFill>
            <a:ln>
              <a:solidFill>
                <a:srgbClr val="BFBFBF"/>
              </a:solidFill>
            </a:ln>
          </c:spPr>
          <c:invertIfNegative val="0"/>
          <c:cat>
            <c:multiLvlStrRef>
              <c:f>Sheet1!$A$4:$A$7</c:f>
            </c:multiLvlStrRef>
          </c:cat>
          <c:val>
            <c:numRef>
              <c:f>Sheet1!$G$16:$G$19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DF2A-41A5-A8C3-C849003897B1}"/>
            </c:ext>
          </c:extLst>
        </c:ser>
        <c:ser>
          <c:idx val="1"/>
          <c:order val="11"/>
          <c:tx>
            <c:strRef>
              <c:f>Sheet1!$E$15</c:f>
              <c:strCache>
                <c:ptCount val="1"/>
                <c:pt idx="0">
                  <c:v>10th Negative Bar</c:v>
                </c:pt>
              </c:strCache>
            </c:strRef>
          </c:tx>
          <c:spPr>
            <a:noFill/>
          </c:spPr>
          <c:invertIfNegative val="0"/>
          <c:cat>
            <c:multiLvlStrRef>
              <c:f>Sheet1!$A$4:$A$7</c:f>
            </c:multiLvlStrRef>
          </c:cat>
          <c:val>
            <c:numRef>
              <c:f>Sheet1!$E$16:$E$19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DF2A-41A5-A8C3-C849003897B1}"/>
            </c:ext>
          </c:extLst>
        </c:ser>
        <c:ser>
          <c:idx val="15"/>
          <c:order val="14"/>
          <c:tx>
            <c:strRef>
              <c:f>Sheet1!$M$15</c:f>
              <c:strCache>
                <c:ptCount val="1"/>
                <c:pt idx="0">
                  <c:v>Benchmarks Omitted Bar</c:v>
                </c:pt>
              </c:strCache>
            </c:strRef>
          </c:tx>
          <c:spPr>
            <a:noFill/>
          </c:spPr>
          <c:invertIfNegative val="0"/>
          <c:cat>
            <c:multiLvlStrRef>
              <c:f>Sheet1!$A$4:$A$7</c:f>
            </c:multiLvlStrRef>
          </c:cat>
          <c:val>
            <c:numRef>
              <c:f>Sheet1!$M$16:$M$19</c:f>
              <c:numCache>
                <c:formatCode>General</c:formatCode>
                <c:ptCount val="4"/>
                <c:pt idx="0">
                  <c:v>0</c:v>
                </c:pt>
                <c:pt idx="1">
                  <c:v>0</c:v>
                </c:pt>
                <c:pt idx="2">
                  <c:v>0</c:v>
                </c:pt>
                <c:pt idx="3" formatCode="&quot;$&quot;#,##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DF2A-41A5-A8C3-C849003897B1}"/>
            </c:ext>
          </c:extLst>
        </c:ser>
        <c:dLbls>
          <c:showLegendKey val="0"/>
          <c:showVal val="0"/>
          <c:showCatName val="0"/>
          <c:showSerName val="0"/>
          <c:showPercent val="0"/>
          <c:showBubbleSize val="0"/>
        </c:dLbls>
        <c:gapWidth val="0"/>
        <c:overlap val="100"/>
        <c:axId val="1154865663"/>
        <c:axId val="1"/>
      </c:barChart>
      <c:scatterChart>
        <c:scatterStyle val="lineMarker"/>
        <c:varyColors val="0"/>
        <c:ser>
          <c:idx val="8"/>
          <c:order val="5"/>
          <c:tx>
            <c:strRef>
              <c:f>Sheet1!$B$9</c:f>
              <c:strCache>
                <c:ptCount val="1"/>
                <c:pt idx="0">
                  <c:v>Target Maturity</c:v>
                </c:pt>
              </c:strCache>
            </c:strRef>
          </c:tx>
          <c:marker>
            <c:symbol val="none"/>
          </c:marker>
          <c:dLbls>
            <c:dLbl>
              <c:idx val="0"/>
              <c:spPr>
                <a:solidFill>
                  <a:srgbClr val="1F96FF"/>
                </a:solidFill>
                <a:ln>
                  <a:noFill/>
                </a:ln>
                <a:effectLst/>
              </c:spPr>
              <c:txPr>
                <a:bodyPr wrap="square" lIns="38100" tIns="19050" rIns="38100" bIns="19050" anchor="ctr">
                  <a:spAutoFit/>
                </a:bodyPr>
                <a:lstStyle/>
                <a:p>
                  <a:pPr>
                    <a:defRPr sz="1100" smtId="4294967295">
                      <a:solidFill>
                        <a:srgbClr val="FFFFFF"/>
                      </a:solidFill>
                      <a:latin typeface="Roboto Medium" panose="02000000000000000000" pitchFamily="2" charset="0"/>
                      <a:ea typeface="Roboto Medium"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DF2A-41A5-A8C3-C849003897B1}"/>
                </c:ext>
              </c:extLst>
            </c:dLbl>
            <c:spPr>
              <a:solidFill>
                <a:srgbClr val="1F96FF"/>
              </a:solidFill>
              <a:ln>
                <a:noFill/>
              </a:ln>
              <a:effectLst/>
            </c:spPr>
            <c:txPr>
              <a:bodyPr wrap="square" lIns="38100" tIns="19050" rIns="38100" bIns="19050" anchor="ctr">
                <a:spAutoFit/>
              </a:bodyPr>
              <a:lstStyle/>
              <a:p>
                <a:pPr>
                  <a:defRPr sz="1100" smtId="4294967295">
                    <a:solidFill>
                      <a:srgbClr val="FFFFFF"/>
                    </a:solidFill>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40"/>
            <c:spPr>
              <a:ln w="25400">
                <a:solidFill>
                  <a:srgbClr val="1F96FF"/>
                </a:solidFill>
              </a:ln>
            </c:spPr>
          </c:errBars>
          <c:xVal>
            <c:numRef>
              <c:f>Sheet1!$D$9</c:f>
              <c:numCache>
                <c:formatCode>0.0</c:formatCode>
                <c:ptCount val="1"/>
                <c:pt idx="0">
                  <c:v>3</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DF2A-41A5-A8C3-C849003897B1}"/>
            </c:ext>
          </c:extLst>
        </c:ser>
        <c:ser>
          <c:idx val="11"/>
          <c:order val="6"/>
          <c:tx>
            <c:strRef>
              <c:f>Sheet1!$B$11</c:f>
              <c:strCache>
                <c:ptCount val="1"/>
                <c:pt idx="0">
                  <c:v>Maximum</c:v>
                </c:pt>
              </c:strCache>
            </c:strRef>
          </c:tx>
          <c:marker>
            <c:symbol val="none"/>
          </c:marker>
          <c:xVal>
            <c:numRef>
              <c:f>Sheet1!$D$11</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DF2A-41A5-A8C3-C849003897B1}"/>
            </c:ext>
          </c:extLst>
        </c:ser>
        <c:ser>
          <c:idx val="9"/>
          <c:order val="7"/>
          <c:tx>
            <c:strRef>
              <c:f>Sheet1!$B$8</c:f>
              <c:strCache>
                <c:ptCount val="1"/>
                <c:pt idx="0">
                  <c:v>Client</c:v>
                </c:pt>
              </c:strCache>
            </c:strRef>
          </c:tx>
          <c:marker>
            <c:symbol val="none"/>
          </c:marker>
          <c:xVal>
            <c:numRef>
              <c:f>Sheet1!$D$8</c:f>
              <c:numCache>
                <c:formatCode>0.00</c:formatCode>
                <c:ptCount val="1"/>
                <c:pt idx="0">
                  <c:v>0</c:v>
                </c:pt>
              </c:numCache>
            </c:numRef>
          </c:xVal>
          <c:yVal>
            <c:numRef>
              <c:f>Sheet1!$D$14</c:f>
              <c:numCache>
                <c:formatCode>_(* #,##0_);_(* \(#,##0\);_(* "-"??_);_(@_)</c:formatCode>
                <c:ptCount val="1"/>
                <c:pt idx="0">
                  <c:v>3</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DF2A-41A5-A8C3-C849003897B1}"/>
            </c:ext>
          </c:extLst>
        </c:ser>
        <c:ser>
          <c:idx val="13"/>
          <c:order val="12"/>
          <c:tx>
            <c:v>25th Scatter Label</c:v>
          </c:tx>
          <c:marker>
            <c:symbol val="none"/>
          </c:marker>
          <c:xVal>
            <c:numRef>
              <c:f>Sheet1!$D$5</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DF2A-41A5-A8C3-C849003897B1}"/>
            </c:ext>
          </c:extLst>
        </c:ser>
        <c:ser>
          <c:idx val="14"/>
          <c:order val="13"/>
          <c:tx>
            <c:v>75 Scatter Label</c:v>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DF2A-41A5-A8C3-C849003897B1}"/>
              </c:ext>
            </c:extLst>
          </c:dPt>
          <c:xVal>
            <c:numRef>
              <c:f>Sheet1!$D$6</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DF2A-41A5-A8C3-C849003897B1}"/>
            </c:ext>
          </c:extLst>
        </c:ser>
        <c:dLbls>
          <c:showLegendKey val="0"/>
          <c:showVal val="0"/>
          <c:showCatName val="0"/>
          <c:showSerName val="0"/>
          <c:showPercent val="0"/>
          <c:showBubbleSize val="0"/>
        </c:dLbls>
        <c:axId val="928322959"/>
        <c:axId val="928311311"/>
      </c:scatterChart>
      <c:catAx>
        <c:axId val="1154865663"/>
        <c:scaling>
          <c:orientation val="minMax"/>
        </c:scaling>
        <c:delete val="1"/>
        <c:axPos val="l"/>
        <c:numFmt formatCode="General" sourceLinked="1"/>
        <c:majorTickMark val="out"/>
        <c:minorTickMark val="none"/>
        <c:tickLblPos val="nextTo"/>
        <c:crossAx val="1"/>
        <c:crossesAt val="0"/>
        <c:auto val="0"/>
        <c:lblAlgn val="ctr"/>
        <c:lblOffset val="100"/>
        <c:noMultiLvlLbl val="1"/>
      </c:catAx>
      <c:valAx>
        <c:axId val="1"/>
        <c:scaling>
          <c:orientation val="minMax"/>
          <c:max val="5.0999999999999996"/>
          <c:min val="0"/>
        </c:scaling>
        <c:delete val="1"/>
        <c:axPos val="b"/>
        <c:numFmt formatCode="0.0" sourceLinked="0"/>
        <c:majorTickMark val="out"/>
        <c:minorTickMark val="none"/>
        <c:tickLblPos val="nextTo"/>
        <c:crossAx val="1154865663"/>
        <c:crossesAt val="1"/>
        <c:crossBetween val="between"/>
        <c:majorUnit val="1"/>
      </c:valAx>
      <c:valAx>
        <c:axId val="928322959"/>
        <c:scaling>
          <c:orientation val="minMax"/>
          <c:max val="1.6000000000000003E-3"/>
        </c:scaling>
        <c:delete val="1"/>
        <c:axPos val="b"/>
        <c:numFmt formatCode="0.0" sourceLinked="1"/>
        <c:majorTickMark val="out"/>
        <c:minorTickMark val="none"/>
        <c:tickLblPos val="nextTo"/>
        <c:crossAx val="928311311"/>
        <c:crosses val="autoZero"/>
        <c:crossBetween val="midCat"/>
      </c:valAx>
      <c:valAx>
        <c:axId val="928311311"/>
        <c:scaling>
          <c:orientation val="minMax"/>
          <c:max val="3"/>
          <c:min val="1"/>
        </c:scaling>
        <c:delete val="1"/>
        <c:axPos val="l"/>
        <c:numFmt formatCode="_(* #,##0_);_(* \(#,##0\);_(* &quot;-&quot;??_);_(@_)" sourceLinked="0"/>
        <c:majorTickMark val="out"/>
        <c:minorTickMark val="none"/>
        <c:tickLblPos val="nextTo"/>
        <c:crossAx val="928322959"/>
        <c:crosses val="autoZero"/>
        <c:crossBetween val="midCat"/>
        <c:majorUnit val="1"/>
        <c:minorUnit val="1"/>
      </c:valAx>
      <c:spPr>
        <a:noFill/>
        <a:ln>
          <a:noFill/>
        </a:ln>
      </c:spPr>
    </c:plotArea>
    <c:plotVisOnly val="1"/>
    <c:dispBlanksAs val="gap"/>
    <c:showDLblsOverMax val="0"/>
  </c:chart>
  <c:spPr>
    <a:noFill/>
    <a:ln>
      <a:noFill/>
    </a:ln>
  </c:spPr>
  <c:externalData r:id="rId2">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764448955655098E-2"/>
          <c:y val="4.3114185333251953E-2"/>
          <c:w val="0.95532488822937012"/>
          <c:h val="0.95688581466674805"/>
        </c:manualLayout>
      </c:layout>
      <c:barChart>
        <c:barDir val="bar"/>
        <c:grouping val="stacked"/>
        <c:varyColors val="0"/>
        <c:ser>
          <c:idx val="0"/>
          <c:order val="0"/>
          <c:tx>
            <c:strRef>
              <c:f>Sheet1!$D$15</c:f>
              <c:strCache>
                <c:ptCount val="1"/>
                <c:pt idx="0">
                  <c:v>Current Maturity</c:v>
                </c:pt>
              </c:strCache>
            </c:strRef>
          </c:tx>
          <c:spPr>
            <a:solidFill>
              <a:srgbClr val="002856"/>
            </a:solidFill>
            <a:ln>
              <a:solidFill>
                <a:srgbClr val="002856"/>
              </a:solidFill>
              <a:miter lim="800000"/>
            </a:ln>
          </c:spPr>
          <c:invertIfNegative val="0"/>
          <c:dLbls>
            <c:dLbl>
              <c:idx val="0"/>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22A9-408E-83BF-FA300C9F3321}"/>
                </c:ext>
              </c:extLst>
            </c:dLbl>
            <c:dLbl>
              <c:idx val="1"/>
              <c:spPr/>
              <c:txPr>
                <a:bodyPr wrap="square" lIns="38100" tIns="19050" rIns="38100" bIns="19050" anchor="ctr">
                  <a:spAutoFit/>
                </a:bodyPr>
                <a:lstStyle/>
                <a:p>
                  <a:pPr>
                    <a:defRPr sz="1100" smtId="4294967295">
                      <a:solidFill>
                        <a:schemeClr val="bg1"/>
                      </a:solidFill>
                    </a:defRPr>
                  </a:pPr>
                  <a:endParaRPr lang="en-US"/>
                </a:p>
              </c:txPr>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22A9-408E-83BF-FA300C9F3321}"/>
                </c:ext>
              </c:extLst>
            </c:dLbl>
            <c:dLbl>
              <c:idx val="2"/>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22A9-408E-83BF-FA300C9F3321}"/>
                </c:ext>
              </c:extLst>
            </c:dLbl>
            <c:dLbl>
              <c:idx val="3"/>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22A9-408E-83BF-FA300C9F3321}"/>
                </c:ext>
              </c:extLst>
            </c:dLbl>
            <c:spPr>
              <a:noFill/>
              <a:ln>
                <a:noFill/>
              </a:ln>
              <a:effectLst/>
            </c:spPr>
            <c:txPr>
              <a:bodyPr wrap="square" lIns="38100" tIns="19050" rIns="38100" bIns="19050" anchor="ctr">
                <a:spAutoFit/>
              </a:bodyPr>
              <a:lstStyle/>
              <a:p>
                <a:pPr>
                  <a:defRPr sz="1100" smtId="4294967295">
                    <a:solidFill>
                      <a:schemeClr val="bg1"/>
                    </a:solidFill>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cat>
            <c:multiLvlStrRef>
              <c:f>Sheet1!$A$4:$A$7</c:f>
            </c:multiLvlStrRef>
          </c:cat>
          <c:val>
            <c:numRef>
              <c:f>Sheet1!$D$16:$D$19</c:f>
              <c:numCache>
                <c:formatCode>0.0</c:formatCode>
                <c:ptCount val="4"/>
                <c:pt idx="0" formatCode="0.00">
                  <c:v>0</c:v>
                </c:pt>
                <c:pt idx="1">
                  <c:v>3</c:v>
                </c:pt>
                <c:pt idx="2">
                  <c:v>0</c:v>
                </c:pt>
                <c:pt idx="3" formatCode="0.0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22A9-408E-83BF-FA300C9F3321}"/>
            </c:ext>
          </c:extLst>
        </c:ser>
        <c:ser>
          <c:idx val="10"/>
          <c:order val="1"/>
          <c:tx>
            <c:strRef>
              <c:f>Sheet1!$F$15</c:f>
              <c:strCache>
                <c:ptCount val="1"/>
                <c:pt idx="0">
                  <c:v>10th Positive Bar</c:v>
                </c:pt>
              </c:strCache>
            </c:strRef>
          </c:tx>
          <c:spPr>
            <a:noFill/>
            <a:ln>
              <a:noFill/>
            </a:ln>
          </c:spPr>
          <c:invertIfNegative val="0"/>
          <c:cat>
            <c:multiLvlStrRef>
              <c:f>Sheet1!$A$4:$A$7</c:f>
            </c:multiLvlStrRef>
          </c:cat>
          <c:val>
            <c:numRef>
              <c:f>Sheet1!$F$16:$F$19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22A9-408E-83BF-FA300C9F3321}"/>
            </c:ext>
          </c:extLst>
        </c:ser>
        <c:ser>
          <c:idx val="3"/>
          <c:order val="2"/>
          <c:tx>
            <c:strRef>
              <c:f>Sheet1!$H$15</c:f>
              <c:strCache>
                <c:ptCount val="1"/>
                <c:pt idx="0">
                  <c:v>25th Positive Bar</c:v>
                </c:pt>
              </c:strCache>
            </c:strRef>
          </c:tx>
          <c:spPr>
            <a:noFill/>
          </c:spPr>
          <c:invertIfNegative val="0"/>
          <c:cat>
            <c:multiLvlStrRef>
              <c:f>Sheet1!$A$4:$A$7</c:f>
            </c:multiLvlStrRef>
          </c:cat>
          <c:val>
            <c:numRef>
              <c:f>Sheet1!$H$16:$H$19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22A9-408E-83BF-FA300C9F3321}"/>
            </c:ext>
          </c:extLst>
        </c:ser>
        <c:ser>
          <c:idx val="5"/>
          <c:order val="3"/>
          <c:tx>
            <c:strRef>
              <c:f>Sheet1!$J$15</c:f>
              <c:strCache>
                <c:ptCount val="1"/>
                <c:pt idx="0">
                  <c:v>75th Positive Bar</c:v>
                </c:pt>
              </c:strCache>
            </c:strRef>
          </c:tx>
          <c:spPr>
            <a:solidFill>
              <a:srgbClr val="BFBFBF"/>
            </a:solidFill>
            <a:ln>
              <a:solidFill>
                <a:srgbClr val="BFBFBF"/>
              </a:solidFill>
            </a:ln>
          </c:spPr>
          <c:invertIfNegative val="0"/>
          <c:cat>
            <c:multiLvlStrRef>
              <c:f>Sheet1!$A$4:$A$7</c:f>
            </c:multiLvlStrRef>
          </c:cat>
          <c:val>
            <c:numRef>
              <c:f>Sheet1!$J$16:$J$19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22A9-408E-83BF-FA300C9F3321}"/>
            </c:ext>
          </c:extLst>
        </c:ser>
        <c:ser>
          <c:idx val="7"/>
          <c:order val="4"/>
          <c:tx>
            <c:strRef>
              <c:f>Sheet1!$L$15</c:f>
              <c:strCache>
                <c:ptCount val="1"/>
                <c:pt idx="0">
                  <c:v>90th Positive Bar</c:v>
                </c:pt>
              </c:strCache>
            </c:strRef>
          </c:tx>
          <c:spPr>
            <a:noFill/>
          </c:spPr>
          <c:invertIfNegative val="0"/>
          <c:cat>
            <c:multiLvlStrRef>
              <c:f>Sheet1!$A$4:$A$7</c:f>
            </c:multiLvlStrRef>
          </c:cat>
          <c:val>
            <c:numRef>
              <c:f>Sheet1!$L$16:$L$19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22A9-408E-83BF-FA300C9F3321}"/>
            </c:ext>
          </c:extLst>
        </c:ser>
        <c:ser>
          <c:idx val="6"/>
          <c:order val="8"/>
          <c:tx>
            <c:strRef>
              <c:f>Sheet1!$K$15</c:f>
              <c:strCache>
                <c:ptCount val="1"/>
                <c:pt idx="0">
                  <c:v>90th Negative Bar</c:v>
                </c:pt>
              </c:strCache>
            </c:strRef>
          </c:tx>
          <c:spPr>
            <a:noFill/>
          </c:spPr>
          <c:invertIfNegative val="0"/>
          <c:cat>
            <c:multiLvlStrRef>
              <c:f>Sheet1!$A$4:$A$7</c:f>
            </c:multiLvlStrRef>
          </c:cat>
          <c:val>
            <c:numRef>
              <c:f>Sheet1!$K$16:$K$19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22A9-408E-83BF-FA300C9F3321}"/>
            </c:ext>
          </c:extLst>
        </c:ser>
        <c:ser>
          <c:idx val="4"/>
          <c:order val="9"/>
          <c:tx>
            <c:strRef>
              <c:f>Sheet1!$I$15</c:f>
              <c:strCache>
                <c:ptCount val="1"/>
                <c:pt idx="0">
                  <c:v>75th Negative Bar</c:v>
                </c:pt>
              </c:strCache>
            </c:strRef>
          </c:tx>
          <c:spPr>
            <a:noFill/>
          </c:spPr>
          <c:invertIfNegative val="0"/>
          <c:cat>
            <c:multiLvlStrRef>
              <c:f>Sheet1!$A$4:$A$7</c:f>
            </c:multiLvlStrRef>
          </c:cat>
          <c:val>
            <c:numRef>
              <c:f>Sheet1!$I$16:$I$19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22A9-408E-83BF-FA300C9F3321}"/>
            </c:ext>
          </c:extLst>
        </c:ser>
        <c:ser>
          <c:idx val="2"/>
          <c:order val="10"/>
          <c:tx>
            <c:strRef>
              <c:f>Sheet1!$G$15</c:f>
              <c:strCache>
                <c:ptCount val="1"/>
                <c:pt idx="0">
                  <c:v>25th Negative Bar</c:v>
                </c:pt>
              </c:strCache>
            </c:strRef>
          </c:tx>
          <c:spPr>
            <a:solidFill>
              <a:srgbClr val="BFBFBF"/>
            </a:solidFill>
            <a:ln>
              <a:solidFill>
                <a:srgbClr val="BFBFBF"/>
              </a:solidFill>
            </a:ln>
          </c:spPr>
          <c:invertIfNegative val="0"/>
          <c:cat>
            <c:multiLvlStrRef>
              <c:f>Sheet1!$A$4:$A$7</c:f>
            </c:multiLvlStrRef>
          </c:cat>
          <c:val>
            <c:numRef>
              <c:f>Sheet1!$G$16:$G$19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22A9-408E-83BF-FA300C9F3321}"/>
            </c:ext>
          </c:extLst>
        </c:ser>
        <c:ser>
          <c:idx val="1"/>
          <c:order val="11"/>
          <c:tx>
            <c:strRef>
              <c:f>Sheet1!$E$15</c:f>
              <c:strCache>
                <c:ptCount val="1"/>
                <c:pt idx="0">
                  <c:v>10th Negative Bar</c:v>
                </c:pt>
              </c:strCache>
            </c:strRef>
          </c:tx>
          <c:spPr>
            <a:noFill/>
          </c:spPr>
          <c:invertIfNegative val="0"/>
          <c:cat>
            <c:multiLvlStrRef>
              <c:f>Sheet1!$A$4:$A$7</c:f>
            </c:multiLvlStrRef>
          </c:cat>
          <c:val>
            <c:numRef>
              <c:f>Sheet1!$E$16:$E$19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22A9-408E-83BF-FA300C9F3321}"/>
            </c:ext>
          </c:extLst>
        </c:ser>
        <c:ser>
          <c:idx val="15"/>
          <c:order val="14"/>
          <c:tx>
            <c:strRef>
              <c:f>Sheet1!$M$15</c:f>
              <c:strCache>
                <c:ptCount val="1"/>
                <c:pt idx="0">
                  <c:v>Benchmarks Omitted Bar</c:v>
                </c:pt>
              </c:strCache>
            </c:strRef>
          </c:tx>
          <c:spPr>
            <a:noFill/>
          </c:spPr>
          <c:invertIfNegative val="0"/>
          <c:cat>
            <c:multiLvlStrRef>
              <c:f>Sheet1!$A$4:$A$7</c:f>
            </c:multiLvlStrRef>
          </c:cat>
          <c:val>
            <c:numRef>
              <c:f>Sheet1!$M$16:$M$19</c:f>
              <c:numCache>
                <c:formatCode>General</c:formatCode>
                <c:ptCount val="4"/>
                <c:pt idx="0">
                  <c:v>0</c:v>
                </c:pt>
                <c:pt idx="1">
                  <c:v>0</c:v>
                </c:pt>
                <c:pt idx="2">
                  <c:v>0</c:v>
                </c:pt>
                <c:pt idx="3" formatCode="&quot;$&quot;#,##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22A9-408E-83BF-FA300C9F3321}"/>
            </c:ext>
          </c:extLst>
        </c:ser>
        <c:dLbls>
          <c:showLegendKey val="0"/>
          <c:showVal val="0"/>
          <c:showCatName val="0"/>
          <c:showSerName val="0"/>
          <c:showPercent val="0"/>
          <c:showBubbleSize val="0"/>
        </c:dLbls>
        <c:gapWidth val="0"/>
        <c:overlap val="100"/>
        <c:axId val="1154865663"/>
        <c:axId val="1"/>
      </c:barChart>
      <c:scatterChart>
        <c:scatterStyle val="lineMarker"/>
        <c:varyColors val="0"/>
        <c:ser>
          <c:idx val="8"/>
          <c:order val="5"/>
          <c:tx>
            <c:strRef>
              <c:f>Sheet1!$B$9</c:f>
              <c:strCache>
                <c:ptCount val="1"/>
                <c:pt idx="0">
                  <c:v>Target Maturity</c:v>
                </c:pt>
              </c:strCache>
            </c:strRef>
          </c:tx>
          <c:marker>
            <c:symbol val="none"/>
          </c:marker>
          <c:dLbls>
            <c:dLbl>
              <c:idx val="0"/>
              <c:spPr>
                <a:solidFill>
                  <a:srgbClr val="1F96FF"/>
                </a:solidFill>
                <a:ln>
                  <a:noFill/>
                </a:ln>
                <a:effectLst/>
              </c:spPr>
              <c:txPr>
                <a:bodyPr wrap="square" lIns="38100" tIns="19050" rIns="38100" bIns="19050" anchor="ctr">
                  <a:spAutoFit/>
                </a:bodyPr>
                <a:lstStyle/>
                <a:p>
                  <a:pPr>
                    <a:defRPr sz="1100" smtId="4294967295">
                      <a:solidFill>
                        <a:srgbClr val="FFFFFF"/>
                      </a:solidFill>
                      <a:latin typeface="Roboto Medium" panose="02000000000000000000" pitchFamily="2" charset="0"/>
                      <a:ea typeface="Roboto Medium"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22A9-408E-83BF-FA300C9F3321}"/>
                </c:ext>
              </c:extLst>
            </c:dLbl>
            <c:spPr>
              <a:solidFill>
                <a:srgbClr val="1F96FF"/>
              </a:solidFill>
              <a:ln>
                <a:noFill/>
              </a:ln>
              <a:effectLst/>
            </c:spPr>
            <c:txPr>
              <a:bodyPr wrap="square" lIns="38100" tIns="19050" rIns="38100" bIns="19050" anchor="ctr">
                <a:spAutoFit/>
              </a:bodyPr>
              <a:lstStyle/>
              <a:p>
                <a:pPr>
                  <a:defRPr sz="1100" smtId="4294967295">
                    <a:solidFill>
                      <a:srgbClr val="FFFFFF"/>
                    </a:solidFill>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40"/>
            <c:spPr>
              <a:ln w="25400">
                <a:solidFill>
                  <a:srgbClr val="1F96FF"/>
                </a:solidFill>
              </a:ln>
            </c:spPr>
          </c:errBars>
          <c:xVal>
            <c:numRef>
              <c:f>Sheet1!$D$9</c:f>
              <c:numCache>
                <c:formatCode>0.0</c:formatCode>
                <c:ptCount val="1"/>
                <c:pt idx="0">
                  <c:v>4</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22A9-408E-83BF-FA300C9F3321}"/>
            </c:ext>
          </c:extLst>
        </c:ser>
        <c:ser>
          <c:idx val="11"/>
          <c:order val="6"/>
          <c:tx>
            <c:strRef>
              <c:f>Sheet1!$B$11</c:f>
              <c:strCache>
                <c:ptCount val="1"/>
                <c:pt idx="0">
                  <c:v>Maximum</c:v>
                </c:pt>
              </c:strCache>
            </c:strRef>
          </c:tx>
          <c:marker>
            <c:symbol val="none"/>
          </c:marker>
          <c:xVal>
            <c:numRef>
              <c:f>Sheet1!$D$11</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22A9-408E-83BF-FA300C9F3321}"/>
            </c:ext>
          </c:extLst>
        </c:ser>
        <c:ser>
          <c:idx val="9"/>
          <c:order val="7"/>
          <c:tx>
            <c:strRef>
              <c:f>Sheet1!$B$8</c:f>
              <c:strCache>
                <c:ptCount val="1"/>
                <c:pt idx="0">
                  <c:v>Client</c:v>
                </c:pt>
              </c:strCache>
            </c:strRef>
          </c:tx>
          <c:marker>
            <c:symbol val="none"/>
          </c:marker>
          <c:xVal>
            <c:numRef>
              <c:f>Sheet1!$D$8</c:f>
              <c:numCache>
                <c:formatCode>0.00</c:formatCode>
                <c:ptCount val="1"/>
                <c:pt idx="0">
                  <c:v>0</c:v>
                </c:pt>
              </c:numCache>
            </c:numRef>
          </c:xVal>
          <c:yVal>
            <c:numRef>
              <c:f>Sheet1!$D$14</c:f>
              <c:numCache>
                <c:formatCode>_(* #,##0_);_(* \(#,##0\);_(* "-"??_);_(@_)</c:formatCode>
                <c:ptCount val="1"/>
                <c:pt idx="0">
                  <c:v>3</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22A9-408E-83BF-FA300C9F3321}"/>
            </c:ext>
          </c:extLst>
        </c:ser>
        <c:ser>
          <c:idx val="13"/>
          <c:order val="12"/>
          <c:tx>
            <c:v>25th Scatter Label</c:v>
          </c:tx>
          <c:marker>
            <c:symbol val="none"/>
          </c:marker>
          <c:xVal>
            <c:numRef>
              <c:f>Sheet1!$D$5</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22A9-408E-83BF-FA300C9F3321}"/>
            </c:ext>
          </c:extLst>
        </c:ser>
        <c:ser>
          <c:idx val="14"/>
          <c:order val="13"/>
          <c:tx>
            <c:v>75 Scatter Label</c:v>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22A9-408E-83BF-FA300C9F3321}"/>
              </c:ext>
            </c:extLst>
          </c:dPt>
          <c:xVal>
            <c:numRef>
              <c:f>Sheet1!$D$6</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22A9-408E-83BF-FA300C9F3321}"/>
            </c:ext>
          </c:extLst>
        </c:ser>
        <c:dLbls>
          <c:showLegendKey val="0"/>
          <c:showVal val="0"/>
          <c:showCatName val="0"/>
          <c:showSerName val="0"/>
          <c:showPercent val="0"/>
          <c:showBubbleSize val="0"/>
        </c:dLbls>
        <c:axId val="928322959"/>
        <c:axId val="928311311"/>
      </c:scatterChart>
      <c:catAx>
        <c:axId val="1154865663"/>
        <c:scaling>
          <c:orientation val="minMax"/>
        </c:scaling>
        <c:delete val="1"/>
        <c:axPos val="l"/>
        <c:numFmt formatCode="General" sourceLinked="1"/>
        <c:majorTickMark val="out"/>
        <c:minorTickMark val="none"/>
        <c:tickLblPos val="nextTo"/>
        <c:crossAx val="1"/>
        <c:crossesAt val="0"/>
        <c:auto val="0"/>
        <c:lblAlgn val="ctr"/>
        <c:lblOffset val="100"/>
        <c:noMultiLvlLbl val="1"/>
      </c:catAx>
      <c:valAx>
        <c:axId val="1"/>
        <c:scaling>
          <c:orientation val="minMax"/>
          <c:max val="5.0999999999999996"/>
          <c:min val="0"/>
        </c:scaling>
        <c:delete val="1"/>
        <c:axPos val="b"/>
        <c:numFmt formatCode="0.0" sourceLinked="0"/>
        <c:majorTickMark val="out"/>
        <c:minorTickMark val="none"/>
        <c:tickLblPos val="nextTo"/>
        <c:crossAx val="1154865663"/>
        <c:crossesAt val="1"/>
        <c:crossBetween val="between"/>
        <c:majorUnit val="1"/>
      </c:valAx>
      <c:valAx>
        <c:axId val="928322959"/>
        <c:scaling>
          <c:orientation val="minMax"/>
          <c:max val="1.6000000000000003E-3"/>
        </c:scaling>
        <c:delete val="1"/>
        <c:axPos val="b"/>
        <c:numFmt formatCode="0.0" sourceLinked="1"/>
        <c:majorTickMark val="out"/>
        <c:minorTickMark val="none"/>
        <c:tickLblPos val="nextTo"/>
        <c:crossAx val="928311311"/>
        <c:crosses val="autoZero"/>
        <c:crossBetween val="midCat"/>
      </c:valAx>
      <c:valAx>
        <c:axId val="928311311"/>
        <c:scaling>
          <c:orientation val="minMax"/>
          <c:max val="3"/>
          <c:min val="1"/>
        </c:scaling>
        <c:delete val="1"/>
        <c:axPos val="l"/>
        <c:numFmt formatCode="_(* #,##0_);_(* \(#,##0\);_(* &quot;-&quot;??_);_(@_)" sourceLinked="0"/>
        <c:majorTickMark val="out"/>
        <c:minorTickMark val="none"/>
        <c:tickLblPos val="nextTo"/>
        <c:crossAx val="928322959"/>
        <c:crosses val="autoZero"/>
        <c:crossBetween val="midCat"/>
        <c:majorUnit val="1"/>
        <c:minorUnit val="1"/>
      </c:valAx>
      <c:spPr>
        <a:noFill/>
        <a:ln>
          <a:noFill/>
        </a:ln>
      </c:spPr>
    </c:plotArea>
    <c:plotVisOnly val="1"/>
    <c:dispBlanksAs val="gap"/>
    <c:showDLblsOverMax val="0"/>
  </c:chart>
  <c:spPr>
    <a:noFill/>
    <a:ln>
      <a:noFill/>
    </a:ln>
  </c:spPr>
  <c:externalData r:id="rId2">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657136380672455E-2"/>
          <c:y val="3.0699737370014191E-2"/>
          <c:w val="0.95532488822937012"/>
          <c:h val="0.95688581466674805"/>
        </c:manualLayout>
      </c:layout>
      <c:barChart>
        <c:barDir val="bar"/>
        <c:grouping val="stacked"/>
        <c:varyColors val="0"/>
        <c:ser>
          <c:idx val="0"/>
          <c:order val="0"/>
          <c:tx>
            <c:strRef>
              <c:f>Sheet1!$D$15</c:f>
              <c:strCache>
                <c:ptCount val="1"/>
                <c:pt idx="0">
                  <c:v>Current Maturity</c:v>
                </c:pt>
              </c:strCache>
            </c:strRef>
          </c:tx>
          <c:spPr>
            <a:solidFill>
              <a:srgbClr val="002856"/>
            </a:solidFill>
            <a:ln>
              <a:solidFill>
                <a:srgbClr val="002856"/>
              </a:solidFill>
              <a:miter lim="800000"/>
            </a:ln>
          </c:spPr>
          <c:invertIfNegative val="0"/>
          <c:dLbls>
            <c:dLbl>
              <c:idx val="0"/>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8ADD-42FA-9927-8250189C110D}"/>
                </c:ext>
              </c:extLst>
            </c:dLbl>
            <c:dLbl>
              <c:idx val="1"/>
              <c:spPr/>
              <c:txPr>
                <a:bodyPr wrap="square" lIns="38100" tIns="19050" rIns="38100" bIns="19050" anchor="ctr">
                  <a:spAutoFit/>
                </a:bodyPr>
                <a:lstStyle/>
                <a:p>
                  <a:pPr>
                    <a:defRPr sz="1100" smtId="4294967295">
                      <a:solidFill>
                        <a:schemeClr val="bg1"/>
                      </a:solidFill>
                    </a:defRPr>
                  </a:pPr>
                  <a:endParaRPr lang="en-US"/>
                </a:p>
              </c:txPr>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8ADD-42FA-9927-8250189C110D}"/>
                </c:ext>
              </c:extLst>
            </c:dLbl>
            <c:dLbl>
              <c:idx val="2"/>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8ADD-42FA-9927-8250189C110D}"/>
                </c:ext>
              </c:extLst>
            </c:dLbl>
            <c:dLbl>
              <c:idx val="3"/>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8ADD-42FA-9927-8250189C110D}"/>
                </c:ext>
              </c:extLst>
            </c:dLbl>
            <c:spPr>
              <a:noFill/>
              <a:ln>
                <a:noFill/>
              </a:ln>
              <a:effectLst/>
            </c:spPr>
            <c:txPr>
              <a:bodyPr wrap="square" lIns="38100" tIns="19050" rIns="38100" bIns="19050" anchor="ctr">
                <a:spAutoFit/>
              </a:bodyPr>
              <a:lstStyle/>
              <a:p>
                <a:pPr>
                  <a:defRPr sz="1100" smtId="4294967295">
                    <a:solidFill>
                      <a:schemeClr val="bg1"/>
                    </a:solidFill>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cat>
            <c:multiLvlStrRef>
              <c:f>Sheet1!$A$4:$A$7</c:f>
            </c:multiLvlStrRef>
          </c:cat>
          <c:val>
            <c:numRef>
              <c:f>Sheet1!$D$16:$D$19</c:f>
              <c:numCache>
                <c:formatCode>0.0</c:formatCode>
                <c:ptCount val="4"/>
                <c:pt idx="0" formatCode="0.00">
                  <c:v>0</c:v>
                </c:pt>
                <c:pt idx="1">
                  <c:v>2</c:v>
                </c:pt>
                <c:pt idx="2">
                  <c:v>0</c:v>
                </c:pt>
                <c:pt idx="3" formatCode="0.0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8ADD-42FA-9927-8250189C110D}"/>
            </c:ext>
          </c:extLst>
        </c:ser>
        <c:ser>
          <c:idx val="10"/>
          <c:order val="1"/>
          <c:tx>
            <c:strRef>
              <c:f>Sheet1!$F$15</c:f>
              <c:strCache>
                <c:ptCount val="1"/>
                <c:pt idx="0">
                  <c:v>10th Positive Bar</c:v>
                </c:pt>
              </c:strCache>
            </c:strRef>
          </c:tx>
          <c:spPr>
            <a:noFill/>
            <a:ln>
              <a:noFill/>
            </a:ln>
          </c:spPr>
          <c:invertIfNegative val="0"/>
          <c:cat>
            <c:multiLvlStrRef>
              <c:f>Sheet1!$A$4:$A$7</c:f>
            </c:multiLvlStrRef>
          </c:cat>
          <c:val>
            <c:numRef>
              <c:f>Sheet1!$F$16:$F$19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8ADD-42FA-9927-8250189C110D}"/>
            </c:ext>
          </c:extLst>
        </c:ser>
        <c:ser>
          <c:idx val="3"/>
          <c:order val="2"/>
          <c:tx>
            <c:strRef>
              <c:f>Sheet1!$H$15</c:f>
              <c:strCache>
                <c:ptCount val="1"/>
                <c:pt idx="0">
                  <c:v>25th Positive Bar</c:v>
                </c:pt>
              </c:strCache>
            </c:strRef>
          </c:tx>
          <c:spPr>
            <a:noFill/>
          </c:spPr>
          <c:invertIfNegative val="0"/>
          <c:cat>
            <c:multiLvlStrRef>
              <c:f>Sheet1!$A$4:$A$7</c:f>
            </c:multiLvlStrRef>
          </c:cat>
          <c:val>
            <c:numRef>
              <c:f>Sheet1!$H$16:$H$19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8ADD-42FA-9927-8250189C110D}"/>
            </c:ext>
          </c:extLst>
        </c:ser>
        <c:ser>
          <c:idx val="5"/>
          <c:order val="3"/>
          <c:tx>
            <c:strRef>
              <c:f>Sheet1!$J$15</c:f>
              <c:strCache>
                <c:ptCount val="1"/>
                <c:pt idx="0">
                  <c:v>75th Positive Bar</c:v>
                </c:pt>
              </c:strCache>
            </c:strRef>
          </c:tx>
          <c:spPr>
            <a:solidFill>
              <a:srgbClr val="BFBFBF"/>
            </a:solidFill>
            <a:ln>
              <a:solidFill>
                <a:srgbClr val="BFBFBF"/>
              </a:solidFill>
            </a:ln>
          </c:spPr>
          <c:invertIfNegative val="0"/>
          <c:cat>
            <c:multiLvlStrRef>
              <c:f>Sheet1!$A$4:$A$7</c:f>
            </c:multiLvlStrRef>
          </c:cat>
          <c:val>
            <c:numRef>
              <c:f>Sheet1!$J$16:$J$19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8ADD-42FA-9927-8250189C110D}"/>
            </c:ext>
          </c:extLst>
        </c:ser>
        <c:ser>
          <c:idx val="7"/>
          <c:order val="4"/>
          <c:tx>
            <c:strRef>
              <c:f>Sheet1!$L$15</c:f>
              <c:strCache>
                <c:ptCount val="1"/>
                <c:pt idx="0">
                  <c:v>90th Positive Bar</c:v>
                </c:pt>
              </c:strCache>
            </c:strRef>
          </c:tx>
          <c:spPr>
            <a:noFill/>
          </c:spPr>
          <c:invertIfNegative val="0"/>
          <c:cat>
            <c:multiLvlStrRef>
              <c:f>Sheet1!$A$4:$A$7</c:f>
            </c:multiLvlStrRef>
          </c:cat>
          <c:val>
            <c:numRef>
              <c:f>Sheet1!$L$16:$L$19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8ADD-42FA-9927-8250189C110D}"/>
            </c:ext>
          </c:extLst>
        </c:ser>
        <c:ser>
          <c:idx val="6"/>
          <c:order val="8"/>
          <c:tx>
            <c:strRef>
              <c:f>Sheet1!$K$15</c:f>
              <c:strCache>
                <c:ptCount val="1"/>
                <c:pt idx="0">
                  <c:v>90th Negative Bar</c:v>
                </c:pt>
              </c:strCache>
            </c:strRef>
          </c:tx>
          <c:spPr>
            <a:noFill/>
          </c:spPr>
          <c:invertIfNegative val="0"/>
          <c:cat>
            <c:multiLvlStrRef>
              <c:f>Sheet1!$A$4:$A$7</c:f>
            </c:multiLvlStrRef>
          </c:cat>
          <c:val>
            <c:numRef>
              <c:f>Sheet1!$K$16:$K$19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8ADD-42FA-9927-8250189C110D}"/>
            </c:ext>
          </c:extLst>
        </c:ser>
        <c:ser>
          <c:idx val="4"/>
          <c:order val="9"/>
          <c:tx>
            <c:strRef>
              <c:f>Sheet1!$I$15</c:f>
              <c:strCache>
                <c:ptCount val="1"/>
                <c:pt idx="0">
                  <c:v>75th Negative Bar</c:v>
                </c:pt>
              </c:strCache>
            </c:strRef>
          </c:tx>
          <c:spPr>
            <a:noFill/>
          </c:spPr>
          <c:invertIfNegative val="0"/>
          <c:cat>
            <c:multiLvlStrRef>
              <c:f>Sheet1!$A$4:$A$7</c:f>
            </c:multiLvlStrRef>
          </c:cat>
          <c:val>
            <c:numRef>
              <c:f>Sheet1!$I$16:$I$19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8ADD-42FA-9927-8250189C110D}"/>
            </c:ext>
          </c:extLst>
        </c:ser>
        <c:ser>
          <c:idx val="2"/>
          <c:order val="10"/>
          <c:tx>
            <c:strRef>
              <c:f>Sheet1!$G$15</c:f>
              <c:strCache>
                <c:ptCount val="1"/>
                <c:pt idx="0">
                  <c:v>25th Negative Bar</c:v>
                </c:pt>
              </c:strCache>
            </c:strRef>
          </c:tx>
          <c:spPr>
            <a:solidFill>
              <a:srgbClr val="BFBFBF"/>
            </a:solidFill>
            <a:ln>
              <a:solidFill>
                <a:srgbClr val="BFBFBF"/>
              </a:solidFill>
            </a:ln>
          </c:spPr>
          <c:invertIfNegative val="0"/>
          <c:cat>
            <c:multiLvlStrRef>
              <c:f>Sheet1!$A$4:$A$7</c:f>
            </c:multiLvlStrRef>
          </c:cat>
          <c:val>
            <c:numRef>
              <c:f>Sheet1!$G$16:$G$19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8ADD-42FA-9927-8250189C110D}"/>
            </c:ext>
          </c:extLst>
        </c:ser>
        <c:ser>
          <c:idx val="1"/>
          <c:order val="11"/>
          <c:tx>
            <c:strRef>
              <c:f>Sheet1!$E$15</c:f>
              <c:strCache>
                <c:ptCount val="1"/>
                <c:pt idx="0">
                  <c:v>10th Negative Bar</c:v>
                </c:pt>
              </c:strCache>
            </c:strRef>
          </c:tx>
          <c:spPr>
            <a:noFill/>
          </c:spPr>
          <c:invertIfNegative val="0"/>
          <c:cat>
            <c:multiLvlStrRef>
              <c:f>Sheet1!$A$4:$A$7</c:f>
            </c:multiLvlStrRef>
          </c:cat>
          <c:val>
            <c:numRef>
              <c:f>Sheet1!$E$16:$E$19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8ADD-42FA-9927-8250189C110D}"/>
            </c:ext>
          </c:extLst>
        </c:ser>
        <c:ser>
          <c:idx val="15"/>
          <c:order val="14"/>
          <c:tx>
            <c:strRef>
              <c:f>Sheet1!$M$15</c:f>
              <c:strCache>
                <c:ptCount val="1"/>
                <c:pt idx="0">
                  <c:v>Benchmarks Omitted Bar</c:v>
                </c:pt>
              </c:strCache>
            </c:strRef>
          </c:tx>
          <c:spPr>
            <a:noFill/>
          </c:spPr>
          <c:invertIfNegative val="0"/>
          <c:cat>
            <c:multiLvlStrRef>
              <c:f>Sheet1!$A$4:$A$7</c:f>
            </c:multiLvlStrRef>
          </c:cat>
          <c:val>
            <c:numRef>
              <c:f>Sheet1!$M$16:$M$19</c:f>
              <c:numCache>
                <c:formatCode>General</c:formatCode>
                <c:ptCount val="4"/>
                <c:pt idx="0">
                  <c:v>0</c:v>
                </c:pt>
                <c:pt idx="1">
                  <c:v>0</c:v>
                </c:pt>
                <c:pt idx="2">
                  <c:v>0</c:v>
                </c:pt>
                <c:pt idx="3" formatCode="&quot;$&quot;#,##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8ADD-42FA-9927-8250189C110D}"/>
            </c:ext>
          </c:extLst>
        </c:ser>
        <c:dLbls>
          <c:showLegendKey val="0"/>
          <c:showVal val="0"/>
          <c:showCatName val="0"/>
          <c:showSerName val="0"/>
          <c:showPercent val="0"/>
          <c:showBubbleSize val="0"/>
        </c:dLbls>
        <c:gapWidth val="0"/>
        <c:overlap val="100"/>
        <c:axId val="1154865663"/>
        <c:axId val="1"/>
      </c:barChart>
      <c:scatterChart>
        <c:scatterStyle val="lineMarker"/>
        <c:varyColors val="0"/>
        <c:ser>
          <c:idx val="8"/>
          <c:order val="5"/>
          <c:tx>
            <c:strRef>
              <c:f>Sheet1!$B$9</c:f>
              <c:strCache>
                <c:ptCount val="1"/>
                <c:pt idx="0">
                  <c:v>Target Maturity</c:v>
                </c:pt>
              </c:strCache>
            </c:strRef>
          </c:tx>
          <c:marker>
            <c:symbol val="none"/>
          </c:marker>
          <c:dLbls>
            <c:dLbl>
              <c:idx val="0"/>
              <c:spPr>
                <a:solidFill>
                  <a:srgbClr val="1F96FF"/>
                </a:solidFill>
                <a:ln>
                  <a:noFill/>
                </a:ln>
                <a:effectLst/>
              </c:spPr>
              <c:txPr>
                <a:bodyPr wrap="square" lIns="38100" tIns="19050" rIns="38100" bIns="19050" anchor="ctr">
                  <a:spAutoFit/>
                </a:bodyPr>
                <a:lstStyle/>
                <a:p>
                  <a:pPr>
                    <a:defRPr sz="1100" smtId="4294967295">
                      <a:solidFill>
                        <a:srgbClr val="FFFFFF"/>
                      </a:solidFill>
                      <a:latin typeface="Roboto Medium" panose="02000000000000000000" pitchFamily="2" charset="0"/>
                      <a:ea typeface="Roboto Medium"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8ADD-42FA-9927-8250189C110D}"/>
                </c:ext>
              </c:extLst>
            </c:dLbl>
            <c:spPr>
              <a:solidFill>
                <a:srgbClr val="1F96FF"/>
              </a:solidFill>
              <a:ln>
                <a:noFill/>
              </a:ln>
              <a:effectLst/>
            </c:spPr>
            <c:txPr>
              <a:bodyPr wrap="square" lIns="38100" tIns="19050" rIns="38100" bIns="19050" anchor="ctr">
                <a:spAutoFit/>
              </a:bodyPr>
              <a:lstStyle/>
              <a:p>
                <a:pPr>
                  <a:defRPr sz="1100" smtId="4294967295">
                    <a:solidFill>
                      <a:srgbClr val="FFFFFF"/>
                    </a:solidFill>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40"/>
            <c:spPr>
              <a:ln w="25400">
                <a:solidFill>
                  <a:srgbClr val="1F96FF"/>
                </a:solidFill>
              </a:ln>
            </c:spPr>
          </c:errBars>
          <c:xVal>
            <c:numRef>
              <c:f>Sheet1!$D$9</c:f>
              <c:numCache>
                <c:formatCode>0.0</c:formatCode>
                <c:ptCount val="1"/>
                <c:pt idx="0">
                  <c:v>5</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8ADD-42FA-9927-8250189C110D}"/>
            </c:ext>
          </c:extLst>
        </c:ser>
        <c:ser>
          <c:idx val="11"/>
          <c:order val="6"/>
          <c:tx>
            <c:strRef>
              <c:f>Sheet1!$B$11</c:f>
              <c:strCache>
                <c:ptCount val="1"/>
                <c:pt idx="0">
                  <c:v>Maximum</c:v>
                </c:pt>
              </c:strCache>
            </c:strRef>
          </c:tx>
          <c:marker>
            <c:symbol val="none"/>
          </c:marker>
          <c:xVal>
            <c:numRef>
              <c:f>Sheet1!$D$11</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8ADD-42FA-9927-8250189C110D}"/>
            </c:ext>
          </c:extLst>
        </c:ser>
        <c:ser>
          <c:idx val="9"/>
          <c:order val="7"/>
          <c:tx>
            <c:strRef>
              <c:f>Sheet1!$B$8</c:f>
              <c:strCache>
                <c:ptCount val="1"/>
                <c:pt idx="0">
                  <c:v>Client</c:v>
                </c:pt>
              </c:strCache>
            </c:strRef>
          </c:tx>
          <c:marker>
            <c:symbol val="none"/>
          </c:marker>
          <c:xVal>
            <c:numRef>
              <c:f>Sheet1!$D$8</c:f>
              <c:numCache>
                <c:formatCode>0.00</c:formatCode>
                <c:ptCount val="1"/>
                <c:pt idx="0">
                  <c:v>0</c:v>
                </c:pt>
              </c:numCache>
            </c:numRef>
          </c:xVal>
          <c:yVal>
            <c:numRef>
              <c:f>Sheet1!$D$14</c:f>
              <c:numCache>
                <c:formatCode>_(* #,##0_);_(* \(#,##0\);_(* "-"??_);_(@_)</c:formatCode>
                <c:ptCount val="1"/>
                <c:pt idx="0">
                  <c:v>3</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8ADD-42FA-9927-8250189C110D}"/>
            </c:ext>
          </c:extLst>
        </c:ser>
        <c:ser>
          <c:idx val="13"/>
          <c:order val="12"/>
          <c:tx>
            <c:v>25th Scatter Label</c:v>
          </c:tx>
          <c:marker>
            <c:symbol val="none"/>
          </c:marker>
          <c:xVal>
            <c:numRef>
              <c:f>Sheet1!$D$5</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8ADD-42FA-9927-8250189C110D}"/>
            </c:ext>
          </c:extLst>
        </c:ser>
        <c:ser>
          <c:idx val="14"/>
          <c:order val="13"/>
          <c:tx>
            <c:v>75 Scatter Label</c:v>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8ADD-42FA-9927-8250189C110D}"/>
              </c:ext>
            </c:extLst>
          </c:dPt>
          <c:xVal>
            <c:numRef>
              <c:f>Sheet1!$D$6</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8ADD-42FA-9927-8250189C110D}"/>
            </c:ext>
          </c:extLst>
        </c:ser>
        <c:dLbls>
          <c:showLegendKey val="0"/>
          <c:showVal val="0"/>
          <c:showCatName val="0"/>
          <c:showSerName val="0"/>
          <c:showPercent val="0"/>
          <c:showBubbleSize val="0"/>
        </c:dLbls>
        <c:axId val="928322959"/>
        <c:axId val="928311311"/>
      </c:scatterChart>
      <c:catAx>
        <c:axId val="1154865663"/>
        <c:scaling>
          <c:orientation val="minMax"/>
        </c:scaling>
        <c:delete val="1"/>
        <c:axPos val="l"/>
        <c:numFmt formatCode="General" sourceLinked="1"/>
        <c:majorTickMark val="out"/>
        <c:minorTickMark val="none"/>
        <c:tickLblPos val="nextTo"/>
        <c:crossAx val="1"/>
        <c:crossesAt val="0"/>
        <c:auto val="0"/>
        <c:lblAlgn val="ctr"/>
        <c:lblOffset val="100"/>
        <c:noMultiLvlLbl val="1"/>
      </c:catAx>
      <c:valAx>
        <c:axId val="1"/>
        <c:scaling>
          <c:orientation val="minMax"/>
          <c:max val="5.0999999999999996"/>
          <c:min val="0"/>
        </c:scaling>
        <c:delete val="1"/>
        <c:axPos val="b"/>
        <c:numFmt formatCode="0.0" sourceLinked="0"/>
        <c:majorTickMark val="out"/>
        <c:minorTickMark val="none"/>
        <c:tickLblPos val="nextTo"/>
        <c:crossAx val="1154865663"/>
        <c:crossesAt val="1"/>
        <c:crossBetween val="between"/>
        <c:majorUnit val="1"/>
      </c:valAx>
      <c:valAx>
        <c:axId val="928322959"/>
        <c:scaling>
          <c:orientation val="minMax"/>
          <c:max val="1.6000000000000003E-3"/>
        </c:scaling>
        <c:delete val="1"/>
        <c:axPos val="b"/>
        <c:numFmt formatCode="0.0" sourceLinked="1"/>
        <c:majorTickMark val="out"/>
        <c:minorTickMark val="none"/>
        <c:tickLblPos val="nextTo"/>
        <c:crossAx val="928311311"/>
        <c:crosses val="autoZero"/>
        <c:crossBetween val="midCat"/>
      </c:valAx>
      <c:valAx>
        <c:axId val="928311311"/>
        <c:scaling>
          <c:orientation val="minMax"/>
          <c:max val="3"/>
          <c:min val="1"/>
        </c:scaling>
        <c:delete val="1"/>
        <c:axPos val="l"/>
        <c:numFmt formatCode="_(* #,##0_);_(* \(#,##0\);_(* &quot;-&quot;??_);_(@_)" sourceLinked="0"/>
        <c:majorTickMark val="out"/>
        <c:minorTickMark val="none"/>
        <c:tickLblPos val="nextTo"/>
        <c:crossAx val="928322959"/>
        <c:crosses val="autoZero"/>
        <c:crossBetween val="midCat"/>
        <c:majorUnit val="1"/>
        <c:minorUnit val="1"/>
      </c:valAx>
      <c:spPr>
        <a:noFill/>
        <a:ln>
          <a:noFill/>
        </a:ln>
      </c:spPr>
    </c:plotArea>
    <c:plotVisOnly val="1"/>
    <c:dispBlanksAs val="gap"/>
    <c:showDLblsOverMax val="0"/>
  </c:chart>
  <c:spPr>
    <a:noFill/>
    <a:ln>
      <a:noFill/>
    </a:ln>
  </c:spPr>
  <c:externalData r:id="rId2">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657136380672455E-2"/>
          <c:y val="3.0699737370014191E-2"/>
          <c:w val="0.95532488822937012"/>
          <c:h val="0.95688581466674805"/>
        </c:manualLayout>
      </c:layout>
      <c:barChart>
        <c:barDir val="bar"/>
        <c:grouping val="stacked"/>
        <c:varyColors val="0"/>
        <c:ser>
          <c:idx val="0"/>
          <c:order val="0"/>
          <c:tx>
            <c:strRef>
              <c:f>Sheet1!$D$15</c:f>
              <c:strCache>
                <c:ptCount val="1"/>
                <c:pt idx="0">
                  <c:v>Current Maturity</c:v>
                </c:pt>
              </c:strCache>
            </c:strRef>
          </c:tx>
          <c:spPr>
            <a:solidFill>
              <a:srgbClr val="002856"/>
            </a:solidFill>
            <a:ln>
              <a:solidFill>
                <a:srgbClr val="002856"/>
              </a:solidFill>
              <a:miter lim="800000"/>
            </a:ln>
          </c:spPr>
          <c:invertIfNegative val="0"/>
          <c:dLbls>
            <c:dLbl>
              <c:idx val="0"/>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F026-43CC-9526-8FA93215B68E}"/>
                </c:ext>
              </c:extLst>
            </c:dLbl>
            <c:dLbl>
              <c:idx val="1"/>
              <c:spPr/>
              <c:txPr>
                <a:bodyPr wrap="square" lIns="38100" tIns="19050" rIns="38100" bIns="19050" anchor="ctr">
                  <a:spAutoFit/>
                </a:bodyPr>
                <a:lstStyle/>
                <a:p>
                  <a:pPr>
                    <a:defRPr sz="1100" smtId="4294967295">
                      <a:solidFill>
                        <a:schemeClr val="bg1"/>
                      </a:solidFill>
                    </a:defRPr>
                  </a:pPr>
                  <a:endParaRPr lang="en-US"/>
                </a:p>
              </c:txPr>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F026-43CC-9526-8FA93215B68E}"/>
                </c:ext>
              </c:extLst>
            </c:dLbl>
            <c:dLbl>
              <c:idx val="2"/>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F026-43CC-9526-8FA93215B68E}"/>
                </c:ext>
              </c:extLst>
            </c:dLbl>
            <c:dLbl>
              <c:idx val="3"/>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F026-43CC-9526-8FA93215B68E}"/>
                </c:ext>
              </c:extLst>
            </c:dLbl>
            <c:spPr>
              <a:noFill/>
              <a:ln>
                <a:noFill/>
              </a:ln>
              <a:effectLst/>
            </c:spPr>
            <c:txPr>
              <a:bodyPr wrap="square" lIns="38100" tIns="19050" rIns="38100" bIns="19050" anchor="ctr">
                <a:spAutoFit/>
              </a:bodyPr>
              <a:lstStyle/>
              <a:p>
                <a:pPr>
                  <a:defRPr sz="1100" smtId="4294967295">
                    <a:solidFill>
                      <a:schemeClr val="bg1"/>
                    </a:solidFill>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cat>
            <c:multiLvlStrRef>
              <c:f>Sheet1!$A$4:$A$7</c:f>
            </c:multiLvlStrRef>
          </c:cat>
          <c:val>
            <c:numRef>
              <c:f>Sheet1!$D$16:$D$19</c:f>
              <c:numCache>
                <c:formatCode>0.0</c:formatCode>
                <c:ptCount val="4"/>
                <c:pt idx="0" formatCode="0.00">
                  <c:v>0</c:v>
                </c:pt>
                <c:pt idx="1">
                  <c:v>1</c:v>
                </c:pt>
                <c:pt idx="2">
                  <c:v>0</c:v>
                </c:pt>
                <c:pt idx="3" formatCode="0.0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F026-43CC-9526-8FA93215B68E}"/>
            </c:ext>
          </c:extLst>
        </c:ser>
        <c:ser>
          <c:idx val="10"/>
          <c:order val="1"/>
          <c:tx>
            <c:strRef>
              <c:f>Sheet1!$F$15</c:f>
              <c:strCache>
                <c:ptCount val="1"/>
                <c:pt idx="0">
                  <c:v>10th Positive Bar</c:v>
                </c:pt>
              </c:strCache>
            </c:strRef>
          </c:tx>
          <c:spPr>
            <a:noFill/>
            <a:ln>
              <a:noFill/>
            </a:ln>
          </c:spPr>
          <c:invertIfNegative val="0"/>
          <c:cat>
            <c:multiLvlStrRef>
              <c:f>Sheet1!$A$4:$A$7</c:f>
            </c:multiLvlStrRef>
          </c:cat>
          <c:val>
            <c:numRef>
              <c:f>Sheet1!$F$16:$F$19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F026-43CC-9526-8FA93215B68E}"/>
            </c:ext>
          </c:extLst>
        </c:ser>
        <c:ser>
          <c:idx val="3"/>
          <c:order val="2"/>
          <c:tx>
            <c:strRef>
              <c:f>Sheet1!$H$15</c:f>
              <c:strCache>
                <c:ptCount val="1"/>
                <c:pt idx="0">
                  <c:v>25th Positive Bar</c:v>
                </c:pt>
              </c:strCache>
            </c:strRef>
          </c:tx>
          <c:spPr>
            <a:noFill/>
          </c:spPr>
          <c:invertIfNegative val="0"/>
          <c:cat>
            <c:multiLvlStrRef>
              <c:f>Sheet1!$A$4:$A$7</c:f>
            </c:multiLvlStrRef>
          </c:cat>
          <c:val>
            <c:numRef>
              <c:f>Sheet1!$H$16:$H$19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F026-43CC-9526-8FA93215B68E}"/>
            </c:ext>
          </c:extLst>
        </c:ser>
        <c:ser>
          <c:idx val="5"/>
          <c:order val="3"/>
          <c:tx>
            <c:strRef>
              <c:f>Sheet1!$J$15</c:f>
              <c:strCache>
                <c:ptCount val="1"/>
                <c:pt idx="0">
                  <c:v>75th Positive Bar</c:v>
                </c:pt>
              </c:strCache>
            </c:strRef>
          </c:tx>
          <c:spPr>
            <a:solidFill>
              <a:srgbClr val="BFBFBF"/>
            </a:solidFill>
            <a:ln>
              <a:solidFill>
                <a:srgbClr val="BFBFBF"/>
              </a:solidFill>
            </a:ln>
          </c:spPr>
          <c:invertIfNegative val="0"/>
          <c:cat>
            <c:multiLvlStrRef>
              <c:f>Sheet1!$A$4:$A$7</c:f>
            </c:multiLvlStrRef>
          </c:cat>
          <c:val>
            <c:numRef>
              <c:f>Sheet1!$J$16:$J$19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F026-43CC-9526-8FA93215B68E}"/>
            </c:ext>
          </c:extLst>
        </c:ser>
        <c:ser>
          <c:idx val="7"/>
          <c:order val="4"/>
          <c:tx>
            <c:strRef>
              <c:f>Sheet1!$L$15</c:f>
              <c:strCache>
                <c:ptCount val="1"/>
                <c:pt idx="0">
                  <c:v>90th Positive Bar</c:v>
                </c:pt>
              </c:strCache>
            </c:strRef>
          </c:tx>
          <c:spPr>
            <a:noFill/>
          </c:spPr>
          <c:invertIfNegative val="0"/>
          <c:cat>
            <c:multiLvlStrRef>
              <c:f>Sheet1!$A$4:$A$7</c:f>
            </c:multiLvlStrRef>
          </c:cat>
          <c:val>
            <c:numRef>
              <c:f>Sheet1!$L$16:$L$19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F026-43CC-9526-8FA93215B68E}"/>
            </c:ext>
          </c:extLst>
        </c:ser>
        <c:ser>
          <c:idx val="6"/>
          <c:order val="8"/>
          <c:tx>
            <c:strRef>
              <c:f>Sheet1!$K$15</c:f>
              <c:strCache>
                <c:ptCount val="1"/>
                <c:pt idx="0">
                  <c:v>90th Negative Bar</c:v>
                </c:pt>
              </c:strCache>
            </c:strRef>
          </c:tx>
          <c:spPr>
            <a:noFill/>
          </c:spPr>
          <c:invertIfNegative val="0"/>
          <c:cat>
            <c:multiLvlStrRef>
              <c:f>Sheet1!$A$4:$A$7</c:f>
            </c:multiLvlStrRef>
          </c:cat>
          <c:val>
            <c:numRef>
              <c:f>Sheet1!$K$16:$K$19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F026-43CC-9526-8FA93215B68E}"/>
            </c:ext>
          </c:extLst>
        </c:ser>
        <c:ser>
          <c:idx val="4"/>
          <c:order val="9"/>
          <c:tx>
            <c:strRef>
              <c:f>Sheet1!$I$15</c:f>
              <c:strCache>
                <c:ptCount val="1"/>
                <c:pt idx="0">
                  <c:v>75th Negative Bar</c:v>
                </c:pt>
              </c:strCache>
            </c:strRef>
          </c:tx>
          <c:spPr>
            <a:noFill/>
          </c:spPr>
          <c:invertIfNegative val="0"/>
          <c:cat>
            <c:multiLvlStrRef>
              <c:f>Sheet1!$A$4:$A$7</c:f>
            </c:multiLvlStrRef>
          </c:cat>
          <c:val>
            <c:numRef>
              <c:f>Sheet1!$I$16:$I$19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F026-43CC-9526-8FA93215B68E}"/>
            </c:ext>
          </c:extLst>
        </c:ser>
        <c:ser>
          <c:idx val="2"/>
          <c:order val="10"/>
          <c:tx>
            <c:strRef>
              <c:f>Sheet1!$G$15</c:f>
              <c:strCache>
                <c:ptCount val="1"/>
                <c:pt idx="0">
                  <c:v>25th Negative Bar</c:v>
                </c:pt>
              </c:strCache>
            </c:strRef>
          </c:tx>
          <c:spPr>
            <a:solidFill>
              <a:srgbClr val="BFBFBF"/>
            </a:solidFill>
            <a:ln>
              <a:solidFill>
                <a:srgbClr val="BFBFBF"/>
              </a:solidFill>
            </a:ln>
          </c:spPr>
          <c:invertIfNegative val="0"/>
          <c:cat>
            <c:multiLvlStrRef>
              <c:f>Sheet1!$A$4:$A$7</c:f>
            </c:multiLvlStrRef>
          </c:cat>
          <c:val>
            <c:numRef>
              <c:f>Sheet1!$G$16:$G$19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F026-43CC-9526-8FA93215B68E}"/>
            </c:ext>
          </c:extLst>
        </c:ser>
        <c:ser>
          <c:idx val="1"/>
          <c:order val="11"/>
          <c:tx>
            <c:strRef>
              <c:f>Sheet1!$E$15</c:f>
              <c:strCache>
                <c:ptCount val="1"/>
                <c:pt idx="0">
                  <c:v>10th Negative Bar</c:v>
                </c:pt>
              </c:strCache>
            </c:strRef>
          </c:tx>
          <c:spPr>
            <a:noFill/>
          </c:spPr>
          <c:invertIfNegative val="0"/>
          <c:cat>
            <c:multiLvlStrRef>
              <c:f>Sheet1!$A$4:$A$7</c:f>
            </c:multiLvlStrRef>
          </c:cat>
          <c:val>
            <c:numRef>
              <c:f>Sheet1!$E$16:$E$19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F026-43CC-9526-8FA93215B68E}"/>
            </c:ext>
          </c:extLst>
        </c:ser>
        <c:ser>
          <c:idx val="15"/>
          <c:order val="14"/>
          <c:tx>
            <c:strRef>
              <c:f>Sheet1!$M$15</c:f>
              <c:strCache>
                <c:ptCount val="1"/>
                <c:pt idx="0">
                  <c:v>Benchmarks Omitted Bar</c:v>
                </c:pt>
              </c:strCache>
            </c:strRef>
          </c:tx>
          <c:spPr>
            <a:noFill/>
          </c:spPr>
          <c:invertIfNegative val="0"/>
          <c:cat>
            <c:multiLvlStrRef>
              <c:f>Sheet1!$A$4:$A$7</c:f>
            </c:multiLvlStrRef>
          </c:cat>
          <c:val>
            <c:numRef>
              <c:f>Sheet1!$M$16:$M$19</c:f>
              <c:numCache>
                <c:formatCode>General</c:formatCode>
                <c:ptCount val="4"/>
                <c:pt idx="0">
                  <c:v>0</c:v>
                </c:pt>
                <c:pt idx="1">
                  <c:v>0</c:v>
                </c:pt>
                <c:pt idx="2">
                  <c:v>0</c:v>
                </c:pt>
                <c:pt idx="3" formatCode="&quot;$&quot;#,##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F026-43CC-9526-8FA93215B68E}"/>
            </c:ext>
          </c:extLst>
        </c:ser>
        <c:dLbls>
          <c:showLegendKey val="0"/>
          <c:showVal val="0"/>
          <c:showCatName val="0"/>
          <c:showSerName val="0"/>
          <c:showPercent val="0"/>
          <c:showBubbleSize val="0"/>
        </c:dLbls>
        <c:gapWidth val="0"/>
        <c:overlap val="100"/>
        <c:axId val="1154865663"/>
        <c:axId val="1"/>
      </c:barChart>
      <c:scatterChart>
        <c:scatterStyle val="lineMarker"/>
        <c:varyColors val="0"/>
        <c:ser>
          <c:idx val="8"/>
          <c:order val="5"/>
          <c:tx>
            <c:strRef>
              <c:f>Sheet1!$B$9</c:f>
              <c:strCache>
                <c:ptCount val="1"/>
                <c:pt idx="0">
                  <c:v>Target Maturity</c:v>
                </c:pt>
              </c:strCache>
            </c:strRef>
          </c:tx>
          <c:marker>
            <c:symbol val="none"/>
          </c:marker>
          <c:dLbls>
            <c:dLbl>
              <c:idx val="0"/>
              <c:spPr>
                <a:solidFill>
                  <a:srgbClr val="1F96FF"/>
                </a:solidFill>
                <a:ln>
                  <a:noFill/>
                </a:ln>
                <a:effectLst/>
              </c:spPr>
              <c:txPr>
                <a:bodyPr wrap="square" lIns="38100" tIns="19050" rIns="38100" bIns="19050" anchor="ctr">
                  <a:spAutoFit/>
                </a:bodyPr>
                <a:lstStyle/>
                <a:p>
                  <a:pPr>
                    <a:defRPr sz="1100" smtId="4294967295">
                      <a:solidFill>
                        <a:srgbClr val="FFFFFF"/>
                      </a:solidFill>
                      <a:latin typeface="Roboto Medium" panose="02000000000000000000" pitchFamily="2" charset="0"/>
                      <a:ea typeface="Roboto Medium"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F026-43CC-9526-8FA93215B68E}"/>
                </c:ext>
              </c:extLst>
            </c:dLbl>
            <c:spPr>
              <a:solidFill>
                <a:srgbClr val="1F96FF"/>
              </a:solidFill>
              <a:ln>
                <a:noFill/>
              </a:ln>
              <a:effectLst/>
            </c:spPr>
            <c:txPr>
              <a:bodyPr wrap="square" lIns="38100" tIns="19050" rIns="38100" bIns="19050" anchor="ctr">
                <a:spAutoFit/>
              </a:bodyPr>
              <a:lstStyle/>
              <a:p>
                <a:pPr>
                  <a:defRPr sz="1100" smtId="4294967295">
                    <a:solidFill>
                      <a:srgbClr val="FFFFFF"/>
                    </a:solidFill>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40"/>
            <c:spPr>
              <a:ln w="25400">
                <a:solidFill>
                  <a:srgbClr val="1F96FF"/>
                </a:solidFill>
              </a:ln>
            </c:spPr>
          </c:errBars>
          <c:xVal>
            <c:numRef>
              <c:f>Sheet1!$D$9</c:f>
              <c:numCache>
                <c:formatCode>0.0</c:formatCode>
                <c:ptCount val="1"/>
                <c:pt idx="0">
                  <c:v>2</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F026-43CC-9526-8FA93215B68E}"/>
            </c:ext>
          </c:extLst>
        </c:ser>
        <c:ser>
          <c:idx val="11"/>
          <c:order val="6"/>
          <c:tx>
            <c:strRef>
              <c:f>Sheet1!$B$11</c:f>
              <c:strCache>
                <c:ptCount val="1"/>
                <c:pt idx="0">
                  <c:v>Maximum</c:v>
                </c:pt>
              </c:strCache>
            </c:strRef>
          </c:tx>
          <c:marker>
            <c:symbol val="none"/>
          </c:marker>
          <c:xVal>
            <c:numRef>
              <c:f>Sheet1!$D$11</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F026-43CC-9526-8FA93215B68E}"/>
            </c:ext>
          </c:extLst>
        </c:ser>
        <c:ser>
          <c:idx val="9"/>
          <c:order val="7"/>
          <c:tx>
            <c:strRef>
              <c:f>Sheet1!$B$8</c:f>
              <c:strCache>
                <c:ptCount val="1"/>
                <c:pt idx="0">
                  <c:v>Client</c:v>
                </c:pt>
              </c:strCache>
            </c:strRef>
          </c:tx>
          <c:marker>
            <c:symbol val="none"/>
          </c:marker>
          <c:xVal>
            <c:numRef>
              <c:f>Sheet1!$D$8</c:f>
              <c:numCache>
                <c:formatCode>0.00</c:formatCode>
                <c:ptCount val="1"/>
                <c:pt idx="0">
                  <c:v>0</c:v>
                </c:pt>
              </c:numCache>
            </c:numRef>
          </c:xVal>
          <c:yVal>
            <c:numRef>
              <c:f>Sheet1!$D$14</c:f>
              <c:numCache>
                <c:formatCode>_(* #,##0_);_(* \(#,##0\);_(* "-"??_);_(@_)</c:formatCode>
                <c:ptCount val="1"/>
                <c:pt idx="0">
                  <c:v>3</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F026-43CC-9526-8FA93215B68E}"/>
            </c:ext>
          </c:extLst>
        </c:ser>
        <c:ser>
          <c:idx val="13"/>
          <c:order val="12"/>
          <c:tx>
            <c:v>25th Scatter Label</c:v>
          </c:tx>
          <c:marker>
            <c:symbol val="none"/>
          </c:marker>
          <c:xVal>
            <c:numRef>
              <c:f>Sheet1!$D$5</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F026-43CC-9526-8FA93215B68E}"/>
            </c:ext>
          </c:extLst>
        </c:ser>
        <c:ser>
          <c:idx val="14"/>
          <c:order val="13"/>
          <c:tx>
            <c:v>75 Scatter Label</c:v>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F026-43CC-9526-8FA93215B68E}"/>
              </c:ext>
            </c:extLst>
          </c:dPt>
          <c:xVal>
            <c:numRef>
              <c:f>Sheet1!$D$6</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F026-43CC-9526-8FA93215B68E}"/>
            </c:ext>
          </c:extLst>
        </c:ser>
        <c:dLbls>
          <c:showLegendKey val="0"/>
          <c:showVal val="0"/>
          <c:showCatName val="0"/>
          <c:showSerName val="0"/>
          <c:showPercent val="0"/>
          <c:showBubbleSize val="0"/>
        </c:dLbls>
        <c:axId val="928322959"/>
        <c:axId val="928311311"/>
      </c:scatterChart>
      <c:catAx>
        <c:axId val="1154865663"/>
        <c:scaling>
          <c:orientation val="minMax"/>
        </c:scaling>
        <c:delete val="1"/>
        <c:axPos val="l"/>
        <c:numFmt formatCode="General" sourceLinked="1"/>
        <c:majorTickMark val="out"/>
        <c:minorTickMark val="none"/>
        <c:tickLblPos val="nextTo"/>
        <c:crossAx val="1"/>
        <c:crossesAt val="0"/>
        <c:auto val="0"/>
        <c:lblAlgn val="ctr"/>
        <c:lblOffset val="100"/>
        <c:noMultiLvlLbl val="1"/>
      </c:catAx>
      <c:valAx>
        <c:axId val="1"/>
        <c:scaling>
          <c:orientation val="minMax"/>
          <c:max val="5.0999999999999996"/>
          <c:min val="0"/>
        </c:scaling>
        <c:delete val="1"/>
        <c:axPos val="b"/>
        <c:numFmt formatCode="0.0" sourceLinked="0"/>
        <c:majorTickMark val="out"/>
        <c:minorTickMark val="none"/>
        <c:tickLblPos val="nextTo"/>
        <c:crossAx val="1154865663"/>
        <c:crossesAt val="1"/>
        <c:crossBetween val="between"/>
        <c:majorUnit val="1"/>
      </c:valAx>
      <c:valAx>
        <c:axId val="928322959"/>
        <c:scaling>
          <c:orientation val="minMax"/>
          <c:max val="1.6000000000000003E-3"/>
        </c:scaling>
        <c:delete val="1"/>
        <c:axPos val="b"/>
        <c:numFmt formatCode="0.0" sourceLinked="1"/>
        <c:majorTickMark val="out"/>
        <c:minorTickMark val="none"/>
        <c:tickLblPos val="nextTo"/>
        <c:crossAx val="928311311"/>
        <c:crosses val="autoZero"/>
        <c:crossBetween val="midCat"/>
      </c:valAx>
      <c:valAx>
        <c:axId val="928311311"/>
        <c:scaling>
          <c:orientation val="minMax"/>
          <c:max val="3"/>
          <c:min val="1"/>
        </c:scaling>
        <c:delete val="1"/>
        <c:axPos val="l"/>
        <c:numFmt formatCode="_(* #,##0_);_(* \(#,##0\);_(* &quot;-&quot;??_);_(@_)" sourceLinked="0"/>
        <c:majorTickMark val="out"/>
        <c:minorTickMark val="none"/>
        <c:tickLblPos val="nextTo"/>
        <c:crossAx val="928322959"/>
        <c:crosses val="autoZero"/>
        <c:crossBetween val="midCat"/>
        <c:majorUnit val="1"/>
        <c:minorUnit val="1"/>
      </c:valAx>
      <c:spPr>
        <a:noFill/>
        <a:ln>
          <a:noFill/>
        </a:ln>
      </c:spPr>
    </c:plotArea>
    <c:plotVisOnly val="1"/>
    <c:dispBlanksAs val="gap"/>
    <c:showDLblsOverMax val="0"/>
  </c:chart>
  <c:spPr>
    <a:noFill/>
    <a:ln>
      <a:noFill/>
    </a:ln>
  </c:spPr>
  <c:externalData r:id="rId2">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764448955655098E-2"/>
          <c:y val="4.3114185333251953E-2"/>
          <c:w val="0.95532488822937012"/>
          <c:h val="0.95688581466674805"/>
        </c:manualLayout>
      </c:layout>
      <c:barChart>
        <c:barDir val="bar"/>
        <c:grouping val="stacked"/>
        <c:varyColors val="0"/>
        <c:ser>
          <c:idx val="0"/>
          <c:order val="0"/>
          <c:tx>
            <c:strRef>
              <c:f>Sheet1!$D$15</c:f>
              <c:strCache>
                <c:ptCount val="1"/>
                <c:pt idx="0">
                  <c:v>Current Maturity</c:v>
                </c:pt>
              </c:strCache>
            </c:strRef>
          </c:tx>
          <c:spPr>
            <a:solidFill>
              <a:srgbClr val="002856"/>
            </a:solidFill>
            <a:ln>
              <a:solidFill>
                <a:srgbClr val="002856"/>
              </a:solidFill>
              <a:miter lim="800000"/>
            </a:ln>
          </c:spPr>
          <c:invertIfNegative val="0"/>
          <c:dLbls>
            <c:dLbl>
              <c:idx val="0"/>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398C-4D5F-973C-6662ADC03254}"/>
                </c:ext>
              </c:extLst>
            </c:dLbl>
            <c:dLbl>
              <c:idx val="1"/>
              <c:spPr/>
              <c:txPr>
                <a:bodyPr wrap="square" lIns="38100" tIns="19050" rIns="38100" bIns="19050" anchor="ctr">
                  <a:spAutoFit/>
                </a:bodyPr>
                <a:lstStyle/>
                <a:p>
                  <a:pPr>
                    <a:defRPr sz="1100" smtId="4294967295">
                      <a:solidFill>
                        <a:schemeClr val="bg1"/>
                      </a:solidFill>
                    </a:defRPr>
                  </a:pPr>
                  <a:endParaRPr lang="en-US"/>
                </a:p>
              </c:txPr>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398C-4D5F-973C-6662ADC03254}"/>
                </c:ext>
              </c:extLst>
            </c:dLbl>
            <c:dLbl>
              <c:idx val="2"/>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398C-4D5F-973C-6662ADC03254}"/>
                </c:ext>
              </c:extLst>
            </c:dLbl>
            <c:dLbl>
              <c:idx val="3"/>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398C-4D5F-973C-6662ADC03254}"/>
                </c:ext>
              </c:extLst>
            </c:dLbl>
            <c:spPr>
              <a:noFill/>
              <a:ln>
                <a:noFill/>
              </a:ln>
              <a:effectLst/>
            </c:spPr>
            <c:txPr>
              <a:bodyPr wrap="square" lIns="38100" tIns="19050" rIns="38100" bIns="19050" anchor="ctr">
                <a:spAutoFit/>
              </a:bodyPr>
              <a:lstStyle/>
              <a:p>
                <a:pPr>
                  <a:defRPr sz="1100" smtId="4294967295">
                    <a:solidFill>
                      <a:schemeClr val="bg1"/>
                    </a:solidFill>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cat>
            <c:multiLvlStrRef>
              <c:f>Sheet1!$A$4:$A$7</c:f>
            </c:multiLvlStrRef>
          </c:cat>
          <c:val>
            <c:numRef>
              <c:f>Sheet1!$D$16:$D$19</c:f>
              <c:numCache>
                <c:formatCode>0.0</c:formatCode>
                <c:ptCount val="4"/>
                <c:pt idx="0" formatCode="0.00">
                  <c:v>0</c:v>
                </c:pt>
                <c:pt idx="1">
                  <c:v>2</c:v>
                </c:pt>
                <c:pt idx="2">
                  <c:v>0</c:v>
                </c:pt>
                <c:pt idx="3" formatCode="0.0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398C-4D5F-973C-6662ADC03254}"/>
            </c:ext>
          </c:extLst>
        </c:ser>
        <c:ser>
          <c:idx val="10"/>
          <c:order val="1"/>
          <c:tx>
            <c:strRef>
              <c:f>Sheet1!$F$15</c:f>
              <c:strCache>
                <c:ptCount val="1"/>
                <c:pt idx="0">
                  <c:v>10th Positive Bar</c:v>
                </c:pt>
              </c:strCache>
            </c:strRef>
          </c:tx>
          <c:spPr>
            <a:noFill/>
            <a:ln>
              <a:noFill/>
            </a:ln>
          </c:spPr>
          <c:invertIfNegative val="0"/>
          <c:cat>
            <c:multiLvlStrRef>
              <c:f>Sheet1!$A$4:$A$7</c:f>
            </c:multiLvlStrRef>
          </c:cat>
          <c:val>
            <c:numRef>
              <c:f>Sheet1!$F$16:$F$19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398C-4D5F-973C-6662ADC03254}"/>
            </c:ext>
          </c:extLst>
        </c:ser>
        <c:ser>
          <c:idx val="3"/>
          <c:order val="2"/>
          <c:tx>
            <c:strRef>
              <c:f>Sheet1!$H$15</c:f>
              <c:strCache>
                <c:ptCount val="1"/>
                <c:pt idx="0">
                  <c:v>25th Positive Bar</c:v>
                </c:pt>
              </c:strCache>
            </c:strRef>
          </c:tx>
          <c:spPr>
            <a:noFill/>
          </c:spPr>
          <c:invertIfNegative val="0"/>
          <c:cat>
            <c:multiLvlStrRef>
              <c:f>Sheet1!$A$4:$A$7</c:f>
            </c:multiLvlStrRef>
          </c:cat>
          <c:val>
            <c:numRef>
              <c:f>Sheet1!$H$16:$H$19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398C-4D5F-973C-6662ADC03254}"/>
            </c:ext>
          </c:extLst>
        </c:ser>
        <c:ser>
          <c:idx val="5"/>
          <c:order val="3"/>
          <c:tx>
            <c:strRef>
              <c:f>Sheet1!$J$15</c:f>
              <c:strCache>
                <c:ptCount val="1"/>
                <c:pt idx="0">
                  <c:v>75th Positive Bar</c:v>
                </c:pt>
              </c:strCache>
            </c:strRef>
          </c:tx>
          <c:spPr>
            <a:solidFill>
              <a:srgbClr val="BFBFBF"/>
            </a:solidFill>
            <a:ln>
              <a:solidFill>
                <a:srgbClr val="BFBFBF"/>
              </a:solidFill>
            </a:ln>
          </c:spPr>
          <c:invertIfNegative val="0"/>
          <c:cat>
            <c:multiLvlStrRef>
              <c:f>Sheet1!$A$4:$A$7</c:f>
            </c:multiLvlStrRef>
          </c:cat>
          <c:val>
            <c:numRef>
              <c:f>Sheet1!$J$16:$J$19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398C-4D5F-973C-6662ADC03254}"/>
            </c:ext>
          </c:extLst>
        </c:ser>
        <c:ser>
          <c:idx val="7"/>
          <c:order val="4"/>
          <c:tx>
            <c:strRef>
              <c:f>Sheet1!$L$15</c:f>
              <c:strCache>
                <c:ptCount val="1"/>
                <c:pt idx="0">
                  <c:v>90th Positive Bar</c:v>
                </c:pt>
              </c:strCache>
            </c:strRef>
          </c:tx>
          <c:spPr>
            <a:noFill/>
          </c:spPr>
          <c:invertIfNegative val="0"/>
          <c:cat>
            <c:multiLvlStrRef>
              <c:f>Sheet1!$A$4:$A$7</c:f>
            </c:multiLvlStrRef>
          </c:cat>
          <c:val>
            <c:numRef>
              <c:f>Sheet1!$L$16:$L$19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398C-4D5F-973C-6662ADC03254}"/>
            </c:ext>
          </c:extLst>
        </c:ser>
        <c:ser>
          <c:idx val="6"/>
          <c:order val="8"/>
          <c:tx>
            <c:strRef>
              <c:f>Sheet1!$K$15</c:f>
              <c:strCache>
                <c:ptCount val="1"/>
                <c:pt idx="0">
                  <c:v>90th Negative Bar</c:v>
                </c:pt>
              </c:strCache>
            </c:strRef>
          </c:tx>
          <c:spPr>
            <a:noFill/>
          </c:spPr>
          <c:invertIfNegative val="0"/>
          <c:cat>
            <c:multiLvlStrRef>
              <c:f>Sheet1!$A$4:$A$7</c:f>
            </c:multiLvlStrRef>
          </c:cat>
          <c:val>
            <c:numRef>
              <c:f>Sheet1!$K$16:$K$19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398C-4D5F-973C-6662ADC03254}"/>
            </c:ext>
          </c:extLst>
        </c:ser>
        <c:ser>
          <c:idx val="4"/>
          <c:order val="9"/>
          <c:tx>
            <c:strRef>
              <c:f>Sheet1!$I$15</c:f>
              <c:strCache>
                <c:ptCount val="1"/>
                <c:pt idx="0">
                  <c:v>75th Negative Bar</c:v>
                </c:pt>
              </c:strCache>
            </c:strRef>
          </c:tx>
          <c:spPr>
            <a:noFill/>
          </c:spPr>
          <c:invertIfNegative val="0"/>
          <c:cat>
            <c:multiLvlStrRef>
              <c:f>Sheet1!$A$4:$A$7</c:f>
            </c:multiLvlStrRef>
          </c:cat>
          <c:val>
            <c:numRef>
              <c:f>Sheet1!$I$16:$I$19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398C-4D5F-973C-6662ADC03254}"/>
            </c:ext>
          </c:extLst>
        </c:ser>
        <c:ser>
          <c:idx val="2"/>
          <c:order val="10"/>
          <c:tx>
            <c:strRef>
              <c:f>Sheet1!$G$15</c:f>
              <c:strCache>
                <c:ptCount val="1"/>
                <c:pt idx="0">
                  <c:v>25th Negative Bar</c:v>
                </c:pt>
              </c:strCache>
            </c:strRef>
          </c:tx>
          <c:spPr>
            <a:solidFill>
              <a:srgbClr val="BFBFBF"/>
            </a:solidFill>
            <a:ln>
              <a:solidFill>
                <a:srgbClr val="BFBFBF"/>
              </a:solidFill>
            </a:ln>
          </c:spPr>
          <c:invertIfNegative val="0"/>
          <c:cat>
            <c:multiLvlStrRef>
              <c:f>Sheet1!$A$4:$A$7</c:f>
            </c:multiLvlStrRef>
          </c:cat>
          <c:val>
            <c:numRef>
              <c:f>Sheet1!$G$16:$G$19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398C-4D5F-973C-6662ADC03254}"/>
            </c:ext>
          </c:extLst>
        </c:ser>
        <c:ser>
          <c:idx val="1"/>
          <c:order val="11"/>
          <c:tx>
            <c:strRef>
              <c:f>Sheet1!$E$15</c:f>
              <c:strCache>
                <c:ptCount val="1"/>
                <c:pt idx="0">
                  <c:v>10th Negative Bar</c:v>
                </c:pt>
              </c:strCache>
            </c:strRef>
          </c:tx>
          <c:spPr>
            <a:noFill/>
          </c:spPr>
          <c:invertIfNegative val="0"/>
          <c:cat>
            <c:multiLvlStrRef>
              <c:f>Sheet1!$A$4:$A$7</c:f>
            </c:multiLvlStrRef>
          </c:cat>
          <c:val>
            <c:numRef>
              <c:f>Sheet1!$E$16:$E$19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398C-4D5F-973C-6662ADC03254}"/>
            </c:ext>
          </c:extLst>
        </c:ser>
        <c:ser>
          <c:idx val="15"/>
          <c:order val="14"/>
          <c:tx>
            <c:strRef>
              <c:f>Sheet1!$M$15</c:f>
              <c:strCache>
                <c:ptCount val="1"/>
                <c:pt idx="0">
                  <c:v>Benchmarks Omitted Bar</c:v>
                </c:pt>
              </c:strCache>
            </c:strRef>
          </c:tx>
          <c:spPr>
            <a:noFill/>
          </c:spPr>
          <c:invertIfNegative val="0"/>
          <c:cat>
            <c:multiLvlStrRef>
              <c:f>Sheet1!$A$4:$A$7</c:f>
            </c:multiLvlStrRef>
          </c:cat>
          <c:val>
            <c:numRef>
              <c:f>Sheet1!$M$16:$M$19</c:f>
              <c:numCache>
                <c:formatCode>General</c:formatCode>
                <c:ptCount val="4"/>
                <c:pt idx="0">
                  <c:v>0</c:v>
                </c:pt>
                <c:pt idx="1">
                  <c:v>0</c:v>
                </c:pt>
                <c:pt idx="2">
                  <c:v>0</c:v>
                </c:pt>
                <c:pt idx="3" formatCode="&quot;$&quot;#,##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398C-4D5F-973C-6662ADC03254}"/>
            </c:ext>
          </c:extLst>
        </c:ser>
        <c:dLbls>
          <c:showLegendKey val="0"/>
          <c:showVal val="0"/>
          <c:showCatName val="0"/>
          <c:showSerName val="0"/>
          <c:showPercent val="0"/>
          <c:showBubbleSize val="0"/>
        </c:dLbls>
        <c:gapWidth val="0"/>
        <c:overlap val="100"/>
        <c:axId val="1154865663"/>
        <c:axId val="1"/>
      </c:barChart>
      <c:scatterChart>
        <c:scatterStyle val="lineMarker"/>
        <c:varyColors val="0"/>
        <c:ser>
          <c:idx val="8"/>
          <c:order val="5"/>
          <c:tx>
            <c:strRef>
              <c:f>Sheet1!$B$9</c:f>
              <c:strCache>
                <c:ptCount val="1"/>
                <c:pt idx="0">
                  <c:v>Target Maturity</c:v>
                </c:pt>
              </c:strCache>
            </c:strRef>
          </c:tx>
          <c:marker>
            <c:symbol val="none"/>
          </c:marker>
          <c:dLbls>
            <c:dLbl>
              <c:idx val="0"/>
              <c:spPr>
                <a:solidFill>
                  <a:srgbClr val="1F96FF"/>
                </a:solidFill>
                <a:ln>
                  <a:noFill/>
                </a:ln>
                <a:effectLst/>
              </c:spPr>
              <c:txPr>
                <a:bodyPr wrap="square" lIns="38100" tIns="19050" rIns="38100" bIns="19050" anchor="ctr">
                  <a:spAutoFit/>
                </a:bodyPr>
                <a:lstStyle/>
                <a:p>
                  <a:pPr>
                    <a:defRPr sz="1100" smtId="4294967295">
                      <a:solidFill>
                        <a:srgbClr val="FFFFFF"/>
                      </a:solidFill>
                      <a:latin typeface="Roboto Medium" panose="02000000000000000000" pitchFamily="2" charset="0"/>
                      <a:ea typeface="Roboto Medium"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398C-4D5F-973C-6662ADC03254}"/>
                </c:ext>
              </c:extLst>
            </c:dLbl>
            <c:spPr>
              <a:solidFill>
                <a:srgbClr val="1F96FF"/>
              </a:solidFill>
              <a:ln>
                <a:noFill/>
              </a:ln>
              <a:effectLst/>
            </c:spPr>
            <c:txPr>
              <a:bodyPr wrap="square" lIns="38100" tIns="19050" rIns="38100" bIns="19050" anchor="ctr">
                <a:spAutoFit/>
              </a:bodyPr>
              <a:lstStyle/>
              <a:p>
                <a:pPr>
                  <a:defRPr sz="1100" smtId="4294967295">
                    <a:solidFill>
                      <a:srgbClr val="FFFFFF"/>
                    </a:solidFill>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40"/>
            <c:spPr>
              <a:ln w="25400">
                <a:solidFill>
                  <a:srgbClr val="1F96FF"/>
                </a:solidFill>
              </a:ln>
            </c:spPr>
          </c:errBars>
          <c:xVal>
            <c:numRef>
              <c:f>Sheet1!$D$9</c:f>
              <c:numCache>
                <c:formatCode>0.0</c:formatCode>
                <c:ptCount val="1"/>
                <c:pt idx="0">
                  <c:v>3</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398C-4D5F-973C-6662ADC03254}"/>
            </c:ext>
          </c:extLst>
        </c:ser>
        <c:ser>
          <c:idx val="11"/>
          <c:order val="6"/>
          <c:tx>
            <c:strRef>
              <c:f>Sheet1!$B$11</c:f>
              <c:strCache>
                <c:ptCount val="1"/>
                <c:pt idx="0">
                  <c:v>Maximum</c:v>
                </c:pt>
              </c:strCache>
            </c:strRef>
          </c:tx>
          <c:marker>
            <c:symbol val="none"/>
          </c:marker>
          <c:xVal>
            <c:numRef>
              <c:f>Sheet1!$D$11</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398C-4D5F-973C-6662ADC03254}"/>
            </c:ext>
          </c:extLst>
        </c:ser>
        <c:ser>
          <c:idx val="9"/>
          <c:order val="7"/>
          <c:tx>
            <c:strRef>
              <c:f>Sheet1!$B$8</c:f>
              <c:strCache>
                <c:ptCount val="1"/>
                <c:pt idx="0">
                  <c:v>Client</c:v>
                </c:pt>
              </c:strCache>
            </c:strRef>
          </c:tx>
          <c:marker>
            <c:symbol val="none"/>
          </c:marker>
          <c:xVal>
            <c:numRef>
              <c:f>Sheet1!$D$8</c:f>
              <c:numCache>
                <c:formatCode>0.00</c:formatCode>
                <c:ptCount val="1"/>
                <c:pt idx="0">
                  <c:v>0</c:v>
                </c:pt>
              </c:numCache>
            </c:numRef>
          </c:xVal>
          <c:yVal>
            <c:numRef>
              <c:f>Sheet1!$D$14</c:f>
              <c:numCache>
                <c:formatCode>_(* #,##0_);_(* \(#,##0\);_(* "-"??_);_(@_)</c:formatCode>
                <c:ptCount val="1"/>
                <c:pt idx="0">
                  <c:v>3</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398C-4D5F-973C-6662ADC03254}"/>
            </c:ext>
          </c:extLst>
        </c:ser>
        <c:ser>
          <c:idx val="13"/>
          <c:order val="12"/>
          <c:tx>
            <c:v>25th Scatter Label</c:v>
          </c:tx>
          <c:marker>
            <c:symbol val="none"/>
          </c:marker>
          <c:xVal>
            <c:numRef>
              <c:f>Sheet1!$D$5</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398C-4D5F-973C-6662ADC03254}"/>
            </c:ext>
          </c:extLst>
        </c:ser>
        <c:ser>
          <c:idx val="14"/>
          <c:order val="13"/>
          <c:tx>
            <c:v>75 Scatter Label</c:v>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398C-4D5F-973C-6662ADC03254}"/>
              </c:ext>
            </c:extLst>
          </c:dPt>
          <c:xVal>
            <c:numRef>
              <c:f>Sheet1!$D$6</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398C-4D5F-973C-6662ADC03254}"/>
            </c:ext>
          </c:extLst>
        </c:ser>
        <c:dLbls>
          <c:showLegendKey val="0"/>
          <c:showVal val="0"/>
          <c:showCatName val="0"/>
          <c:showSerName val="0"/>
          <c:showPercent val="0"/>
          <c:showBubbleSize val="0"/>
        </c:dLbls>
        <c:axId val="928322959"/>
        <c:axId val="928311311"/>
      </c:scatterChart>
      <c:catAx>
        <c:axId val="1154865663"/>
        <c:scaling>
          <c:orientation val="minMax"/>
        </c:scaling>
        <c:delete val="1"/>
        <c:axPos val="l"/>
        <c:numFmt formatCode="General" sourceLinked="1"/>
        <c:majorTickMark val="out"/>
        <c:minorTickMark val="none"/>
        <c:tickLblPos val="nextTo"/>
        <c:crossAx val="1"/>
        <c:crossesAt val="0"/>
        <c:auto val="0"/>
        <c:lblAlgn val="ctr"/>
        <c:lblOffset val="100"/>
        <c:noMultiLvlLbl val="1"/>
      </c:catAx>
      <c:valAx>
        <c:axId val="1"/>
        <c:scaling>
          <c:orientation val="minMax"/>
          <c:max val="5.0999999999999996"/>
          <c:min val="0"/>
        </c:scaling>
        <c:delete val="1"/>
        <c:axPos val="b"/>
        <c:numFmt formatCode="0.0" sourceLinked="0"/>
        <c:majorTickMark val="out"/>
        <c:minorTickMark val="none"/>
        <c:tickLblPos val="nextTo"/>
        <c:crossAx val="1154865663"/>
        <c:crossesAt val="1"/>
        <c:crossBetween val="between"/>
        <c:majorUnit val="1"/>
      </c:valAx>
      <c:valAx>
        <c:axId val="928322959"/>
        <c:scaling>
          <c:orientation val="minMax"/>
          <c:max val="1.6000000000000003E-3"/>
        </c:scaling>
        <c:delete val="1"/>
        <c:axPos val="b"/>
        <c:numFmt formatCode="0.0" sourceLinked="1"/>
        <c:majorTickMark val="out"/>
        <c:minorTickMark val="none"/>
        <c:tickLblPos val="nextTo"/>
        <c:crossAx val="928311311"/>
        <c:crosses val="autoZero"/>
        <c:crossBetween val="midCat"/>
      </c:valAx>
      <c:valAx>
        <c:axId val="928311311"/>
        <c:scaling>
          <c:orientation val="minMax"/>
          <c:max val="3"/>
          <c:min val="1"/>
        </c:scaling>
        <c:delete val="1"/>
        <c:axPos val="l"/>
        <c:numFmt formatCode="_(* #,##0_);_(* \(#,##0\);_(* &quot;-&quot;??_);_(@_)" sourceLinked="0"/>
        <c:majorTickMark val="out"/>
        <c:minorTickMark val="none"/>
        <c:tickLblPos val="nextTo"/>
        <c:crossAx val="928322959"/>
        <c:crosses val="autoZero"/>
        <c:crossBetween val="midCat"/>
        <c:majorUnit val="1"/>
        <c:minorUnit val="1"/>
      </c:valAx>
      <c:spPr>
        <a:noFill/>
        <a:ln>
          <a:noFill/>
        </a:ln>
      </c:spPr>
    </c:plotArea>
    <c:plotVisOnly val="1"/>
    <c:dispBlanksAs val="gap"/>
    <c:showDLblsOverMax val="0"/>
  </c:chart>
  <c:spPr>
    <a:noFill/>
    <a:ln>
      <a:noFill/>
    </a:ln>
  </c:spPr>
  <c:externalData r:id="rId2">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657136380672455E-2"/>
          <c:y val="3.0699737370014191E-2"/>
          <c:w val="0.95532488822937012"/>
          <c:h val="0.95688581466674805"/>
        </c:manualLayout>
      </c:layout>
      <c:barChart>
        <c:barDir val="bar"/>
        <c:grouping val="stacked"/>
        <c:varyColors val="0"/>
        <c:ser>
          <c:idx val="0"/>
          <c:order val="0"/>
          <c:tx>
            <c:strRef>
              <c:f>Sheet1!$D$15</c:f>
              <c:strCache>
                <c:ptCount val="1"/>
                <c:pt idx="0">
                  <c:v>Current Maturity</c:v>
                </c:pt>
              </c:strCache>
            </c:strRef>
          </c:tx>
          <c:spPr>
            <a:solidFill>
              <a:srgbClr val="002856"/>
            </a:solidFill>
            <a:ln>
              <a:solidFill>
                <a:srgbClr val="002856"/>
              </a:solidFill>
              <a:miter lim="800000"/>
            </a:ln>
          </c:spPr>
          <c:invertIfNegative val="0"/>
          <c:dLbls>
            <c:dLbl>
              <c:idx val="0"/>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8BAD-4760-B4BB-E390B483040B}"/>
                </c:ext>
              </c:extLst>
            </c:dLbl>
            <c:dLbl>
              <c:idx val="1"/>
              <c:spPr/>
              <c:txPr>
                <a:bodyPr wrap="square" lIns="38100" tIns="19050" rIns="38100" bIns="19050" anchor="ctr">
                  <a:spAutoFit/>
                </a:bodyPr>
                <a:lstStyle/>
                <a:p>
                  <a:pPr>
                    <a:defRPr sz="1100" smtId="4294967295">
                      <a:solidFill>
                        <a:schemeClr val="bg1"/>
                      </a:solidFill>
                    </a:defRPr>
                  </a:pPr>
                  <a:endParaRPr lang="en-US"/>
                </a:p>
              </c:txPr>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8BAD-4760-B4BB-E390B483040B}"/>
                </c:ext>
              </c:extLst>
            </c:dLbl>
            <c:dLbl>
              <c:idx val="2"/>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8BAD-4760-B4BB-E390B483040B}"/>
                </c:ext>
              </c:extLst>
            </c:dLbl>
            <c:dLbl>
              <c:idx val="3"/>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8BAD-4760-B4BB-E390B483040B}"/>
                </c:ext>
              </c:extLst>
            </c:dLbl>
            <c:spPr>
              <a:noFill/>
              <a:ln>
                <a:noFill/>
              </a:ln>
              <a:effectLst/>
            </c:spPr>
            <c:txPr>
              <a:bodyPr wrap="square" lIns="38100" tIns="19050" rIns="38100" bIns="19050" anchor="ctr">
                <a:spAutoFit/>
              </a:bodyPr>
              <a:lstStyle/>
              <a:p>
                <a:pPr>
                  <a:defRPr sz="1100" smtId="4294967295">
                    <a:solidFill>
                      <a:schemeClr val="bg1"/>
                    </a:solidFill>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cat>
            <c:multiLvlStrRef>
              <c:f>Sheet1!$A$4:$A$7</c:f>
            </c:multiLvlStrRef>
          </c:cat>
          <c:val>
            <c:numRef>
              <c:f>Sheet1!$D$16:$D$19</c:f>
              <c:numCache>
                <c:formatCode>0.0</c:formatCode>
                <c:ptCount val="4"/>
                <c:pt idx="0" formatCode="0.00">
                  <c:v>0</c:v>
                </c:pt>
                <c:pt idx="1">
                  <c:v>2</c:v>
                </c:pt>
                <c:pt idx="2">
                  <c:v>0</c:v>
                </c:pt>
                <c:pt idx="3" formatCode="0.0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8BAD-4760-B4BB-E390B483040B}"/>
            </c:ext>
          </c:extLst>
        </c:ser>
        <c:ser>
          <c:idx val="10"/>
          <c:order val="1"/>
          <c:tx>
            <c:strRef>
              <c:f>Sheet1!$F$15</c:f>
              <c:strCache>
                <c:ptCount val="1"/>
                <c:pt idx="0">
                  <c:v>10th Positive Bar</c:v>
                </c:pt>
              </c:strCache>
            </c:strRef>
          </c:tx>
          <c:spPr>
            <a:noFill/>
            <a:ln>
              <a:noFill/>
            </a:ln>
          </c:spPr>
          <c:invertIfNegative val="0"/>
          <c:cat>
            <c:multiLvlStrRef>
              <c:f>Sheet1!$A$4:$A$7</c:f>
            </c:multiLvlStrRef>
          </c:cat>
          <c:val>
            <c:numRef>
              <c:f>Sheet1!$F$16:$F$19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8BAD-4760-B4BB-E390B483040B}"/>
            </c:ext>
          </c:extLst>
        </c:ser>
        <c:ser>
          <c:idx val="3"/>
          <c:order val="2"/>
          <c:tx>
            <c:strRef>
              <c:f>Sheet1!$H$15</c:f>
              <c:strCache>
                <c:ptCount val="1"/>
                <c:pt idx="0">
                  <c:v>25th Positive Bar</c:v>
                </c:pt>
              </c:strCache>
            </c:strRef>
          </c:tx>
          <c:spPr>
            <a:noFill/>
          </c:spPr>
          <c:invertIfNegative val="0"/>
          <c:cat>
            <c:multiLvlStrRef>
              <c:f>Sheet1!$A$4:$A$7</c:f>
            </c:multiLvlStrRef>
          </c:cat>
          <c:val>
            <c:numRef>
              <c:f>Sheet1!$H$16:$H$19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8BAD-4760-B4BB-E390B483040B}"/>
            </c:ext>
          </c:extLst>
        </c:ser>
        <c:ser>
          <c:idx val="5"/>
          <c:order val="3"/>
          <c:tx>
            <c:strRef>
              <c:f>Sheet1!$J$15</c:f>
              <c:strCache>
                <c:ptCount val="1"/>
                <c:pt idx="0">
                  <c:v>75th Positive Bar</c:v>
                </c:pt>
              </c:strCache>
            </c:strRef>
          </c:tx>
          <c:spPr>
            <a:solidFill>
              <a:srgbClr val="BFBFBF"/>
            </a:solidFill>
            <a:ln>
              <a:solidFill>
                <a:srgbClr val="BFBFBF"/>
              </a:solidFill>
            </a:ln>
          </c:spPr>
          <c:invertIfNegative val="0"/>
          <c:cat>
            <c:multiLvlStrRef>
              <c:f>Sheet1!$A$4:$A$7</c:f>
            </c:multiLvlStrRef>
          </c:cat>
          <c:val>
            <c:numRef>
              <c:f>Sheet1!$J$16:$J$19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8BAD-4760-B4BB-E390B483040B}"/>
            </c:ext>
          </c:extLst>
        </c:ser>
        <c:ser>
          <c:idx val="7"/>
          <c:order val="4"/>
          <c:tx>
            <c:strRef>
              <c:f>Sheet1!$L$15</c:f>
              <c:strCache>
                <c:ptCount val="1"/>
                <c:pt idx="0">
                  <c:v>90th Positive Bar</c:v>
                </c:pt>
              </c:strCache>
            </c:strRef>
          </c:tx>
          <c:spPr>
            <a:noFill/>
          </c:spPr>
          <c:invertIfNegative val="0"/>
          <c:cat>
            <c:multiLvlStrRef>
              <c:f>Sheet1!$A$4:$A$7</c:f>
            </c:multiLvlStrRef>
          </c:cat>
          <c:val>
            <c:numRef>
              <c:f>Sheet1!$L$16:$L$19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8BAD-4760-B4BB-E390B483040B}"/>
            </c:ext>
          </c:extLst>
        </c:ser>
        <c:ser>
          <c:idx val="6"/>
          <c:order val="8"/>
          <c:tx>
            <c:strRef>
              <c:f>Sheet1!$K$15</c:f>
              <c:strCache>
                <c:ptCount val="1"/>
                <c:pt idx="0">
                  <c:v>90th Negative Bar</c:v>
                </c:pt>
              </c:strCache>
            </c:strRef>
          </c:tx>
          <c:spPr>
            <a:noFill/>
          </c:spPr>
          <c:invertIfNegative val="0"/>
          <c:cat>
            <c:multiLvlStrRef>
              <c:f>Sheet1!$A$4:$A$7</c:f>
            </c:multiLvlStrRef>
          </c:cat>
          <c:val>
            <c:numRef>
              <c:f>Sheet1!$K$16:$K$19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8BAD-4760-B4BB-E390B483040B}"/>
            </c:ext>
          </c:extLst>
        </c:ser>
        <c:ser>
          <c:idx val="4"/>
          <c:order val="9"/>
          <c:tx>
            <c:strRef>
              <c:f>Sheet1!$I$15</c:f>
              <c:strCache>
                <c:ptCount val="1"/>
                <c:pt idx="0">
                  <c:v>75th Negative Bar</c:v>
                </c:pt>
              </c:strCache>
            </c:strRef>
          </c:tx>
          <c:spPr>
            <a:noFill/>
          </c:spPr>
          <c:invertIfNegative val="0"/>
          <c:cat>
            <c:multiLvlStrRef>
              <c:f>Sheet1!$A$4:$A$7</c:f>
            </c:multiLvlStrRef>
          </c:cat>
          <c:val>
            <c:numRef>
              <c:f>Sheet1!$I$16:$I$19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8BAD-4760-B4BB-E390B483040B}"/>
            </c:ext>
          </c:extLst>
        </c:ser>
        <c:ser>
          <c:idx val="2"/>
          <c:order val="10"/>
          <c:tx>
            <c:strRef>
              <c:f>Sheet1!$G$15</c:f>
              <c:strCache>
                <c:ptCount val="1"/>
                <c:pt idx="0">
                  <c:v>25th Negative Bar</c:v>
                </c:pt>
              </c:strCache>
            </c:strRef>
          </c:tx>
          <c:spPr>
            <a:solidFill>
              <a:srgbClr val="BFBFBF"/>
            </a:solidFill>
            <a:ln>
              <a:solidFill>
                <a:srgbClr val="BFBFBF"/>
              </a:solidFill>
            </a:ln>
          </c:spPr>
          <c:invertIfNegative val="0"/>
          <c:cat>
            <c:multiLvlStrRef>
              <c:f>Sheet1!$A$4:$A$7</c:f>
            </c:multiLvlStrRef>
          </c:cat>
          <c:val>
            <c:numRef>
              <c:f>Sheet1!$G$16:$G$19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8BAD-4760-B4BB-E390B483040B}"/>
            </c:ext>
          </c:extLst>
        </c:ser>
        <c:ser>
          <c:idx val="1"/>
          <c:order val="11"/>
          <c:tx>
            <c:strRef>
              <c:f>Sheet1!$E$15</c:f>
              <c:strCache>
                <c:ptCount val="1"/>
                <c:pt idx="0">
                  <c:v>10th Negative Bar</c:v>
                </c:pt>
              </c:strCache>
            </c:strRef>
          </c:tx>
          <c:spPr>
            <a:noFill/>
          </c:spPr>
          <c:invertIfNegative val="0"/>
          <c:cat>
            <c:multiLvlStrRef>
              <c:f>Sheet1!$A$4:$A$7</c:f>
            </c:multiLvlStrRef>
          </c:cat>
          <c:val>
            <c:numRef>
              <c:f>Sheet1!$E$16:$E$19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8BAD-4760-B4BB-E390B483040B}"/>
            </c:ext>
          </c:extLst>
        </c:ser>
        <c:ser>
          <c:idx val="15"/>
          <c:order val="14"/>
          <c:tx>
            <c:strRef>
              <c:f>Sheet1!$M$15</c:f>
              <c:strCache>
                <c:ptCount val="1"/>
                <c:pt idx="0">
                  <c:v>Benchmarks Omitted Bar</c:v>
                </c:pt>
              </c:strCache>
            </c:strRef>
          </c:tx>
          <c:spPr>
            <a:noFill/>
          </c:spPr>
          <c:invertIfNegative val="0"/>
          <c:cat>
            <c:multiLvlStrRef>
              <c:f>Sheet1!$A$4:$A$7</c:f>
            </c:multiLvlStrRef>
          </c:cat>
          <c:val>
            <c:numRef>
              <c:f>Sheet1!$M$16:$M$19</c:f>
              <c:numCache>
                <c:formatCode>General</c:formatCode>
                <c:ptCount val="4"/>
                <c:pt idx="0">
                  <c:v>0</c:v>
                </c:pt>
                <c:pt idx="1">
                  <c:v>0</c:v>
                </c:pt>
                <c:pt idx="2">
                  <c:v>0</c:v>
                </c:pt>
                <c:pt idx="3" formatCode="&quot;$&quot;#,##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8BAD-4760-B4BB-E390B483040B}"/>
            </c:ext>
          </c:extLst>
        </c:ser>
        <c:dLbls>
          <c:showLegendKey val="0"/>
          <c:showVal val="0"/>
          <c:showCatName val="0"/>
          <c:showSerName val="0"/>
          <c:showPercent val="0"/>
          <c:showBubbleSize val="0"/>
        </c:dLbls>
        <c:gapWidth val="0"/>
        <c:overlap val="100"/>
        <c:axId val="1154865663"/>
        <c:axId val="1"/>
      </c:barChart>
      <c:scatterChart>
        <c:scatterStyle val="lineMarker"/>
        <c:varyColors val="0"/>
        <c:ser>
          <c:idx val="8"/>
          <c:order val="5"/>
          <c:tx>
            <c:strRef>
              <c:f>Sheet1!$B$9</c:f>
              <c:strCache>
                <c:ptCount val="1"/>
                <c:pt idx="0">
                  <c:v>Target Maturity</c:v>
                </c:pt>
              </c:strCache>
            </c:strRef>
          </c:tx>
          <c:marker>
            <c:symbol val="none"/>
          </c:marker>
          <c:dLbls>
            <c:dLbl>
              <c:idx val="0"/>
              <c:spPr>
                <a:solidFill>
                  <a:srgbClr val="1F96FF"/>
                </a:solidFill>
                <a:ln>
                  <a:noFill/>
                </a:ln>
                <a:effectLst/>
              </c:spPr>
              <c:txPr>
                <a:bodyPr wrap="square" lIns="38100" tIns="19050" rIns="38100" bIns="19050" anchor="ctr">
                  <a:spAutoFit/>
                </a:bodyPr>
                <a:lstStyle/>
                <a:p>
                  <a:pPr>
                    <a:defRPr sz="1100" smtId="4294967295">
                      <a:solidFill>
                        <a:srgbClr val="FFFFFF"/>
                      </a:solidFill>
                      <a:latin typeface="Roboto Medium" panose="02000000000000000000" pitchFamily="2" charset="0"/>
                      <a:ea typeface="Roboto Medium"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8BAD-4760-B4BB-E390B483040B}"/>
                </c:ext>
              </c:extLst>
            </c:dLbl>
            <c:spPr>
              <a:solidFill>
                <a:srgbClr val="1F96FF"/>
              </a:solidFill>
              <a:ln>
                <a:noFill/>
              </a:ln>
              <a:effectLst/>
            </c:spPr>
            <c:txPr>
              <a:bodyPr wrap="square" lIns="38100" tIns="19050" rIns="38100" bIns="19050" anchor="ctr">
                <a:spAutoFit/>
              </a:bodyPr>
              <a:lstStyle/>
              <a:p>
                <a:pPr>
                  <a:defRPr sz="1100" smtId="4294967295">
                    <a:solidFill>
                      <a:srgbClr val="FFFFFF"/>
                    </a:solidFill>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40"/>
            <c:spPr>
              <a:ln w="25400">
                <a:solidFill>
                  <a:srgbClr val="1F96FF"/>
                </a:solidFill>
              </a:ln>
            </c:spPr>
          </c:errBars>
          <c:xVal>
            <c:numRef>
              <c:f>Sheet1!$D$9</c:f>
              <c:numCache>
                <c:formatCode>0.0</c:formatCode>
                <c:ptCount val="1"/>
                <c:pt idx="0">
                  <c:v>3</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8BAD-4760-B4BB-E390B483040B}"/>
            </c:ext>
          </c:extLst>
        </c:ser>
        <c:ser>
          <c:idx val="11"/>
          <c:order val="6"/>
          <c:tx>
            <c:strRef>
              <c:f>Sheet1!$B$11</c:f>
              <c:strCache>
                <c:ptCount val="1"/>
                <c:pt idx="0">
                  <c:v>Maximum</c:v>
                </c:pt>
              </c:strCache>
            </c:strRef>
          </c:tx>
          <c:marker>
            <c:symbol val="none"/>
          </c:marker>
          <c:xVal>
            <c:numRef>
              <c:f>Sheet1!$D$11</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8BAD-4760-B4BB-E390B483040B}"/>
            </c:ext>
          </c:extLst>
        </c:ser>
        <c:ser>
          <c:idx val="9"/>
          <c:order val="7"/>
          <c:tx>
            <c:strRef>
              <c:f>Sheet1!$B$8</c:f>
              <c:strCache>
                <c:ptCount val="1"/>
                <c:pt idx="0">
                  <c:v>Client</c:v>
                </c:pt>
              </c:strCache>
            </c:strRef>
          </c:tx>
          <c:marker>
            <c:symbol val="none"/>
          </c:marker>
          <c:xVal>
            <c:numRef>
              <c:f>Sheet1!$D$8</c:f>
              <c:numCache>
                <c:formatCode>0.00</c:formatCode>
                <c:ptCount val="1"/>
                <c:pt idx="0">
                  <c:v>0</c:v>
                </c:pt>
              </c:numCache>
            </c:numRef>
          </c:xVal>
          <c:yVal>
            <c:numRef>
              <c:f>Sheet1!$D$14</c:f>
              <c:numCache>
                <c:formatCode>_(* #,##0_);_(* \(#,##0\);_(* "-"??_);_(@_)</c:formatCode>
                <c:ptCount val="1"/>
                <c:pt idx="0">
                  <c:v>3</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8BAD-4760-B4BB-E390B483040B}"/>
            </c:ext>
          </c:extLst>
        </c:ser>
        <c:ser>
          <c:idx val="13"/>
          <c:order val="12"/>
          <c:tx>
            <c:v>25th Scatter Label</c:v>
          </c:tx>
          <c:marker>
            <c:symbol val="none"/>
          </c:marker>
          <c:xVal>
            <c:numRef>
              <c:f>Sheet1!$D$5</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8BAD-4760-B4BB-E390B483040B}"/>
            </c:ext>
          </c:extLst>
        </c:ser>
        <c:ser>
          <c:idx val="14"/>
          <c:order val="13"/>
          <c:tx>
            <c:v>75 Scatter Label</c:v>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8BAD-4760-B4BB-E390B483040B}"/>
              </c:ext>
            </c:extLst>
          </c:dPt>
          <c:xVal>
            <c:numRef>
              <c:f>Sheet1!$D$6</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8BAD-4760-B4BB-E390B483040B}"/>
            </c:ext>
          </c:extLst>
        </c:ser>
        <c:dLbls>
          <c:showLegendKey val="0"/>
          <c:showVal val="0"/>
          <c:showCatName val="0"/>
          <c:showSerName val="0"/>
          <c:showPercent val="0"/>
          <c:showBubbleSize val="0"/>
        </c:dLbls>
        <c:axId val="928322959"/>
        <c:axId val="928311311"/>
      </c:scatterChart>
      <c:catAx>
        <c:axId val="1154865663"/>
        <c:scaling>
          <c:orientation val="minMax"/>
        </c:scaling>
        <c:delete val="1"/>
        <c:axPos val="l"/>
        <c:numFmt formatCode="General" sourceLinked="1"/>
        <c:majorTickMark val="out"/>
        <c:minorTickMark val="none"/>
        <c:tickLblPos val="nextTo"/>
        <c:crossAx val="1"/>
        <c:crossesAt val="0"/>
        <c:auto val="0"/>
        <c:lblAlgn val="ctr"/>
        <c:lblOffset val="100"/>
        <c:noMultiLvlLbl val="1"/>
      </c:catAx>
      <c:valAx>
        <c:axId val="1"/>
        <c:scaling>
          <c:orientation val="minMax"/>
          <c:max val="5.0999999999999996"/>
          <c:min val="0"/>
        </c:scaling>
        <c:delete val="1"/>
        <c:axPos val="b"/>
        <c:numFmt formatCode="0.0" sourceLinked="0"/>
        <c:majorTickMark val="out"/>
        <c:minorTickMark val="none"/>
        <c:tickLblPos val="nextTo"/>
        <c:crossAx val="1154865663"/>
        <c:crossesAt val="1"/>
        <c:crossBetween val="between"/>
        <c:majorUnit val="1"/>
      </c:valAx>
      <c:valAx>
        <c:axId val="928322959"/>
        <c:scaling>
          <c:orientation val="minMax"/>
          <c:max val="1.6000000000000003E-3"/>
        </c:scaling>
        <c:delete val="1"/>
        <c:axPos val="b"/>
        <c:numFmt formatCode="0.0" sourceLinked="1"/>
        <c:majorTickMark val="out"/>
        <c:minorTickMark val="none"/>
        <c:tickLblPos val="nextTo"/>
        <c:crossAx val="928311311"/>
        <c:crosses val="autoZero"/>
        <c:crossBetween val="midCat"/>
      </c:valAx>
      <c:valAx>
        <c:axId val="928311311"/>
        <c:scaling>
          <c:orientation val="minMax"/>
          <c:max val="3"/>
          <c:min val="1"/>
        </c:scaling>
        <c:delete val="1"/>
        <c:axPos val="l"/>
        <c:numFmt formatCode="_(* #,##0_);_(* \(#,##0\);_(* &quot;-&quot;??_);_(@_)" sourceLinked="0"/>
        <c:majorTickMark val="out"/>
        <c:minorTickMark val="none"/>
        <c:tickLblPos val="nextTo"/>
        <c:crossAx val="928322959"/>
        <c:crosses val="autoZero"/>
        <c:crossBetween val="midCat"/>
        <c:majorUnit val="1"/>
        <c:minorUnit val="1"/>
      </c:valAx>
      <c:spPr>
        <a:noFill/>
        <a:ln>
          <a:noFill/>
        </a:ln>
      </c:spPr>
    </c:plotArea>
    <c:plotVisOnly val="1"/>
    <c:dispBlanksAs val="gap"/>
    <c:showDLblsOverMax val="0"/>
  </c:chart>
  <c:spPr>
    <a:noFill/>
    <a:ln>
      <a:noFill/>
    </a:ln>
  </c:spPr>
  <c:externalData r:id="rId2">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657136380672455E-2"/>
          <c:y val="3.0699737370014191E-2"/>
          <c:w val="0.95532488822937012"/>
          <c:h val="0.95688581466674805"/>
        </c:manualLayout>
      </c:layout>
      <c:barChart>
        <c:barDir val="bar"/>
        <c:grouping val="stacked"/>
        <c:varyColors val="0"/>
        <c:ser>
          <c:idx val="0"/>
          <c:order val="0"/>
          <c:tx>
            <c:strRef>
              <c:f>Sheet1!$D$15</c:f>
              <c:strCache>
                <c:ptCount val="1"/>
                <c:pt idx="0">
                  <c:v>Current Maturity</c:v>
                </c:pt>
              </c:strCache>
            </c:strRef>
          </c:tx>
          <c:spPr>
            <a:solidFill>
              <a:srgbClr val="002856"/>
            </a:solidFill>
            <a:ln>
              <a:solidFill>
                <a:srgbClr val="002856"/>
              </a:solidFill>
              <a:miter lim="800000"/>
            </a:ln>
          </c:spPr>
          <c:invertIfNegative val="0"/>
          <c:dLbls>
            <c:dLbl>
              <c:idx val="0"/>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4A71-4830-B882-78481820B7FA}"/>
                </c:ext>
              </c:extLst>
            </c:dLbl>
            <c:dLbl>
              <c:idx val="1"/>
              <c:spPr/>
              <c:txPr>
                <a:bodyPr wrap="square" lIns="38100" tIns="19050" rIns="38100" bIns="19050" anchor="ctr">
                  <a:spAutoFit/>
                </a:bodyPr>
                <a:lstStyle/>
                <a:p>
                  <a:pPr>
                    <a:defRPr sz="1100" smtId="4294967295">
                      <a:solidFill>
                        <a:schemeClr val="bg1"/>
                      </a:solidFill>
                    </a:defRPr>
                  </a:pPr>
                  <a:endParaRPr lang="en-US"/>
                </a:p>
              </c:txPr>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4A71-4830-B882-78481820B7FA}"/>
                </c:ext>
              </c:extLst>
            </c:dLbl>
            <c:dLbl>
              <c:idx val="2"/>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4A71-4830-B882-78481820B7FA}"/>
                </c:ext>
              </c:extLst>
            </c:dLbl>
            <c:dLbl>
              <c:idx val="3"/>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4A71-4830-B882-78481820B7FA}"/>
                </c:ext>
              </c:extLst>
            </c:dLbl>
            <c:spPr>
              <a:noFill/>
              <a:ln>
                <a:noFill/>
              </a:ln>
              <a:effectLst/>
            </c:spPr>
            <c:txPr>
              <a:bodyPr wrap="square" lIns="38100" tIns="19050" rIns="38100" bIns="19050" anchor="ctr">
                <a:spAutoFit/>
              </a:bodyPr>
              <a:lstStyle/>
              <a:p>
                <a:pPr>
                  <a:defRPr sz="1100" smtId="4294967295">
                    <a:solidFill>
                      <a:schemeClr val="bg1"/>
                    </a:solidFill>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cat>
            <c:multiLvlStrRef>
              <c:f>Sheet1!$A$4:$A$7</c:f>
            </c:multiLvlStrRef>
          </c:cat>
          <c:val>
            <c:numRef>
              <c:f>Sheet1!$D$16:$D$19</c:f>
              <c:numCache>
                <c:formatCode>0.0</c:formatCode>
                <c:ptCount val="4"/>
                <c:pt idx="0" formatCode="0.00">
                  <c:v>0</c:v>
                </c:pt>
                <c:pt idx="1">
                  <c:v>1</c:v>
                </c:pt>
                <c:pt idx="2">
                  <c:v>0</c:v>
                </c:pt>
                <c:pt idx="3" formatCode="0.0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4A71-4830-B882-78481820B7FA}"/>
            </c:ext>
          </c:extLst>
        </c:ser>
        <c:ser>
          <c:idx val="10"/>
          <c:order val="1"/>
          <c:tx>
            <c:strRef>
              <c:f>Sheet1!$F$15</c:f>
              <c:strCache>
                <c:ptCount val="1"/>
                <c:pt idx="0">
                  <c:v>10th Positive Bar</c:v>
                </c:pt>
              </c:strCache>
            </c:strRef>
          </c:tx>
          <c:spPr>
            <a:noFill/>
            <a:ln>
              <a:noFill/>
            </a:ln>
          </c:spPr>
          <c:invertIfNegative val="0"/>
          <c:cat>
            <c:multiLvlStrRef>
              <c:f>Sheet1!$A$4:$A$7</c:f>
            </c:multiLvlStrRef>
          </c:cat>
          <c:val>
            <c:numRef>
              <c:f>Sheet1!$F$16:$F$19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4A71-4830-B882-78481820B7FA}"/>
            </c:ext>
          </c:extLst>
        </c:ser>
        <c:ser>
          <c:idx val="3"/>
          <c:order val="2"/>
          <c:tx>
            <c:strRef>
              <c:f>Sheet1!$H$15</c:f>
              <c:strCache>
                <c:ptCount val="1"/>
                <c:pt idx="0">
                  <c:v>25th Positive Bar</c:v>
                </c:pt>
              </c:strCache>
            </c:strRef>
          </c:tx>
          <c:spPr>
            <a:noFill/>
          </c:spPr>
          <c:invertIfNegative val="0"/>
          <c:cat>
            <c:multiLvlStrRef>
              <c:f>Sheet1!$A$4:$A$7</c:f>
            </c:multiLvlStrRef>
          </c:cat>
          <c:val>
            <c:numRef>
              <c:f>Sheet1!$H$16:$H$19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4A71-4830-B882-78481820B7FA}"/>
            </c:ext>
          </c:extLst>
        </c:ser>
        <c:ser>
          <c:idx val="5"/>
          <c:order val="3"/>
          <c:tx>
            <c:strRef>
              <c:f>Sheet1!$J$15</c:f>
              <c:strCache>
                <c:ptCount val="1"/>
                <c:pt idx="0">
                  <c:v>75th Positive Bar</c:v>
                </c:pt>
              </c:strCache>
            </c:strRef>
          </c:tx>
          <c:spPr>
            <a:solidFill>
              <a:srgbClr val="BFBFBF"/>
            </a:solidFill>
            <a:ln>
              <a:solidFill>
                <a:srgbClr val="BFBFBF"/>
              </a:solidFill>
            </a:ln>
          </c:spPr>
          <c:invertIfNegative val="0"/>
          <c:cat>
            <c:multiLvlStrRef>
              <c:f>Sheet1!$A$4:$A$7</c:f>
            </c:multiLvlStrRef>
          </c:cat>
          <c:val>
            <c:numRef>
              <c:f>Sheet1!$J$16:$J$19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4A71-4830-B882-78481820B7FA}"/>
            </c:ext>
          </c:extLst>
        </c:ser>
        <c:ser>
          <c:idx val="7"/>
          <c:order val="4"/>
          <c:tx>
            <c:strRef>
              <c:f>Sheet1!$L$15</c:f>
              <c:strCache>
                <c:ptCount val="1"/>
                <c:pt idx="0">
                  <c:v>90th Positive Bar</c:v>
                </c:pt>
              </c:strCache>
            </c:strRef>
          </c:tx>
          <c:spPr>
            <a:noFill/>
          </c:spPr>
          <c:invertIfNegative val="0"/>
          <c:cat>
            <c:multiLvlStrRef>
              <c:f>Sheet1!$A$4:$A$7</c:f>
            </c:multiLvlStrRef>
          </c:cat>
          <c:val>
            <c:numRef>
              <c:f>Sheet1!$L$16:$L$19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4A71-4830-B882-78481820B7FA}"/>
            </c:ext>
          </c:extLst>
        </c:ser>
        <c:ser>
          <c:idx val="6"/>
          <c:order val="8"/>
          <c:tx>
            <c:strRef>
              <c:f>Sheet1!$K$15</c:f>
              <c:strCache>
                <c:ptCount val="1"/>
                <c:pt idx="0">
                  <c:v>90th Negative Bar</c:v>
                </c:pt>
              </c:strCache>
            </c:strRef>
          </c:tx>
          <c:spPr>
            <a:noFill/>
          </c:spPr>
          <c:invertIfNegative val="0"/>
          <c:cat>
            <c:multiLvlStrRef>
              <c:f>Sheet1!$A$4:$A$7</c:f>
            </c:multiLvlStrRef>
          </c:cat>
          <c:val>
            <c:numRef>
              <c:f>Sheet1!$K$16:$K$19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4A71-4830-B882-78481820B7FA}"/>
            </c:ext>
          </c:extLst>
        </c:ser>
        <c:ser>
          <c:idx val="4"/>
          <c:order val="9"/>
          <c:tx>
            <c:strRef>
              <c:f>Sheet1!$I$15</c:f>
              <c:strCache>
                <c:ptCount val="1"/>
                <c:pt idx="0">
                  <c:v>75th Negative Bar</c:v>
                </c:pt>
              </c:strCache>
            </c:strRef>
          </c:tx>
          <c:spPr>
            <a:noFill/>
          </c:spPr>
          <c:invertIfNegative val="0"/>
          <c:cat>
            <c:multiLvlStrRef>
              <c:f>Sheet1!$A$4:$A$7</c:f>
            </c:multiLvlStrRef>
          </c:cat>
          <c:val>
            <c:numRef>
              <c:f>Sheet1!$I$16:$I$19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4A71-4830-B882-78481820B7FA}"/>
            </c:ext>
          </c:extLst>
        </c:ser>
        <c:ser>
          <c:idx val="2"/>
          <c:order val="10"/>
          <c:tx>
            <c:strRef>
              <c:f>Sheet1!$G$15</c:f>
              <c:strCache>
                <c:ptCount val="1"/>
                <c:pt idx="0">
                  <c:v>25th Negative Bar</c:v>
                </c:pt>
              </c:strCache>
            </c:strRef>
          </c:tx>
          <c:spPr>
            <a:solidFill>
              <a:srgbClr val="BFBFBF"/>
            </a:solidFill>
            <a:ln>
              <a:solidFill>
                <a:srgbClr val="BFBFBF"/>
              </a:solidFill>
            </a:ln>
          </c:spPr>
          <c:invertIfNegative val="0"/>
          <c:cat>
            <c:multiLvlStrRef>
              <c:f>Sheet1!$A$4:$A$7</c:f>
            </c:multiLvlStrRef>
          </c:cat>
          <c:val>
            <c:numRef>
              <c:f>Sheet1!$G$16:$G$19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4A71-4830-B882-78481820B7FA}"/>
            </c:ext>
          </c:extLst>
        </c:ser>
        <c:ser>
          <c:idx val="1"/>
          <c:order val="11"/>
          <c:tx>
            <c:strRef>
              <c:f>Sheet1!$E$15</c:f>
              <c:strCache>
                <c:ptCount val="1"/>
                <c:pt idx="0">
                  <c:v>10th Negative Bar</c:v>
                </c:pt>
              </c:strCache>
            </c:strRef>
          </c:tx>
          <c:spPr>
            <a:noFill/>
          </c:spPr>
          <c:invertIfNegative val="0"/>
          <c:cat>
            <c:multiLvlStrRef>
              <c:f>Sheet1!$A$4:$A$7</c:f>
            </c:multiLvlStrRef>
          </c:cat>
          <c:val>
            <c:numRef>
              <c:f>Sheet1!$E$16:$E$19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4A71-4830-B882-78481820B7FA}"/>
            </c:ext>
          </c:extLst>
        </c:ser>
        <c:ser>
          <c:idx val="15"/>
          <c:order val="14"/>
          <c:tx>
            <c:strRef>
              <c:f>Sheet1!$M$15</c:f>
              <c:strCache>
                <c:ptCount val="1"/>
                <c:pt idx="0">
                  <c:v>Benchmarks Omitted Bar</c:v>
                </c:pt>
              </c:strCache>
            </c:strRef>
          </c:tx>
          <c:spPr>
            <a:noFill/>
          </c:spPr>
          <c:invertIfNegative val="0"/>
          <c:cat>
            <c:multiLvlStrRef>
              <c:f>Sheet1!$A$4:$A$7</c:f>
            </c:multiLvlStrRef>
          </c:cat>
          <c:val>
            <c:numRef>
              <c:f>Sheet1!$M$16:$M$19</c:f>
              <c:numCache>
                <c:formatCode>General</c:formatCode>
                <c:ptCount val="4"/>
                <c:pt idx="0">
                  <c:v>0</c:v>
                </c:pt>
                <c:pt idx="1">
                  <c:v>0</c:v>
                </c:pt>
                <c:pt idx="2">
                  <c:v>0</c:v>
                </c:pt>
                <c:pt idx="3" formatCode="&quot;$&quot;#,##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4A71-4830-B882-78481820B7FA}"/>
            </c:ext>
          </c:extLst>
        </c:ser>
        <c:dLbls>
          <c:showLegendKey val="0"/>
          <c:showVal val="0"/>
          <c:showCatName val="0"/>
          <c:showSerName val="0"/>
          <c:showPercent val="0"/>
          <c:showBubbleSize val="0"/>
        </c:dLbls>
        <c:gapWidth val="0"/>
        <c:overlap val="100"/>
        <c:axId val="1154865663"/>
        <c:axId val="1"/>
      </c:barChart>
      <c:scatterChart>
        <c:scatterStyle val="lineMarker"/>
        <c:varyColors val="0"/>
        <c:ser>
          <c:idx val="8"/>
          <c:order val="5"/>
          <c:tx>
            <c:strRef>
              <c:f>Sheet1!$B$9</c:f>
              <c:strCache>
                <c:ptCount val="1"/>
                <c:pt idx="0">
                  <c:v>Target Maturity</c:v>
                </c:pt>
              </c:strCache>
            </c:strRef>
          </c:tx>
          <c:marker>
            <c:symbol val="none"/>
          </c:marker>
          <c:dLbls>
            <c:dLbl>
              <c:idx val="0"/>
              <c:spPr>
                <a:solidFill>
                  <a:srgbClr val="1F96FF"/>
                </a:solidFill>
                <a:ln>
                  <a:noFill/>
                </a:ln>
                <a:effectLst/>
              </c:spPr>
              <c:txPr>
                <a:bodyPr wrap="square" lIns="38100" tIns="19050" rIns="38100" bIns="19050" anchor="ctr">
                  <a:spAutoFit/>
                </a:bodyPr>
                <a:lstStyle/>
                <a:p>
                  <a:pPr>
                    <a:defRPr sz="1100" smtId="4294967295">
                      <a:solidFill>
                        <a:srgbClr val="FFFFFF"/>
                      </a:solidFill>
                      <a:latin typeface="Roboto Medium" panose="02000000000000000000" pitchFamily="2" charset="0"/>
                      <a:ea typeface="Roboto Medium"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4A71-4830-B882-78481820B7FA}"/>
                </c:ext>
              </c:extLst>
            </c:dLbl>
            <c:spPr>
              <a:solidFill>
                <a:srgbClr val="1F96FF"/>
              </a:solidFill>
              <a:ln>
                <a:noFill/>
              </a:ln>
              <a:effectLst/>
            </c:spPr>
            <c:txPr>
              <a:bodyPr wrap="square" lIns="38100" tIns="19050" rIns="38100" bIns="19050" anchor="ctr">
                <a:spAutoFit/>
              </a:bodyPr>
              <a:lstStyle/>
              <a:p>
                <a:pPr>
                  <a:defRPr sz="1100" smtId="4294967295">
                    <a:solidFill>
                      <a:srgbClr val="FFFFFF"/>
                    </a:solidFill>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40"/>
            <c:spPr>
              <a:ln w="25400">
                <a:solidFill>
                  <a:srgbClr val="1F96FF"/>
                </a:solidFill>
              </a:ln>
            </c:spPr>
          </c:errBars>
          <c:xVal>
            <c:numRef>
              <c:f>Sheet1!$D$9</c:f>
              <c:numCache>
                <c:formatCode>0.0</c:formatCode>
                <c:ptCount val="1"/>
                <c:pt idx="0">
                  <c:v>2</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4A71-4830-B882-78481820B7FA}"/>
            </c:ext>
          </c:extLst>
        </c:ser>
        <c:ser>
          <c:idx val="11"/>
          <c:order val="6"/>
          <c:tx>
            <c:strRef>
              <c:f>Sheet1!$B$11</c:f>
              <c:strCache>
                <c:ptCount val="1"/>
                <c:pt idx="0">
                  <c:v>Maximum</c:v>
                </c:pt>
              </c:strCache>
            </c:strRef>
          </c:tx>
          <c:marker>
            <c:symbol val="none"/>
          </c:marker>
          <c:xVal>
            <c:numRef>
              <c:f>Sheet1!$D$11</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4A71-4830-B882-78481820B7FA}"/>
            </c:ext>
          </c:extLst>
        </c:ser>
        <c:ser>
          <c:idx val="9"/>
          <c:order val="7"/>
          <c:tx>
            <c:strRef>
              <c:f>Sheet1!$B$8</c:f>
              <c:strCache>
                <c:ptCount val="1"/>
                <c:pt idx="0">
                  <c:v>Client</c:v>
                </c:pt>
              </c:strCache>
            </c:strRef>
          </c:tx>
          <c:marker>
            <c:symbol val="none"/>
          </c:marker>
          <c:xVal>
            <c:numRef>
              <c:f>Sheet1!$D$8</c:f>
              <c:numCache>
                <c:formatCode>0.00</c:formatCode>
                <c:ptCount val="1"/>
                <c:pt idx="0">
                  <c:v>0</c:v>
                </c:pt>
              </c:numCache>
            </c:numRef>
          </c:xVal>
          <c:yVal>
            <c:numRef>
              <c:f>Sheet1!$D$14</c:f>
              <c:numCache>
                <c:formatCode>_(* #,##0_);_(* \(#,##0\);_(* "-"??_);_(@_)</c:formatCode>
                <c:ptCount val="1"/>
                <c:pt idx="0">
                  <c:v>3</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4A71-4830-B882-78481820B7FA}"/>
            </c:ext>
          </c:extLst>
        </c:ser>
        <c:ser>
          <c:idx val="13"/>
          <c:order val="12"/>
          <c:tx>
            <c:v>25th Scatter Label</c:v>
          </c:tx>
          <c:marker>
            <c:symbol val="none"/>
          </c:marker>
          <c:xVal>
            <c:numRef>
              <c:f>Sheet1!$D$5</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4A71-4830-B882-78481820B7FA}"/>
            </c:ext>
          </c:extLst>
        </c:ser>
        <c:ser>
          <c:idx val="14"/>
          <c:order val="13"/>
          <c:tx>
            <c:v>75 Scatter Label</c:v>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4A71-4830-B882-78481820B7FA}"/>
              </c:ext>
            </c:extLst>
          </c:dPt>
          <c:xVal>
            <c:numRef>
              <c:f>Sheet1!$D$6</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4A71-4830-B882-78481820B7FA}"/>
            </c:ext>
          </c:extLst>
        </c:ser>
        <c:dLbls>
          <c:showLegendKey val="0"/>
          <c:showVal val="0"/>
          <c:showCatName val="0"/>
          <c:showSerName val="0"/>
          <c:showPercent val="0"/>
          <c:showBubbleSize val="0"/>
        </c:dLbls>
        <c:axId val="928322959"/>
        <c:axId val="928311311"/>
      </c:scatterChart>
      <c:catAx>
        <c:axId val="1154865663"/>
        <c:scaling>
          <c:orientation val="minMax"/>
        </c:scaling>
        <c:delete val="1"/>
        <c:axPos val="l"/>
        <c:numFmt formatCode="General" sourceLinked="1"/>
        <c:majorTickMark val="out"/>
        <c:minorTickMark val="none"/>
        <c:tickLblPos val="nextTo"/>
        <c:crossAx val="1"/>
        <c:crossesAt val="0"/>
        <c:auto val="0"/>
        <c:lblAlgn val="ctr"/>
        <c:lblOffset val="100"/>
        <c:noMultiLvlLbl val="1"/>
      </c:catAx>
      <c:valAx>
        <c:axId val="1"/>
        <c:scaling>
          <c:orientation val="minMax"/>
          <c:max val="5.0999999999999996"/>
          <c:min val="0"/>
        </c:scaling>
        <c:delete val="1"/>
        <c:axPos val="b"/>
        <c:numFmt formatCode="0.0" sourceLinked="0"/>
        <c:majorTickMark val="out"/>
        <c:minorTickMark val="none"/>
        <c:tickLblPos val="nextTo"/>
        <c:crossAx val="1154865663"/>
        <c:crossesAt val="1"/>
        <c:crossBetween val="between"/>
        <c:majorUnit val="1"/>
      </c:valAx>
      <c:valAx>
        <c:axId val="928322959"/>
        <c:scaling>
          <c:orientation val="minMax"/>
          <c:max val="1.6000000000000003E-3"/>
        </c:scaling>
        <c:delete val="1"/>
        <c:axPos val="b"/>
        <c:numFmt formatCode="0.0" sourceLinked="1"/>
        <c:majorTickMark val="out"/>
        <c:minorTickMark val="none"/>
        <c:tickLblPos val="nextTo"/>
        <c:crossAx val="928311311"/>
        <c:crosses val="autoZero"/>
        <c:crossBetween val="midCat"/>
      </c:valAx>
      <c:valAx>
        <c:axId val="928311311"/>
        <c:scaling>
          <c:orientation val="minMax"/>
          <c:max val="3"/>
          <c:min val="1"/>
        </c:scaling>
        <c:delete val="1"/>
        <c:axPos val="l"/>
        <c:numFmt formatCode="_(* #,##0_);_(* \(#,##0\);_(* &quot;-&quot;??_);_(@_)" sourceLinked="0"/>
        <c:majorTickMark val="out"/>
        <c:minorTickMark val="none"/>
        <c:tickLblPos val="nextTo"/>
        <c:crossAx val="928322959"/>
        <c:crosses val="autoZero"/>
        <c:crossBetween val="midCat"/>
        <c:majorUnit val="1"/>
        <c:minorUnit val="1"/>
      </c:valAx>
      <c:spPr>
        <a:noFill/>
        <a:ln>
          <a:noFill/>
        </a:ln>
      </c:spPr>
    </c:plotArea>
    <c:plotVisOnly val="1"/>
    <c:dispBlanksAs val="gap"/>
    <c:showDLblsOverMax val="0"/>
  </c:chart>
  <c:spPr>
    <a:noFill/>
    <a:ln>
      <a:noFill/>
    </a:ln>
  </c:spPr>
  <c:externalData r:id="rId2">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764448955655098E-2"/>
          <c:y val="4.3114185333251953E-2"/>
          <c:w val="0.95532488822937012"/>
          <c:h val="0.95688581466674805"/>
        </c:manualLayout>
      </c:layout>
      <c:barChart>
        <c:barDir val="bar"/>
        <c:grouping val="stacked"/>
        <c:varyColors val="0"/>
        <c:ser>
          <c:idx val="0"/>
          <c:order val="0"/>
          <c:tx>
            <c:strRef>
              <c:f>Sheet1!$D$15</c:f>
              <c:strCache>
                <c:ptCount val="1"/>
                <c:pt idx="0">
                  <c:v>Current Maturity</c:v>
                </c:pt>
              </c:strCache>
            </c:strRef>
          </c:tx>
          <c:spPr>
            <a:solidFill>
              <a:srgbClr val="002856"/>
            </a:solidFill>
            <a:ln>
              <a:solidFill>
                <a:srgbClr val="002856"/>
              </a:solidFill>
              <a:miter lim="800000"/>
            </a:ln>
          </c:spPr>
          <c:invertIfNegative val="0"/>
          <c:dLbls>
            <c:dLbl>
              <c:idx val="0"/>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DA44-47C0-9C33-F9E90B85DCC7}"/>
                </c:ext>
              </c:extLst>
            </c:dLbl>
            <c:dLbl>
              <c:idx val="1"/>
              <c:spPr/>
              <c:txPr>
                <a:bodyPr wrap="square" lIns="38100" tIns="19050" rIns="38100" bIns="19050" anchor="ctr">
                  <a:spAutoFit/>
                </a:bodyPr>
                <a:lstStyle/>
                <a:p>
                  <a:pPr>
                    <a:defRPr sz="1100" smtId="4294967295">
                      <a:solidFill>
                        <a:schemeClr val="bg1"/>
                      </a:solidFill>
                    </a:defRPr>
                  </a:pPr>
                  <a:endParaRPr lang="en-US"/>
                </a:p>
              </c:txPr>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DA44-47C0-9C33-F9E90B85DCC7}"/>
                </c:ext>
              </c:extLst>
            </c:dLbl>
            <c:dLbl>
              <c:idx val="2"/>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DA44-47C0-9C33-F9E90B85DCC7}"/>
                </c:ext>
              </c:extLst>
            </c:dLbl>
            <c:dLbl>
              <c:idx val="3"/>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DA44-47C0-9C33-F9E90B85DCC7}"/>
                </c:ext>
              </c:extLst>
            </c:dLbl>
            <c:spPr>
              <a:noFill/>
              <a:ln>
                <a:noFill/>
              </a:ln>
              <a:effectLst/>
            </c:spPr>
            <c:txPr>
              <a:bodyPr wrap="square" lIns="38100" tIns="19050" rIns="38100" bIns="19050" anchor="ctr">
                <a:spAutoFit/>
              </a:bodyPr>
              <a:lstStyle/>
              <a:p>
                <a:pPr>
                  <a:defRPr sz="1100" smtId="4294967295">
                    <a:solidFill>
                      <a:schemeClr val="bg1"/>
                    </a:solidFill>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cat>
            <c:multiLvlStrRef>
              <c:f>Sheet1!$A$4:$A$7</c:f>
            </c:multiLvlStrRef>
          </c:cat>
          <c:val>
            <c:numRef>
              <c:f>Sheet1!$D$16:$D$19</c:f>
              <c:numCache>
                <c:formatCode>0.0</c:formatCode>
                <c:ptCount val="4"/>
                <c:pt idx="0" formatCode="0.00">
                  <c:v>0</c:v>
                </c:pt>
                <c:pt idx="1">
                  <c:v>5</c:v>
                </c:pt>
                <c:pt idx="2">
                  <c:v>0</c:v>
                </c:pt>
                <c:pt idx="3" formatCode="0.0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DA44-47C0-9C33-F9E90B85DCC7}"/>
            </c:ext>
          </c:extLst>
        </c:ser>
        <c:ser>
          <c:idx val="10"/>
          <c:order val="1"/>
          <c:tx>
            <c:strRef>
              <c:f>Sheet1!$F$15</c:f>
              <c:strCache>
                <c:ptCount val="1"/>
                <c:pt idx="0">
                  <c:v>10th Positive Bar</c:v>
                </c:pt>
              </c:strCache>
            </c:strRef>
          </c:tx>
          <c:spPr>
            <a:noFill/>
            <a:ln>
              <a:noFill/>
            </a:ln>
          </c:spPr>
          <c:invertIfNegative val="0"/>
          <c:cat>
            <c:multiLvlStrRef>
              <c:f>Sheet1!$A$4:$A$7</c:f>
            </c:multiLvlStrRef>
          </c:cat>
          <c:val>
            <c:numRef>
              <c:f>Sheet1!$F$16:$F$19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DA44-47C0-9C33-F9E90B85DCC7}"/>
            </c:ext>
          </c:extLst>
        </c:ser>
        <c:ser>
          <c:idx val="3"/>
          <c:order val="2"/>
          <c:tx>
            <c:strRef>
              <c:f>Sheet1!$H$15</c:f>
              <c:strCache>
                <c:ptCount val="1"/>
                <c:pt idx="0">
                  <c:v>25th Positive Bar</c:v>
                </c:pt>
              </c:strCache>
            </c:strRef>
          </c:tx>
          <c:spPr>
            <a:noFill/>
          </c:spPr>
          <c:invertIfNegative val="0"/>
          <c:cat>
            <c:multiLvlStrRef>
              <c:f>Sheet1!$A$4:$A$7</c:f>
            </c:multiLvlStrRef>
          </c:cat>
          <c:val>
            <c:numRef>
              <c:f>Sheet1!$H$16:$H$19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DA44-47C0-9C33-F9E90B85DCC7}"/>
            </c:ext>
          </c:extLst>
        </c:ser>
        <c:ser>
          <c:idx val="5"/>
          <c:order val="3"/>
          <c:tx>
            <c:strRef>
              <c:f>Sheet1!$J$15</c:f>
              <c:strCache>
                <c:ptCount val="1"/>
                <c:pt idx="0">
                  <c:v>75th Positive Bar</c:v>
                </c:pt>
              </c:strCache>
            </c:strRef>
          </c:tx>
          <c:spPr>
            <a:solidFill>
              <a:srgbClr val="BFBFBF"/>
            </a:solidFill>
            <a:ln>
              <a:solidFill>
                <a:srgbClr val="BFBFBF"/>
              </a:solidFill>
            </a:ln>
          </c:spPr>
          <c:invertIfNegative val="0"/>
          <c:cat>
            <c:multiLvlStrRef>
              <c:f>Sheet1!$A$4:$A$7</c:f>
            </c:multiLvlStrRef>
          </c:cat>
          <c:val>
            <c:numRef>
              <c:f>Sheet1!$J$16:$J$19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DA44-47C0-9C33-F9E90B85DCC7}"/>
            </c:ext>
          </c:extLst>
        </c:ser>
        <c:ser>
          <c:idx val="7"/>
          <c:order val="4"/>
          <c:tx>
            <c:strRef>
              <c:f>Sheet1!$L$15</c:f>
              <c:strCache>
                <c:ptCount val="1"/>
                <c:pt idx="0">
                  <c:v>90th Positive Bar</c:v>
                </c:pt>
              </c:strCache>
            </c:strRef>
          </c:tx>
          <c:spPr>
            <a:noFill/>
          </c:spPr>
          <c:invertIfNegative val="0"/>
          <c:cat>
            <c:multiLvlStrRef>
              <c:f>Sheet1!$A$4:$A$7</c:f>
            </c:multiLvlStrRef>
          </c:cat>
          <c:val>
            <c:numRef>
              <c:f>Sheet1!$L$16:$L$19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DA44-47C0-9C33-F9E90B85DCC7}"/>
            </c:ext>
          </c:extLst>
        </c:ser>
        <c:ser>
          <c:idx val="6"/>
          <c:order val="8"/>
          <c:tx>
            <c:strRef>
              <c:f>Sheet1!$K$15</c:f>
              <c:strCache>
                <c:ptCount val="1"/>
                <c:pt idx="0">
                  <c:v>90th Negative Bar</c:v>
                </c:pt>
              </c:strCache>
            </c:strRef>
          </c:tx>
          <c:spPr>
            <a:noFill/>
          </c:spPr>
          <c:invertIfNegative val="0"/>
          <c:cat>
            <c:multiLvlStrRef>
              <c:f>Sheet1!$A$4:$A$7</c:f>
            </c:multiLvlStrRef>
          </c:cat>
          <c:val>
            <c:numRef>
              <c:f>Sheet1!$K$16:$K$19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DA44-47C0-9C33-F9E90B85DCC7}"/>
            </c:ext>
          </c:extLst>
        </c:ser>
        <c:ser>
          <c:idx val="4"/>
          <c:order val="9"/>
          <c:tx>
            <c:strRef>
              <c:f>Sheet1!$I$15</c:f>
              <c:strCache>
                <c:ptCount val="1"/>
                <c:pt idx="0">
                  <c:v>75th Negative Bar</c:v>
                </c:pt>
              </c:strCache>
            </c:strRef>
          </c:tx>
          <c:spPr>
            <a:noFill/>
          </c:spPr>
          <c:invertIfNegative val="0"/>
          <c:cat>
            <c:multiLvlStrRef>
              <c:f>Sheet1!$A$4:$A$7</c:f>
            </c:multiLvlStrRef>
          </c:cat>
          <c:val>
            <c:numRef>
              <c:f>Sheet1!$I$16:$I$19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DA44-47C0-9C33-F9E90B85DCC7}"/>
            </c:ext>
          </c:extLst>
        </c:ser>
        <c:ser>
          <c:idx val="2"/>
          <c:order val="10"/>
          <c:tx>
            <c:strRef>
              <c:f>Sheet1!$G$15</c:f>
              <c:strCache>
                <c:ptCount val="1"/>
                <c:pt idx="0">
                  <c:v>25th Negative Bar</c:v>
                </c:pt>
              </c:strCache>
            </c:strRef>
          </c:tx>
          <c:spPr>
            <a:solidFill>
              <a:srgbClr val="BFBFBF"/>
            </a:solidFill>
            <a:ln>
              <a:solidFill>
                <a:srgbClr val="BFBFBF"/>
              </a:solidFill>
            </a:ln>
          </c:spPr>
          <c:invertIfNegative val="0"/>
          <c:cat>
            <c:multiLvlStrRef>
              <c:f>Sheet1!$A$4:$A$7</c:f>
            </c:multiLvlStrRef>
          </c:cat>
          <c:val>
            <c:numRef>
              <c:f>Sheet1!$G$16:$G$19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DA44-47C0-9C33-F9E90B85DCC7}"/>
            </c:ext>
          </c:extLst>
        </c:ser>
        <c:ser>
          <c:idx val="1"/>
          <c:order val="11"/>
          <c:tx>
            <c:strRef>
              <c:f>Sheet1!$E$15</c:f>
              <c:strCache>
                <c:ptCount val="1"/>
                <c:pt idx="0">
                  <c:v>10th Negative Bar</c:v>
                </c:pt>
              </c:strCache>
            </c:strRef>
          </c:tx>
          <c:spPr>
            <a:noFill/>
          </c:spPr>
          <c:invertIfNegative val="0"/>
          <c:cat>
            <c:multiLvlStrRef>
              <c:f>Sheet1!$A$4:$A$7</c:f>
            </c:multiLvlStrRef>
          </c:cat>
          <c:val>
            <c:numRef>
              <c:f>Sheet1!$E$16:$E$19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DA44-47C0-9C33-F9E90B85DCC7}"/>
            </c:ext>
          </c:extLst>
        </c:ser>
        <c:ser>
          <c:idx val="15"/>
          <c:order val="14"/>
          <c:tx>
            <c:strRef>
              <c:f>Sheet1!$M$15</c:f>
              <c:strCache>
                <c:ptCount val="1"/>
                <c:pt idx="0">
                  <c:v>Benchmarks Omitted Bar</c:v>
                </c:pt>
              </c:strCache>
            </c:strRef>
          </c:tx>
          <c:spPr>
            <a:noFill/>
          </c:spPr>
          <c:invertIfNegative val="0"/>
          <c:cat>
            <c:multiLvlStrRef>
              <c:f>Sheet1!$A$4:$A$7</c:f>
            </c:multiLvlStrRef>
          </c:cat>
          <c:val>
            <c:numRef>
              <c:f>Sheet1!$M$16:$M$19</c:f>
              <c:numCache>
                <c:formatCode>General</c:formatCode>
                <c:ptCount val="4"/>
                <c:pt idx="0">
                  <c:v>0</c:v>
                </c:pt>
                <c:pt idx="1">
                  <c:v>0</c:v>
                </c:pt>
                <c:pt idx="2">
                  <c:v>0</c:v>
                </c:pt>
                <c:pt idx="3" formatCode="&quot;$&quot;#,##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DA44-47C0-9C33-F9E90B85DCC7}"/>
            </c:ext>
          </c:extLst>
        </c:ser>
        <c:dLbls>
          <c:showLegendKey val="0"/>
          <c:showVal val="0"/>
          <c:showCatName val="0"/>
          <c:showSerName val="0"/>
          <c:showPercent val="0"/>
          <c:showBubbleSize val="0"/>
        </c:dLbls>
        <c:gapWidth val="0"/>
        <c:overlap val="100"/>
        <c:axId val="1154865663"/>
        <c:axId val="1"/>
      </c:barChart>
      <c:scatterChart>
        <c:scatterStyle val="lineMarker"/>
        <c:varyColors val="0"/>
        <c:ser>
          <c:idx val="8"/>
          <c:order val="5"/>
          <c:tx>
            <c:strRef>
              <c:f>Sheet1!$B$9</c:f>
              <c:strCache>
                <c:ptCount val="1"/>
                <c:pt idx="0">
                  <c:v>Target Maturity</c:v>
                </c:pt>
              </c:strCache>
            </c:strRef>
          </c:tx>
          <c:marker>
            <c:symbol val="none"/>
          </c:marker>
          <c:dLbls>
            <c:dLbl>
              <c:idx val="0"/>
              <c:spPr>
                <a:solidFill>
                  <a:srgbClr val="1F96FF"/>
                </a:solidFill>
                <a:ln>
                  <a:noFill/>
                </a:ln>
                <a:effectLst/>
              </c:spPr>
              <c:txPr>
                <a:bodyPr wrap="square" lIns="38100" tIns="19050" rIns="38100" bIns="19050" anchor="ctr">
                  <a:spAutoFit/>
                </a:bodyPr>
                <a:lstStyle/>
                <a:p>
                  <a:pPr>
                    <a:defRPr sz="1100" smtId="4294967295">
                      <a:solidFill>
                        <a:srgbClr val="FFFFFF"/>
                      </a:solidFill>
                      <a:latin typeface="Roboto Medium" panose="02000000000000000000" pitchFamily="2" charset="0"/>
                      <a:ea typeface="Roboto Medium"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DA44-47C0-9C33-F9E90B85DCC7}"/>
                </c:ext>
              </c:extLst>
            </c:dLbl>
            <c:spPr>
              <a:solidFill>
                <a:srgbClr val="1F96FF"/>
              </a:solidFill>
              <a:ln>
                <a:noFill/>
              </a:ln>
              <a:effectLst/>
            </c:spPr>
            <c:txPr>
              <a:bodyPr wrap="square" lIns="38100" tIns="19050" rIns="38100" bIns="19050" anchor="ctr">
                <a:spAutoFit/>
              </a:bodyPr>
              <a:lstStyle/>
              <a:p>
                <a:pPr>
                  <a:defRPr sz="1100" smtId="4294967295">
                    <a:solidFill>
                      <a:srgbClr val="FFFFFF"/>
                    </a:solidFill>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40"/>
            <c:spPr>
              <a:ln w="25400">
                <a:solidFill>
                  <a:srgbClr val="1F96FF"/>
                </a:solidFill>
              </a:ln>
            </c:spPr>
          </c:errBars>
          <c:xVal>
            <c:numRef>
              <c:f>Sheet1!$D$9</c:f>
              <c:numCache>
                <c:formatCode>0.0</c:formatCode>
                <c:ptCount val="1"/>
                <c:pt idx="0">
                  <c:v>5</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DA44-47C0-9C33-F9E90B85DCC7}"/>
            </c:ext>
          </c:extLst>
        </c:ser>
        <c:ser>
          <c:idx val="11"/>
          <c:order val="6"/>
          <c:tx>
            <c:strRef>
              <c:f>Sheet1!$B$11</c:f>
              <c:strCache>
                <c:ptCount val="1"/>
                <c:pt idx="0">
                  <c:v>Maximum</c:v>
                </c:pt>
              </c:strCache>
            </c:strRef>
          </c:tx>
          <c:marker>
            <c:symbol val="none"/>
          </c:marker>
          <c:xVal>
            <c:numRef>
              <c:f>Sheet1!$D$11</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DA44-47C0-9C33-F9E90B85DCC7}"/>
            </c:ext>
          </c:extLst>
        </c:ser>
        <c:ser>
          <c:idx val="9"/>
          <c:order val="7"/>
          <c:tx>
            <c:strRef>
              <c:f>Sheet1!$B$8</c:f>
              <c:strCache>
                <c:ptCount val="1"/>
                <c:pt idx="0">
                  <c:v>Client</c:v>
                </c:pt>
              </c:strCache>
            </c:strRef>
          </c:tx>
          <c:marker>
            <c:symbol val="none"/>
          </c:marker>
          <c:xVal>
            <c:numRef>
              <c:f>Sheet1!$D$8</c:f>
              <c:numCache>
                <c:formatCode>0.00</c:formatCode>
                <c:ptCount val="1"/>
                <c:pt idx="0">
                  <c:v>0</c:v>
                </c:pt>
              </c:numCache>
            </c:numRef>
          </c:xVal>
          <c:yVal>
            <c:numRef>
              <c:f>Sheet1!$D$14</c:f>
              <c:numCache>
                <c:formatCode>_(* #,##0_);_(* \(#,##0\);_(* "-"??_);_(@_)</c:formatCode>
                <c:ptCount val="1"/>
                <c:pt idx="0">
                  <c:v>3</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DA44-47C0-9C33-F9E90B85DCC7}"/>
            </c:ext>
          </c:extLst>
        </c:ser>
        <c:ser>
          <c:idx val="13"/>
          <c:order val="12"/>
          <c:tx>
            <c:v>25th Scatter Label</c:v>
          </c:tx>
          <c:marker>
            <c:symbol val="none"/>
          </c:marker>
          <c:xVal>
            <c:numRef>
              <c:f>Sheet1!$D$5</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DA44-47C0-9C33-F9E90B85DCC7}"/>
            </c:ext>
          </c:extLst>
        </c:ser>
        <c:ser>
          <c:idx val="14"/>
          <c:order val="13"/>
          <c:tx>
            <c:v>75 Scatter Label</c:v>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DA44-47C0-9C33-F9E90B85DCC7}"/>
              </c:ext>
            </c:extLst>
          </c:dPt>
          <c:xVal>
            <c:numRef>
              <c:f>Sheet1!$D$6</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DA44-47C0-9C33-F9E90B85DCC7}"/>
            </c:ext>
          </c:extLst>
        </c:ser>
        <c:dLbls>
          <c:showLegendKey val="0"/>
          <c:showVal val="0"/>
          <c:showCatName val="0"/>
          <c:showSerName val="0"/>
          <c:showPercent val="0"/>
          <c:showBubbleSize val="0"/>
        </c:dLbls>
        <c:axId val="928322959"/>
        <c:axId val="928311311"/>
      </c:scatterChart>
      <c:catAx>
        <c:axId val="1154865663"/>
        <c:scaling>
          <c:orientation val="minMax"/>
        </c:scaling>
        <c:delete val="1"/>
        <c:axPos val="l"/>
        <c:numFmt formatCode="General" sourceLinked="1"/>
        <c:majorTickMark val="out"/>
        <c:minorTickMark val="none"/>
        <c:tickLblPos val="nextTo"/>
        <c:crossAx val="1"/>
        <c:crossesAt val="0"/>
        <c:auto val="0"/>
        <c:lblAlgn val="ctr"/>
        <c:lblOffset val="100"/>
        <c:noMultiLvlLbl val="1"/>
      </c:catAx>
      <c:valAx>
        <c:axId val="1"/>
        <c:scaling>
          <c:orientation val="minMax"/>
          <c:max val="5.0999999999999996"/>
          <c:min val="0"/>
        </c:scaling>
        <c:delete val="1"/>
        <c:axPos val="b"/>
        <c:numFmt formatCode="0.0" sourceLinked="0"/>
        <c:majorTickMark val="out"/>
        <c:minorTickMark val="none"/>
        <c:tickLblPos val="nextTo"/>
        <c:crossAx val="1154865663"/>
        <c:crossesAt val="1"/>
        <c:crossBetween val="between"/>
        <c:majorUnit val="1"/>
      </c:valAx>
      <c:valAx>
        <c:axId val="928322959"/>
        <c:scaling>
          <c:orientation val="minMax"/>
          <c:max val="1.6000000000000003E-3"/>
        </c:scaling>
        <c:delete val="1"/>
        <c:axPos val="b"/>
        <c:numFmt formatCode="0.0" sourceLinked="1"/>
        <c:majorTickMark val="out"/>
        <c:minorTickMark val="none"/>
        <c:tickLblPos val="nextTo"/>
        <c:crossAx val="928311311"/>
        <c:crosses val="autoZero"/>
        <c:crossBetween val="midCat"/>
      </c:valAx>
      <c:valAx>
        <c:axId val="928311311"/>
        <c:scaling>
          <c:orientation val="minMax"/>
          <c:max val="3"/>
          <c:min val="1"/>
        </c:scaling>
        <c:delete val="1"/>
        <c:axPos val="l"/>
        <c:numFmt formatCode="_(* #,##0_);_(* \(#,##0\);_(* &quot;-&quot;??_);_(@_)" sourceLinked="0"/>
        <c:majorTickMark val="out"/>
        <c:minorTickMark val="none"/>
        <c:tickLblPos val="nextTo"/>
        <c:crossAx val="928322959"/>
        <c:crosses val="autoZero"/>
        <c:crossBetween val="midCat"/>
        <c:majorUnit val="1"/>
        <c:minorUnit val="1"/>
      </c:valAx>
      <c:spPr>
        <a:noFill/>
        <a:ln>
          <a:noFill/>
        </a:ln>
      </c:spPr>
    </c:plotArea>
    <c:plotVisOnly val="1"/>
    <c:dispBlanksAs val="gap"/>
    <c:showDLblsOverMax val="0"/>
  </c:chart>
  <c:spPr>
    <a:noFill/>
    <a:ln>
      <a:noFill/>
    </a:ln>
  </c:spPr>
  <c:externalData r:id="rId2">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657136380672455E-2"/>
          <c:y val="3.0699737370014191E-2"/>
          <c:w val="0.95532488822937012"/>
          <c:h val="0.95688581466674805"/>
        </c:manualLayout>
      </c:layout>
      <c:barChart>
        <c:barDir val="bar"/>
        <c:grouping val="stacked"/>
        <c:varyColors val="0"/>
        <c:ser>
          <c:idx val="0"/>
          <c:order val="0"/>
          <c:tx>
            <c:strRef>
              <c:f>Sheet1!$D$15</c:f>
              <c:strCache>
                <c:ptCount val="1"/>
                <c:pt idx="0">
                  <c:v>Current Maturity</c:v>
                </c:pt>
              </c:strCache>
            </c:strRef>
          </c:tx>
          <c:spPr>
            <a:solidFill>
              <a:srgbClr val="002856"/>
            </a:solidFill>
            <a:ln>
              <a:solidFill>
                <a:srgbClr val="002856"/>
              </a:solidFill>
              <a:miter lim="800000"/>
            </a:ln>
          </c:spPr>
          <c:invertIfNegative val="0"/>
          <c:dLbls>
            <c:dLbl>
              <c:idx val="0"/>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B162-481A-B55D-847A248D55E1}"/>
                </c:ext>
              </c:extLst>
            </c:dLbl>
            <c:dLbl>
              <c:idx val="1"/>
              <c:spPr/>
              <c:txPr>
                <a:bodyPr wrap="square" lIns="38100" tIns="19050" rIns="38100" bIns="19050" anchor="ctr">
                  <a:spAutoFit/>
                </a:bodyPr>
                <a:lstStyle/>
                <a:p>
                  <a:pPr>
                    <a:defRPr sz="1100" smtId="4294967295">
                      <a:solidFill>
                        <a:schemeClr val="bg1"/>
                      </a:solidFill>
                    </a:defRPr>
                  </a:pPr>
                  <a:endParaRPr lang="en-US"/>
                </a:p>
              </c:txPr>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B162-481A-B55D-847A248D55E1}"/>
                </c:ext>
              </c:extLst>
            </c:dLbl>
            <c:dLbl>
              <c:idx val="2"/>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B162-481A-B55D-847A248D55E1}"/>
                </c:ext>
              </c:extLst>
            </c:dLbl>
            <c:dLbl>
              <c:idx val="3"/>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B162-481A-B55D-847A248D55E1}"/>
                </c:ext>
              </c:extLst>
            </c:dLbl>
            <c:spPr>
              <a:noFill/>
              <a:ln>
                <a:noFill/>
              </a:ln>
              <a:effectLst/>
            </c:spPr>
            <c:txPr>
              <a:bodyPr wrap="square" lIns="38100" tIns="19050" rIns="38100" bIns="19050" anchor="ctr">
                <a:spAutoFit/>
              </a:bodyPr>
              <a:lstStyle/>
              <a:p>
                <a:pPr>
                  <a:defRPr sz="1100" smtId="4294967295">
                    <a:solidFill>
                      <a:schemeClr val="bg1"/>
                    </a:solidFill>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cat>
            <c:multiLvlStrRef>
              <c:f>Sheet1!$A$4:$A$7</c:f>
            </c:multiLvlStrRef>
          </c:cat>
          <c:val>
            <c:numRef>
              <c:f>Sheet1!$D$16:$D$19</c:f>
              <c:numCache>
                <c:formatCode>0.0</c:formatCode>
                <c:ptCount val="4"/>
                <c:pt idx="0" formatCode="0.00">
                  <c:v>0</c:v>
                </c:pt>
                <c:pt idx="1">
                  <c:v>2</c:v>
                </c:pt>
                <c:pt idx="2">
                  <c:v>0</c:v>
                </c:pt>
                <c:pt idx="3" formatCode="0.0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B162-481A-B55D-847A248D55E1}"/>
            </c:ext>
          </c:extLst>
        </c:ser>
        <c:ser>
          <c:idx val="10"/>
          <c:order val="1"/>
          <c:tx>
            <c:strRef>
              <c:f>Sheet1!$F$15</c:f>
              <c:strCache>
                <c:ptCount val="1"/>
                <c:pt idx="0">
                  <c:v>10th Positive Bar</c:v>
                </c:pt>
              </c:strCache>
            </c:strRef>
          </c:tx>
          <c:spPr>
            <a:noFill/>
            <a:ln>
              <a:noFill/>
            </a:ln>
          </c:spPr>
          <c:invertIfNegative val="0"/>
          <c:cat>
            <c:multiLvlStrRef>
              <c:f>Sheet1!$A$4:$A$7</c:f>
            </c:multiLvlStrRef>
          </c:cat>
          <c:val>
            <c:numRef>
              <c:f>Sheet1!$F$16:$F$19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B162-481A-B55D-847A248D55E1}"/>
            </c:ext>
          </c:extLst>
        </c:ser>
        <c:ser>
          <c:idx val="3"/>
          <c:order val="2"/>
          <c:tx>
            <c:strRef>
              <c:f>Sheet1!$H$15</c:f>
              <c:strCache>
                <c:ptCount val="1"/>
                <c:pt idx="0">
                  <c:v>25th Positive Bar</c:v>
                </c:pt>
              </c:strCache>
            </c:strRef>
          </c:tx>
          <c:spPr>
            <a:noFill/>
          </c:spPr>
          <c:invertIfNegative val="0"/>
          <c:cat>
            <c:multiLvlStrRef>
              <c:f>Sheet1!$A$4:$A$7</c:f>
            </c:multiLvlStrRef>
          </c:cat>
          <c:val>
            <c:numRef>
              <c:f>Sheet1!$H$16:$H$19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B162-481A-B55D-847A248D55E1}"/>
            </c:ext>
          </c:extLst>
        </c:ser>
        <c:ser>
          <c:idx val="5"/>
          <c:order val="3"/>
          <c:tx>
            <c:strRef>
              <c:f>Sheet1!$J$15</c:f>
              <c:strCache>
                <c:ptCount val="1"/>
                <c:pt idx="0">
                  <c:v>75th Positive Bar</c:v>
                </c:pt>
              </c:strCache>
            </c:strRef>
          </c:tx>
          <c:spPr>
            <a:solidFill>
              <a:srgbClr val="BFBFBF"/>
            </a:solidFill>
            <a:ln>
              <a:solidFill>
                <a:srgbClr val="BFBFBF"/>
              </a:solidFill>
            </a:ln>
          </c:spPr>
          <c:invertIfNegative val="0"/>
          <c:cat>
            <c:multiLvlStrRef>
              <c:f>Sheet1!$A$4:$A$7</c:f>
            </c:multiLvlStrRef>
          </c:cat>
          <c:val>
            <c:numRef>
              <c:f>Sheet1!$J$16:$J$19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B162-481A-B55D-847A248D55E1}"/>
            </c:ext>
          </c:extLst>
        </c:ser>
        <c:ser>
          <c:idx val="7"/>
          <c:order val="4"/>
          <c:tx>
            <c:strRef>
              <c:f>Sheet1!$L$15</c:f>
              <c:strCache>
                <c:ptCount val="1"/>
                <c:pt idx="0">
                  <c:v>90th Positive Bar</c:v>
                </c:pt>
              </c:strCache>
            </c:strRef>
          </c:tx>
          <c:spPr>
            <a:noFill/>
          </c:spPr>
          <c:invertIfNegative val="0"/>
          <c:cat>
            <c:multiLvlStrRef>
              <c:f>Sheet1!$A$4:$A$7</c:f>
            </c:multiLvlStrRef>
          </c:cat>
          <c:val>
            <c:numRef>
              <c:f>Sheet1!$L$16:$L$19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B162-481A-B55D-847A248D55E1}"/>
            </c:ext>
          </c:extLst>
        </c:ser>
        <c:ser>
          <c:idx val="6"/>
          <c:order val="8"/>
          <c:tx>
            <c:strRef>
              <c:f>Sheet1!$K$15</c:f>
              <c:strCache>
                <c:ptCount val="1"/>
                <c:pt idx="0">
                  <c:v>90th Negative Bar</c:v>
                </c:pt>
              </c:strCache>
            </c:strRef>
          </c:tx>
          <c:spPr>
            <a:noFill/>
          </c:spPr>
          <c:invertIfNegative val="0"/>
          <c:cat>
            <c:multiLvlStrRef>
              <c:f>Sheet1!$A$4:$A$7</c:f>
            </c:multiLvlStrRef>
          </c:cat>
          <c:val>
            <c:numRef>
              <c:f>Sheet1!$K$16:$K$19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B162-481A-B55D-847A248D55E1}"/>
            </c:ext>
          </c:extLst>
        </c:ser>
        <c:ser>
          <c:idx val="4"/>
          <c:order val="9"/>
          <c:tx>
            <c:strRef>
              <c:f>Sheet1!$I$15</c:f>
              <c:strCache>
                <c:ptCount val="1"/>
                <c:pt idx="0">
                  <c:v>75th Negative Bar</c:v>
                </c:pt>
              </c:strCache>
            </c:strRef>
          </c:tx>
          <c:spPr>
            <a:noFill/>
          </c:spPr>
          <c:invertIfNegative val="0"/>
          <c:cat>
            <c:multiLvlStrRef>
              <c:f>Sheet1!$A$4:$A$7</c:f>
            </c:multiLvlStrRef>
          </c:cat>
          <c:val>
            <c:numRef>
              <c:f>Sheet1!$I$16:$I$19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B162-481A-B55D-847A248D55E1}"/>
            </c:ext>
          </c:extLst>
        </c:ser>
        <c:ser>
          <c:idx val="2"/>
          <c:order val="10"/>
          <c:tx>
            <c:strRef>
              <c:f>Sheet1!$G$15</c:f>
              <c:strCache>
                <c:ptCount val="1"/>
                <c:pt idx="0">
                  <c:v>25th Negative Bar</c:v>
                </c:pt>
              </c:strCache>
            </c:strRef>
          </c:tx>
          <c:spPr>
            <a:solidFill>
              <a:srgbClr val="BFBFBF"/>
            </a:solidFill>
            <a:ln>
              <a:solidFill>
                <a:srgbClr val="BFBFBF"/>
              </a:solidFill>
            </a:ln>
          </c:spPr>
          <c:invertIfNegative val="0"/>
          <c:cat>
            <c:multiLvlStrRef>
              <c:f>Sheet1!$A$4:$A$7</c:f>
            </c:multiLvlStrRef>
          </c:cat>
          <c:val>
            <c:numRef>
              <c:f>Sheet1!$G$16:$G$19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B162-481A-B55D-847A248D55E1}"/>
            </c:ext>
          </c:extLst>
        </c:ser>
        <c:ser>
          <c:idx val="1"/>
          <c:order val="11"/>
          <c:tx>
            <c:strRef>
              <c:f>Sheet1!$E$15</c:f>
              <c:strCache>
                <c:ptCount val="1"/>
                <c:pt idx="0">
                  <c:v>10th Negative Bar</c:v>
                </c:pt>
              </c:strCache>
            </c:strRef>
          </c:tx>
          <c:spPr>
            <a:noFill/>
          </c:spPr>
          <c:invertIfNegative val="0"/>
          <c:cat>
            <c:multiLvlStrRef>
              <c:f>Sheet1!$A$4:$A$7</c:f>
            </c:multiLvlStrRef>
          </c:cat>
          <c:val>
            <c:numRef>
              <c:f>Sheet1!$E$16:$E$19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B162-481A-B55D-847A248D55E1}"/>
            </c:ext>
          </c:extLst>
        </c:ser>
        <c:ser>
          <c:idx val="15"/>
          <c:order val="14"/>
          <c:tx>
            <c:strRef>
              <c:f>Sheet1!$M$15</c:f>
              <c:strCache>
                <c:ptCount val="1"/>
                <c:pt idx="0">
                  <c:v>Benchmarks Omitted Bar</c:v>
                </c:pt>
              </c:strCache>
            </c:strRef>
          </c:tx>
          <c:spPr>
            <a:noFill/>
          </c:spPr>
          <c:invertIfNegative val="0"/>
          <c:cat>
            <c:multiLvlStrRef>
              <c:f>Sheet1!$A$4:$A$7</c:f>
            </c:multiLvlStrRef>
          </c:cat>
          <c:val>
            <c:numRef>
              <c:f>Sheet1!$M$16:$M$19</c:f>
              <c:numCache>
                <c:formatCode>General</c:formatCode>
                <c:ptCount val="4"/>
                <c:pt idx="0">
                  <c:v>0</c:v>
                </c:pt>
                <c:pt idx="1">
                  <c:v>0</c:v>
                </c:pt>
                <c:pt idx="2">
                  <c:v>0</c:v>
                </c:pt>
                <c:pt idx="3" formatCode="&quot;$&quot;#,##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B162-481A-B55D-847A248D55E1}"/>
            </c:ext>
          </c:extLst>
        </c:ser>
        <c:dLbls>
          <c:showLegendKey val="0"/>
          <c:showVal val="0"/>
          <c:showCatName val="0"/>
          <c:showSerName val="0"/>
          <c:showPercent val="0"/>
          <c:showBubbleSize val="0"/>
        </c:dLbls>
        <c:gapWidth val="0"/>
        <c:overlap val="100"/>
        <c:axId val="1154865663"/>
        <c:axId val="1"/>
      </c:barChart>
      <c:scatterChart>
        <c:scatterStyle val="lineMarker"/>
        <c:varyColors val="0"/>
        <c:ser>
          <c:idx val="8"/>
          <c:order val="5"/>
          <c:tx>
            <c:strRef>
              <c:f>Sheet1!$B$9</c:f>
              <c:strCache>
                <c:ptCount val="1"/>
                <c:pt idx="0">
                  <c:v>Target Maturity</c:v>
                </c:pt>
              </c:strCache>
            </c:strRef>
          </c:tx>
          <c:marker>
            <c:symbol val="none"/>
          </c:marker>
          <c:dLbls>
            <c:dLbl>
              <c:idx val="0"/>
              <c:spPr>
                <a:solidFill>
                  <a:srgbClr val="1F96FF"/>
                </a:solidFill>
                <a:ln>
                  <a:noFill/>
                </a:ln>
                <a:effectLst/>
              </c:spPr>
              <c:txPr>
                <a:bodyPr wrap="square" lIns="38100" tIns="19050" rIns="38100" bIns="19050" anchor="ctr">
                  <a:spAutoFit/>
                </a:bodyPr>
                <a:lstStyle/>
                <a:p>
                  <a:pPr>
                    <a:defRPr sz="1100" smtId="4294967295">
                      <a:solidFill>
                        <a:srgbClr val="FFFFFF"/>
                      </a:solidFill>
                      <a:latin typeface="Roboto Medium" panose="02000000000000000000" pitchFamily="2" charset="0"/>
                      <a:ea typeface="Roboto Medium"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B162-481A-B55D-847A248D55E1}"/>
                </c:ext>
              </c:extLst>
            </c:dLbl>
            <c:spPr>
              <a:solidFill>
                <a:srgbClr val="1F96FF"/>
              </a:solidFill>
              <a:ln>
                <a:noFill/>
              </a:ln>
              <a:effectLst/>
            </c:spPr>
            <c:txPr>
              <a:bodyPr wrap="square" lIns="38100" tIns="19050" rIns="38100" bIns="19050" anchor="ctr">
                <a:spAutoFit/>
              </a:bodyPr>
              <a:lstStyle/>
              <a:p>
                <a:pPr>
                  <a:defRPr sz="1100" smtId="4294967295">
                    <a:solidFill>
                      <a:srgbClr val="FFFFFF"/>
                    </a:solidFill>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40"/>
            <c:spPr>
              <a:ln w="25400">
                <a:solidFill>
                  <a:srgbClr val="1F96FF"/>
                </a:solidFill>
              </a:ln>
            </c:spPr>
          </c:errBars>
          <c:xVal>
            <c:numRef>
              <c:f>Sheet1!$D$9</c:f>
              <c:numCache>
                <c:formatCode>0.0</c:formatCode>
                <c:ptCount val="1"/>
                <c:pt idx="0">
                  <c:v>2</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B162-481A-B55D-847A248D55E1}"/>
            </c:ext>
          </c:extLst>
        </c:ser>
        <c:ser>
          <c:idx val="11"/>
          <c:order val="6"/>
          <c:tx>
            <c:strRef>
              <c:f>Sheet1!$B$11</c:f>
              <c:strCache>
                <c:ptCount val="1"/>
                <c:pt idx="0">
                  <c:v>Maximum</c:v>
                </c:pt>
              </c:strCache>
            </c:strRef>
          </c:tx>
          <c:marker>
            <c:symbol val="none"/>
          </c:marker>
          <c:xVal>
            <c:numRef>
              <c:f>Sheet1!$D$11</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B162-481A-B55D-847A248D55E1}"/>
            </c:ext>
          </c:extLst>
        </c:ser>
        <c:ser>
          <c:idx val="9"/>
          <c:order val="7"/>
          <c:tx>
            <c:strRef>
              <c:f>Sheet1!$B$8</c:f>
              <c:strCache>
                <c:ptCount val="1"/>
                <c:pt idx="0">
                  <c:v>Client</c:v>
                </c:pt>
              </c:strCache>
            </c:strRef>
          </c:tx>
          <c:marker>
            <c:symbol val="none"/>
          </c:marker>
          <c:xVal>
            <c:numRef>
              <c:f>Sheet1!$D$8</c:f>
              <c:numCache>
                <c:formatCode>0.00</c:formatCode>
                <c:ptCount val="1"/>
                <c:pt idx="0">
                  <c:v>0</c:v>
                </c:pt>
              </c:numCache>
            </c:numRef>
          </c:xVal>
          <c:yVal>
            <c:numRef>
              <c:f>Sheet1!$D$14</c:f>
              <c:numCache>
                <c:formatCode>_(* #,##0_);_(* \(#,##0\);_(* "-"??_);_(@_)</c:formatCode>
                <c:ptCount val="1"/>
                <c:pt idx="0">
                  <c:v>3</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B162-481A-B55D-847A248D55E1}"/>
            </c:ext>
          </c:extLst>
        </c:ser>
        <c:ser>
          <c:idx val="13"/>
          <c:order val="12"/>
          <c:tx>
            <c:v>25th Scatter Label</c:v>
          </c:tx>
          <c:marker>
            <c:symbol val="none"/>
          </c:marker>
          <c:xVal>
            <c:numRef>
              <c:f>Sheet1!$D$5</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B162-481A-B55D-847A248D55E1}"/>
            </c:ext>
          </c:extLst>
        </c:ser>
        <c:ser>
          <c:idx val="14"/>
          <c:order val="13"/>
          <c:tx>
            <c:v>75 Scatter Label</c:v>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B162-481A-B55D-847A248D55E1}"/>
              </c:ext>
            </c:extLst>
          </c:dPt>
          <c:xVal>
            <c:numRef>
              <c:f>Sheet1!$D$6</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B162-481A-B55D-847A248D55E1}"/>
            </c:ext>
          </c:extLst>
        </c:ser>
        <c:dLbls>
          <c:showLegendKey val="0"/>
          <c:showVal val="0"/>
          <c:showCatName val="0"/>
          <c:showSerName val="0"/>
          <c:showPercent val="0"/>
          <c:showBubbleSize val="0"/>
        </c:dLbls>
        <c:axId val="928322959"/>
        <c:axId val="928311311"/>
      </c:scatterChart>
      <c:catAx>
        <c:axId val="1154865663"/>
        <c:scaling>
          <c:orientation val="minMax"/>
        </c:scaling>
        <c:delete val="1"/>
        <c:axPos val="l"/>
        <c:numFmt formatCode="General" sourceLinked="1"/>
        <c:majorTickMark val="out"/>
        <c:minorTickMark val="none"/>
        <c:tickLblPos val="nextTo"/>
        <c:crossAx val="1"/>
        <c:crossesAt val="0"/>
        <c:auto val="0"/>
        <c:lblAlgn val="ctr"/>
        <c:lblOffset val="100"/>
        <c:noMultiLvlLbl val="1"/>
      </c:catAx>
      <c:valAx>
        <c:axId val="1"/>
        <c:scaling>
          <c:orientation val="minMax"/>
          <c:max val="5.0999999999999996"/>
          <c:min val="0"/>
        </c:scaling>
        <c:delete val="1"/>
        <c:axPos val="b"/>
        <c:numFmt formatCode="0.0" sourceLinked="0"/>
        <c:majorTickMark val="out"/>
        <c:minorTickMark val="none"/>
        <c:tickLblPos val="nextTo"/>
        <c:crossAx val="1154865663"/>
        <c:crossesAt val="1"/>
        <c:crossBetween val="between"/>
        <c:majorUnit val="1"/>
      </c:valAx>
      <c:valAx>
        <c:axId val="928322959"/>
        <c:scaling>
          <c:orientation val="minMax"/>
          <c:max val="1.6000000000000003E-3"/>
        </c:scaling>
        <c:delete val="1"/>
        <c:axPos val="b"/>
        <c:numFmt formatCode="0.0" sourceLinked="1"/>
        <c:majorTickMark val="out"/>
        <c:minorTickMark val="none"/>
        <c:tickLblPos val="nextTo"/>
        <c:crossAx val="928311311"/>
        <c:crosses val="autoZero"/>
        <c:crossBetween val="midCat"/>
      </c:valAx>
      <c:valAx>
        <c:axId val="928311311"/>
        <c:scaling>
          <c:orientation val="minMax"/>
          <c:max val="3"/>
          <c:min val="1"/>
        </c:scaling>
        <c:delete val="1"/>
        <c:axPos val="l"/>
        <c:numFmt formatCode="_(* #,##0_);_(* \(#,##0\);_(* &quot;-&quot;??_);_(@_)" sourceLinked="0"/>
        <c:majorTickMark val="out"/>
        <c:minorTickMark val="none"/>
        <c:tickLblPos val="nextTo"/>
        <c:crossAx val="928322959"/>
        <c:crosses val="autoZero"/>
        <c:crossBetween val="midCat"/>
        <c:majorUnit val="1"/>
        <c:minorUnit val="1"/>
      </c:valAx>
      <c:spPr>
        <a:noFill/>
        <a:ln>
          <a:noFill/>
        </a:ln>
      </c:spPr>
    </c:plotArea>
    <c:plotVisOnly val="1"/>
    <c:dispBlanksAs val="gap"/>
    <c:showDLblsOverMax val="0"/>
  </c:chart>
  <c:spPr>
    <a:noFill/>
    <a:ln>
      <a:noFill/>
    </a:ln>
  </c:spPr>
  <c:externalData r:id="rId2">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657136380672455E-2"/>
          <c:y val="3.0699737370014191E-2"/>
          <c:w val="0.95532488822937012"/>
          <c:h val="0.95688581466674805"/>
        </c:manualLayout>
      </c:layout>
      <c:barChart>
        <c:barDir val="bar"/>
        <c:grouping val="stacked"/>
        <c:varyColors val="0"/>
        <c:ser>
          <c:idx val="0"/>
          <c:order val="0"/>
          <c:tx>
            <c:strRef>
              <c:f>Sheet1!$D$15</c:f>
              <c:strCache>
                <c:ptCount val="1"/>
                <c:pt idx="0">
                  <c:v>Current Maturity</c:v>
                </c:pt>
              </c:strCache>
            </c:strRef>
          </c:tx>
          <c:spPr>
            <a:solidFill>
              <a:srgbClr val="002856"/>
            </a:solidFill>
            <a:ln>
              <a:solidFill>
                <a:srgbClr val="002856"/>
              </a:solidFill>
              <a:miter lim="800000"/>
            </a:ln>
          </c:spPr>
          <c:invertIfNegative val="0"/>
          <c:dLbls>
            <c:dLbl>
              <c:idx val="0"/>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7D51-45A0-89FE-F298D4B5FA70}"/>
                </c:ext>
              </c:extLst>
            </c:dLbl>
            <c:dLbl>
              <c:idx val="1"/>
              <c:spPr/>
              <c:txPr>
                <a:bodyPr wrap="square" lIns="38100" tIns="19050" rIns="38100" bIns="19050" anchor="ctr">
                  <a:spAutoFit/>
                </a:bodyPr>
                <a:lstStyle/>
                <a:p>
                  <a:pPr>
                    <a:defRPr sz="1100" smtId="4294967295">
                      <a:solidFill>
                        <a:schemeClr val="bg1"/>
                      </a:solidFill>
                    </a:defRPr>
                  </a:pPr>
                  <a:endParaRPr lang="en-US"/>
                </a:p>
              </c:txPr>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7D51-45A0-89FE-F298D4B5FA70}"/>
                </c:ext>
              </c:extLst>
            </c:dLbl>
            <c:dLbl>
              <c:idx val="2"/>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7D51-45A0-89FE-F298D4B5FA70}"/>
                </c:ext>
              </c:extLst>
            </c:dLbl>
            <c:dLbl>
              <c:idx val="3"/>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7D51-45A0-89FE-F298D4B5FA70}"/>
                </c:ext>
              </c:extLst>
            </c:dLbl>
            <c:spPr>
              <a:noFill/>
              <a:ln>
                <a:noFill/>
              </a:ln>
              <a:effectLst/>
            </c:spPr>
            <c:txPr>
              <a:bodyPr wrap="square" lIns="38100" tIns="19050" rIns="38100" bIns="19050" anchor="ctr">
                <a:spAutoFit/>
              </a:bodyPr>
              <a:lstStyle/>
              <a:p>
                <a:pPr>
                  <a:defRPr sz="1100" smtId="4294967295">
                    <a:solidFill>
                      <a:schemeClr val="bg1"/>
                    </a:solidFill>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cat>
            <c:multiLvlStrRef>
              <c:f>Sheet1!$A$4:$A$7</c:f>
            </c:multiLvlStrRef>
          </c:cat>
          <c:val>
            <c:numRef>
              <c:f>Sheet1!$D$16:$D$19</c:f>
              <c:numCache>
                <c:formatCode>0.0</c:formatCode>
                <c:ptCount val="4"/>
                <c:pt idx="0" formatCode="0.00">
                  <c:v>0</c:v>
                </c:pt>
                <c:pt idx="1">
                  <c:v>2</c:v>
                </c:pt>
                <c:pt idx="2">
                  <c:v>0</c:v>
                </c:pt>
                <c:pt idx="3" formatCode="0.0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7D51-45A0-89FE-F298D4B5FA70}"/>
            </c:ext>
          </c:extLst>
        </c:ser>
        <c:ser>
          <c:idx val="10"/>
          <c:order val="1"/>
          <c:tx>
            <c:strRef>
              <c:f>Sheet1!$F$15</c:f>
              <c:strCache>
                <c:ptCount val="1"/>
                <c:pt idx="0">
                  <c:v>10th Positive Bar</c:v>
                </c:pt>
              </c:strCache>
            </c:strRef>
          </c:tx>
          <c:spPr>
            <a:noFill/>
            <a:ln>
              <a:noFill/>
            </a:ln>
          </c:spPr>
          <c:invertIfNegative val="0"/>
          <c:cat>
            <c:multiLvlStrRef>
              <c:f>Sheet1!$A$4:$A$7</c:f>
            </c:multiLvlStrRef>
          </c:cat>
          <c:val>
            <c:numRef>
              <c:f>Sheet1!$F$16:$F$19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7D51-45A0-89FE-F298D4B5FA70}"/>
            </c:ext>
          </c:extLst>
        </c:ser>
        <c:ser>
          <c:idx val="3"/>
          <c:order val="2"/>
          <c:tx>
            <c:strRef>
              <c:f>Sheet1!$H$15</c:f>
              <c:strCache>
                <c:ptCount val="1"/>
                <c:pt idx="0">
                  <c:v>25th Positive Bar</c:v>
                </c:pt>
              </c:strCache>
            </c:strRef>
          </c:tx>
          <c:spPr>
            <a:noFill/>
          </c:spPr>
          <c:invertIfNegative val="0"/>
          <c:cat>
            <c:multiLvlStrRef>
              <c:f>Sheet1!$A$4:$A$7</c:f>
            </c:multiLvlStrRef>
          </c:cat>
          <c:val>
            <c:numRef>
              <c:f>Sheet1!$H$16:$H$19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7D51-45A0-89FE-F298D4B5FA70}"/>
            </c:ext>
          </c:extLst>
        </c:ser>
        <c:ser>
          <c:idx val="5"/>
          <c:order val="3"/>
          <c:tx>
            <c:strRef>
              <c:f>Sheet1!$J$15</c:f>
              <c:strCache>
                <c:ptCount val="1"/>
                <c:pt idx="0">
                  <c:v>75th Positive Bar</c:v>
                </c:pt>
              </c:strCache>
            </c:strRef>
          </c:tx>
          <c:spPr>
            <a:solidFill>
              <a:srgbClr val="BFBFBF"/>
            </a:solidFill>
            <a:ln>
              <a:solidFill>
                <a:srgbClr val="BFBFBF"/>
              </a:solidFill>
            </a:ln>
          </c:spPr>
          <c:invertIfNegative val="0"/>
          <c:cat>
            <c:multiLvlStrRef>
              <c:f>Sheet1!$A$4:$A$7</c:f>
            </c:multiLvlStrRef>
          </c:cat>
          <c:val>
            <c:numRef>
              <c:f>Sheet1!$J$16:$J$19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7D51-45A0-89FE-F298D4B5FA70}"/>
            </c:ext>
          </c:extLst>
        </c:ser>
        <c:ser>
          <c:idx val="7"/>
          <c:order val="4"/>
          <c:tx>
            <c:strRef>
              <c:f>Sheet1!$L$15</c:f>
              <c:strCache>
                <c:ptCount val="1"/>
                <c:pt idx="0">
                  <c:v>90th Positive Bar</c:v>
                </c:pt>
              </c:strCache>
            </c:strRef>
          </c:tx>
          <c:spPr>
            <a:noFill/>
          </c:spPr>
          <c:invertIfNegative val="0"/>
          <c:cat>
            <c:multiLvlStrRef>
              <c:f>Sheet1!$A$4:$A$7</c:f>
            </c:multiLvlStrRef>
          </c:cat>
          <c:val>
            <c:numRef>
              <c:f>Sheet1!$L$16:$L$19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7D51-45A0-89FE-F298D4B5FA70}"/>
            </c:ext>
          </c:extLst>
        </c:ser>
        <c:ser>
          <c:idx val="6"/>
          <c:order val="8"/>
          <c:tx>
            <c:strRef>
              <c:f>Sheet1!$K$15</c:f>
              <c:strCache>
                <c:ptCount val="1"/>
                <c:pt idx="0">
                  <c:v>90th Negative Bar</c:v>
                </c:pt>
              </c:strCache>
            </c:strRef>
          </c:tx>
          <c:spPr>
            <a:noFill/>
          </c:spPr>
          <c:invertIfNegative val="0"/>
          <c:cat>
            <c:multiLvlStrRef>
              <c:f>Sheet1!$A$4:$A$7</c:f>
            </c:multiLvlStrRef>
          </c:cat>
          <c:val>
            <c:numRef>
              <c:f>Sheet1!$K$16:$K$19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7D51-45A0-89FE-F298D4B5FA70}"/>
            </c:ext>
          </c:extLst>
        </c:ser>
        <c:ser>
          <c:idx val="4"/>
          <c:order val="9"/>
          <c:tx>
            <c:strRef>
              <c:f>Sheet1!$I$15</c:f>
              <c:strCache>
                <c:ptCount val="1"/>
                <c:pt idx="0">
                  <c:v>75th Negative Bar</c:v>
                </c:pt>
              </c:strCache>
            </c:strRef>
          </c:tx>
          <c:spPr>
            <a:noFill/>
          </c:spPr>
          <c:invertIfNegative val="0"/>
          <c:cat>
            <c:multiLvlStrRef>
              <c:f>Sheet1!$A$4:$A$7</c:f>
            </c:multiLvlStrRef>
          </c:cat>
          <c:val>
            <c:numRef>
              <c:f>Sheet1!$I$16:$I$19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7D51-45A0-89FE-F298D4B5FA70}"/>
            </c:ext>
          </c:extLst>
        </c:ser>
        <c:ser>
          <c:idx val="2"/>
          <c:order val="10"/>
          <c:tx>
            <c:strRef>
              <c:f>Sheet1!$G$15</c:f>
              <c:strCache>
                <c:ptCount val="1"/>
                <c:pt idx="0">
                  <c:v>25th Negative Bar</c:v>
                </c:pt>
              </c:strCache>
            </c:strRef>
          </c:tx>
          <c:spPr>
            <a:solidFill>
              <a:srgbClr val="BFBFBF"/>
            </a:solidFill>
            <a:ln>
              <a:solidFill>
                <a:srgbClr val="BFBFBF"/>
              </a:solidFill>
            </a:ln>
          </c:spPr>
          <c:invertIfNegative val="0"/>
          <c:cat>
            <c:multiLvlStrRef>
              <c:f>Sheet1!$A$4:$A$7</c:f>
            </c:multiLvlStrRef>
          </c:cat>
          <c:val>
            <c:numRef>
              <c:f>Sheet1!$G$16:$G$19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7D51-45A0-89FE-F298D4B5FA70}"/>
            </c:ext>
          </c:extLst>
        </c:ser>
        <c:ser>
          <c:idx val="1"/>
          <c:order val="11"/>
          <c:tx>
            <c:strRef>
              <c:f>Sheet1!$E$15</c:f>
              <c:strCache>
                <c:ptCount val="1"/>
                <c:pt idx="0">
                  <c:v>10th Negative Bar</c:v>
                </c:pt>
              </c:strCache>
            </c:strRef>
          </c:tx>
          <c:spPr>
            <a:noFill/>
          </c:spPr>
          <c:invertIfNegative val="0"/>
          <c:cat>
            <c:multiLvlStrRef>
              <c:f>Sheet1!$A$4:$A$7</c:f>
            </c:multiLvlStrRef>
          </c:cat>
          <c:val>
            <c:numRef>
              <c:f>Sheet1!$E$16:$E$19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7D51-45A0-89FE-F298D4B5FA70}"/>
            </c:ext>
          </c:extLst>
        </c:ser>
        <c:ser>
          <c:idx val="15"/>
          <c:order val="14"/>
          <c:tx>
            <c:strRef>
              <c:f>Sheet1!$M$15</c:f>
              <c:strCache>
                <c:ptCount val="1"/>
                <c:pt idx="0">
                  <c:v>Benchmarks Omitted Bar</c:v>
                </c:pt>
              </c:strCache>
            </c:strRef>
          </c:tx>
          <c:spPr>
            <a:noFill/>
          </c:spPr>
          <c:invertIfNegative val="0"/>
          <c:cat>
            <c:multiLvlStrRef>
              <c:f>Sheet1!$A$4:$A$7</c:f>
            </c:multiLvlStrRef>
          </c:cat>
          <c:val>
            <c:numRef>
              <c:f>Sheet1!$M$16:$M$19</c:f>
              <c:numCache>
                <c:formatCode>General</c:formatCode>
                <c:ptCount val="4"/>
                <c:pt idx="0">
                  <c:v>0</c:v>
                </c:pt>
                <c:pt idx="1">
                  <c:v>0</c:v>
                </c:pt>
                <c:pt idx="2">
                  <c:v>0</c:v>
                </c:pt>
                <c:pt idx="3" formatCode="&quot;$&quot;#,##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7D51-45A0-89FE-F298D4B5FA70}"/>
            </c:ext>
          </c:extLst>
        </c:ser>
        <c:dLbls>
          <c:showLegendKey val="0"/>
          <c:showVal val="0"/>
          <c:showCatName val="0"/>
          <c:showSerName val="0"/>
          <c:showPercent val="0"/>
          <c:showBubbleSize val="0"/>
        </c:dLbls>
        <c:gapWidth val="0"/>
        <c:overlap val="100"/>
        <c:axId val="1154865663"/>
        <c:axId val="1"/>
      </c:barChart>
      <c:scatterChart>
        <c:scatterStyle val="lineMarker"/>
        <c:varyColors val="0"/>
        <c:ser>
          <c:idx val="8"/>
          <c:order val="5"/>
          <c:tx>
            <c:strRef>
              <c:f>Sheet1!$B$9</c:f>
              <c:strCache>
                <c:ptCount val="1"/>
                <c:pt idx="0">
                  <c:v>Target Maturity</c:v>
                </c:pt>
              </c:strCache>
            </c:strRef>
          </c:tx>
          <c:marker>
            <c:symbol val="none"/>
          </c:marker>
          <c:dLbls>
            <c:dLbl>
              <c:idx val="0"/>
              <c:spPr>
                <a:solidFill>
                  <a:srgbClr val="1F96FF"/>
                </a:solidFill>
                <a:ln>
                  <a:noFill/>
                </a:ln>
                <a:effectLst/>
              </c:spPr>
              <c:txPr>
                <a:bodyPr wrap="square" lIns="38100" tIns="19050" rIns="38100" bIns="19050" anchor="ctr">
                  <a:spAutoFit/>
                </a:bodyPr>
                <a:lstStyle/>
                <a:p>
                  <a:pPr>
                    <a:defRPr sz="1100" smtId="4294967295">
                      <a:solidFill>
                        <a:srgbClr val="FFFFFF"/>
                      </a:solidFill>
                      <a:latin typeface="Roboto Medium" panose="02000000000000000000" pitchFamily="2" charset="0"/>
                      <a:ea typeface="Roboto Medium"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7D51-45A0-89FE-F298D4B5FA70}"/>
                </c:ext>
              </c:extLst>
            </c:dLbl>
            <c:spPr>
              <a:solidFill>
                <a:srgbClr val="1F96FF"/>
              </a:solidFill>
              <a:ln>
                <a:noFill/>
              </a:ln>
              <a:effectLst/>
            </c:spPr>
            <c:txPr>
              <a:bodyPr wrap="square" lIns="38100" tIns="19050" rIns="38100" bIns="19050" anchor="ctr">
                <a:spAutoFit/>
              </a:bodyPr>
              <a:lstStyle/>
              <a:p>
                <a:pPr>
                  <a:defRPr sz="1100" smtId="4294967295">
                    <a:solidFill>
                      <a:srgbClr val="FFFFFF"/>
                    </a:solidFill>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40"/>
            <c:spPr>
              <a:ln w="25400">
                <a:solidFill>
                  <a:srgbClr val="1F96FF"/>
                </a:solidFill>
              </a:ln>
            </c:spPr>
          </c:errBars>
          <c:xVal>
            <c:numRef>
              <c:f>Sheet1!$D$9</c:f>
              <c:numCache>
                <c:formatCode>0.0</c:formatCode>
                <c:ptCount val="1"/>
                <c:pt idx="0">
                  <c:v>3</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7D51-45A0-89FE-F298D4B5FA70}"/>
            </c:ext>
          </c:extLst>
        </c:ser>
        <c:ser>
          <c:idx val="11"/>
          <c:order val="6"/>
          <c:tx>
            <c:strRef>
              <c:f>Sheet1!$B$11</c:f>
              <c:strCache>
                <c:ptCount val="1"/>
                <c:pt idx="0">
                  <c:v>Maximum</c:v>
                </c:pt>
              </c:strCache>
            </c:strRef>
          </c:tx>
          <c:marker>
            <c:symbol val="none"/>
          </c:marker>
          <c:xVal>
            <c:numRef>
              <c:f>Sheet1!$D$11</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7D51-45A0-89FE-F298D4B5FA70}"/>
            </c:ext>
          </c:extLst>
        </c:ser>
        <c:ser>
          <c:idx val="9"/>
          <c:order val="7"/>
          <c:tx>
            <c:strRef>
              <c:f>Sheet1!$B$8</c:f>
              <c:strCache>
                <c:ptCount val="1"/>
                <c:pt idx="0">
                  <c:v>Client</c:v>
                </c:pt>
              </c:strCache>
            </c:strRef>
          </c:tx>
          <c:marker>
            <c:symbol val="none"/>
          </c:marker>
          <c:xVal>
            <c:numRef>
              <c:f>Sheet1!$D$8</c:f>
              <c:numCache>
                <c:formatCode>0.00</c:formatCode>
                <c:ptCount val="1"/>
                <c:pt idx="0">
                  <c:v>0</c:v>
                </c:pt>
              </c:numCache>
            </c:numRef>
          </c:xVal>
          <c:yVal>
            <c:numRef>
              <c:f>Sheet1!$D$14</c:f>
              <c:numCache>
                <c:formatCode>_(* #,##0_);_(* \(#,##0\);_(* "-"??_);_(@_)</c:formatCode>
                <c:ptCount val="1"/>
                <c:pt idx="0">
                  <c:v>3</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7D51-45A0-89FE-F298D4B5FA70}"/>
            </c:ext>
          </c:extLst>
        </c:ser>
        <c:ser>
          <c:idx val="13"/>
          <c:order val="12"/>
          <c:tx>
            <c:v>25th Scatter Label</c:v>
          </c:tx>
          <c:marker>
            <c:symbol val="none"/>
          </c:marker>
          <c:xVal>
            <c:numRef>
              <c:f>Sheet1!$D$5</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7D51-45A0-89FE-F298D4B5FA70}"/>
            </c:ext>
          </c:extLst>
        </c:ser>
        <c:ser>
          <c:idx val="14"/>
          <c:order val="13"/>
          <c:tx>
            <c:v>75 Scatter Label</c:v>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7D51-45A0-89FE-F298D4B5FA70}"/>
              </c:ext>
            </c:extLst>
          </c:dPt>
          <c:xVal>
            <c:numRef>
              <c:f>Sheet1!$D$6</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7D51-45A0-89FE-F298D4B5FA70}"/>
            </c:ext>
          </c:extLst>
        </c:ser>
        <c:dLbls>
          <c:showLegendKey val="0"/>
          <c:showVal val="0"/>
          <c:showCatName val="0"/>
          <c:showSerName val="0"/>
          <c:showPercent val="0"/>
          <c:showBubbleSize val="0"/>
        </c:dLbls>
        <c:axId val="928322959"/>
        <c:axId val="928311311"/>
      </c:scatterChart>
      <c:catAx>
        <c:axId val="1154865663"/>
        <c:scaling>
          <c:orientation val="minMax"/>
        </c:scaling>
        <c:delete val="1"/>
        <c:axPos val="l"/>
        <c:numFmt formatCode="General" sourceLinked="1"/>
        <c:majorTickMark val="out"/>
        <c:minorTickMark val="none"/>
        <c:tickLblPos val="nextTo"/>
        <c:crossAx val="1"/>
        <c:crossesAt val="0"/>
        <c:auto val="0"/>
        <c:lblAlgn val="ctr"/>
        <c:lblOffset val="100"/>
        <c:noMultiLvlLbl val="1"/>
      </c:catAx>
      <c:valAx>
        <c:axId val="1"/>
        <c:scaling>
          <c:orientation val="minMax"/>
          <c:max val="5.0999999999999996"/>
          <c:min val="0"/>
        </c:scaling>
        <c:delete val="1"/>
        <c:axPos val="b"/>
        <c:numFmt formatCode="0.0" sourceLinked="0"/>
        <c:majorTickMark val="out"/>
        <c:minorTickMark val="none"/>
        <c:tickLblPos val="nextTo"/>
        <c:crossAx val="1154865663"/>
        <c:crossesAt val="1"/>
        <c:crossBetween val="between"/>
        <c:majorUnit val="1"/>
      </c:valAx>
      <c:valAx>
        <c:axId val="928322959"/>
        <c:scaling>
          <c:orientation val="minMax"/>
          <c:max val="1.6000000000000003E-3"/>
        </c:scaling>
        <c:delete val="1"/>
        <c:axPos val="b"/>
        <c:numFmt formatCode="0.0" sourceLinked="1"/>
        <c:majorTickMark val="out"/>
        <c:minorTickMark val="none"/>
        <c:tickLblPos val="nextTo"/>
        <c:crossAx val="928311311"/>
        <c:crosses val="autoZero"/>
        <c:crossBetween val="midCat"/>
      </c:valAx>
      <c:valAx>
        <c:axId val="928311311"/>
        <c:scaling>
          <c:orientation val="minMax"/>
          <c:max val="3"/>
          <c:min val="1"/>
        </c:scaling>
        <c:delete val="1"/>
        <c:axPos val="l"/>
        <c:numFmt formatCode="_(* #,##0_);_(* \(#,##0\);_(* &quot;-&quot;??_);_(@_)" sourceLinked="0"/>
        <c:majorTickMark val="out"/>
        <c:minorTickMark val="none"/>
        <c:tickLblPos val="nextTo"/>
        <c:crossAx val="928322959"/>
        <c:crosses val="autoZero"/>
        <c:crossBetween val="midCat"/>
        <c:majorUnit val="1"/>
        <c:minorUnit val="1"/>
      </c:valAx>
      <c:spPr>
        <a:noFill/>
        <a:ln>
          <a:noFill/>
        </a:ln>
      </c:spPr>
    </c:plotArea>
    <c:plotVisOnly val="1"/>
    <c:dispBlanksAs val="gap"/>
    <c:showDLblsOverMax val="0"/>
  </c:chart>
  <c:spPr>
    <a:noFill/>
    <a:ln>
      <a:noFill/>
    </a:ln>
  </c:spPr>
  <c:externalData r:id="rId2">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764448955655098E-2"/>
          <c:y val="4.3114185333251953E-2"/>
          <c:w val="0.95532488822937012"/>
          <c:h val="0.95688581466674805"/>
        </c:manualLayout>
      </c:layout>
      <c:barChart>
        <c:barDir val="bar"/>
        <c:grouping val="stacked"/>
        <c:varyColors val="0"/>
        <c:ser>
          <c:idx val="0"/>
          <c:order val="0"/>
          <c:tx>
            <c:strRef>
              <c:f>Sheet1!$D$15</c:f>
              <c:strCache>
                <c:ptCount val="1"/>
                <c:pt idx="0">
                  <c:v>Current Maturity</c:v>
                </c:pt>
              </c:strCache>
            </c:strRef>
          </c:tx>
          <c:spPr>
            <a:solidFill>
              <a:srgbClr val="002856"/>
            </a:solidFill>
            <a:ln>
              <a:solidFill>
                <a:srgbClr val="002856"/>
              </a:solidFill>
              <a:miter lim="800000"/>
            </a:ln>
          </c:spPr>
          <c:invertIfNegative val="0"/>
          <c:dLbls>
            <c:dLbl>
              <c:idx val="0"/>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DCA9-4510-A2D6-1713EDC5F782}"/>
                </c:ext>
              </c:extLst>
            </c:dLbl>
            <c:dLbl>
              <c:idx val="1"/>
              <c:spPr/>
              <c:txPr>
                <a:bodyPr wrap="square" lIns="38100" tIns="19050" rIns="38100" bIns="19050" anchor="ctr">
                  <a:spAutoFit/>
                </a:bodyPr>
                <a:lstStyle/>
                <a:p>
                  <a:pPr>
                    <a:defRPr sz="1100" smtId="4294967295">
                      <a:solidFill>
                        <a:schemeClr val="bg1"/>
                      </a:solidFill>
                    </a:defRPr>
                  </a:pPr>
                  <a:endParaRPr lang="en-US"/>
                </a:p>
              </c:txPr>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DCA9-4510-A2D6-1713EDC5F782}"/>
                </c:ext>
              </c:extLst>
            </c:dLbl>
            <c:dLbl>
              <c:idx val="2"/>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DCA9-4510-A2D6-1713EDC5F782}"/>
                </c:ext>
              </c:extLst>
            </c:dLbl>
            <c:dLbl>
              <c:idx val="3"/>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DCA9-4510-A2D6-1713EDC5F782}"/>
                </c:ext>
              </c:extLst>
            </c:dLbl>
            <c:spPr>
              <a:noFill/>
              <a:ln>
                <a:noFill/>
              </a:ln>
              <a:effectLst/>
            </c:spPr>
            <c:txPr>
              <a:bodyPr wrap="square" lIns="38100" tIns="19050" rIns="38100" bIns="19050" anchor="ctr">
                <a:spAutoFit/>
              </a:bodyPr>
              <a:lstStyle/>
              <a:p>
                <a:pPr>
                  <a:defRPr sz="1100" smtId="4294967295">
                    <a:solidFill>
                      <a:schemeClr val="bg1"/>
                    </a:solidFill>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cat>
            <c:multiLvlStrRef>
              <c:f>Sheet1!$A$4:$A$7</c:f>
            </c:multiLvlStrRef>
          </c:cat>
          <c:val>
            <c:numRef>
              <c:f>Sheet1!$D$16:$D$19</c:f>
              <c:numCache>
                <c:formatCode>0.0</c:formatCode>
                <c:ptCount val="4"/>
                <c:pt idx="0" formatCode="0.00">
                  <c:v>0</c:v>
                </c:pt>
                <c:pt idx="1">
                  <c:v>3</c:v>
                </c:pt>
                <c:pt idx="2">
                  <c:v>0</c:v>
                </c:pt>
                <c:pt idx="3" formatCode="0.0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DCA9-4510-A2D6-1713EDC5F782}"/>
            </c:ext>
          </c:extLst>
        </c:ser>
        <c:ser>
          <c:idx val="10"/>
          <c:order val="1"/>
          <c:tx>
            <c:strRef>
              <c:f>Sheet1!$F$15</c:f>
              <c:strCache>
                <c:ptCount val="1"/>
                <c:pt idx="0">
                  <c:v>10th Positive Bar</c:v>
                </c:pt>
              </c:strCache>
            </c:strRef>
          </c:tx>
          <c:spPr>
            <a:noFill/>
            <a:ln>
              <a:noFill/>
            </a:ln>
          </c:spPr>
          <c:invertIfNegative val="0"/>
          <c:cat>
            <c:multiLvlStrRef>
              <c:f>Sheet1!$A$4:$A$7</c:f>
            </c:multiLvlStrRef>
          </c:cat>
          <c:val>
            <c:numRef>
              <c:f>Sheet1!$F$16:$F$19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DCA9-4510-A2D6-1713EDC5F782}"/>
            </c:ext>
          </c:extLst>
        </c:ser>
        <c:ser>
          <c:idx val="3"/>
          <c:order val="2"/>
          <c:tx>
            <c:strRef>
              <c:f>Sheet1!$H$15</c:f>
              <c:strCache>
                <c:ptCount val="1"/>
                <c:pt idx="0">
                  <c:v>25th Positive Bar</c:v>
                </c:pt>
              </c:strCache>
            </c:strRef>
          </c:tx>
          <c:spPr>
            <a:noFill/>
          </c:spPr>
          <c:invertIfNegative val="0"/>
          <c:cat>
            <c:multiLvlStrRef>
              <c:f>Sheet1!$A$4:$A$7</c:f>
            </c:multiLvlStrRef>
          </c:cat>
          <c:val>
            <c:numRef>
              <c:f>Sheet1!$H$16:$H$19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DCA9-4510-A2D6-1713EDC5F782}"/>
            </c:ext>
          </c:extLst>
        </c:ser>
        <c:ser>
          <c:idx val="5"/>
          <c:order val="3"/>
          <c:tx>
            <c:strRef>
              <c:f>Sheet1!$J$15</c:f>
              <c:strCache>
                <c:ptCount val="1"/>
                <c:pt idx="0">
                  <c:v>75th Positive Bar</c:v>
                </c:pt>
              </c:strCache>
            </c:strRef>
          </c:tx>
          <c:spPr>
            <a:solidFill>
              <a:srgbClr val="BFBFBF"/>
            </a:solidFill>
            <a:ln>
              <a:solidFill>
                <a:srgbClr val="BFBFBF"/>
              </a:solidFill>
            </a:ln>
          </c:spPr>
          <c:invertIfNegative val="0"/>
          <c:cat>
            <c:multiLvlStrRef>
              <c:f>Sheet1!$A$4:$A$7</c:f>
            </c:multiLvlStrRef>
          </c:cat>
          <c:val>
            <c:numRef>
              <c:f>Sheet1!$J$16:$J$19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DCA9-4510-A2D6-1713EDC5F782}"/>
            </c:ext>
          </c:extLst>
        </c:ser>
        <c:ser>
          <c:idx val="7"/>
          <c:order val="4"/>
          <c:tx>
            <c:strRef>
              <c:f>Sheet1!$L$15</c:f>
              <c:strCache>
                <c:ptCount val="1"/>
                <c:pt idx="0">
                  <c:v>90th Positive Bar</c:v>
                </c:pt>
              </c:strCache>
            </c:strRef>
          </c:tx>
          <c:spPr>
            <a:noFill/>
          </c:spPr>
          <c:invertIfNegative val="0"/>
          <c:cat>
            <c:multiLvlStrRef>
              <c:f>Sheet1!$A$4:$A$7</c:f>
            </c:multiLvlStrRef>
          </c:cat>
          <c:val>
            <c:numRef>
              <c:f>Sheet1!$L$16:$L$19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DCA9-4510-A2D6-1713EDC5F782}"/>
            </c:ext>
          </c:extLst>
        </c:ser>
        <c:ser>
          <c:idx val="6"/>
          <c:order val="8"/>
          <c:tx>
            <c:strRef>
              <c:f>Sheet1!$K$15</c:f>
              <c:strCache>
                <c:ptCount val="1"/>
                <c:pt idx="0">
                  <c:v>90th Negative Bar</c:v>
                </c:pt>
              </c:strCache>
            </c:strRef>
          </c:tx>
          <c:spPr>
            <a:noFill/>
          </c:spPr>
          <c:invertIfNegative val="0"/>
          <c:cat>
            <c:multiLvlStrRef>
              <c:f>Sheet1!$A$4:$A$7</c:f>
            </c:multiLvlStrRef>
          </c:cat>
          <c:val>
            <c:numRef>
              <c:f>Sheet1!$K$16:$K$19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DCA9-4510-A2D6-1713EDC5F782}"/>
            </c:ext>
          </c:extLst>
        </c:ser>
        <c:ser>
          <c:idx val="4"/>
          <c:order val="9"/>
          <c:tx>
            <c:strRef>
              <c:f>Sheet1!$I$15</c:f>
              <c:strCache>
                <c:ptCount val="1"/>
                <c:pt idx="0">
                  <c:v>75th Negative Bar</c:v>
                </c:pt>
              </c:strCache>
            </c:strRef>
          </c:tx>
          <c:spPr>
            <a:noFill/>
          </c:spPr>
          <c:invertIfNegative val="0"/>
          <c:cat>
            <c:multiLvlStrRef>
              <c:f>Sheet1!$A$4:$A$7</c:f>
            </c:multiLvlStrRef>
          </c:cat>
          <c:val>
            <c:numRef>
              <c:f>Sheet1!$I$16:$I$19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DCA9-4510-A2D6-1713EDC5F782}"/>
            </c:ext>
          </c:extLst>
        </c:ser>
        <c:ser>
          <c:idx val="2"/>
          <c:order val="10"/>
          <c:tx>
            <c:strRef>
              <c:f>Sheet1!$G$15</c:f>
              <c:strCache>
                <c:ptCount val="1"/>
                <c:pt idx="0">
                  <c:v>25th Negative Bar</c:v>
                </c:pt>
              </c:strCache>
            </c:strRef>
          </c:tx>
          <c:spPr>
            <a:solidFill>
              <a:srgbClr val="BFBFBF"/>
            </a:solidFill>
            <a:ln>
              <a:solidFill>
                <a:srgbClr val="BFBFBF"/>
              </a:solidFill>
            </a:ln>
          </c:spPr>
          <c:invertIfNegative val="0"/>
          <c:cat>
            <c:multiLvlStrRef>
              <c:f>Sheet1!$A$4:$A$7</c:f>
            </c:multiLvlStrRef>
          </c:cat>
          <c:val>
            <c:numRef>
              <c:f>Sheet1!$G$16:$G$19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DCA9-4510-A2D6-1713EDC5F782}"/>
            </c:ext>
          </c:extLst>
        </c:ser>
        <c:ser>
          <c:idx val="1"/>
          <c:order val="11"/>
          <c:tx>
            <c:strRef>
              <c:f>Sheet1!$E$15</c:f>
              <c:strCache>
                <c:ptCount val="1"/>
                <c:pt idx="0">
                  <c:v>10th Negative Bar</c:v>
                </c:pt>
              </c:strCache>
            </c:strRef>
          </c:tx>
          <c:spPr>
            <a:noFill/>
          </c:spPr>
          <c:invertIfNegative val="0"/>
          <c:cat>
            <c:multiLvlStrRef>
              <c:f>Sheet1!$A$4:$A$7</c:f>
            </c:multiLvlStrRef>
          </c:cat>
          <c:val>
            <c:numRef>
              <c:f>Sheet1!$E$16:$E$19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DCA9-4510-A2D6-1713EDC5F782}"/>
            </c:ext>
          </c:extLst>
        </c:ser>
        <c:ser>
          <c:idx val="15"/>
          <c:order val="14"/>
          <c:tx>
            <c:strRef>
              <c:f>Sheet1!$M$15</c:f>
              <c:strCache>
                <c:ptCount val="1"/>
                <c:pt idx="0">
                  <c:v>Benchmarks Omitted Bar</c:v>
                </c:pt>
              </c:strCache>
            </c:strRef>
          </c:tx>
          <c:spPr>
            <a:noFill/>
          </c:spPr>
          <c:invertIfNegative val="0"/>
          <c:cat>
            <c:multiLvlStrRef>
              <c:f>Sheet1!$A$4:$A$7</c:f>
            </c:multiLvlStrRef>
          </c:cat>
          <c:val>
            <c:numRef>
              <c:f>Sheet1!$M$16:$M$19</c:f>
              <c:numCache>
                <c:formatCode>General</c:formatCode>
                <c:ptCount val="4"/>
                <c:pt idx="0">
                  <c:v>0</c:v>
                </c:pt>
                <c:pt idx="1">
                  <c:v>0</c:v>
                </c:pt>
                <c:pt idx="2">
                  <c:v>0</c:v>
                </c:pt>
                <c:pt idx="3" formatCode="&quot;$&quot;#,##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DCA9-4510-A2D6-1713EDC5F782}"/>
            </c:ext>
          </c:extLst>
        </c:ser>
        <c:dLbls>
          <c:showLegendKey val="0"/>
          <c:showVal val="0"/>
          <c:showCatName val="0"/>
          <c:showSerName val="0"/>
          <c:showPercent val="0"/>
          <c:showBubbleSize val="0"/>
        </c:dLbls>
        <c:gapWidth val="0"/>
        <c:overlap val="100"/>
        <c:axId val="1154865663"/>
        <c:axId val="1"/>
      </c:barChart>
      <c:scatterChart>
        <c:scatterStyle val="lineMarker"/>
        <c:varyColors val="0"/>
        <c:ser>
          <c:idx val="8"/>
          <c:order val="5"/>
          <c:tx>
            <c:strRef>
              <c:f>Sheet1!$B$9</c:f>
              <c:strCache>
                <c:ptCount val="1"/>
                <c:pt idx="0">
                  <c:v>Target Maturity</c:v>
                </c:pt>
              </c:strCache>
            </c:strRef>
          </c:tx>
          <c:marker>
            <c:symbol val="none"/>
          </c:marker>
          <c:dLbls>
            <c:dLbl>
              <c:idx val="0"/>
              <c:spPr>
                <a:solidFill>
                  <a:srgbClr val="1F96FF"/>
                </a:solidFill>
                <a:ln>
                  <a:noFill/>
                </a:ln>
                <a:effectLst/>
              </c:spPr>
              <c:txPr>
                <a:bodyPr wrap="square" lIns="38100" tIns="19050" rIns="38100" bIns="19050" anchor="ctr">
                  <a:spAutoFit/>
                </a:bodyPr>
                <a:lstStyle/>
                <a:p>
                  <a:pPr>
                    <a:defRPr sz="1100" smtId="4294967295">
                      <a:solidFill>
                        <a:srgbClr val="FFFFFF"/>
                      </a:solidFill>
                      <a:latin typeface="Roboto Medium" panose="02000000000000000000" pitchFamily="2" charset="0"/>
                      <a:ea typeface="Roboto Medium"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DCA9-4510-A2D6-1713EDC5F782}"/>
                </c:ext>
              </c:extLst>
            </c:dLbl>
            <c:spPr>
              <a:solidFill>
                <a:srgbClr val="1F96FF"/>
              </a:solidFill>
              <a:ln>
                <a:noFill/>
              </a:ln>
              <a:effectLst/>
            </c:spPr>
            <c:txPr>
              <a:bodyPr wrap="square" lIns="38100" tIns="19050" rIns="38100" bIns="19050" anchor="ctr">
                <a:spAutoFit/>
              </a:bodyPr>
              <a:lstStyle/>
              <a:p>
                <a:pPr>
                  <a:defRPr sz="1100" smtId="4294967295">
                    <a:solidFill>
                      <a:srgbClr val="FFFFFF"/>
                    </a:solidFill>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40"/>
            <c:spPr>
              <a:ln w="25400">
                <a:solidFill>
                  <a:srgbClr val="1F96FF"/>
                </a:solidFill>
              </a:ln>
            </c:spPr>
          </c:errBars>
          <c:xVal>
            <c:numRef>
              <c:f>Sheet1!$D$9</c:f>
              <c:numCache>
                <c:formatCode>0.0</c:formatCode>
                <c:ptCount val="1"/>
                <c:pt idx="0">
                  <c:v>4</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DCA9-4510-A2D6-1713EDC5F782}"/>
            </c:ext>
          </c:extLst>
        </c:ser>
        <c:ser>
          <c:idx val="11"/>
          <c:order val="6"/>
          <c:tx>
            <c:strRef>
              <c:f>Sheet1!$B$11</c:f>
              <c:strCache>
                <c:ptCount val="1"/>
                <c:pt idx="0">
                  <c:v>Maximum</c:v>
                </c:pt>
              </c:strCache>
            </c:strRef>
          </c:tx>
          <c:marker>
            <c:symbol val="none"/>
          </c:marker>
          <c:xVal>
            <c:numRef>
              <c:f>Sheet1!$D$11</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DCA9-4510-A2D6-1713EDC5F782}"/>
            </c:ext>
          </c:extLst>
        </c:ser>
        <c:ser>
          <c:idx val="9"/>
          <c:order val="7"/>
          <c:tx>
            <c:strRef>
              <c:f>Sheet1!$B$8</c:f>
              <c:strCache>
                <c:ptCount val="1"/>
                <c:pt idx="0">
                  <c:v>Client</c:v>
                </c:pt>
              </c:strCache>
            </c:strRef>
          </c:tx>
          <c:marker>
            <c:symbol val="none"/>
          </c:marker>
          <c:xVal>
            <c:numRef>
              <c:f>Sheet1!$D$8</c:f>
              <c:numCache>
                <c:formatCode>0.00</c:formatCode>
                <c:ptCount val="1"/>
                <c:pt idx="0">
                  <c:v>0</c:v>
                </c:pt>
              </c:numCache>
            </c:numRef>
          </c:xVal>
          <c:yVal>
            <c:numRef>
              <c:f>Sheet1!$D$14</c:f>
              <c:numCache>
                <c:formatCode>_(* #,##0_);_(* \(#,##0\);_(* "-"??_);_(@_)</c:formatCode>
                <c:ptCount val="1"/>
                <c:pt idx="0">
                  <c:v>3</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DCA9-4510-A2D6-1713EDC5F782}"/>
            </c:ext>
          </c:extLst>
        </c:ser>
        <c:ser>
          <c:idx val="13"/>
          <c:order val="12"/>
          <c:tx>
            <c:v>25th Scatter Label</c:v>
          </c:tx>
          <c:marker>
            <c:symbol val="none"/>
          </c:marker>
          <c:xVal>
            <c:numRef>
              <c:f>Sheet1!$D$5</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DCA9-4510-A2D6-1713EDC5F782}"/>
            </c:ext>
          </c:extLst>
        </c:ser>
        <c:ser>
          <c:idx val="14"/>
          <c:order val="13"/>
          <c:tx>
            <c:v>75 Scatter Label</c:v>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DCA9-4510-A2D6-1713EDC5F782}"/>
              </c:ext>
            </c:extLst>
          </c:dPt>
          <c:xVal>
            <c:numRef>
              <c:f>Sheet1!$D$6</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DCA9-4510-A2D6-1713EDC5F782}"/>
            </c:ext>
          </c:extLst>
        </c:ser>
        <c:dLbls>
          <c:showLegendKey val="0"/>
          <c:showVal val="0"/>
          <c:showCatName val="0"/>
          <c:showSerName val="0"/>
          <c:showPercent val="0"/>
          <c:showBubbleSize val="0"/>
        </c:dLbls>
        <c:axId val="928322959"/>
        <c:axId val="928311311"/>
      </c:scatterChart>
      <c:catAx>
        <c:axId val="1154865663"/>
        <c:scaling>
          <c:orientation val="minMax"/>
        </c:scaling>
        <c:delete val="1"/>
        <c:axPos val="l"/>
        <c:numFmt formatCode="General" sourceLinked="1"/>
        <c:majorTickMark val="out"/>
        <c:minorTickMark val="none"/>
        <c:tickLblPos val="nextTo"/>
        <c:crossAx val="1"/>
        <c:crossesAt val="0"/>
        <c:auto val="0"/>
        <c:lblAlgn val="ctr"/>
        <c:lblOffset val="100"/>
        <c:noMultiLvlLbl val="1"/>
      </c:catAx>
      <c:valAx>
        <c:axId val="1"/>
        <c:scaling>
          <c:orientation val="minMax"/>
          <c:max val="5.0999999999999996"/>
          <c:min val="0"/>
        </c:scaling>
        <c:delete val="1"/>
        <c:axPos val="b"/>
        <c:numFmt formatCode="0.0" sourceLinked="0"/>
        <c:majorTickMark val="out"/>
        <c:minorTickMark val="none"/>
        <c:tickLblPos val="nextTo"/>
        <c:crossAx val="1154865663"/>
        <c:crossesAt val="1"/>
        <c:crossBetween val="between"/>
        <c:majorUnit val="1"/>
      </c:valAx>
      <c:valAx>
        <c:axId val="928322959"/>
        <c:scaling>
          <c:orientation val="minMax"/>
          <c:max val="1.6000000000000003E-3"/>
        </c:scaling>
        <c:delete val="1"/>
        <c:axPos val="b"/>
        <c:numFmt formatCode="0.0" sourceLinked="1"/>
        <c:majorTickMark val="out"/>
        <c:minorTickMark val="none"/>
        <c:tickLblPos val="nextTo"/>
        <c:crossAx val="928311311"/>
        <c:crosses val="autoZero"/>
        <c:crossBetween val="midCat"/>
      </c:valAx>
      <c:valAx>
        <c:axId val="928311311"/>
        <c:scaling>
          <c:orientation val="minMax"/>
          <c:max val="3"/>
          <c:min val="1"/>
        </c:scaling>
        <c:delete val="1"/>
        <c:axPos val="l"/>
        <c:numFmt formatCode="_(* #,##0_);_(* \(#,##0\);_(* &quot;-&quot;??_);_(@_)" sourceLinked="0"/>
        <c:majorTickMark val="out"/>
        <c:minorTickMark val="none"/>
        <c:tickLblPos val="nextTo"/>
        <c:crossAx val="928322959"/>
        <c:crosses val="autoZero"/>
        <c:crossBetween val="midCat"/>
        <c:majorUnit val="1"/>
        <c:minorUnit val="1"/>
      </c:valAx>
      <c:spPr>
        <a:noFill/>
        <a:ln>
          <a:noFill/>
        </a:ln>
      </c:spPr>
    </c:plotArea>
    <c:plotVisOnly val="1"/>
    <c:dispBlanksAs val="gap"/>
    <c:showDLblsOverMax val="0"/>
  </c:chart>
  <c:spPr>
    <a:noFill/>
    <a:ln>
      <a:noFill/>
    </a:ln>
  </c:spPr>
  <c:externalData r:id="rId2">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657136380672455E-2"/>
          <c:y val="3.0699737370014191E-2"/>
          <c:w val="0.95532488822937012"/>
          <c:h val="0.95688581466674805"/>
        </c:manualLayout>
      </c:layout>
      <c:barChart>
        <c:barDir val="bar"/>
        <c:grouping val="stacked"/>
        <c:varyColors val="0"/>
        <c:ser>
          <c:idx val="0"/>
          <c:order val="0"/>
          <c:tx>
            <c:strRef>
              <c:f>Sheet1!$D$15</c:f>
              <c:strCache>
                <c:ptCount val="1"/>
                <c:pt idx="0">
                  <c:v>Current Maturity</c:v>
                </c:pt>
              </c:strCache>
            </c:strRef>
          </c:tx>
          <c:spPr>
            <a:solidFill>
              <a:srgbClr val="002856"/>
            </a:solidFill>
            <a:ln>
              <a:solidFill>
                <a:srgbClr val="002856"/>
              </a:solidFill>
              <a:miter lim="800000"/>
            </a:ln>
          </c:spPr>
          <c:invertIfNegative val="0"/>
          <c:dLbls>
            <c:dLbl>
              <c:idx val="0"/>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D688-4948-BE30-A1BB3E5B3221}"/>
                </c:ext>
              </c:extLst>
            </c:dLbl>
            <c:dLbl>
              <c:idx val="1"/>
              <c:spPr/>
              <c:txPr>
                <a:bodyPr wrap="square" lIns="38100" tIns="19050" rIns="38100" bIns="19050" anchor="ctr">
                  <a:spAutoFit/>
                </a:bodyPr>
                <a:lstStyle/>
                <a:p>
                  <a:pPr>
                    <a:defRPr sz="1100" smtId="4294967295">
                      <a:solidFill>
                        <a:schemeClr val="bg1"/>
                      </a:solidFill>
                    </a:defRPr>
                  </a:pPr>
                  <a:endParaRPr lang="en-US"/>
                </a:p>
              </c:txPr>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D688-4948-BE30-A1BB3E5B3221}"/>
                </c:ext>
              </c:extLst>
            </c:dLbl>
            <c:dLbl>
              <c:idx val="2"/>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D688-4948-BE30-A1BB3E5B3221}"/>
                </c:ext>
              </c:extLst>
            </c:dLbl>
            <c:dLbl>
              <c:idx val="3"/>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D688-4948-BE30-A1BB3E5B3221}"/>
                </c:ext>
              </c:extLst>
            </c:dLbl>
            <c:spPr>
              <a:noFill/>
              <a:ln>
                <a:noFill/>
              </a:ln>
              <a:effectLst/>
            </c:spPr>
            <c:txPr>
              <a:bodyPr wrap="square" lIns="38100" tIns="19050" rIns="38100" bIns="19050" anchor="ctr">
                <a:spAutoFit/>
              </a:bodyPr>
              <a:lstStyle/>
              <a:p>
                <a:pPr>
                  <a:defRPr sz="1100" smtId="4294967295">
                    <a:solidFill>
                      <a:schemeClr val="bg1"/>
                    </a:solidFill>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cat>
            <c:multiLvlStrRef>
              <c:f>Sheet1!$A$4:$A$7</c:f>
            </c:multiLvlStrRef>
          </c:cat>
          <c:val>
            <c:numRef>
              <c:f>Sheet1!$D$16:$D$19</c:f>
              <c:numCache>
                <c:formatCode>0.0</c:formatCode>
                <c:ptCount val="4"/>
                <c:pt idx="0" formatCode="0.00">
                  <c:v>0</c:v>
                </c:pt>
                <c:pt idx="1">
                  <c:v>1</c:v>
                </c:pt>
                <c:pt idx="2">
                  <c:v>0</c:v>
                </c:pt>
                <c:pt idx="3" formatCode="0.0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D688-4948-BE30-A1BB3E5B3221}"/>
            </c:ext>
          </c:extLst>
        </c:ser>
        <c:ser>
          <c:idx val="10"/>
          <c:order val="1"/>
          <c:tx>
            <c:strRef>
              <c:f>Sheet1!$F$15</c:f>
              <c:strCache>
                <c:ptCount val="1"/>
                <c:pt idx="0">
                  <c:v>10th Positive Bar</c:v>
                </c:pt>
              </c:strCache>
            </c:strRef>
          </c:tx>
          <c:spPr>
            <a:noFill/>
            <a:ln>
              <a:noFill/>
            </a:ln>
          </c:spPr>
          <c:invertIfNegative val="0"/>
          <c:cat>
            <c:multiLvlStrRef>
              <c:f>Sheet1!$A$4:$A$7</c:f>
            </c:multiLvlStrRef>
          </c:cat>
          <c:val>
            <c:numRef>
              <c:f>Sheet1!$F$16:$F$19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D688-4948-BE30-A1BB3E5B3221}"/>
            </c:ext>
          </c:extLst>
        </c:ser>
        <c:ser>
          <c:idx val="3"/>
          <c:order val="2"/>
          <c:tx>
            <c:strRef>
              <c:f>Sheet1!$H$15</c:f>
              <c:strCache>
                <c:ptCount val="1"/>
                <c:pt idx="0">
                  <c:v>25th Positive Bar</c:v>
                </c:pt>
              </c:strCache>
            </c:strRef>
          </c:tx>
          <c:spPr>
            <a:noFill/>
          </c:spPr>
          <c:invertIfNegative val="0"/>
          <c:cat>
            <c:multiLvlStrRef>
              <c:f>Sheet1!$A$4:$A$7</c:f>
            </c:multiLvlStrRef>
          </c:cat>
          <c:val>
            <c:numRef>
              <c:f>Sheet1!$H$16:$H$19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D688-4948-BE30-A1BB3E5B3221}"/>
            </c:ext>
          </c:extLst>
        </c:ser>
        <c:ser>
          <c:idx val="5"/>
          <c:order val="3"/>
          <c:tx>
            <c:strRef>
              <c:f>Sheet1!$J$15</c:f>
              <c:strCache>
                <c:ptCount val="1"/>
                <c:pt idx="0">
                  <c:v>75th Positive Bar</c:v>
                </c:pt>
              </c:strCache>
            </c:strRef>
          </c:tx>
          <c:spPr>
            <a:solidFill>
              <a:srgbClr val="BFBFBF"/>
            </a:solidFill>
            <a:ln>
              <a:solidFill>
                <a:srgbClr val="BFBFBF"/>
              </a:solidFill>
            </a:ln>
          </c:spPr>
          <c:invertIfNegative val="0"/>
          <c:cat>
            <c:multiLvlStrRef>
              <c:f>Sheet1!$A$4:$A$7</c:f>
            </c:multiLvlStrRef>
          </c:cat>
          <c:val>
            <c:numRef>
              <c:f>Sheet1!$J$16:$J$19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D688-4948-BE30-A1BB3E5B3221}"/>
            </c:ext>
          </c:extLst>
        </c:ser>
        <c:ser>
          <c:idx val="7"/>
          <c:order val="4"/>
          <c:tx>
            <c:strRef>
              <c:f>Sheet1!$L$15</c:f>
              <c:strCache>
                <c:ptCount val="1"/>
                <c:pt idx="0">
                  <c:v>90th Positive Bar</c:v>
                </c:pt>
              </c:strCache>
            </c:strRef>
          </c:tx>
          <c:spPr>
            <a:noFill/>
          </c:spPr>
          <c:invertIfNegative val="0"/>
          <c:cat>
            <c:multiLvlStrRef>
              <c:f>Sheet1!$A$4:$A$7</c:f>
            </c:multiLvlStrRef>
          </c:cat>
          <c:val>
            <c:numRef>
              <c:f>Sheet1!$L$16:$L$19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D688-4948-BE30-A1BB3E5B3221}"/>
            </c:ext>
          </c:extLst>
        </c:ser>
        <c:ser>
          <c:idx val="6"/>
          <c:order val="8"/>
          <c:tx>
            <c:strRef>
              <c:f>Sheet1!$K$15</c:f>
              <c:strCache>
                <c:ptCount val="1"/>
                <c:pt idx="0">
                  <c:v>90th Negative Bar</c:v>
                </c:pt>
              </c:strCache>
            </c:strRef>
          </c:tx>
          <c:spPr>
            <a:noFill/>
          </c:spPr>
          <c:invertIfNegative val="0"/>
          <c:cat>
            <c:multiLvlStrRef>
              <c:f>Sheet1!$A$4:$A$7</c:f>
            </c:multiLvlStrRef>
          </c:cat>
          <c:val>
            <c:numRef>
              <c:f>Sheet1!$K$16:$K$19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D688-4948-BE30-A1BB3E5B3221}"/>
            </c:ext>
          </c:extLst>
        </c:ser>
        <c:ser>
          <c:idx val="4"/>
          <c:order val="9"/>
          <c:tx>
            <c:strRef>
              <c:f>Sheet1!$I$15</c:f>
              <c:strCache>
                <c:ptCount val="1"/>
                <c:pt idx="0">
                  <c:v>75th Negative Bar</c:v>
                </c:pt>
              </c:strCache>
            </c:strRef>
          </c:tx>
          <c:spPr>
            <a:noFill/>
          </c:spPr>
          <c:invertIfNegative val="0"/>
          <c:cat>
            <c:multiLvlStrRef>
              <c:f>Sheet1!$A$4:$A$7</c:f>
            </c:multiLvlStrRef>
          </c:cat>
          <c:val>
            <c:numRef>
              <c:f>Sheet1!$I$16:$I$19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D688-4948-BE30-A1BB3E5B3221}"/>
            </c:ext>
          </c:extLst>
        </c:ser>
        <c:ser>
          <c:idx val="2"/>
          <c:order val="10"/>
          <c:tx>
            <c:strRef>
              <c:f>Sheet1!$G$15</c:f>
              <c:strCache>
                <c:ptCount val="1"/>
                <c:pt idx="0">
                  <c:v>25th Negative Bar</c:v>
                </c:pt>
              </c:strCache>
            </c:strRef>
          </c:tx>
          <c:spPr>
            <a:solidFill>
              <a:srgbClr val="BFBFBF"/>
            </a:solidFill>
            <a:ln>
              <a:solidFill>
                <a:srgbClr val="BFBFBF"/>
              </a:solidFill>
            </a:ln>
          </c:spPr>
          <c:invertIfNegative val="0"/>
          <c:cat>
            <c:multiLvlStrRef>
              <c:f>Sheet1!$A$4:$A$7</c:f>
            </c:multiLvlStrRef>
          </c:cat>
          <c:val>
            <c:numRef>
              <c:f>Sheet1!$G$16:$G$19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D688-4948-BE30-A1BB3E5B3221}"/>
            </c:ext>
          </c:extLst>
        </c:ser>
        <c:ser>
          <c:idx val="1"/>
          <c:order val="11"/>
          <c:tx>
            <c:strRef>
              <c:f>Sheet1!$E$15</c:f>
              <c:strCache>
                <c:ptCount val="1"/>
                <c:pt idx="0">
                  <c:v>10th Negative Bar</c:v>
                </c:pt>
              </c:strCache>
            </c:strRef>
          </c:tx>
          <c:spPr>
            <a:noFill/>
          </c:spPr>
          <c:invertIfNegative val="0"/>
          <c:cat>
            <c:multiLvlStrRef>
              <c:f>Sheet1!$A$4:$A$7</c:f>
            </c:multiLvlStrRef>
          </c:cat>
          <c:val>
            <c:numRef>
              <c:f>Sheet1!$E$16:$E$19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D688-4948-BE30-A1BB3E5B3221}"/>
            </c:ext>
          </c:extLst>
        </c:ser>
        <c:ser>
          <c:idx val="15"/>
          <c:order val="14"/>
          <c:tx>
            <c:strRef>
              <c:f>Sheet1!$M$15</c:f>
              <c:strCache>
                <c:ptCount val="1"/>
                <c:pt idx="0">
                  <c:v>Benchmarks Omitted Bar</c:v>
                </c:pt>
              </c:strCache>
            </c:strRef>
          </c:tx>
          <c:spPr>
            <a:noFill/>
          </c:spPr>
          <c:invertIfNegative val="0"/>
          <c:cat>
            <c:multiLvlStrRef>
              <c:f>Sheet1!$A$4:$A$7</c:f>
            </c:multiLvlStrRef>
          </c:cat>
          <c:val>
            <c:numRef>
              <c:f>Sheet1!$M$16:$M$19</c:f>
              <c:numCache>
                <c:formatCode>General</c:formatCode>
                <c:ptCount val="4"/>
                <c:pt idx="0">
                  <c:v>0</c:v>
                </c:pt>
                <c:pt idx="1">
                  <c:v>0</c:v>
                </c:pt>
                <c:pt idx="2">
                  <c:v>0</c:v>
                </c:pt>
                <c:pt idx="3" formatCode="&quot;$&quot;#,##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D688-4948-BE30-A1BB3E5B3221}"/>
            </c:ext>
          </c:extLst>
        </c:ser>
        <c:dLbls>
          <c:showLegendKey val="0"/>
          <c:showVal val="0"/>
          <c:showCatName val="0"/>
          <c:showSerName val="0"/>
          <c:showPercent val="0"/>
          <c:showBubbleSize val="0"/>
        </c:dLbls>
        <c:gapWidth val="0"/>
        <c:overlap val="100"/>
        <c:axId val="1154865663"/>
        <c:axId val="1"/>
      </c:barChart>
      <c:scatterChart>
        <c:scatterStyle val="lineMarker"/>
        <c:varyColors val="0"/>
        <c:ser>
          <c:idx val="8"/>
          <c:order val="5"/>
          <c:tx>
            <c:strRef>
              <c:f>Sheet1!$B$9</c:f>
              <c:strCache>
                <c:ptCount val="1"/>
                <c:pt idx="0">
                  <c:v>Target Maturity</c:v>
                </c:pt>
              </c:strCache>
            </c:strRef>
          </c:tx>
          <c:marker>
            <c:symbol val="none"/>
          </c:marker>
          <c:dLbls>
            <c:dLbl>
              <c:idx val="0"/>
              <c:spPr>
                <a:solidFill>
                  <a:srgbClr val="1F96FF"/>
                </a:solidFill>
                <a:ln>
                  <a:noFill/>
                </a:ln>
                <a:effectLst/>
              </c:spPr>
              <c:txPr>
                <a:bodyPr wrap="square" lIns="38100" tIns="19050" rIns="38100" bIns="19050" anchor="ctr">
                  <a:spAutoFit/>
                </a:bodyPr>
                <a:lstStyle/>
                <a:p>
                  <a:pPr>
                    <a:defRPr sz="1100" smtId="4294967295">
                      <a:solidFill>
                        <a:srgbClr val="FFFFFF"/>
                      </a:solidFill>
                      <a:latin typeface="Roboto Medium" panose="02000000000000000000" pitchFamily="2" charset="0"/>
                      <a:ea typeface="Roboto Medium"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D688-4948-BE30-A1BB3E5B3221}"/>
                </c:ext>
              </c:extLst>
            </c:dLbl>
            <c:spPr>
              <a:solidFill>
                <a:srgbClr val="1F96FF"/>
              </a:solidFill>
              <a:ln>
                <a:noFill/>
              </a:ln>
              <a:effectLst/>
            </c:spPr>
            <c:txPr>
              <a:bodyPr wrap="square" lIns="38100" tIns="19050" rIns="38100" bIns="19050" anchor="ctr">
                <a:spAutoFit/>
              </a:bodyPr>
              <a:lstStyle/>
              <a:p>
                <a:pPr>
                  <a:defRPr sz="1100" smtId="4294967295">
                    <a:solidFill>
                      <a:srgbClr val="FFFFFF"/>
                    </a:solidFill>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40"/>
            <c:spPr>
              <a:ln w="25400">
                <a:solidFill>
                  <a:srgbClr val="1F96FF"/>
                </a:solidFill>
              </a:ln>
            </c:spPr>
          </c:errBars>
          <c:xVal>
            <c:numRef>
              <c:f>Sheet1!$D$9</c:f>
              <c:numCache>
                <c:formatCode>0.0</c:formatCode>
                <c:ptCount val="1"/>
                <c:pt idx="0">
                  <c:v>2</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D688-4948-BE30-A1BB3E5B3221}"/>
            </c:ext>
          </c:extLst>
        </c:ser>
        <c:ser>
          <c:idx val="11"/>
          <c:order val="6"/>
          <c:tx>
            <c:strRef>
              <c:f>Sheet1!$B$11</c:f>
              <c:strCache>
                <c:ptCount val="1"/>
                <c:pt idx="0">
                  <c:v>Maximum</c:v>
                </c:pt>
              </c:strCache>
            </c:strRef>
          </c:tx>
          <c:marker>
            <c:symbol val="none"/>
          </c:marker>
          <c:xVal>
            <c:numRef>
              <c:f>Sheet1!$D$11</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D688-4948-BE30-A1BB3E5B3221}"/>
            </c:ext>
          </c:extLst>
        </c:ser>
        <c:ser>
          <c:idx val="9"/>
          <c:order val="7"/>
          <c:tx>
            <c:strRef>
              <c:f>Sheet1!$B$8</c:f>
              <c:strCache>
                <c:ptCount val="1"/>
                <c:pt idx="0">
                  <c:v>Client</c:v>
                </c:pt>
              </c:strCache>
            </c:strRef>
          </c:tx>
          <c:marker>
            <c:symbol val="none"/>
          </c:marker>
          <c:xVal>
            <c:numRef>
              <c:f>Sheet1!$D$8</c:f>
              <c:numCache>
                <c:formatCode>0.00</c:formatCode>
                <c:ptCount val="1"/>
                <c:pt idx="0">
                  <c:v>0</c:v>
                </c:pt>
              </c:numCache>
            </c:numRef>
          </c:xVal>
          <c:yVal>
            <c:numRef>
              <c:f>Sheet1!$D$14</c:f>
              <c:numCache>
                <c:formatCode>_(* #,##0_);_(* \(#,##0\);_(* "-"??_);_(@_)</c:formatCode>
                <c:ptCount val="1"/>
                <c:pt idx="0">
                  <c:v>3</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D688-4948-BE30-A1BB3E5B3221}"/>
            </c:ext>
          </c:extLst>
        </c:ser>
        <c:ser>
          <c:idx val="13"/>
          <c:order val="12"/>
          <c:tx>
            <c:v>25th Scatter Label</c:v>
          </c:tx>
          <c:marker>
            <c:symbol val="none"/>
          </c:marker>
          <c:xVal>
            <c:numRef>
              <c:f>Sheet1!$D$5</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D688-4948-BE30-A1BB3E5B3221}"/>
            </c:ext>
          </c:extLst>
        </c:ser>
        <c:ser>
          <c:idx val="14"/>
          <c:order val="13"/>
          <c:tx>
            <c:v>75 Scatter Label</c:v>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D688-4948-BE30-A1BB3E5B3221}"/>
              </c:ext>
            </c:extLst>
          </c:dPt>
          <c:xVal>
            <c:numRef>
              <c:f>Sheet1!$D$6</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D688-4948-BE30-A1BB3E5B3221}"/>
            </c:ext>
          </c:extLst>
        </c:ser>
        <c:dLbls>
          <c:showLegendKey val="0"/>
          <c:showVal val="0"/>
          <c:showCatName val="0"/>
          <c:showSerName val="0"/>
          <c:showPercent val="0"/>
          <c:showBubbleSize val="0"/>
        </c:dLbls>
        <c:axId val="928322959"/>
        <c:axId val="928311311"/>
      </c:scatterChart>
      <c:catAx>
        <c:axId val="1154865663"/>
        <c:scaling>
          <c:orientation val="minMax"/>
        </c:scaling>
        <c:delete val="1"/>
        <c:axPos val="l"/>
        <c:numFmt formatCode="General" sourceLinked="1"/>
        <c:majorTickMark val="out"/>
        <c:minorTickMark val="none"/>
        <c:tickLblPos val="nextTo"/>
        <c:crossAx val="1"/>
        <c:crossesAt val="0"/>
        <c:auto val="0"/>
        <c:lblAlgn val="ctr"/>
        <c:lblOffset val="100"/>
        <c:noMultiLvlLbl val="1"/>
      </c:catAx>
      <c:valAx>
        <c:axId val="1"/>
        <c:scaling>
          <c:orientation val="minMax"/>
          <c:max val="5.0999999999999996"/>
          <c:min val="0"/>
        </c:scaling>
        <c:delete val="1"/>
        <c:axPos val="b"/>
        <c:numFmt formatCode="0.0" sourceLinked="0"/>
        <c:majorTickMark val="out"/>
        <c:minorTickMark val="none"/>
        <c:tickLblPos val="nextTo"/>
        <c:crossAx val="1154865663"/>
        <c:crossesAt val="1"/>
        <c:crossBetween val="between"/>
        <c:majorUnit val="1"/>
      </c:valAx>
      <c:valAx>
        <c:axId val="928322959"/>
        <c:scaling>
          <c:orientation val="minMax"/>
          <c:max val="1.6000000000000003E-3"/>
        </c:scaling>
        <c:delete val="1"/>
        <c:axPos val="b"/>
        <c:numFmt formatCode="0.0" sourceLinked="1"/>
        <c:majorTickMark val="out"/>
        <c:minorTickMark val="none"/>
        <c:tickLblPos val="nextTo"/>
        <c:crossAx val="928311311"/>
        <c:crosses val="autoZero"/>
        <c:crossBetween val="midCat"/>
      </c:valAx>
      <c:valAx>
        <c:axId val="928311311"/>
        <c:scaling>
          <c:orientation val="minMax"/>
          <c:max val="3"/>
          <c:min val="1"/>
        </c:scaling>
        <c:delete val="1"/>
        <c:axPos val="l"/>
        <c:numFmt formatCode="_(* #,##0_);_(* \(#,##0\);_(* &quot;-&quot;??_);_(@_)" sourceLinked="0"/>
        <c:majorTickMark val="out"/>
        <c:minorTickMark val="none"/>
        <c:tickLblPos val="nextTo"/>
        <c:crossAx val="928322959"/>
        <c:crosses val="autoZero"/>
        <c:crossBetween val="midCat"/>
        <c:majorUnit val="1"/>
        <c:minorUnit val="1"/>
      </c:valAx>
      <c:spPr>
        <a:noFill/>
        <a:ln>
          <a:noFill/>
        </a:ln>
      </c:spPr>
    </c:plotArea>
    <c:plotVisOnly val="1"/>
    <c:dispBlanksAs val="gap"/>
    <c:showDLblsOverMax val="0"/>
  </c:chart>
  <c:spPr>
    <a:noFill/>
    <a:ln>
      <a:noFill/>
    </a:ln>
  </c:spPr>
  <c:externalData r:id="rId2">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657136380672455E-2"/>
          <c:y val="3.0699737370014191E-2"/>
          <c:w val="0.95532488822937012"/>
          <c:h val="0.95688581466674805"/>
        </c:manualLayout>
      </c:layout>
      <c:barChart>
        <c:barDir val="bar"/>
        <c:grouping val="stacked"/>
        <c:varyColors val="0"/>
        <c:ser>
          <c:idx val="0"/>
          <c:order val="0"/>
          <c:tx>
            <c:strRef>
              <c:f>Sheet1!$D$15</c:f>
              <c:strCache>
                <c:ptCount val="1"/>
                <c:pt idx="0">
                  <c:v>Current Maturity</c:v>
                </c:pt>
              </c:strCache>
            </c:strRef>
          </c:tx>
          <c:spPr>
            <a:solidFill>
              <a:srgbClr val="002856"/>
            </a:solidFill>
            <a:ln>
              <a:solidFill>
                <a:srgbClr val="002856"/>
              </a:solidFill>
              <a:miter lim="800000"/>
            </a:ln>
          </c:spPr>
          <c:invertIfNegative val="0"/>
          <c:dLbls>
            <c:dLbl>
              <c:idx val="0"/>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036F-4C22-8D04-937415013860}"/>
                </c:ext>
              </c:extLst>
            </c:dLbl>
            <c:dLbl>
              <c:idx val="1"/>
              <c:spPr/>
              <c:txPr>
                <a:bodyPr wrap="square" lIns="38100" tIns="19050" rIns="38100" bIns="19050" anchor="ctr">
                  <a:spAutoFit/>
                </a:bodyPr>
                <a:lstStyle/>
                <a:p>
                  <a:pPr>
                    <a:defRPr sz="1100" smtId="4294967295">
                      <a:solidFill>
                        <a:schemeClr val="bg1"/>
                      </a:solidFill>
                    </a:defRPr>
                  </a:pPr>
                  <a:endParaRPr lang="en-US"/>
                </a:p>
              </c:txPr>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036F-4C22-8D04-937415013860}"/>
                </c:ext>
              </c:extLst>
            </c:dLbl>
            <c:dLbl>
              <c:idx val="2"/>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036F-4C22-8D04-937415013860}"/>
                </c:ext>
              </c:extLst>
            </c:dLbl>
            <c:dLbl>
              <c:idx val="3"/>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036F-4C22-8D04-937415013860}"/>
                </c:ext>
              </c:extLst>
            </c:dLbl>
            <c:spPr>
              <a:noFill/>
              <a:ln>
                <a:noFill/>
              </a:ln>
              <a:effectLst/>
            </c:spPr>
            <c:txPr>
              <a:bodyPr wrap="square" lIns="38100" tIns="19050" rIns="38100" bIns="19050" anchor="ctr">
                <a:spAutoFit/>
              </a:bodyPr>
              <a:lstStyle/>
              <a:p>
                <a:pPr>
                  <a:defRPr sz="1100" smtId="4294967295">
                    <a:solidFill>
                      <a:schemeClr val="bg1"/>
                    </a:solidFill>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cat>
            <c:multiLvlStrRef>
              <c:f>Sheet1!$A$4:$A$7</c:f>
            </c:multiLvlStrRef>
          </c:cat>
          <c:val>
            <c:numRef>
              <c:f>Sheet1!$D$16:$D$19</c:f>
              <c:numCache>
                <c:formatCode>0.0</c:formatCode>
                <c:ptCount val="4"/>
                <c:pt idx="0" formatCode="0.00">
                  <c:v>0</c:v>
                </c:pt>
                <c:pt idx="1">
                  <c:v>2</c:v>
                </c:pt>
                <c:pt idx="2">
                  <c:v>0</c:v>
                </c:pt>
                <c:pt idx="3" formatCode="0.0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036F-4C22-8D04-937415013860}"/>
            </c:ext>
          </c:extLst>
        </c:ser>
        <c:ser>
          <c:idx val="10"/>
          <c:order val="1"/>
          <c:tx>
            <c:strRef>
              <c:f>Sheet1!$F$15</c:f>
              <c:strCache>
                <c:ptCount val="1"/>
                <c:pt idx="0">
                  <c:v>10th Positive Bar</c:v>
                </c:pt>
              </c:strCache>
            </c:strRef>
          </c:tx>
          <c:spPr>
            <a:noFill/>
            <a:ln>
              <a:noFill/>
            </a:ln>
          </c:spPr>
          <c:invertIfNegative val="0"/>
          <c:cat>
            <c:multiLvlStrRef>
              <c:f>Sheet1!$A$4:$A$7</c:f>
            </c:multiLvlStrRef>
          </c:cat>
          <c:val>
            <c:numRef>
              <c:f>Sheet1!$F$16:$F$19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036F-4C22-8D04-937415013860}"/>
            </c:ext>
          </c:extLst>
        </c:ser>
        <c:ser>
          <c:idx val="3"/>
          <c:order val="2"/>
          <c:tx>
            <c:strRef>
              <c:f>Sheet1!$H$15</c:f>
              <c:strCache>
                <c:ptCount val="1"/>
                <c:pt idx="0">
                  <c:v>25th Positive Bar</c:v>
                </c:pt>
              </c:strCache>
            </c:strRef>
          </c:tx>
          <c:spPr>
            <a:noFill/>
          </c:spPr>
          <c:invertIfNegative val="0"/>
          <c:cat>
            <c:multiLvlStrRef>
              <c:f>Sheet1!$A$4:$A$7</c:f>
            </c:multiLvlStrRef>
          </c:cat>
          <c:val>
            <c:numRef>
              <c:f>Sheet1!$H$16:$H$19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036F-4C22-8D04-937415013860}"/>
            </c:ext>
          </c:extLst>
        </c:ser>
        <c:ser>
          <c:idx val="5"/>
          <c:order val="3"/>
          <c:tx>
            <c:strRef>
              <c:f>Sheet1!$J$15</c:f>
              <c:strCache>
                <c:ptCount val="1"/>
                <c:pt idx="0">
                  <c:v>75th Positive Bar</c:v>
                </c:pt>
              </c:strCache>
            </c:strRef>
          </c:tx>
          <c:spPr>
            <a:solidFill>
              <a:srgbClr val="BFBFBF"/>
            </a:solidFill>
            <a:ln>
              <a:solidFill>
                <a:srgbClr val="BFBFBF"/>
              </a:solidFill>
            </a:ln>
          </c:spPr>
          <c:invertIfNegative val="0"/>
          <c:cat>
            <c:multiLvlStrRef>
              <c:f>Sheet1!$A$4:$A$7</c:f>
            </c:multiLvlStrRef>
          </c:cat>
          <c:val>
            <c:numRef>
              <c:f>Sheet1!$J$16:$J$19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036F-4C22-8D04-937415013860}"/>
            </c:ext>
          </c:extLst>
        </c:ser>
        <c:ser>
          <c:idx val="7"/>
          <c:order val="4"/>
          <c:tx>
            <c:strRef>
              <c:f>Sheet1!$L$15</c:f>
              <c:strCache>
                <c:ptCount val="1"/>
                <c:pt idx="0">
                  <c:v>90th Positive Bar</c:v>
                </c:pt>
              </c:strCache>
            </c:strRef>
          </c:tx>
          <c:spPr>
            <a:noFill/>
          </c:spPr>
          <c:invertIfNegative val="0"/>
          <c:cat>
            <c:multiLvlStrRef>
              <c:f>Sheet1!$A$4:$A$7</c:f>
            </c:multiLvlStrRef>
          </c:cat>
          <c:val>
            <c:numRef>
              <c:f>Sheet1!$L$16:$L$19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036F-4C22-8D04-937415013860}"/>
            </c:ext>
          </c:extLst>
        </c:ser>
        <c:ser>
          <c:idx val="6"/>
          <c:order val="8"/>
          <c:tx>
            <c:strRef>
              <c:f>Sheet1!$K$15</c:f>
              <c:strCache>
                <c:ptCount val="1"/>
                <c:pt idx="0">
                  <c:v>90th Negative Bar</c:v>
                </c:pt>
              </c:strCache>
            </c:strRef>
          </c:tx>
          <c:spPr>
            <a:noFill/>
          </c:spPr>
          <c:invertIfNegative val="0"/>
          <c:cat>
            <c:multiLvlStrRef>
              <c:f>Sheet1!$A$4:$A$7</c:f>
            </c:multiLvlStrRef>
          </c:cat>
          <c:val>
            <c:numRef>
              <c:f>Sheet1!$K$16:$K$19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036F-4C22-8D04-937415013860}"/>
            </c:ext>
          </c:extLst>
        </c:ser>
        <c:ser>
          <c:idx val="4"/>
          <c:order val="9"/>
          <c:tx>
            <c:strRef>
              <c:f>Sheet1!$I$15</c:f>
              <c:strCache>
                <c:ptCount val="1"/>
                <c:pt idx="0">
                  <c:v>75th Negative Bar</c:v>
                </c:pt>
              </c:strCache>
            </c:strRef>
          </c:tx>
          <c:spPr>
            <a:noFill/>
          </c:spPr>
          <c:invertIfNegative val="0"/>
          <c:cat>
            <c:multiLvlStrRef>
              <c:f>Sheet1!$A$4:$A$7</c:f>
            </c:multiLvlStrRef>
          </c:cat>
          <c:val>
            <c:numRef>
              <c:f>Sheet1!$I$16:$I$19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036F-4C22-8D04-937415013860}"/>
            </c:ext>
          </c:extLst>
        </c:ser>
        <c:ser>
          <c:idx val="2"/>
          <c:order val="10"/>
          <c:tx>
            <c:strRef>
              <c:f>Sheet1!$G$15</c:f>
              <c:strCache>
                <c:ptCount val="1"/>
                <c:pt idx="0">
                  <c:v>25th Negative Bar</c:v>
                </c:pt>
              </c:strCache>
            </c:strRef>
          </c:tx>
          <c:spPr>
            <a:solidFill>
              <a:srgbClr val="BFBFBF"/>
            </a:solidFill>
            <a:ln>
              <a:solidFill>
                <a:srgbClr val="BFBFBF"/>
              </a:solidFill>
            </a:ln>
          </c:spPr>
          <c:invertIfNegative val="0"/>
          <c:cat>
            <c:multiLvlStrRef>
              <c:f>Sheet1!$A$4:$A$7</c:f>
            </c:multiLvlStrRef>
          </c:cat>
          <c:val>
            <c:numRef>
              <c:f>Sheet1!$G$16:$G$19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036F-4C22-8D04-937415013860}"/>
            </c:ext>
          </c:extLst>
        </c:ser>
        <c:ser>
          <c:idx val="1"/>
          <c:order val="11"/>
          <c:tx>
            <c:strRef>
              <c:f>Sheet1!$E$15</c:f>
              <c:strCache>
                <c:ptCount val="1"/>
                <c:pt idx="0">
                  <c:v>10th Negative Bar</c:v>
                </c:pt>
              </c:strCache>
            </c:strRef>
          </c:tx>
          <c:spPr>
            <a:noFill/>
          </c:spPr>
          <c:invertIfNegative val="0"/>
          <c:cat>
            <c:multiLvlStrRef>
              <c:f>Sheet1!$A$4:$A$7</c:f>
            </c:multiLvlStrRef>
          </c:cat>
          <c:val>
            <c:numRef>
              <c:f>Sheet1!$E$16:$E$19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036F-4C22-8D04-937415013860}"/>
            </c:ext>
          </c:extLst>
        </c:ser>
        <c:ser>
          <c:idx val="15"/>
          <c:order val="14"/>
          <c:tx>
            <c:strRef>
              <c:f>Sheet1!$M$15</c:f>
              <c:strCache>
                <c:ptCount val="1"/>
                <c:pt idx="0">
                  <c:v>Benchmarks Omitted Bar</c:v>
                </c:pt>
              </c:strCache>
            </c:strRef>
          </c:tx>
          <c:spPr>
            <a:noFill/>
          </c:spPr>
          <c:invertIfNegative val="0"/>
          <c:cat>
            <c:multiLvlStrRef>
              <c:f>Sheet1!$A$4:$A$7</c:f>
            </c:multiLvlStrRef>
          </c:cat>
          <c:val>
            <c:numRef>
              <c:f>Sheet1!$M$16:$M$19</c:f>
              <c:numCache>
                <c:formatCode>General</c:formatCode>
                <c:ptCount val="4"/>
                <c:pt idx="0">
                  <c:v>0</c:v>
                </c:pt>
                <c:pt idx="1">
                  <c:v>0</c:v>
                </c:pt>
                <c:pt idx="2">
                  <c:v>0</c:v>
                </c:pt>
                <c:pt idx="3" formatCode="&quot;$&quot;#,##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036F-4C22-8D04-937415013860}"/>
            </c:ext>
          </c:extLst>
        </c:ser>
        <c:dLbls>
          <c:showLegendKey val="0"/>
          <c:showVal val="0"/>
          <c:showCatName val="0"/>
          <c:showSerName val="0"/>
          <c:showPercent val="0"/>
          <c:showBubbleSize val="0"/>
        </c:dLbls>
        <c:gapWidth val="0"/>
        <c:overlap val="100"/>
        <c:axId val="1154865663"/>
        <c:axId val="1"/>
      </c:barChart>
      <c:scatterChart>
        <c:scatterStyle val="lineMarker"/>
        <c:varyColors val="0"/>
        <c:ser>
          <c:idx val="8"/>
          <c:order val="5"/>
          <c:tx>
            <c:strRef>
              <c:f>Sheet1!$B$9</c:f>
              <c:strCache>
                <c:ptCount val="1"/>
                <c:pt idx="0">
                  <c:v>Target Maturity</c:v>
                </c:pt>
              </c:strCache>
            </c:strRef>
          </c:tx>
          <c:marker>
            <c:symbol val="none"/>
          </c:marker>
          <c:dLbls>
            <c:dLbl>
              <c:idx val="0"/>
              <c:spPr>
                <a:solidFill>
                  <a:srgbClr val="1F96FF"/>
                </a:solidFill>
                <a:ln>
                  <a:noFill/>
                </a:ln>
                <a:effectLst/>
              </c:spPr>
              <c:txPr>
                <a:bodyPr wrap="square" lIns="38100" tIns="19050" rIns="38100" bIns="19050" anchor="ctr">
                  <a:spAutoFit/>
                </a:bodyPr>
                <a:lstStyle/>
                <a:p>
                  <a:pPr>
                    <a:defRPr sz="1100" smtId="4294967295">
                      <a:solidFill>
                        <a:srgbClr val="FFFFFF"/>
                      </a:solidFill>
                      <a:latin typeface="Roboto Medium" panose="02000000000000000000" pitchFamily="2" charset="0"/>
                      <a:ea typeface="Roboto Medium"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036F-4C22-8D04-937415013860}"/>
                </c:ext>
              </c:extLst>
            </c:dLbl>
            <c:spPr>
              <a:solidFill>
                <a:srgbClr val="1F96FF"/>
              </a:solidFill>
              <a:ln>
                <a:noFill/>
              </a:ln>
              <a:effectLst/>
            </c:spPr>
            <c:txPr>
              <a:bodyPr wrap="square" lIns="38100" tIns="19050" rIns="38100" bIns="19050" anchor="ctr">
                <a:spAutoFit/>
              </a:bodyPr>
              <a:lstStyle/>
              <a:p>
                <a:pPr>
                  <a:defRPr sz="1100" smtId="4294967295">
                    <a:solidFill>
                      <a:srgbClr val="FFFFFF"/>
                    </a:solidFill>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40"/>
            <c:spPr>
              <a:ln w="25400">
                <a:solidFill>
                  <a:srgbClr val="1F96FF"/>
                </a:solidFill>
              </a:ln>
            </c:spPr>
          </c:errBars>
          <c:xVal>
            <c:numRef>
              <c:f>Sheet1!$D$9</c:f>
              <c:numCache>
                <c:formatCode>0.0</c:formatCode>
                <c:ptCount val="1"/>
                <c:pt idx="0">
                  <c:v>2</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036F-4C22-8D04-937415013860}"/>
            </c:ext>
          </c:extLst>
        </c:ser>
        <c:ser>
          <c:idx val="11"/>
          <c:order val="6"/>
          <c:tx>
            <c:strRef>
              <c:f>Sheet1!$B$11</c:f>
              <c:strCache>
                <c:ptCount val="1"/>
                <c:pt idx="0">
                  <c:v>Maximum</c:v>
                </c:pt>
              </c:strCache>
            </c:strRef>
          </c:tx>
          <c:marker>
            <c:symbol val="none"/>
          </c:marker>
          <c:xVal>
            <c:numRef>
              <c:f>Sheet1!$D$11</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036F-4C22-8D04-937415013860}"/>
            </c:ext>
          </c:extLst>
        </c:ser>
        <c:ser>
          <c:idx val="9"/>
          <c:order val="7"/>
          <c:tx>
            <c:strRef>
              <c:f>Sheet1!$B$8</c:f>
              <c:strCache>
                <c:ptCount val="1"/>
                <c:pt idx="0">
                  <c:v>Client</c:v>
                </c:pt>
              </c:strCache>
            </c:strRef>
          </c:tx>
          <c:marker>
            <c:symbol val="none"/>
          </c:marker>
          <c:xVal>
            <c:numRef>
              <c:f>Sheet1!$D$8</c:f>
              <c:numCache>
                <c:formatCode>0.00</c:formatCode>
                <c:ptCount val="1"/>
                <c:pt idx="0">
                  <c:v>0</c:v>
                </c:pt>
              </c:numCache>
            </c:numRef>
          </c:xVal>
          <c:yVal>
            <c:numRef>
              <c:f>Sheet1!$D$14</c:f>
              <c:numCache>
                <c:formatCode>_(* #,##0_);_(* \(#,##0\);_(* "-"??_);_(@_)</c:formatCode>
                <c:ptCount val="1"/>
                <c:pt idx="0">
                  <c:v>3</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036F-4C22-8D04-937415013860}"/>
            </c:ext>
          </c:extLst>
        </c:ser>
        <c:ser>
          <c:idx val="13"/>
          <c:order val="12"/>
          <c:tx>
            <c:v>25th Scatter Label</c:v>
          </c:tx>
          <c:marker>
            <c:symbol val="none"/>
          </c:marker>
          <c:xVal>
            <c:numRef>
              <c:f>Sheet1!$D$5</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036F-4C22-8D04-937415013860}"/>
            </c:ext>
          </c:extLst>
        </c:ser>
        <c:ser>
          <c:idx val="14"/>
          <c:order val="13"/>
          <c:tx>
            <c:v>75 Scatter Label</c:v>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036F-4C22-8D04-937415013860}"/>
              </c:ext>
            </c:extLst>
          </c:dPt>
          <c:xVal>
            <c:numRef>
              <c:f>Sheet1!$D$6</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036F-4C22-8D04-937415013860}"/>
            </c:ext>
          </c:extLst>
        </c:ser>
        <c:dLbls>
          <c:showLegendKey val="0"/>
          <c:showVal val="0"/>
          <c:showCatName val="0"/>
          <c:showSerName val="0"/>
          <c:showPercent val="0"/>
          <c:showBubbleSize val="0"/>
        </c:dLbls>
        <c:axId val="928322959"/>
        <c:axId val="928311311"/>
      </c:scatterChart>
      <c:catAx>
        <c:axId val="1154865663"/>
        <c:scaling>
          <c:orientation val="minMax"/>
        </c:scaling>
        <c:delete val="1"/>
        <c:axPos val="l"/>
        <c:numFmt formatCode="General" sourceLinked="1"/>
        <c:majorTickMark val="out"/>
        <c:minorTickMark val="none"/>
        <c:tickLblPos val="nextTo"/>
        <c:crossAx val="1"/>
        <c:crossesAt val="0"/>
        <c:auto val="0"/>
        <c:lblAlgn val="ctr"/>
        <c:lblOffset val="100"/>
        <c:noMultiLvlLbl val="1"/>
      </c:catAx>
      <c:valAx>
        <c:axId val="1"/>
        <c:scaling>
          <c:orientation val="minMax"/>
          <c:max val="5.0999999999999996"/>
          <c:min val="0"/>
        </c:scaling>
        <c:delete val="1"/>
        <c:axPos val="b"/>
        <c:numFmt formatCode="0.0" sourceLinked="0"/>
        <c:majorTickMark val="out"/>
        <c:minorTickMark val="none"/>
        <c:tickLblPos val="nextTo"/>
        <c:crossAx val="1154865663"/>
        <c:crossesAt val="1"/>
        <c:crossBetween val="between"/>
        <c:majorUnit val="1"/>
      </c:valAx>
      <c:valAx>
        <c:axId val="928322959"/>
        <c:scaling>
          <c:orientation val="minMax"/>
          <c:max val="1.6000000000000003E-3"/>
        </c:scaling>
        <c:delete val="1"/>
        <c:axPos val="b"/>
        <c:numFmt formatCode="0.0" sourceLinked="1"/>
        <c:majorTickMark val="out"/>
        <c:minorTickMark val="none"/>
        <c:tickLblPos val="nextTo"/>
        <c:crossAx val="928311311"/>
        <c:crosses val="autoZero"/>
        <c:crossBetween val="midCat"/>
      </c:valAx>
      <c:valAx>
        <c:axId val="928311311"/>
        <c:scaling>
          <c:orientation val="minMax"/>
          <c:max val="3"/>
          <c:min val="1"/>
        </c:scaling>
        <c:delete val="1"/>
        <c:axPos val="l"/>
        <c:numFmt formatCode="_(* #,##0_);_(* \(#,##0\);_(* &quot;-&quot;??_);_(@_)" sourceLinked="0"/>
        <c:majorTickMark val="out"/>
        <c:minorTickMark val="none"/>
        <c:tickLblPos val="nextTo"/>
        <c:crossAx val="928322959"/>
        <c:crosses val="autoZero"/>
        <c:crossBetween val="midCat"/>
        <c:majorUnit val="1"/>
        <c:minorUnit val="1"/>
      </c:valAx>
      <c:spPr>
        <a:noFill/>
        <a:ln>
          <a:noFill/>
        </a:ln>
      </c:spPr>
    </c:plotArea>
    <c:plotVisOnly val="1"/>
    <c:dispBlanksAs val="gap"/>
    <c:showDLblsOverMax val="0"/>
  </c:chart>
  <c:spPr>
    <a:noFill/>
    <a:ln>
      <a:noFill/>
    </a:ln>
  </c:spPr>
  <c:externalData r:id="rId2">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657136380672455E-2"/>
          <c:y val="3.0699737370014191E-2"/>
          <c:w val="0.95532488822937012"/>
          <c:h val="0.95688581466674805"/>
        </c:manualLayout>
      </c:layout>
      <c:barChart>
        <c:barDir val="bar"/>
        <c:grouping val="stacked"/>
        <c:varyColors val="0"/>
        <c:ser>
          <c:idx val="0"/>
          <c:order val="0"/>
          <c:tx>
            <c:strRef>
              <c:f>Sheet1!$D$15</c:f>
              <c:strCache>
                <c:ptCount val="1"/>
                <c:pt idx="0">
                  <c:v>Current Maturity</c:v>
                </c:pt>
              </c:strCache>
            </c:strRef>
          </c:tx>
          <c:spPr>
            <a:solidFill>
              <a:srgbClr val="002856"/>
            </a:solidFill>
            <a:ln>
              <a:solidFill>
                <a:srgbClr val="002856"/>
              </a:solidFill>
              <a:miter lim="800000"/>
            </a:ln>
          </c:spPr>
          <c:invertIfNegative val="0"/>
          <c:dLbls>
            <c:dLbl>
              <c:idx val="0"/>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89BE-4C32-93EA-A36D3AE250A2}"/>
                </c:ext>
              </c:extLst>
            </c:dLbl>
            <c:dLbl>
              <c:idx val="1"/>
              <c:spPr/>
              <c:txPr>
                <a:bodyPr wrap="square" lIns="38100" tIns="19050" rIns="38100" bIns="19050" anchor="ctr">
                  <a:spAutoFit/>
                </a:bodyPr>
                <a:lstStyle/>
                <a:p>
                  <a:pPr>
                    <a:defRPr sz="1100" smtId="4294967295">
                      <a:solidFill>
                        <a:schemeClr val="bg1"/>
                      </a:solidFill>
                    </a:defRPr>
                  </a:pPr>
                  <a:endParaRPr lang="en-US"/>
                </a:p>
              </c:txPr>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89BE-4C32-93EA-A36D3AE250A2}"/>
                </c:ext>
              </c:extLst>
            </c:dLbl>
            <c:dLbl>
              <c:idx val="2"/>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89BE-4C32-93EA-A36D3AE250A2}"/>
                </c:ext>
              </c:extLst>
            </c:dLbl>
            <c:dLbl>
              <c:idx val="3"/>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89BE-4C32-93EA-A36D3AE250A2}"/>
                </c:ext>
              </c:extLst>
            </c:dLbl>
            <c:spPr>
              <a:noFill/>
              <a:ln>
                <a:noFill/>
              </a:ln>
              <a:effectLst/>
            </c:spPr>
            <c:txPr>
              <a:bodyPr wrap="square" lIns="38100" tIns="19050" rIns="38100" bIns="19050" anchor="ctr">
                <a:spAutoFit/>
              </a:bodyPr>
              <a:lstStyle/>
              <a:p>
                <a:pPr>
                  <a:defRPr sz="1100" smtId="4294967295">
                    <a:solidFill>
                      <a:schemeClr val="bg1"/>
                    </a:solidFill>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cat>
            <c:multiLvlStrRef>
              <c:f>Sheet1!$A$4:$A$7</c:f>
            </c:multiLvlStrRef>
          </c:cat>
          <c:val>
            <c:numRef>
              <c:f>Sheet1!$D$16:$D$19</c:f>
              <c:numCache>
                <c:formatCode>0.0</c:formatCode>
                <c:ptCount val="4"/>
                <c:pt idx="0" formatCode="0.00">
                  <c:v>0</c:v>
                </c:pt>
                <c:pt idx="1">
                  <c:v>4</c:v>
                </c:pt>
                <c:pt idx="2">
                  <c:v>0</c:v>
                </c:pt>
                <c:pt idx="3" formatCode="0.0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89BE-4C32-93EA-A36D3AE250A2}"/>
            </c:ext>
          </c:extLst>
        </c:ser>
        <c:ser>
          <c:idx val="10"/>
          <c:order val="1"/>
          <c:tx>
            <c:strRef>
              <c:f>Sheet1!$F$15</c:f>
              <c:strCache>
                <c:ptCount val="1"/>
                <c:pt idx="0">
                  <c:v>10th Positive Bar</c:v>
                </c:pt>
              </c:strCache>
            </c:strRef>
          </c:tx>
          <c:spPr>
            <a:noFill/>
            <a:ln>
              <a:noFill/>
            </a:ln>
          </c:spPr>
          <c:invertIfNegative val="0"/>
          <c:cat>
            <c:multiLvlStrRef>
              <c:f>Sheet1!$A$4:$A$7</c:f>
            </c:multiLvlStrRef>
          </c:cat>
          <c:val>
            <c:numRef>
              <c:f>Sheet1!$F$16:$F$19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89BE-4C32-93EA-A36D3AE250A2}"/>
            </c:ext>
          </c:extLst>
        </c:ser>
        <c:ser>
          <c:idx val="3"/>
          <c:order val="2"/>
          <c:tx>
            <c:strRef>
              <c:f>Sheet1!$H$15</c:f>
              <c:strCache>
                <c:ptCount val="1"/>
                <c:pt idx="0">
                  <c:v>25th Positive Bar</c:v>
                </c:pt>
              </c:strCache>
            </c:strRef>
          </c:tx>
          <c:spPr>
            <a:noFill/>
          </c:spPr>
          <c:invertIfNegative val="0"/>
          <c:cat>
            <c:multiLvlStrRef>
              <c:f>Sheet1!$A$4:$A$7</c:f>
            </c:multiLvlStrRef>
          </c:cat>
          <c:val>
            <c:numRef>
              <c:f>Sheet1!$H$16:$H$19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89BE-4C32-93EA-A36D3AE250A2}"/>
            </c:ext>
          </c:extLst>
        </c:ser>
        <c:ser>
          <c:idx val="5"/>
          <c:order val="3"/>
          <c:tx>
            <c:strRef>
              <c:f>Sheet1!$J$15</c:f>
              <c:strCache>
                <c:ptCount val="1"/>
                <c:pt idx="0">
                  <c:v>75th Positive Bar</c:v>
                </c:pt>
              </c:strCache>
            </c:strRef>
          </c:tx>
          <c:spPr>
            <a:solidFill>
              <a:srgbClr val="BFBFBF"/>
            </a:solidFill>
            <a:ln>
              <a:solidFill>
                <a:srgbClr val="BFBFBF"/>
              </a:solidFill>
            </a:ln>
          </c:spPr>
          <c:invertIfNegative val="0"/>
          <c:cat>
            <c:multiLvlStrRef>
              <c:f>Sheet1!$A$4:$A$7</c:f>
            </c:multiLvlStrRef>
          </c:cat>
          <c:val>
            <c:numRef>
              <c:f>Sheet1!$J$16:$J$19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89BE-4C32-93EA-A36D3AE250A2}"/>
            </c:ext>
          </c:extLst>
        </c:ser>
        <c:ser>
          <c:idx val="7"/>
          <c:order val="4"/>
          <c:tx>
            <c:strRef>
              <c:f>Sheet1!$L$15</c:f>
              <c:strCache>
                <c:ptCount val="1"/>
                <c:pt idx="0">
                  <c:v>90th Positive Bar</c:v>
                </c:pt>
              </c:strCache>
            </c:strRef>
          </c:tx>
          <c:spPr>
            <a:noFill/>
          </c:spPr>
          <c:invertIfNegative val="0"/>
          <c:cat>
            <c:multiLvlStrRef>
              <c:f>Sheet1!$A$4:$A$7</c:f>
            </c:multiLvlStrRef>
          </c:cat>
          <c:val>
            <c:numRef>
              <c:f>Sheet1!$L$16:$L$19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89BE-4C32-93EA-A36D3AE250A2}"/>
            </c:ext>
          </c:extLst>
        </c:ser>
        <c:ser>
          <c:idx val="6"/>
          <c:order val="8"/>
          <c:tx>
            <c:strRef>
              <c:f>Sheet1!$K$15</c:f>
              <c:strCache>
                <c:ptCount val="1"/>
                <c:pt idx="0">
                  <c:v>90th Negative Bar</c:v>
                </c:pt>
              </c:strCache>
            </c:strRef>
          </c:tx>
          <c:spPr>
            <a:noFill/>
          </c:spPr>
          <c:invertIfNegative val="0"/>
          <c:cat>
            <c:multiLvlStrRef>
              <c:f>Sheet1!$A$4:$A$7</c:f>
            </c:multiLvlStrRef>
          </c:cat>
          <c:val>
            <c:numRef>
              <c:f>Sheet1!$K$16:$K$19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89BE-4C32-93EA-A36D3AE250A2}"/>
            </c:ext>
          </c:extLst>
        </c:ser>
        <c:ser>
          <c:idx val="4"/>
          <c:order val="9"/>
          <c:tx>
            <c:strRef>
              <c:f>Sheet1!$I$15</c:f>
              <c:strCache>
                <c:ptCount val="1"/>
                <c:pt idx="0">
                  <c:v>75th Negative Bar</c:v>
                </c:pt>
              </c:strCache>
            </c:strRef>
          </c:tx>
          <c:spPr>
            <a:noFill/>
          </c:spPr>
          <c:invertIfNegative val="0"/>
          <c:cat>
            <c:multiLvlStrRef>
              <c:f>Sheet1!$A$4:$A$7</c:f>
            </c:multiLvlStrRef>
          </c:cat>
          <c:val>
            <c:numRef>
              <c:f>Sheet1!$I$16:$I$19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89BE-4C32-93EA-A36D3AE250A2}"/>
            </c:ext>
          </c:extLst>
        </c:ser>
        <c:ser>
          <c:idx val="2"/>
          <c:order val="10"/>
          <c:tx>
            <c:strRef>
              <c:f>Sheet1!$G$15</c:f>
              <c:strCache>
                <c:ptCount val="1"/>
                <c:pt idx="0">
                  <c:v>25th Negative Bar</c:v>
                </c:pt>
              </c:strCache>
            </c:strRef>
          </c:tx>
          <c:spPr>
            <a:solidFill>
              <a:srgbClr val="BFBFBF"/>
            </a:solidFill>
            <a:ln>
              <a:solidFill>
                <a:srgbClr val="BFBFBF"/>
              </a:solidFill>
            </a:ln>
          </c:spPr>
          <c:invertIfNegative val="0"/>
          <c:cat>
            <c:multiLvlStrRef>
              <c:f>Sheet1!$A$4:$A$7</c:f>
            </c:multiLvlStrRef>
          </c:cat>
          <c:val>
            <c:numRef>
              <c:f>Sheet1!$G$16:$G$19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89BE-4C32-93EA-A36D3AE250A2}"/>
            </c:ext>
          </c:extLst>
        </c:ser>
        <c:ser>
          <c:idx val="1"/>
          <c:order val="11"/>
          <c:tx>
            <c:strRef>
              <c:f>Sheet1!$E$15</c:f>
              <c:strCache>
                <c:ptCount val="1"/>
                <c:pt idx="0">
                  <c:v>10th Negative Bar</c:v>
                </c:pt>
              </c:strCache>
            </c:strRef>
          </c:tx>
          <c:spPr>
            <a:noFill/>
          </c:spPr>
          <c:invertIfNegative val="0"/>
          <c:cat>
            <c:multiLvlStrRef>
              <c:f>Sheet1!$A$4:$A$7</c:f>
            </c:multiLvlStrRef>
          </c:cat>
          <c:val>
            <c:numRef>
              <c:f>Sheet1!$E$16:$E$19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89BE-4C32-93EA-A36D3AE250A2}"/>
            </c:ext>
          </c:extLst>
        </c:ser>
        <c:ser>
          <c:idx val="15"/>
          <c:order val="14"/>
          <c:tx>
            <c:strRef>
              <c:f>Sheet1!$M$15</c:f>
              <c:strCache>
                <c:ptCount val="1"/>
                <c:pt idx="0">
                  <c:v>Benchmarks Omitted Bar</c:v>
                </c:pt>
              </c:strCache>
            </c:strRef>
          </c:tx>
          <c:spPr>
            <a:noFill/>
          </c:spPr>
          <c:invertIfNegative val="0"/>
          <c:cat>
            <c:multiLvlStrRef>
              <c:f>Sheet1!$A$4:$A$7</c:f>
            </c:multiLvlStrRef>
          </c:cat>
          <c:val>
            <c:numRef>
              <c:f>Sheet1!$M$16:$M$19</c:f>
              <c:numCache>
                <c:formatCode>General</c:formatCode>
                <c:ptCount val="4"/>
                <c:pt idx="0">
                  <c:v>0</c:v>
                </c:pt>
                <c:pt idx="1">
                  <c:v>0</c:v>
                </c:pt>
                <c:pt idx="2">
                  <c:v>0</c:v>
                </c:pt>
                <c:pt idx="3" formatCode="&quot;$&quot;#,##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89BE-4C32-93EA-A36D3AE250A2}"/>
            </c:ext>
          </c:extLst>
        </c:ser>
        <c:dLbls>
          <c:showLegendKey val="0"/>
          <c:showVal val="0"/>
          <c:showCatName val="0"/>
          <c:showSerName val="0"/>
          <c:showPercent val="0"/>
          <c:showBubbleSize val="0"/>
        </c:dLbls>
        <c:gapWidth val="0"/>
        <c:overlap val="100"/>
        <c:axId val="1154865663"/>
        <c:axId val="1"/>
      </c:barChart>
      <c:scatterChart>
        <c:scatterStyle val="lineMarker"/>
        <c:varyColors val="0"/>
        <c:ser>
          <c:idx val="8"/>
          <c:order val="5"/>
          <c:tx>
            <c:strRef>
              <c:f>Sheet1!$B$9</c:f>
              <c:strCache>
                <c:ptCount val="1"/>
                <c:pt idx="0">
                  <c:v>Target Maturity</c:v>
                </c:pt>
              </c:strCache>
            </c:strRef>
          </c:tx>
          <c:marker>
            <c:symbol val="none"/>
          </c:marker>
          <c:dLbls>
            <c:dLbl>
              <c:idx val="0"/>
              <c:spPr>
                <a:solidFill>
                  <a:srgbClr val="1F96FF"/>
                </a:solidFill>
                <a:ln>
                  <a:noFill/>
                </a:ln>
                <a:effectLst/>
              </c:spPr>
              <c:txPr>
                <a:bodyPr wrap="square" lIns="38100" tIns="19050" rIns="38100" bIns="19050" anchor="ctr">
                  <a:spAutoFit/>
                </a:bodyPr>
                <a:lstStyle/>
                <a:p>
                  <a:pPr>
                    <a:defRPr sz="1100" smtId="4294967295">
                      <a:solidFill>
                        <a:srgbClr val="FFFFFF"/>
                      </a:solidFill>
                      <a:latin typeface="Roboto Medium" panose="02000000000000000000" pitchFamily="2" charset="0"/>
                      <a:ea typeface="Roboto Medium"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89BE-4C32-93EA-A36D3AE250A2}"/>
                </c:ext>
              </c:extLst>
            </c:dLbl>
            <c:spPr>
              <a:solidFill>
                <a:srgbClr val="1F96FF"/>
              </a:solidFill>
              <a:ln>
                <a:noFill/>
              </a:ln>
              <a:effectLst/>
            </c:spPr>
            <c:txPr>
              <a:bodyPr wrap="square" lIns="38100" tIns="19050" rIns="38100" bIns="19050" anchor="ctr">
                <a:spAutoFit/>
              </a:bodyPr>
              <a:lstStyle/>
              <a:p>
                <a:pPr>
                  <a:defRPr sz="1100" smtId="4294967295">
                    <a:solidFill>
                      <a:srgbClr val="FFFFFF"/>
                    </a:solidFill>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40"/>
            <c:spPr>
              <a:ln w="25400">
                <a:solidFill>
                  <a:srgbClr val="1F96FF"/>
                </a:solidFill>
              </a:ln>
            </c:spPr>
          </c:errBars>
          <c:xVal>
            <c:numRef>
              <c:f>Sheet1!$D$9</c:f>
              <c:numCache>
                <c:formatCode>0.0</c:formatCode>
                <c:ptCount val="1"/>
                <c:pt idx="0">
                  <c:v>5</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89BE-4C32-93EA-A36D3AE250A2}"/>
            </c:ext>
          </c:extLst>
        </c:ser>
        <c:ser>
          <c:idx val="11"/>
          <c:order val="6"/>
          <c:tx>
            <c:strRef>
              <c:f>Sheet1!$B$11</c:f>
              <c:strCache>
                <c:ptCount val="1"/>
                <c:pt idx="0">
                  <c:v>Maximum</c:v>
                </c:pt>
              </c:strCache>
            </c:strRef>
          </c:tx>
          <c:marker>
            <c:symbol val="none"/>
          </c:marker>
          <c:xVal>
            <c:numRef>
              <c:f>Sheet1!$D$11</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89BE-4C32-93EA-A36D3AE250A2}"/>
            </c:ext>
          </c:extLst>
        </c:ser>
        <c:ser>
          <c:idx val="9"/>
          <c:order val="7"/>
          <c:tx>
            <c:strRef>
              <c:f>Sheet1!$B$8</c:f>
              <c:strCache>
                <c:ptCount val="1"/>
                <c:pt idx="0">
                  <c:v>Client</c:v>
                </c:pt>
              </c:strCache>
            </c:strRef>
          </c:tx>
          <c:marker>
            <c:symbol val="none"/>
          </c:marker>
          <c:xVal>
            <c:numRef>
              <c:f>Sheet1!$D$8</c:f>
              <c:numCache>
                <c:formatCode>0.00</c:formatCode>
                <c:ptCount val="1"/>
                <c:pt idx="0">
                  <c:v>0</c:v>
                </c:pt>
              </c:numCache>
            </c:numRef>
          </c:xVal>
          <c:yVal>
            <c:numRef>
              <c:f>Sheet1!$D$14</c:f>
              <c:numCache>
                <c:formatCode>_(* #,##0_);_(* \(#,##0\);_(* "-"??_);_(@_)</c:formatCode>
                <c:ptCount val="1"/>
                <c:pt idx="0">
                  <c:v>3</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89BE-4C32-93EA-A36D3AE250A2}"/>
            </c:ext>
          </c:extLst>
        </c:ser>
        <c:ser>
          <c:idx val="13"/>
          <c:order val="12"/>
          <c:tx>
            <c:v>25th Scatter Label</c:v>
          </c:tx>
          <c:marker>
            <c:symbol val="none"/>
          </c:marker>
          <c:xVal>
            <c:numRef>
              <c:f>Sheet1!$D$5</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89BE-4C32-93EA-A36D3AE250A2}"/>
            </c:ext>
          </c:extLst>
        </c:ser>
        <c:ser>
          <c:idx val="14"/>
          <c:order val="13"/>
          <c:tx>
            <c:v>75 Scatter Label</c:v>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89BE-4C32-93EA-A36D3AE250A2}"/>
              </c:ext>
            </c:extLst>
          </c:dPt>
          <c:xVal>
            <c:numRef>
              <c:f>Sheet1!$D$6</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89BE-4C32-93EA-A36D3AE250A2}"/>
            </c:ext>
          </c:extLst>
        </c:ser>
        <c:dLbls>
          <c:showLegendKey val="0"/>
          <c:showVal val="0"/>
          <c:showCatName val="0"/>
          <c:showSerName val="0"/>
          <c:showPercent val="0"/>
          <c:showBubbleSize val="0"/>
        </c:dLbls>
        <c:axId val="928322959"/>
        <c:axId val="928311311"/>
      </c:scatterChart>
      <c:catAx>
        <c:axId val="1154865663"/>
        <c:scaling>
          <c:orientation val="minMax"/>
        </c:scaling>
        <c:delete val="1"/>
        <c:axPos val="l"/>
        <c:numFmt formatCode="General" sourceLinked="1"/>
        <c:majorTickMark val="out"/>
        <c:minorTickMark val="none"/>
        <c:tickLblPos val="nextTo"/>
        <c:crossAx val="1"/>
        <c:crossesAt val="0"/>
        <c:auto val="0"/>
        <c:lblAlgn val="ctr"/>
        <c:lblOffset val="100"/>
        <c:noMultiLvlLbl val="1"/>
      </c:catAx>
      <c:valAx>
        <c:axId val="1"/>
        <c:scaling>
          <c:orientation val="minMax"/>
          <c:max val="5.0999999999999996"/>
          <c:min val="0"/>
        </c:scaling>
        <c:delete val="1"/>
        <c:axPos val="b"/>
        <c:numFmt formatCode="0.0" sourceLinked="0"/>
        <c:majorTickMark val="out"/>
        <c:minorTickMark val="none"/>
        <c:tickLblPos val="nextTo"/>
        <c:crossAx val="1154865663"/>
        <c:crossesAt val="1"/>
        <c:crossBetween val="between"/>
        <c:majorUnit val="1"/>
      </c:valAx>
      <c:valAx>
        <c:axId val="928322959"/>
        <c:scaling>
          <c:orientation val="minMax"/>
          <c:max val="1.6000000000000003E-3"/>
        </c:scaling>
        <c:delete val="1"/>
        <c:axPos val="b"/>
        <c:numFmt formatCode="0.0" sourceLinked="1"/>
        <c:majorTickMark val="out"/>
        <c:minorTickMark val="none"/>
        <c:tickLblPos val="nextTo"/>
        <c:crossAx val="928311311"/>
        <c:crosses val="autoZero"/>
        <c:crossBetween val="midCat"/>
      </c:valAx>
      <c:valAx>
        <c:axId val="928311311"/>
        <c:scaling>
          <c:orientation val="minMax"/>
          <c:max val="3"/>
          <c:min val="1"/>
        </c:scaling>
        <c:delete val="1"/>
        <c:axPos val="l"/>
        <c:numFmt formatCode="_(* #,##0_);_(* \(#,##0\);_(* &quot;-&quot;??_);_(@_)" sourceLinked="0"/>
        <c:majorTickMark val="out"/>
        <c:minorTickMark val="none"/>
        <c:tickLblPos val="nextTo"/>
        <c:crossAx val="928322959"/>
        <c:crosses val="autoZero"/>
        <c:crossBetween val="midCat"/>
        <c:majorUnit val="1"/>
        <c:minorUnit val="1"/>
      </c:valAx>
      <c:spPr>
        <a:noFill/>
        <a:ln>
          <a:noFill/>
        </a:ln>
      </c:spPr>
    </c:plotArea>
    <c:plotVisOnly val="1"/>
    <c:dispBlanksAs val="gap"/>
    <c:showDLblsOverMax val="0"/>
  </c:chart>
  <c:spPr>
    <a:noFill/>
    <a:ln>
      <a:noFill/>
    </a:ln>
  </c:spPr>
  <c:externalData r:id="rId2">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657136380672455E-2"/>
          <c:y val="3.0699737370014191E-2"/>
          <c:w val="0.95532488822937012"/>
          <c:h val="0.95688581466674805"/>
        </c:manualLayout>
      </c:layout>
      <c:barChart>
        <c:barDir val="bar"/>
        <c:grouping val="stacked"/>
        <c:varyColors val="0"/>
        <c:ser>
          <c:idx val="0"/>
          <c:order val="0"/>
          <c:tx>
            <c:strRef>
              <c:f>Sheet1!$D$15</c:f>
              <c:strCache>
                <c:ptCount val="1"/>
                <c:pt idx="0">
                  <c:v>Current Maturity</c:v>
                </c:pt>
              </c:strCache>
            </c:strRef>
          </c:tx>
          <c:spPr>
            <a:solidFill>
              <a:srgbClr val="002856"/>
            </a:solidFill>
            <a:ln>
              <a:solidFill>
                <a:srgbClr val="002856"/>
              </a:solidFill>
              <a:miter lim="800000"/>
            </a:ln>
          </c:spPr>
          <c:invertIfNegative val="0"/>
          <c:dLbls>
            <c:dLbl>
              <c:idx val="0"/>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021F-4F92-A641-54F138605534}"/>
                </c:ext>
              </c:extLst>
            </c:dLbl>
            <c:dLbl>
              <c:idx val="1"/>
              <c:spPr/>
              <c:txPr>
                <a:bodyPr wrap="square" lIns="38100" tIns="19050" rIns="38100" bIns="19050" anchor="ctr">
                  <a:spAutoFit/>
                </a:bodyPr>
                <a:lstStyle/>
                <a:p>
                  <a:pPr>
                    <a:defRPr sz="1100" smtId="4294967295">
                      <a:solidFill>
                        <a:schemeClr val="bg1"/>
                      </a:solidFill>
                    </a:defRPr>
                  </a:pPr>
                  <a:endParaRPr lang="en-US"/>
                </a:p>
              </c:txPr>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021F-4F92-A641-54F138605534}"/>
                </c:ext>
              </c:extLst>
            </c:dLbl>
            <c:dLbl>
              <c:idx val="2"/>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021F-4F92-A641-54F138605534}"/>
                </c:ext>
              </c:extLst>
            </c:dLbl>
            <c:dLbl>
              <c:idx val="3"/>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021F-4F92-A641-54F138605534}"/>
                </c:ext>
              </c:extLst>
            </c:dLbl>
            <c:spPr>
              <a:noFill/>
              <a:ln>
                <a:noFill/>
              </a:ln>
              <a:effectLst/>
            </c:spPr>
            <c:txPr>
              <a:bodyPr wrap="square" lIns="38100" tIns="19050" rIns="38100" bIns="19050" anchor="ctr">
                <a:spAutoFit/>
              </a:bodyPr>
              <a:lstStyle/>
              <a:p>
                <a:pPr>
                  <a:defRPr sz="1100" smtId="4294967295">
                    <a:solidFill>
                      <a:schemeClr val="bg1"/>
                    </a:solidFill>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cat>
            <c:multiLvlStrRef>
              <c:f>Sheet1!$A$4:$A$7</c:f>
            </c:multiLvlStrRef>
          </c:cat>
          <c:val>
            <c:numRef>
              <c:f>Sheet1!$D$16:$D$19</c:f>
              <c:numCache>
                <c:formatCode>0.0</c:formatCode>
                <c:ptCount val="4"/>
                <c:pt idx="0" formatCode="0.00">
                  <c:v>0</c:v>
                </c:pt>
                <c:pt idx="1">
                  <c:v>1</c:v>
                </c:pt>
                <c:pt idx="2">
                  <c:v>0</c:v>
                </c:pt>
                <c:pt idx="3" formatCode="0.0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021F-4F92-A641-54F138605534}"/>
            </c:ext>
          </c:extLst>
        </c:ser>
        <c:ser>
          <c:idx val="10"/>
          <c:order val="1"/>
          <c:tx>
            <c:strRef>
              <c:f>Sheet1!$F$15</c:f>
              <c:strCache>
                <c:ptCount val="1"/>
                <c:pt idx="0">
                  <c:v>10th Positive Bar</c:v>
                </c:pt>
              </c:strCache>
            </c:strRef>
          </c:tx>
          <c:spPr>
            <a:noFill/>
            <a:ln>
              <a:noFill/>
            </a:ln>
          </c:spPr>
          <c:invertIfNegative val="0"/>
          <c:cat>
            <c:multiLvlStrRef>
              <c:f>Sheet1!$A$4:$A$7</c:f>
            </c:multiLvlStrRef>
          </c:cat>
          <c:val>
            <c:numRef>
              <c:f>Sheet1!$F$16:$F$19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021F-4F92-A641-54F138605534}"/>
            </c:ext>
          </c:extLst>
        </c:ser>
        <c:ser>
          <c:idx val="3"/>
          <c:order val="2"/>
          <c:tx>
            <c:strRef>
              <c:f>Sheet1!$H$15</c:f>
              <c:strCache>
                <c:ptCount val="1"/>
                <c:pt idx="0">
                  <c:v>25th Positive Bar</c:v>
                </c:pt>
              </c:strCache>
            </c:strRef>
          </c:tx>
          <c:spPr>
            <a:noFill/>
          </c:spPr>
          <c:invertIfNegative val="0"/>
          <c:cat>
            <c:multiLvlStrRef>
              <c:f>Sheet1!$A$4:$A$7</c:f>
            </c:multiLvlStrRef>
          </c:cat>
          <c:val>
            <c:numRef>
              <c:f>Sheet1!$H$16:$H$19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021F-4F92-A641-54F138605534}"/>
            </c:ext>
          </c:extLst>
        </c:ser>
        <c:ser>
          <c:idx val="5"/>
          <c:order val="3"/>
          <c:tx>
            <c:strRef>
              <c:f>Sheet1!$J$15</c:f>
              <c:strCache>
                <c:ptCount val="1"/>
                <c:pt idx="0">
                  <c:v>75th Positive Bar</c:v>
                </c:pt>
              </c:strCache>
            </c:strRef>
          </c:tx>
          <c:spPr>
            <a:solidFill>
              <a:srgbClr val="BFBFBF"/>
            </a:solidFill>
            <a:ln>
              <a:solidFill>
                <a:srgbClr val="BFBFBF"/>
              </a:solidFill>
            </a:ln>
          </c:spPr>
          <c:invertIfNegative val="0"/>
          <c:cat>
            <c:multiLvlStrRef>
              <c:f>Sheet1!$A$4:$A$7</c:f>
            </c:multiLvlStrRef>
          </c:cat>
          <c:val>
            <c:numRef>
              <c:f>Sheet1!$J$16:$J$19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021F-4F92-A641-54F138605534}"/>
            </c:ext>
          </c:extLst>
        </c:ser>
        <c:ser>
          <c:idx val="7"/>
          <c:order val="4"/>
          <c:tx>
            <c:strRef>
              <c:f>Sheet1!$L$15</c:f>
              <c:strCache>
                <c:ptCount val="1"/>
                <c:pt idx="0">
                  <c:v>90th Positive Bar</c:v>
                </c:pt>
              </c:strCache>
            </c:strRef>
          </c:tx>
          <c:spPr>
            <a:noFill/>
          </c:spPr>
          <c:invertIfNegative val="0"/>
          <c:cat>
            <c:multiLvlStrRef>
              <c:f>Sheet1!$A$4:$A$7</c:f>
            </c:multiLvlStrRef>
          </c:cat>
          <c:val>
            <c:numRef>
              <c:f>Sheet1!$L$16:$L$19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021F-4F92-A641-54F138605534}"/>
            </c:ext>
          </c:extLst>
        </c:ser>
        <c:ser>
          <c:idx val="6"/>
          <c:order val="8"/>
          <c:tx>
            <c:strRef>
              <c:f>Sheet1!$K$15</c:f>
              <c:strCache>
                <c:ptCount val="1"/>
                <c:pt idx="0">
                  <c:v>90th Negative Bar</c:v>
                </c:pt>
              </c:strCache>
            </c:strRef>
          </c:tx>
          <c:spPr>
            <a:noFill/>
          </c:spPr>
          <c:invertIfNegative val="0"/>
          <c:cat>
            <c:multiLvlStrRef>
              <c:f>Sheet1!$A$4:$A$7</c:f>
            </c:multiLvlStrRef>
          </c:cat>
          <c:val>
            <c:numRef>
              <c:f>Sheet1!$K$16:$K$19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021F-4F92-A641-54F138605534}"/>
            </c:ext>
          </c:extLst>
        </c:ser>
        <c:ser>
          <c:idx val="4"/>
          <c:order val="9"/>
          <c:tx>
            <c:strRef>
              <c:f>Sheet1!$I$15</c:f>
              <c:strCache>
                <c:ptCount val="1"/>
                <c:pt idx="0">
                  <c:v>75th Negative Bar</c:v>
                </c:pt>
              </c:strCache>
            </c:strRef>
          </c:tx>
          <c:spPr>
            <a:noFill/>
          </c:spPr>
          <c:invertIfNegative val="0"/>
          <c:cat>
            <c:multiLvlStrRef>
              <c:f>Sheet1!$A$4:$A$7</c:f>
            </c:multiLvlStrRef>
          </c:cat>
          <c:val>
            <c:numRef>
              <c:f>Sheet1!$I$16:$I$19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021F-4F92-A641-54F138605534}"/>
            </c:ext>
          </c:extLst>
        </c:ser>
        <c:ser>
          <c:idx val="2"/>
          <c:order val="10"/>
          <c:tx>
            <c:strRef>
              <c:f>Sheet1!$G$15</c:f>
              <c:strCache>
                <c:ptCount val="1"/>
                <c:pt idx="0">
                  <c:v>25th Negative Bar</c:v>
                </c:pt>
              </c:strCache>
            </c:strRef>
          </c:tx>
          <c:spPr>
            <a:solidFill>
              <a:srgbClr val="BFBFBF"/>
            </a:solidFill>
            <a:ln>
              <a:solidFill>
                <a:srgbClr val="BFBFBF"/>
              </a:solidFill>
            </a:ln>
          </c:spPr>
          <c:invertIfNegative val="0"/>
          <c:cat>
            <c:multiLvlStrRef>
              <c:f>Sheet1!$A$4:$A$7</c:f>
            </c:multiLvlStrRef>
          </c:cat>
          <c:val>
            <c:numRef>
              <c:f>Sheet1!$G$16:$G$19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021F-4F92-A641-54F138605534}"/>
            </c:ext>
          </c:extLst>
        </c:ser>
        <c:ser>
          <c:idx val="1"/>
          <c:order val="11"/>
          <c:tx>
            <c:strRef>
              <c:f>Sheet1!$E$15</c:f>
              <c:strCache>
                <c:ptCount val="1"/>
                <c:pt idx="0">
                  <c:v>10th Negative Bar</c:v>
                </c:pt>
              </c:strCache>
            </c:strRef>
          </c:tx>
          <c:spPr>
            <a:noFill/>
          </c:spPr>
          <c:invertIfNegative val="0"/>
          <c:cat>
            <c:multiLvlStrRef>
              <c:f>Sheet1!$A$4:$A$7</c:f>
            </c:multiLvlStrRef>
          </c:cat>
          <c:val>
            <c:numRef>
              <c:f>Sheet1!$E$16:$E$19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021F-4F92-A641-54F138605534}"/>
            </c:ext>
          </c:extLst>
        </c:ser>
        <c:ser>
          <c:idx val="15"/>
          <c:order val="14"/>
          <c:tx>
            <c:strRef>
              <c:f>Sheet1!$M$15</c:f>
              <c:strCache>
                <c:ptCount val="1"/>
                <c:pt idx="0">
                  <c:v>Benchmarks Omitted Bar</c:v>
                </c:pt>
              </c:strCache>
            </c:strRef>
          </c:tx>
          <c:spPr>
            <a:noFill/>
          </c:spPr>
          <c:invertIfNegative val="0"/>
          <c:cat>
            <c:multiLvlStrRef>
              <c:f>Sheet1!$A$4:$A$7</c:f>
            </c:multiLvlStrRef>
          </c:cat>
          <c:val>
            <c:numRef>
              <c:f>Sheet1!$M$16:$M$19</c:f>
              <c:numCache>
                <c:formatCode>General</c:formatCode>
                <c:ptCount val="4"/>
                <c:pt idx="0">
                  <c:v>0</c:v>
                </c:pt>
                <c:pt idx="1">
                  <c:v>0</c:v>
                </c:pt>
                <c:pt idx="2">
                  <c:v>0</c:v>
                </c:pt>
                <c:pt idx="3" formatCode="&quot;$&quot;#,##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021F-4F92-A641-54F138605534}"/>
            </c:ext>
          </c:extLst>
        </c:ser>
        <c:dLbls>
          <c:showLegendKey val="0"/>
          <c:showVal val="0"/>
          <c:showCatName val="0"/>
          <c:showSerName val="0"/>
          <c:showPercent val="0"/>
          <c:showBubbleSize val="0"/>
        </c:dLbls>
        <c:gapWidth val="0"/>
        <c:overlap val="100"/>
        <c:axId val="1154865663"/>
        <c:axId val="1"/>
      </c:barChart>
      <c:scatterChart>
        <c:scatterStyle val="lineMarker"/>
        <c:varyColors val="0"/>
        <c:ser>
          <c:idx val="8"/>
          <c:order val="5"/>
          <c:tx>
            <c:strRef>
              <c:f>Sheet1!$B$9</c:f>
              <c:strCache>
                <c:ptCount val="1"/>
                <c:pt idx="0">
                  <c:v>Target Maturity</c:v>
                </c:pt>
              </c:strCache>
            </c:strRef>
          </c:tx>
          <c:marker>
            <c:symbol val="none"/>
          </c:marker>
          <c:dLbls>
            <c:dLbl>
              <c:idx val="0"/>
              <c:spPr>
                <a:solidFill>
                  <a:srgbClr val="1F96FF"/>
                </a:solidFill>
                <a:ln>
                  <a:noFill/>
                </a:ln>
                <a:effectLst/>
              </c:spPr>
              <c:txPr>
                <a:bodyPr wrap="square" lIns="38100" tIns="19050" rIns="38100" bIns="19050" anchor="ctr">
                  <a:spAutoFit/>
                </a:bodyPr>
                <a:lstStyle/>
                <a:p>
                  <a:pPr>
                    <a:defRPr sz="1100" smtId="4294967295">
                      <a:solidFill>
                        <a:srgbClr val="FFFFFF"/>
                      </a:solidFill>
                      <a:latin typeface="Roboto Medium" panose="02000000000000000000" pitchFamily="2" charset="0"/>
                      <a:ea typeface="Roboto Medium"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021F-4F92-A641-54F138605534}"/>
                </c:ext>
              </c:extLst>
            </c:dLbl>
            <c:spPr>
              <a:solidFill>
                <a:srgbClr val="1F96FF"/>
              </a:solidFill>
              <a:ln>
                <a:noFill/>
              </a:ln>
              <a:effectLst/>
            </c:spPr>
            <c:txPr>
              <a:bodyPr wrap="square" lIns="38100" tIns="19050" rIns="38100" bIns="19050" anchor="ctr">
                <a:spAutoFit/>
              </a:bodyPr>
              <a:lstStyle/>
              <a:p>
                <a:pPr>
                  <a:defRPr sz="1100" smtId="4294967295">
                    <a:solidFill>
                      <a:srgbClr val="FFFFFF"/>
                    </a:solidFill>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40"/>
            <c:spPr>
              <a:ln w="25400">
                <a:solidFill>
                  <a:srgbClr val="1F96FF"/>
                </a:solidFill>
              </a:ln>
            </c:spPr>
          </c:errBars>
          <c:xVal>
            <c:numRef>
              <c:f>Sheet1!$D$9</c:f>
              <c:numCache>
                <c:formatCode>0.0</c:formatCode>
                <c:ptCount val="1"/>
                <c:pt idx="0">
                  <c:v>1</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021F-4F92-A641-54F138605534}"/>
            </c:ext>
          </c:extLst>
        </c:ser>
        <c:ser>
          <c:idx val="11"/>
          <c:order val="6"/>
          <c:tx>
            <c:strRef>
              <c:f>Sheet1!$B$11</c:f>
              <c:strCache>
                <c:ptCount val="1"/>
                <c:pt idx="0">
                  <c:v>Maximum</c:v>
                </c:pt>
              </c:strCache>
            </c:strRef>
          </c:tx>
          <c:marker>
            <c:symbol val="none"/>
          </c:marker>
          <c:xVal>
            <c:numRef>
              <c:f>Sheet1!$D$11</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021F-4F92-A641-54F138605534}"/>
            </c:ext>
          </c:extLst>
        </c:ser>
        <c:ser>
          <c:idx val="9"/>
          <c:order val="7"/>
          <c:tx>
            <c:strRef>
              <c:f>Sheet1!$B$8</c:f>
              <c:strCache>
                <c:ptCount val="1"/>
                <c:pt idx="0">
                  <c:v>Client</c:v>
                </c:pt>
              </c:strCache>
            </c:strRef>
          </c:tx>
          <c:marker>
            <c:symbol val="none"/>
          </c:marker>
          <c:xVal>
            <c:numRef>
              <c:f>Sheet1!$D$8</c:f>
              <c:numCache>
                <c:formatCode>0.00</c:formatCode>
                <c:ptCount val="1"/>
                <c:pt idx="0">
                  <c:v>0</c:v>
                </c:pt>
              </c:numCache>
            </c:numRef>
          </c:xVal>
          <c:yVal>
            <c:numRef>
              <c:f>Sheet1!$D$14</c:f>
              <c:numCache>
                <c:formatCode>_(* #,##0_);_(* \(#,##0\);_(* "-"??_);_(@_)</c:formatCode>
                <c:ptCount val="1"/>
                <c:pt idx="0">
                  <c:v>3</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021F-4F92-A641-54F138605534}"/>
            </c:ext>
          </c:extLst>
        </c:ser>
        <c:ser>
          <c:idx val="13"/>
          <c:order val="12"/>
          <c:tx>
            <c:v>25th Scatter Label</c:v>
          </c:tx>
          <c:marker>
            <c:symbol val="none"/>
          </c:marker>
          <c:xVal>
            <c:numRef>
              <c:f>Sheet1!$D$5</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021F-4F92-A641-54F138605534}"/>
            </c:ext>
          </c:extLst>
        </c:ser>
        <c:ser>
          <c:idx val="14"/>
          <c:order val="13"/>
          <c:tx>
            <c:v>75 Scatter Label</c:v>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021F-4F92-A641-54F138605534}"/>
              </c:ext>
            </c:extLst>
          </c:dPt>
          <c:xVal>
            <c:numRef>
              <c:f>Sheet1!$D$6</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021F-4F92-A641-54F138605534}"/>
            </c:ext>
          </c:extLst>
        </c:ser>
        <c:dLbls>
          <c:showLegendKey val="0"/>
          <c:showVal val="0"/>
          <c:showCatName val="0"/>
          <c:showSerName val="0"/>
          <c:showPercent val="0"/>
          <c:showBubbleSize val="0"/>
        </c:dLbls>
        <c:axId val="928322959"/>
        <c:axId val="928311311"/>
      </c:scatterChart>
      <c:catAx>
        <c:axId val="1154865663"/>
        <c:scaling>
          <c:orientation val="minMax"/>
        </c:scaling>
        <c:delete val="1"/>
        <c:axPos val="l"/>
        <c:numFmt formatCode="General" sourceLinked="1"/>
        <c:majorTickMark val="out"/>
        <c:minorTickMark val="none"/>
        <c:tickLblPos val="nextTo"/>
        <c:crossAx val="1"/>
        <c:crossesAt val="0"/>
        <c:auto val="0"/>
        <c:lblAlgn val="ctr"/>
        <c:lblOffset val="100"/>
        <c:noMultiLvlLbl val="1"/>
      </c:catAx>
      <c:valAx>
        <c:axId val="1"/>
        <c:scaling>
          <c:orientation val="minMax"/>
          <c:max val="5.0999999999999996"/>
          <c:min val="0"/>
        </c:scaling>
        <c:delete val="1"/>
        <c:axPos val="b"/>
        <c:numFmt formatCode="0.0" sourceLinked="0"/>
        <c:majorTickMark val="out"/>
        <c:minorTickMark val="none"/>
        <c:tickLblPos val="nextTo"/>
        <c:crossAx val="1154865663"/>
        <c:crossesAt val="1"/>
        <c:crossBetween val="between"/>
        <c:majorUnit val="1"/>
      </c:valAx>
      <c:valAx>
        <c:axId val="928322959"/>
        <c:scaling>
          <c:orientation val="minMax"/>
          <c:max val="1.6000000000000003E-3"/>
        </c:scaling>
        <c:delete val="1"/>
        <c:axPos val="b"/>
        <c:numFmt formatCode="0.0" sourceLinked="1"/>
        <c:majorTickMark val="out"/>
        <c:minorTickMark val="none"/>
        <c:tickLblPos val="nextTo"/>
        <c:crossAx val="928311311"/>
        <c:crosses val="autoZero"/>
        <c:crossBetween val="midCat"/>
      </c:valAx>
      <c:valAx>
        <c:axId val="928311311"/>
        <c:scaling>
          <c:orientation val="minMax"/>
          <c:max val="3"/>
          <c:min val="1"/>
        </c:scaling>
        <c:delete val="1"/>
        <c:axPos val="l"/>
        <c:numFmt formatCode="_(* #,##0_);_(* \(#,##0\);_(* &quot;-&quot;??_);_(@_)" sourceLinked="0"/>
        <c:majorTickMark val="out"/>
        <c:minorTickMark val="none"/>
        <c:tickLblPos val="nextTo"/>
        <c:crossAx val="928322959"/>
        <c:crosses val="autoZero"/>
        <c:crossBetween val="midCat"/>
        <c:majorUnit val="1"/>
        <c:minorUnit val="1"/>
      </c:valAx>
      <c:spPr>
        <a:noFill/>
        <a:ln>
          <a:noFill/>
        </a:ln>
      </c:spPr>
    </c:plotArea>
    <c:plotVisOnly val="1"/>
    <c:dispBlanksAs val="gap"/>
    <c:showDLblsOverMax val="0"/>
  </c:chart>
  <c:spPr>
    <a:noFill/>
    <a:ln>
      <a:noFill/>
    </a:ln>
  </c:spPr>
  <c:externalData r:id="rId2">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764448955655098E-2"/>
          <c:y val="4.3114185333251953E-2"/>
          <c:w val="0.95532488822937012"/>
          <c:h val="0.95688581466674805"/>
        </c:manualLayout>
      </c:layout>
      <c:barChart>
        <c:barDir val="bar"/>
        <c:grouping val="stacked"/>
        <c:varyColors val="0"/>
        <c:ser>
          <c:idx val="0"/>
          <c:order val="0"/>
          <c:tx>
            <c:strRef>
              <c:f>Sheet1!$D$15</c:f>
              <c:strCache>
                <c:ptCount val="1"/>
                <c:pt idx="0">
                  <c:v>Current Maturity</c:v>
                </c:pt>
              </c:strCache>
            </c:strRef>
          </c:tx>
          <c:spPr>
            <a:solidFill>
              <a:srgbClr val="002856"/>
            </a:solidFill>
            <a:ln>
              <a:solidFill>
                <a:srgbClr val="002856"/>
              </a:solidFill>
              <a:miter lim="800000"/>
            </a:ln>
          </c:spPr>
          <c:invertIfNegative val="0"/>
          <c:dLbls>
            <c:dLbl>
              <c:idx val="0"/>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9601-47CB-81A1-CA56B6FA0C70}"/>
                </c:ext>
              </c:extLst>
            </c:dLbl>
            <c:dLbl>
              <c:idx val="1"/>
              <c:spPr/>
              <c:txPr>
                <a:bodyPr wrap="square" lIns="38100" tIns="19050" rIns="38100" bIns="19050" anchor="ctr">
                  <a:spAutoFit/>
                </a:bodyPr>
                <a:lstStyle/>
                <a:p>
                  <a:pPr>
                    <a:defRPr sz="1100" smtId="4294967295">
                      <a:solidFill>
                        <a:schemeClr val="bg1"/>
                      </a:solidFill>
                    </a:defRPr>
                  </a:pPr>
                  <a:endParaRPr lang="en-US"/>
                </a:p>
              </c:txPr>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9601-47CB-81A1-CA56B6FA0C70}"/>
                </c:ext>
              </c:extLst>
            </c:dLbl>
            <c:dLbl>
              <c:idx val="2"/>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9601-47CB-81A1-CA56B6FA0C70}"/>
                </c:ext>
              </c:extLst>
            </c:dLbl>
            <c:dLbl>
              <c:idx val="3"/>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9601-47CB-81A1-CA56B6FA0C70}"/>
                </c:ext>
              </c:extLst>
            </c:dLbl>
            <c:spPr>
              <a:noFill/>
              <a:ln>
                <a:noFill/>
              </a:ln>
              <a:effectLst/>
            </c:spPr>
            <c:txPr>
              <a:bodyPr wrap="square" lIns="38100" tIns="19050" rIns="38100" bIns="19050" anchor="ctr">
                <a:spAutoFit/>
              </a:bodyPr>
              <a:lstStyle/>
              <a:p>
                <a:pPr>
                  <a:defRPr sz="1100" smtId="4294967295">
                    <a:solidFill>
                      <a:schemeClr val="bg1"/>
                    </a:solidFill>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cat>
            <c:multiLvlStrRef>
              <c:f>Sheet1!$A$4:$A$7</c:f>
            </c:multiLvlStrRef>
          </c:cat>
          <c:val>
            <c:numRef>
              <c:f>Sheet1!$D$16:$D$19</c:f>
              <c:numCache>
                <c:formatCode>0.0</c:formatCode>
                <c:ptCount val="4"/>
                <c:pt idx="0" formatCode="0.00">
                  <c:v>0</c:v>
                </c:pt>
                <c:pt idx="1">
                  <c:v>2</c:v>
                </c:pt>
                <c:pt idx="2">
                  <c:v>0</c:v>
                </c:pt>
                <c:pt idx="3" formatCode="0.0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9601-47CB-81A1-CA56B6FA0C70}"/>
            </c:ext>
          </c:extLst>
        </c:ser>
        <c:ser>
          <c:idx val="10"/>
          <c:order val="1"/>
          <c:tx>
            <c:strRef>
              <c:f>Sheet1!$F$15</c:f>
              <c:strCache>
                <c:ptCount val="1"/>
                <c:pt idx="0">
                  <c:v>10th Positive Bar</c:v>
                </c:pt>
              </c:strCache>
            </c:strRef>
          </c:tx>
          <c:spPr>
            <a:noFill/>
            <a:ln>
              <a:noFill/>
            </a:ln>
          </c:spPr>
          <c:invertIfNegative val="0"/>
          <c:cat>
            <c:multiLvlStrRef>
              <c:f>Sheet1!$A$4:$A$7</c:f>
            </c:multiLvlStrRef>
          </c:cat>
          <c:val>
            <c:numRef>
              <c:f>Sheet1!$F$16:$F$19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9601-47CB-81A1-CA56B6FA0C70}"/>
            </c:ext>
          </c:extLst>
        </c:ser>
        <c:ser>
          <c:idx val="3"/>
          <c:order val="2"/>
          <c:tx>
            <c:strRef>
              <c:f>Sheet1!$H$15</c:f>
              <c:strCache>
                <c:ptCount val="1"/>
                <c:pt idx="0">
                  <c:v>25th Positive Bar</c:v>
                </c:pt>
              </c:strCache>
            </c:strRef>
          </c:tx>
          <c:spPr>
            <a:noFill/>
          </c:spPr>
          <c:invertIfNegative val="0"/>
          <c:cat>
            <c:multiLvlStrRef>
              <c:f>Sheet1!$A$4:$A$7</c:f>
            </c:multiLvlStrRef>
          </c:cat>
          <c:val>
            <c:numRef>
              <c:f>Sheet1!$H$16:$H$19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9601-47CB-81A1-CA56B6FA0C70}"/>
            </c:ext>
          </c:extLst>
        </c:ser>
        <c:ser>
          <c:idx val="5"/>
          <c:order val="3"/>
          <c:tx>
            <c:strRef>
              <c:f>Sheet1!$J$15</c:f>
              <c:strCache>
                <c:ptCount val="1"/>
                <c:pt idx="0">
                  <c:v>75th Positive Bar</c:v>
                </c:pt>
              </c:strCache>
            </c:strRef>
          </c:tx>
          <c:spPr>
            <a:solidFill>
              <a:srgbClr val="BFBFBF"/>
            </a:solidFill>
            <a:ln>
              <a:solidFill>
                <a:srgbClr val="BFBFBF"/>
              </a:solidFill>
            </a:ln>
          </c:spPr>
          <c:invertIfNegative val="0"/>
          <c:cat>
            <c:multiLvlStrRef>
              <c:f>Sheet1!$A$4:$A$7</c:f>
            </c:multiLvlStrRef>
          </c:cat>
          <c:val>
            <c:numRef>
              <c:f>Sheet1!$J$16:$J$19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9601-47CB-81A1-CA56B6FA0C70}"/>
            </c:ext>
          </c:extLst>
        </c:ser>
        <c:ser>
          <c:idx val="7"/>
          <c:order val="4"/>
          <c:tx>
            <c:strRef>
              <c:f>Sheet1!$L$15</c:f>
              <c:strCache>
                <c:ptCount val="1"/>
                <c:pt idx="0">
                  <c:v>90th Positive Bar</c:v>
                </c:pt>
              </c:strCache>
            </c:strRef>
          </c:tx>
          <c:spPr>
            <a:noFill/>
          </c:spPr>
          <c:invertIfNegative val="0"/>
          <c:cat>
            <c:multiLvlStrRef>
              <c:f>Sheet1!$A$4:$A$7</c:f>
            </c:multiLvlStrRef>
          </c:cat>
          <c:val>
            <c:numRef>
              <c:f>Sheet1!$L$16:$L$19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9601-47CB-81A1-CA56B6FA0C70}"/>
            </c:ext>
          </c:extLst>
        </c:ser>
        <c:ser>
          <c:idx val="6"/>
          <c:order val="8"/>
          <c:tx>
            <c:strRef>
              <c:f>Sheet1!$K$15</c:f>
              <c:strCache>
                <c:ptCount val="1"/>
                <c:pt idx="0">
                  <c:v>90th Negative Bar</c:v>
                </c:pt>
              </c:strCache>
            </c:strRef>
          </c:tx>
          <c:spPr>
            <a:noFill/>
          </c:spPr>
          <c:invertIfNegative val="0"/>
          <c:cat>
            <c:multiLvlStrRef>
              <c:f>Sheet1!$A$4:$A$7</c:f>
            </c:multiLvlStrRef>
          </c:cat>
          <c:val>
            <c:numRef>
              <c:f>Sheet1!$K$16:$K$19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9601-47CB-81A1-CA56B6FA0C70}"/>
            </c:ext>
          </c:extLst>
        </c:ser>
        <c:ser>
          <c:idx val="4"/>
          <c:order val="9"/>
          <c:tx>
            <c:strRef>
              <c:f>Sheet1!$I$15</c:f>
              <c:strCache>
                <c:ptCount val="1"/>
                <c:pt idx="0">
                  <c:v>75th Negative Bar</c:v>
                </c:pt>
              </c:strCache>
            </c:strRef>
          </c:tx>
          <c:spPr>
            <a:noFill/>
          </c:spPr>
          <c:invertIfNegative val="0"/>
          <c:cat>
            <c:multiLvlStrRef>
              <c:f>Sheet1!$A$4:$A$7</c:f>
            </c:multiLvlStrRef>
          </c:cat>
          <c:val>
            <c:numRef>
              <c:f>Sheet1!$I$16:$I$19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9601-47CB-81A1-CA56B6FA0C70}"/>
            </c:ext>
          </c:extLst>
        </c:ser>
        <c:ser>
          <c:idx val="2"/>
          <c:order val="10"/>
          <c:tx>
            <c:strRef>
              <c:f>Sheet1!$G$15</c:f>
              <c:strCache>
                <c:ptCount val="1"/>
                <c:pt idx="0">
                  <c:v>25th Negative Bar</c:v>
                </c:pt>
              </c:strCache>
            </c:strRef>
          </c:tx>
          <c:spPr>
            <a:solidFill>
              <a:srgbClr val="BFBFBF"/>
            </a:solidFill>
            <a:ln>
              <a:solidFill>
                <a:srgbClr val="BFBFBF"/>
              </a:solidFill>
            </a:ln>
          </c:spPr>
          <c:invertIfNegative val="0"/>
          <c:cat>
            <c:multiLvlStrRef>
              <c:f>Sheet1!$A$4:$A$7</c:f>
            </c:multiLvlStrRef>
          </c:cat>
          <c:val>
            <c:numRef>
              <c:f>Sheet1!$G$16:$G$19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9601-47CB-81A1-CA56B6FA0C70}"/>
            </c:ext>
          </c:extLst>
        </c:ser>
        <c:ser>
          <c:idx val="1"/>
          <c:order val="11"/>
          <c:tx>
            <c:strRef>
              <c:f>Sheet1!$E$15</c:f>
              <c:strCache>
                <c:ptCount val="1"/>
                <c:pt idx="0">
                  <c:v>10th Negative Bar</c:v>
                </c:pt>
              </c:strCache>
            </c:strRef>
          </c:tx>
          <c:spPr>
            <a:noFill/>
          </c:spPr>
          <c:invertIfNegative val="0"/>
          <c:cat>
            <c:multiLvlStrRef>
              <c:f>Sheet1!$A$4:$A$7</c:f>
            </c:multiLvlStrRef>
          </c:cat>
          <c:val>
            <c:numRef>
              <c:f>Sheet1!$E$16:$E$19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9601-47CB-81A1-CA56B6FA0C70}"/>
            </c:ext>
          </c:extLst>
        </c:ser>
        <c:ser>
          <c:idx val="15"/>
          <c:order val="14"/>
          <c:tx>
            <c:strRef>
              <c:f>Sheet1!$M$15</c:f>
              <c:strCache>
                <c:ptCount val="1"/>
                <c:pt idx="0">
                  <c:v>Benchmarks Omitted Bar</c:v>
                </c:pt>
              </c:strCache>
            </c:strRef>
          </c:tx>
          <c:spPr>
            <a:noFill/>
          </c:spPr>
          <c:invertIfNegative val="0"/>
          <c:cat>
            <c:multiLvlStrRef>
              <c:f>Sheet1!$A$4:$A$7</c:f>
            </c:multiLvlStrRef>
          </c:cat>
          <c:val>
            <c:numRef>
              <c:f>Sheet1!$M$16:$M$19</c:f>
              <c:numCache>
                <c:formatCode>General</c:formatCode>
                <c:ptCount val="4"/>
                <c:pt idx="0">
                  <c:v>0</c:v>
                </c:pt>
                <c:pt idx="1">
                  <c:v>0</c:v>
                </c:pt>
                <c:pt idx="2">
                  <c:v>0</c:v>
                </c:pt>
                <c:pt idx="3" formatCode="&quot;$&quot;#,##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9601-47CB-81A1-CA56B6FA0C70}"/>
            </c:ext>
          </c:extLst>
        </c:ser>
        <c:dLbls>
          <c:showLegendKey val="0"/>
          <c:showVal val="0"/>
          <c:showCatName val="0"/>
          <c:showSerName val="0"/>
          <c:showPercent val="0"/>
          <c:showBubbleSize val="0"/>
        </c:dLbls>
        <c:gapWidth val="0"/>
        <c:overlap val="100"/>
        <c:axId val="1154865663"/>
        <c:axId val="1"/>
      </c:barChart>
      <c:scatterChart>
        <c:scatterStyle val="lineMarker"/>
        <c:varyColors val="0"/>
        <c:ser>
          <c:idx val="8"/>
          <c:order val="5"/>
          <c:tx>
            <c:strRef>
              <c:f>Sheet1!$B$9</c:f>
              <c:strCache>
                <c:ptCount val="1"/>
                <c:pt idx="0">
                  <c:v>Target Maturity</c:v>
                </c:pt>
              </c:strCache>
            </c:strRef>
          </c:tx>
          <c:marker>
            <c:symbol val="none"/>
          </c:marker>
          <c:dLbls>
            <c:dLbl>
              <c:idx val="0"/>
              <c:spPr>
                <a:solidFill>
                  <a:srgbClr val="1F96FF"/>
                </a:solidFill>
                <a:ln>
                  <a:noFill/>
                </a:ln>
                <a:effectLst/>
              </c:spPr>
              <c:txPr>
                <a:bodyPr wrap="square" lIns="38100" tIns="19050" rIns="38100" bIns="19050" anchor="ctr">
                  <a:spAutoFit/>
                </a:bodyPr>
                <a:lstStyle/>
                <a:p>
                  <a:pPr>
                    <a:defRPr sz="1100" smtId="4294967295">
                      <a:solidFill>
                        <a:srgbClr val="FFFFFF"/>
                      </a:solidFill>
                      <a:latin typeface="Roboto Medium" panose="02000000000000000000" pitchFamily="2" charset="0"/>
                      <a:ea typeface="Roboto Medium"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9601-47CB-81A1-CA56B6FA0C70}"/>
                </c:ext>
              </c:extLst>
            </c:dLbl>
            <c:spPr>
              <a:solidFill>
                <a:srgbClr val="1F96FF"/>
              </a:solidFill>
              <a:ln>
                <a:noFill/>
              </a:ln>
              <a:effectLst/>
            </c:spPr>
            <c:txPr>
              <a:bodyPr wrap="square" lIns="38100" tIns="19050" rIns="38100" bIns="19050" anchor="ctr">
                <a:spAutoFit/>
              </a:bodyPr>
              <a:lstStyle/>
              <a:p>
                <a:pPr>
                  <a:defRPr sz="1100" smtId="4294967295">
                    <a:solidFill>
                      <a:srgbClr val="FFFFFF"/>
                    </a:solidFill>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40"/>
            <c:spPr>
              <a:ln w="25400">
                <a:solidFill>
                  <a:srgbClr val="1F96FF"/>
                </a:solidFill>
              </a:ln>
            </c:spPr>
          </c:errBars>
          <c:xVal>
            <c:numRef>
              <c:f>Sheet1!$D$9</c:f>
              <c:numCache>
                <c:formatCode>0.0</c:formatCode>
                <c:ptCount val="1"/>
                <c:pt idx="0">
                  <c:v>3</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9601-47CB-81A1-CA56B6FA0C70}"/>
            </c:ext>
          </c:extLst>
        </c:ser>
        <c:ser>
          <c:idx val="11"/>
          <c:order val="6"/>
          <c:tx>
            <c:strRef>
              <c:f>Sheet1!$B$11</c:f>
              <c:strCache>
                <c:ptCount val="1"/>
                <c:pt idx="0">
                  <c:v>Maximum</c:v>
                </c:pt>
              </c:strCache>
            </c:strRef>
          </c:tx>
          <c:marker>
            <c:symbol val="none"/>
          </c:marker>
          <c:xVal>
            <c:numRef>
              <c:f>Sheet1!$D$11</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9601-47CB-81A1-CA56B6FA0C70}"/>
            </c:ext>
          </c:extLst>
        </c:ser>
        <c:ser>
          <c:idx val="9"/>
          <c:order val="7"/>
          <c:tx>
            <c:strRef>
              <c:f>Sheet1!$B$8</c:f>
              <c:strCache>
                <c:ptCount val="1"/>
                <c:pt idx="0">
                  <c:v>Client</c:v>
                </c:pt>
              </c:strCache>
            </c:strRef>
          </c:tx>
          <c:marker>
            <c:symbol val="none"/>
          </c:marker>
          <c:xVal>
            <c:numRef>
              <c:f>Sheet1!$D$8</c:f>
              <c:numCache>
                <c:formatCode>0.00</c:formatCode>
                <c:ptCount val="1"/>
                <c:pt idx="0">
                  <c:v>0</c:v>
                </c:pt>
              </c:numCache>
            </c:numRef>
          </c:xVal>
          <c:yVal>
            <c:numRef>
              <c:f>Sheet1!$D$14</c:f>
              <c:numCache>
                <c:formatCode>_(* #,##0_);_(* \(#,##0\);_(* "-"??_);_(@_)</c:formatCode>
                <c:ptCount val="1"/>
                <c:pt idx="0">
                  <c:v>3</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9601-47CB-81A1-CA56B6FA0C70}"/>
            </c:ext>
          </c:extLst>
        </c:ser>
        <c:ser>
          <c:idx val="13"/>
          <c:order val="12"/>
          <c:tx>
            <c:v>25th Scatter Label</c:v>
          </c:tx>
          <c:marker>
            <c:symbol val="none"/>
          </c:marker>
          <c:xVal>
            <c:numRef>
              <c:f>Sheet1!$D$5</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9601-47CB-81A1-CA56B6FA0C70}"/>
            </c:ext>
          </c:extLst>
        </c:ser>
        <c:ser>
          <c:idx val="14"/>
          <c:order val="13"/>
          <c:tx>
            <c:v>75 Scatter Label</c:v>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9601-47CB-81A1-CA56B6FA0C70}"/>
              </c:ext>
            </c:extLst>
          </c:dPt>
          <c:xVal>
            <c:numRef>
              <c:f>Sheet1!$D$6</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9601-47CB-81A1-CA56B6FA0C70}"/>
            </c:ext>
          </c:extLst>
        </c:ser>
        <c:dLbls>
          <c:showLegendKey val="0"/>
          <c:showVal val="0"/>
          <c:showCatName val="0"/>
          <c:showSerName val="0"/>
          <c:showPercent val="0"/>
          <c:showBubbleSize val="0"/>
        </c:dLbls>
        <c:axId val="928322959"/>
        <c:axId val="928311311"/>
      </c:scatterChart>
      <c:catAx>
        <c:axId val="1154865663"/>
        <c:scaling>
          <c:orientation val="minMax"/>
        </c:scaling>
        <c:delete val="1"/>
        <c:axPos val="l"/>
        <c:numFmt formatCode="General" sourceLinked="1"/>
        <c:majorTickMark val="out"/>
        <c:minorTickMark val="none"/>
        <c:tickLblPos val="nextTo"/>
        <c:crossAx val="1"/>
        <c:crossesAt val="0"/>
        <c:auto val="0"/>
        <c:lblAlgn val="ctr"/>
        <c:lblOffset val="100"/>
        <c:noMultiLvlLbl val="1"/>
      </c:catAx>
      <c:valAx>
        <c:axId val="1"/>
        <c:scaling>
          <c:orientation val="minMax"/>
          <c:max val="5.0999999999999996"/>
          <c:min val="0"/>
        </c:scaling>
        <c:delete val="1"/>
        <c:axPos val="b"/>
        <c:numFmt formatCode="0.0" sourceLinked="0"/>
        <c:majorTickMark val="out"/>
        <c:minorTickMark val="none"/>
        <c:tickLblPos val="nextTo"/>
        <c:crossAx val="1154865663"/>
        <c:crossesAt val="1"/>
        <c:crossBetween val="between"/>
        <c:majorUnit val="1"/>
      </c:valAx>
      <c:valAx>
        <c:axId val="928322959"/>
        <c:scaling>
          <c:orientation val="minMax"/>
          <c:max val="1.6000000000000003E-3"/>
        </c:scaling>
        <c:delete val="1"/>
        <c:axPos val="b"/>
        <c:numFmt formatCode="0.0" sourceLinked="1"/>
        <c:majorTickMark val="out"/>
        <c:minorTickMark val="none"/>
        <c:tickLblPos val="nextTo"/>
        <c:crossAx val="928311311"/>
        <c:crosses val="autoZero"/>
        <c:crossBetween val="midCat"/>
      </c:valAx>
      <c:valAx>
        <c:axId val="928311311"/>
        <c:scaling>
          <c:orientation val="minMax"/>
          <c:max val="3"/>
          <c:min val="1"/>
        </c:scaling>
        <c:delete val="1"/>
        <c:axPos val="l"/>
        <c:numFmt formatCode="_(* #,##0_);_(* \(#,##0\);_(* &quot;-&quot;??_);_(@_)" sourceLinked="0"/>
        <c:majorTickMark val="out"/>
        <c:minorTickMark val="none"/>
        <c:tickLblPos val="nextTo"/>
        <c:crossAx val="928322959"/>
        <c:crosses val="autoZero"/>
        <c:crossBetween val="midCat"/>
        <c:majorUnit val="1"/>
        <c:minorUnit val="1"/>
      </c:valAx>
      <c:spPr>
        <a:noFill/>
        <a:ln>
          <a:noFill/>
        </a:ln>
      </c:spPr>
    </c:plotArea>
    <c:plotVisOnly val="1"/>
    <c:dispBlanksAs val="gap"/>
    <c:showDLblsOverMax val="0"/>
  </c:chart>
  <c:spPr>
    <a:noFill/>
    <a:ln>
      <a:noFill/>
    </a:ln>
  </c:spPr>
  <c:externalData r:id="rId2">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657136380672455E-2"/>
          <c:y val="3.0699737370014191E-2"/>
          <c:w val="0.95532488822937012"/>
          <c:h val="0.95688581466674805"/>
        </c:manualLayout>
      </c:layout>
      <c:barChart>
        <c:barDir val="bar"/>
        <c:grouping val="stacked"/>
        <c:varyColors val="0"/>
        <c:ser>
          <c:idx val="0"/>
          <c:order val="0"/>
          <c:tx>
            <c:strRef>
              <c:f>Sheet1!$D$15</c:f>
              <c:strCache>
                <c:ptCount val="1"/>
                <c:pt idx="0">
                  <c:v>Current Maturity</c:v>
                </c:pt>
              </c:strCache>
            </c:strRef>
          </c:tx>
          <c:spPr>
            <a:solidFill>
              <a:srgbClr val="002856"/>
            </a:solidFill>
            <a:ln>
              <a:solidFill>
                <a:srgbClr val="002856"/>
              </a:solidFill>
              <a:miter lim="800000"/>
            </a:ln>
          </c:spPr>
          <c:invertIfNegative val="0"/>
          <c:dLbls>
            <c:dLbl>
              <c:idx val="0"/>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9178-4401-BD6F-AD0A082168E4}"/>
                </c:ext>
              </c:extLst>
            </c:dLbl>
            <c:dLbl>
              <c:idx val="1"/>
              <c:spPr/>
              <c:txPr>
                <a:bodyPr wrap="square" lIns="38100" tIns="19050" rIns="38100" bIns="19050" anchor="ctr">
                  <a:spAutoFit/>
                </a:bodyPr>
                <a:lstStyle/>
                <a:p>
                  <a:pPr>
                    <a:defRPr sz="1100" smtId="4294967295">
                      <a:solidFill>
                        <a:schemeClr val="bg1"/>
                      </a:solidFill>
                    </a:defRPr>
                  </a:pPr>
                  <a:endParaRPr lang="en-US"/>
                </a:p>
              </c:txPr>
              <c:dLblPos val="in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9178-4401-BD6F-AD0A082168E4}"/>
                </c:ext>
              </c:extLst>
            </c:dLbl>
            <c:dLbl>
              <c:idx val="2"/>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9178-4401-BD6F-AD0A082168E4}"/>
                </c:ext>
              </c:extLst>
            </c:dLbl>
            <c:dLbl>
              <c:idx val="3"/>
              <c:delete val="1"/>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9178-4401-BD6F-AD0A082168E4}"/>
                </c:ext>
              </c:extLst>
            </c:dLbl>
            <c:spPr>
              <a:noFill/>
              <a:ln>
                <a:noFill/>
              </a:ln>
              <a:effectLst/>
            </c:spPr>
            <c:txPr>
              <a:bodyPr wrap="square" lIns="38100" tIns="19050" rIns="38100" bIns="19050" anchor="ctr">
                <a:spAutoFit/>
              </a:bodyPr>
              <a:lstStyle/>
              <a:p>
                <a:pPr>
                  <a:defRPr sz="1100" smtId="4294967295">
                    <a:solidFill>
                      <a:schemeClr val="bg1"/>
                    </a:solidFill>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ext>
            </c:extLst>
          </c:dLbls>
          <c:cat>
            <c:multiLvlStrRef>
              <c:f>Sheet1!$A$4:$A$7</c:f>
            </c:multiLvlStrRef>
          </c:cat>
          <c:val>
            <c:numRef>
              <c:f>Sheet1!$D$16:$D$19</c:f>
              <c:numCache>
                <c:formatCode>0.0</c:formatCode>
                <c:ptCount val="4"/>
                <c:pt idx="0" formatCode="0.00">
                  <c:v>0</c:v>
                </c:pt>
                <c:pt idx="1">
                  <c:v>2</c:v>
                </c:pt>
                <c:pt idx="2">
                  <c:v>0</c:v>
                </c:pt>
                <c:pt idx="3" formatCode="0.0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4-9178-4401-BD6F-AD0A082168E4}"/>
            </c:ext>
          </c:extLst>
        </c:ser>
        <c:ser>
          <c:idx val="10"/>
          <c:order val="1"/>
          <c:tx>
            <c:strRef>
              <c:f>Sheet1!$F$15</c:f>
              <c:strCache>
                <c:ptCount val="1"/>
                <c:pt idx="0">
                  <c:v>10th Positive Bar</c:v>
                </c:pt>
              </c:strCache>
            </c:strRef>
          </c:tx>
          <c:spPr>
            <a:noFill/>
            <a:ln>
              <a:noFill/>
            </a:ln>
          </c:spPr>
          <c:invertIfNegative val="0"/>
          <c:cat>
            <c:multiLvlStrRef>
              <c:f>Sheet1!$A$4:$A$7</c:f>
            </c:multiLvlStrRef>
          </c:cat>
          <c:val>
            <c:numRef>
              <c:f>Sheet1!$F$16:$F$19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5-9178-4401-BD6F-AD0A082168E4}"/>
            </c:ext>
          </c:extLst>
        </c:ser>
        <c:ser>
          <c:idx val="3"/>
          <c:order val="2"/>
          <c:tx>
            <c:strRef>
              <c:f>Sheet1!$H$15</c:f>
              <c:strCache>
                <c:ptCount val="1"/>
                <c:pt idx="0">
                  <c:v>25th Positive Bar</c:v>
                </c:pt>
              </c:strCache>
            </c:strRef>
          </c:tx>
          <c:spPr>
            <a:noFill/>
          </c:spPr>
          <c:invertIfNegative val="0"/>
          <c:cat>
            <c:multiLvlStrRef>
              <c:f>Sheet1!$A$4:$A$7</c:f>
            </c:multiLvlStrRef>
          </c:cat>
          <c:val>
            <c:numRef>
              <c:f>Sheet1!$H$16:$H$19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6-9178-4401-BD6F-AD0A082168E4}"/>
            </c:ext>
          </c:extLst>
        </c:ser>
        <c:ser>
          <c:idx val="5"/>
          <c:order val="3"/>
          <c:tx>
            <c:strRef>
              <c:f>Sheet1!$J$15</c:f>
              <c:strCache>
                <c:ptCount val="1"/>
                <c:pt idx="0">
                  <c:v>75th Positive Bar</c:v>
                </c:pt>
              </c:strCache>
            </c:strRef>
          </c:tx>
          <c:spPr>
            <a:solidFill>
              <a:srgbClr val="BFBFBF"/>
            </a:solidFill>
            <a:ln>
              <a:solidFill>
                <a:srgbClr val="BFBFBF"/>
              </a:solidFill>
            </a:ln>
          </c:spPr>
          <c:invertIfNegative val="0"/>
          <c:cat>
            <c:multiLvlStrRef>
              <c:f>Sheet1!$A$4:$A$7</c:f>
            </c:multiLvlStrRef>
          </c:cat>
          <c:val>
            <c:numRef>
              <c:f>Sheet1!$J$16:$J$19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7-9178-4401-BD6F-AD0A082168E4}"/>
            </c:ext>
          </c:extLst>
        </c:ser>
        <c:ser>
          <c:idx val="7"/>
          <c:order val="4"/>
          <c:tx>
            <c:strRef>
              <c:f>Sheet1!$L$15</c:f>
              <c:strCache>
                <c:ptCount val="1"/>
                <c:pt idx="0">
                  <c:v>90th Positive Bar</c:v>
                </c:pt>
              </c:strCache>
            </c:strRef>
          </c:tx>
          <c:spPr>
            <a:noFill/>
          </c:spPr>
          <c:invertIfNegative val="0"/>
          <c:cat>
            <c:multiLvlStrRef>
              <c:f>Sheet1!$A$4:$A$7</c:f>
            </c:multiLvlStrRef>
          </c:cat>
          <c:val>
            <c:numRef>
              <c:f>Sheet1!$L$16:$L$19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8-9178-4401-BD6F-AD0A082168E4}"/>
            </c:ext>
          </c:extLst>
        </c:ser>
        <c:ser>
          <c:idx val="6"/>
          <c:order val="8"/>
          <c:tx>
            <c:strRef>
              <c:f>Sheet1!$K$15</c:f>
              <c:strCache>
                <c:ptCount val="1"/>
                <c:pt idx="0">
                  <c:v>90th Negative Bar</c:v>
                </c:pt>
              </c:strCache>
            </c:strRef>
          </c:tx>
          <c:spPr>
            <a:noFill/>
          </c:spPr>
          <c:invertIfNegative val="0"/>
          <c:cat>
            <c:multiLvlStrRef>
              <c:f>Sheet1!$A$4:$A$7</c:f>
            </c:multiLvlStrRef>
          </c:cat>
          <c:val>
            <c:numRef>
              <c:f>Sheet1!$K$16:$K$19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9-9178-4401-BD6F-AD0A082168E4}"/>
            </c:ext>
          </c:extLst>
        </c:ser>
        <c:ser>
          <c:idx val="4"/>
          <c:order val="9"/>
          <c:tx>
            <c:strRef>
              <c:f>Sheet1!$I$15</c:f>
              <c:strCache>
                <c:ptCount val="1"/>
                <c:pt idx="0">
                  <c:v>75th Negative Bar</c:v>
                </c:pt>
              </c:strCache>
            </c:strRef>
          </c:tx>
          <c:spPr>
            <a:noFill/>
          </c:spPr>
          <c:invertIfNegative val="0"/>
          <c:cat>
            <c:multiLvlStrRef>
              <c:f>Sheet1!$A$4:$A$7</c:f>
            </c:multiLvlStrRef>
          </c:cat>
          <c:val>
            <c:numRef>
              <c:f>Sheet1!$I$16:$I$19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A-9178-4401-BD6F-AD0A082168E4}"/>
            </c:ext>
          </c:extLst>
        </c:ser>
        <c:ser>
          <c:idx val="2"/>
          <c:order val="10"/>
          <c:tx>
            <c:strRef>
              <c:f>Sheet1!$G$15</c:f>
              <c:strCache>
                <c:ptCount val="1"/>
                <c:pt idx="0">
                  <c:v>25th Negative Bar</c:v>
                </c:pt>
              </c:strCache>
            </c:strRef>
          </c:tx>
          <c:spPr>
            <a:solidFill>
              <a:srgbClr val="BFBFBF"/>
            </a:solidFill>
            <a:ln>
              <a:solidFill>
                <a:srgbClr val="BFBFBF"/>
              </a:solidFill>
            </a:ln>
          </c:spPr>
          <c:invertIfNegative val="0"/>
          <c:cat>
            <c:multiLvlStrRef>
              <c:f>Sheet1!$A$4:$A$7</c:f>
            </c:multiLvlStrRef>
          </c:cat>
          <c:val>
            <c:numRef>
              <c:f>Sheet1!$G$16:$G$19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B-9178-4401-BD6F-AD0A082168E4}"/>
            </c:ext>
          </c:extLst>
        </c:ser>
        <c:ser>
          <c:idx val="1"/>
          <c:order val="11"/>
          <c:tx>
            <c:strRef>
              <c:f>Sheet1!$E$15</c:f>
              <c:strCache>
                <c:ptCount val="1"/>
                <c:pt idx="0">
                  <c:v>10th Negative Bar</c:v>
                </c:pt>
              </c:strCache>
            </c:strRef>
          </c:tx>
          <c:spPr>
            <a:noFill/>
          </c:spPr>
          <c:invertIfNegative val="0"/>
          <c:cat>
            <c:multiLvlStrRef>
              <c:f>Sheet1!$A$4:$A$7</c:f>
            </c:multiLvlStrRef>
          </c:cat>
          <c:val>
            <c:numRef>
              <c:f>Sheet1!$E$16:$E$19</c:f>
              <c:numCache>
                <c:formatCode>0.00</c:formatCode>
                <c:ptCount val="4"/>
                <c:pt idx="0">
                  <c:v>0</c:v>
                </c:pt>
                <c:pt idx="1">
                  <c:v>0</c:v>
                </c:pt>
                <c:pt idx="2">
                  <c:v>0</c:v>
                </c:pt>
                <c:pt idx="3">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C-9178-4401-BD6F-AD0A082168E4}"/>
            </c:ext>
          </c:extLst>
        </c:ser>
        <c:ser>
          <c:idx val="15"/>
          <c:order val="14"/>
          <c:tx>
            <c:strRef>
              <c:f>Sheet1!$M$15</c:f>
              <c:strCache>
                <c:ptCount val="1"/>
                <c:pt idx="0">
                  <c:v>Benchmarks Omitted Bar</c:v>
                </c:pt>
              </c:strCache>
            </c:strRef>
          </c:tx>
          <c:spPr>
            <a:noFill/>
          </c:spPr>
          <c:invertIfNegative val="0"/>
          <c:cat>
            <c:multiLvlStrRef>
              <c:f>Sheet1!$A$4:$A$7</c:f>
            </c:multiLvlStrRef>
          </c:cat>
          <c:val>
            <c:numRef>
              <c:f>Sheet1!$M$16:$M$19</c:f>
              <c:numCache>
                <c:formatCode>General</c:formatCode>
                <c:ptCount val="4"/>
                <c:pt idx="0">
                  <c:v>0</c:v>
                </c:pt>
                <c:pt idx="1">
                  <c:v>0</c:v>
                </c:pt>
                <c:pt idx="2">
                  <c:v>0</c:v>
                </c:pt>
                <c:pt idx="3" formatCode="&quot;$&quot;#,##0">
                  <c:v>0</c:v>
                </c:pt>
              </c:numCache>
            </c:numRef>
          </c:val>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D-9178-4401-BD6F-AD0A082168E4}"/>
            </c:ext>
          </c:extLst>
        </c:ser>
        <c:dLbls>
          <c:showLegendKey val="0"/>
          <c:showVal val="0"/>
          <c:showCatName val="0"/>
          <c:showSerName val="0"/>
          <c:showPercent val="0"/>
          <c:showBubbleSize val="0"/>
        </c:dLbls>
        <c:gapWidth val="0"/>
        <c:overlap val="100"/>
        <c:axId val="1154865663"/>
        <c:axId val="1"/>
      </c:barChart>
      <c:scatterChart>
        <c:scatterStyle val="lineMarker"/>
        <c:varyColors val="0"/>
        <c:ser>
          <c:idx val="8"/>
          <c:order val="5"/>
          <c:tx>
            <c:strRef>
              <c:f>Sheet1!$B$9</c:f>
              <c:strCache>
                <c:ptCount val="1"/>
                <c:pt idx="0">
                  <c:v>Target Maturity</c:v>
                </c:pt>
              </c:strCache>
            </c:strRef>
          </c:tx>
          <c:marker>
            <c:symbol val="none"/>
          </c:marker>
          <c:dLbls>
            <c:dLbl>
              <c:idx val="0"/>
              <c:spPr>
                <a:solidFill>
                  <a:srgbClr val="1F96FF"/>
                </a:solidFill>
                <a:ln>
                  <a:noFill/>
                </a:ln>
                <a:effectLst/>
              </c:spPr>
              <c:txPr>
                <a:bodyPr wrap="square" lIns="38100" tIns="19050" rIns="38100" bIns="19050" anchor="ctr">
                  <a:spAutoFit/>
                </a:bodyPr>
                <a:lstStyle/>
                <a:p>
                  <a:pPr>
                    <a:defRPr sz="1100" smtId="4294967295">
                      <a:solidFill>
                        <a:srgbClr val="FFFFFF"/>
                      </a:solidFill>
                      <a:latin typeface="Roboto Medium" panose="02000000000000000000" pitchFamily="2" charset="0"/>
                      <a:ea typeface="Roboto Medium" panose="02000000000000000000" pitchFamily="2" charset="0"/>
                    </a:defRPr>
                  </a:pPr>
                  <a:endParaRPr lang="en-US"/>
                </a:p>
              </c:txPr>
              <c:dLblPos val="ctr"/>
              <c:showLegendKey val="0"/>
              <c:showVal val="0"/>
              <c:showCatName val="1"/>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E-9178-4401-BD6F-AD0A082168E4}"/>
                </c:ext>
              </c:extLst>
            </c:dLbl>
            <c:spPr>
              <a:solidFill>
                <a:srgbClr val="1F96FF"/>
              </a:solidFill>
              <a:ln>
                <a:noFill/>
              </a:ln>
              <a:effectLst/>
            </c:spPr>
            <c:txPr>
              <a:bodyPr wrap="square" lIns="38100" tIns="19050" rIns="38100" bIns="19050" anchor="ctr">
                <a:spAutoFit/>
              </a:bodyPr>
              <a:lstStyle/>
              <a:p>
                <a:pPr>
                  <a:defRPr sz="1100" smtId="4294967295">
                    <a:solidFill>
                      <a:srgbClr val="FFFFFF"/>
                    </a:solidFill>
                  </a:defRPr>
                </a:pPr>
                <a:endParaRPr lang="en-US"/>
              </a:p>
            </c:txPr>
            <c:dLblPos val="ctr"/>
            <c:showLegendKey val="0"/>
            <c:showVal val="0"/>
            <c:showCatName val="1"/>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errBars>
            <c:errDir val="y"/>
            <c:errBarType val="minus"/>
            <c:errValType val="percentage"/>
            <c:noEndCap val="1"/>
            <c:val val="40"/>
            <c:spPr>
              <a:ln w="25400">
                <a:solidFill>
                  <a:srgbClr val="1F96FF"/>
                </a:solidFill>
              </a:ln>
            </c:spPr>
          </c:errBars>
          <c:xVal>
            <c:numRef>
              <c:f>Sheet1!$D$9</c:f>
              <c:numCache>
                <c:formatCode>0.0</c:formatCode>
                <c:ptCount val="1"/>
                <c:pt idx="0">
                  <c:v>5</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0F-9178-4401-BD6F-AD0A082168E4}"/>
            </c:ext>
          </c:extLst>
        </c:ser>
        <c:ser>
          <c:idx val="11"/>
          <c:order val="6"/>
          <c:tx>
            <c:strRef>
              <c:f>Sheet1!$B$11</c:f>
              <c:strCache>
                <c:ptCount val="1"/>
                <c:pt idx="0">
                  <c:v>Maximum</c:v>
                </c:pt>
              </c:strCache>
            </c:strRef>
          </c:tx>
          <c:marker>
            <c:symbol val="none"/>
          </c:marker>
          <c:xVal>
            <c:numRef>
              <c:f>Sheet1!$D$11</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0-9178-4401-BD6F-AD0A082168E4}"/>
            </c:ext>
          </c:extLst>
        </c:ser>
        <c:ser>
          <c:idx val="9"/>
          <c:order val="7"/>
          <c:tx>
            <c:strRef>
              <c:f>Sheet1!$B$8</c:f>
              <c:strCache>
                <c:ptCount val="1"/>
                <c:pt idx="0">
                  <c:v>Client</c:v>
                </c:pt>
              </c:strCache>
            </c:strRef>
          </c:tx>
          <c:marker>
            <c:symbol val="none"/>
          </c:marker>
          <c:xVal>
            <c:numRef>
              <c:f>Sheet1!$D$8</c:f>
              <c:numCache>
                <c:formatCode>0.00</c:formatCode>
                <c:ptCount val="1"/>
                <c:pt idx="0">
                  <c:v>0</c:v>
                </c:pt>
              </c:numCache>
            </c:numRef>
          </c:xVal>
          <c:yVal>
            <c:numRef>
              <c:f>Sheet1!$D$14</c:f>
              <c:numCache>
                <c:formatCode>_(* #,##0_);_(* \(#,##0\);_(* "-"??_);_(@_)</c:formatCode>
                <c:ptCount val="1"/>
                <c:pt idx="0">
                  <c:v>3</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1-9178-4401-BD6F-AD0A082168E4}"/>
            </c:ext>
          </c:extLst>
        </c:ser>
        <c:ser>
          <c:idx val="13"/>
          <c:order val="12"/>
          <c:tx>
            <c:v>25th Scatter Label</c:v>
          </c:tx>
          <c:marker>
            <c:symbol val="none"/>
          </c:marker>
          <c:xVal>
            <c:numRef>
              <c:f>Sheet1!$D$5</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2-9178-4401-BD6F-AD0A082168E4}"/>
            </c:ext>
          </c:extLst>
        </c:ser>
        <c:ser>
          <c:idx val="14"/>
          <c:order val="13"/>
          <c:tx>
            <c:v>75 Scatter Label</c:v>
          </c:tx>
          <c:marker>
            <c:symbol val="none"/>
          </c:marker>
          <c:dPt>
            <c:idx val="0"/>
            <c:bubble3D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3-9178-4401-BD6F-AD0A082168E4}"/>
              </c:ext>
            </c:extLst>
          </c:dPt>
          <c:xVal>
            <c:numRef>
              <c:f>Sheet1!$D$6</c:f>
              <c:numCache>
                <c:formatCode>0.00</c:formatCode>
                <c:ptCount val="1"/>
                <c:pt idx="0">
                  <c:v>0</c:v>
                </c:pt>
              </c:numCache>
            </c:numRef>
          </c:xVal>
          <c:yVal>
            <c:numRef>
              <c:f>Sheet1!$D$13</c:f>
              <c:numCache>
                <c:formatCode>_(* #,##0_);_(* \(#,##0\);_(* "-"??_);_(@_)</c:formatCode>
                <c:ptCount val="1"/>
                <c:pt idx="0">
                  <c:v>2.27</c:v>
                </c:pt>
              </c:numCache>
            </c:numRef>
          </c:yVal>
          <c:smooth val="0"/>
          <c:extLst xmlns:a14="http://schemas.microsoft.com/office/drawing/2010/main" xmlns:wp="http://schemas.openxmlformats.org/drawingml/2006/wordprocessingDrawing" xmlns:w="http://schemas.openxmlformats.org/wordprocessingml/2006/main" xmlns:m="http://schemas.openxmlformats.org/officeDocument/2006/math">
            <c:ext xmlns:c16="http://schemas.microsoft.com/office/drawing/2014/chart" uri="{C3380CC4-5D6E-409C-BE32-E72D297353CC}">
              <c16:uniqueId val="{00000014-9178-4401-BD6F-AD0A082168E4}"/>
            </c:ext>
          </c:extLst>
        </c:ser>
        <c:dLbls>
          <c:showLegendKey val="0"/>
          <c:showVal val="0"/>
          <c:showCatName val="0"/>
          <c:showSerName val="0"/>
          <c:showPercent val="0"/>
          <c:showBubbleSize val="0"/>
        </c:dLbls>
        <c:axId val="928322959"/>
        <c:axId val="928311311"/>
      </c:scatterChart>
      <c:catAx>
        <c:axId val="1154865663"/>
        <c:scaling>
          <c:orientation val="minMax"/>
        </c:scaling>
        <c:delete val="1"/>
        <c:axPos val="l"/>
        <c:numFmt formatCode="General" sourceLinked="1"/>
        <c:majorTickMark val="out"/>
        <c:minorTickMark val="none"/>
        <c:tickLblPos val="nextTo"/>
        <c:crossAx val="1"/>
        <c:crossesAt val="0"/>
        <c:auto val="0"/>
        <c:lblAlgn val="ctr"/>
        <c:lblOffset val="100"/>
        <c:noMultiLvlLbl val="1"/>
      </c:catAx>
      <c:valAx>
        <c:axId val="1"/>
        <c:scaling>
          <c:orientation val="minMax"/>
          <c:max val="5.0999999999999996"/>
          <c:min val="0"/>
        </c:scaling>
        <c:delete val="1"/>
        <c:axPos val="b"/>
        <c:numFmt formatCode="0.0" sourceLinked="0"/>
        <c:majorTickMark val="out"/>
        <c:minorTickMark val="none"/>
        <c:tickLblPos val="nextTo"/>
        <c:crossAx val="1154865663"/>
        <c:crossesAt val="1"/>
        <c:crossBetween val="between"/>
        <c:majorUnit val="1"/>
      </c:valAx>
      <c:valAx>
        <c:axId val="928322959"/>
        <c:scaling>
          <c:orientation val="minMax"/>
          <c:max val="1.6000000000000003E-3"/>
        </c:scaling>
        <c:delete val="1"/>
        <c:axPos val="b"/>
        <c:numFmt formatCode="0.0" sourceLinked="1"/>
        <c:majorTickMark val="out"/>
        <c:minorTickMark val="none"/>
        <c:tickLblPos val="nextTo"/>
        <c:crossAx val="928311311"/>
        <c:crosses val="autoZero"/>
        <c:crossBetween val="midCat"/>
      </c:valAx>
      <c:valAx>
        <c:axId val="928311311"/>
        <c:scaling>
          <c:orientation val="minMax"/>
          <c:max val="3"/>
          <c:min val="1"/>
        </c:scaling>
        <c:delete val="1"/>
        <c:axPos val="l"/>
        <c:numFmt formatCode="_(* #,##0_);_(* \(#,##0\);_(* &quot;-&quot;??_);_(@_)" sourceLinked="0"/>
        <c:majorTickMark val="out"/>
        <c:minorTickMark val="none"/>
        <c:tickLblPos val="nextTo"/>
        <c:crossAx val="928322959"/>
        <c:crosses val="autoZero"/>
        <c:crossBetween val="midCat"/>
        <c:majorUnit val="1"/>
        <c:minorUnit val="1"/>
      </c:valAx>
      <c:spPr>
        <a:noFill/>
        <a:ln>
          <a:noFill/>
        </a:ln>
      </c:spPr>
    </c:plotArea>
    <c:plotVisOnly val="1"/>
    <c:dispBlanksAs val="gap"/>
    <c:showDLblsOverMax val="0"/>
  </c:chart>
  <c:spPr>
    <a:noFill/>
    <a:ln>
      <a:noFill/>
    </a:ln>
  </c:spPr>
  <c:externalData r:id="rId2">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0.5939</cdr:x>
      <cdr:y>0.95286</cdr:y>
    </cdr:from>
    <cdr:to>
      <cdr:x>0.6118</cdr:x>
      <cdr:y>1</cdr:y>
    </cdr:to>
    <cdr:sp macro="" textlink="">
      <cdr:nvSpPr>
        <cdr:cNvPr id="2" name="Rectangle 5">
          <a:extLst xmlns:a="http://schemas.openxmlformats.org/drawingml/2006/main">
            <a:ext uri="{FF2B5EF4-FFF2-40B4-BE49-F238E27FC236}">
              <a16:creationId xmlns:a16="http://schemas.microsoft.com/office/drawing/2014/main" id="{0A606CF7-3721-B252-44E0-A787E875CE0E}"/>
            </a:ext>
          </a:extLst>
        </cdr:cNvPr>
        <cdr:cNvSpPr/>
      </cdr:nvSpPr>
      <cdr:spPr>
        <a:xfrm xmlns:a="http://schemas.openxmlformats.org/drawingml/2006/main">
          <a:off x="6791249" y="4665426"/>
          <a:ext cx="204686" cy="230808"/>
        </a:xfrm>
        <a:prstGeom xmlns:a="http://schemas.openxmlformats.org/drawingml/2006/main" prst="rect">
          <a:avLst/>
        </a:prstGeom>
        <a:solidFill xmlns:a="http://schemas.openxmlformats.org/drawingml/2006/main">
          <a:srgbClr val="1F96FF"/>
        </a:solidFill>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xmlns:a="http://schemas.openxmlformats.org/drawingml/2006/main">
          <a:pPr algn="ctr"/>
          <a:endParaRPr lang="en-US">
            <a:solidFill>
              <a:schemeClr val="bg1"/>
            </a:solidFill>
          </a:endParaRPr>
        </a:p>
      </cdr:txBody>
    </cdr:sp>
  </cdr:relSizeAnchor>
  <cdr:relSizeAnchor xmlns:cdr="http://schemas.openxmlformats.org/drawingml/2006/chartDrawing">
    <cdr:from>
      <cdr:x>0.37882</cdr:x>
      <cdr:y>0.95286</cdr:y>
    </cdr:from>
    <cdr:to>
      <cdr:x>0.45438</cdr:x>
      <cdr:y>1</cdr:y>
    </cdr:to>
    <cdr:sp macro="" textlink="">
      <cdr:nvSpPr>
        <cdr:cNvPr id="3" name="TextBox 1">
          <a:extLst xmlns:a="http://schemas.openxmlformats.org/drawingml/2006/main">
            <a:ext uri="{FF2B5EF4-FFF2-40B4-BE49-F238E27FC236}">
              <a16:creationId xmlns:a16="http://schemas.microsoft.com/office/drawing/2014/main" id="{8E917036-B993-3F1E-984C-B9747235947E}"/>
            </a:ext>
          </a:extLst>
        </cdr:cNvPr>
        <cdr:cNvSpPr txBox="1"/>
      </cdr:nvSpPr>
      <cdr:spPr>
        <a:xfrm xmlns:a="http://schemas.openxmlformats.org/drawingml/2006/main">
          <a:off x="4331808" y="4665426"/>
          <a:ext cx="864029" cy="230808"/>
        </a:xfrm>
        <a:prstGeom xmlns:a="http://schemas.openxmlformats.org/drawingml/2006/main" prst="rect">
          <a:avLst/>
        </a:prstGeom>
        <a:noFill xmlns:a="http://schemas.openxmlformats.org/drawingml/2006/main"/>
      </cdr:spPr>
      <cdr:txBody>
        <a:bodyPr xmlns:a="http://schemas.openxmlformats.org/drawingml/2006/main" wrap="square" lIns="0" rIns="0" rtlCol="0">
          <a:spAutoFit/>
        </a:bodyPr>
        <a:lstStyle xmlns:a="http://schemas.openxmlformats.org/drawingml/2006/main">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xmlns:a="http://schemas.openxmlformats.org/drawingml/2006/main">
          <a:pPr>
            <a:spcBef>
              <a:spcPts val="600"/>
            </a:spcBef>
          </a:pPr>
          <a:r>
            <a:rPr lang="en-US" sz="900">
              <a:cs typeface="Arial" panose="020B0604020202020204" pitchFamily="34" charset="0"/>
            </a:rPr>
            <a:t>Current Maturity</a:t>
          </a:r>
        </a:p>
      </cdr:txBody>
    </cdr:sp>
  </cdr:relSizeAnchor>
  <cdr:relSizeAnchor xmlns:cdr="http://schemas.openxmlformats.org/drawingml/2006/chartDrawing">
    <cdr:from>
      <cdr:x>0.35249</cdr:x>
      <cdr:y>0.95286</cdr:y>
    </cdr:from>
    <cdr:to>
      <cdr:x>0.3704</cdr:x>
      <cdr:y>1</cdr:y>
    </cdr:to>
    <cdr:sp macro="" textlink="">
      <cdr:nvSpPr>
        <cdr:cNvPr id="4" name="Rectangle 2">
          <a:extLst xmlns:a="http://schemas.openxmlformats.org/drawingml/2006/main">
            <a:ext uri="{FF2B5EF4-FFF2-40B4-BE49-F238E27FC236}">
              <a16:creationId xmlns:a16="http://schemas.microsoft.com/office/drawing/2014/main" id="{34CB00E9-A066-9D80-8757-C0E5A167DA55}"/>
            </a:ext>
          </a:extLst>
        </cdr:cNvPr>
        <cdr:cNvSpPr/>
      </cdr:nvSpPr>
      <cdr:spPr>
        <a:xfrm xmlns:a="http://schemas.openxmlformats.org/drawingml/2006/main">
          <a:off x="4030725" y="4665426"/>
          <a:ext cx="204801" cy="230808"/>
        </a:xfrm>
        <a:prstGeom xmlns:a="http://schemas.openxmlformats.org/drawingml/2006/main" prst="rect">
          <a:avLst/>
        </a:prstGeom>
        <a:solidFill xmlns:a="http://schemas.openxmlformats.org/drawingml/2006/main">
          <a:srgbClr val="002856"/>
        </a:solidFill>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xmlns:a="http://schemas.openxmlformats.org/drawingml/2006/main">
          <a:pPr algn="ctr"/>
          <a:endParaRPr lang="en-US">
            <a:solidFill>
              <a:schemeClr val="bg1"/>
            </a:solidFill>
          </a:endParaRPr>
        </a:p>
      </cdr:txBody>
    </cdr:sp>
  </cdr:relSizeAnchor>
  <cdr:relSizeAnchor xmlns:cdr="http://schemas.openxmlformats.org/drawingml/2006/chartDrawing">
    <cdr:from>
      <cdr:x>0.62194</cdr:x>
      <cdr:y>0.95286</cdr:y>
    </cdr:from>
    <cdr:to>
      <cdr:x>0.69658</cdr:x>
      <cdr:y>1</cdr:y>
    </cdr:to>
    <cdr:sp macro="" textlink="">
      <cdr:nvSpPr>
        <cdr:cNvPr id="5" name="TextBox 5">
          <a:extLst xmlns:a="http://schemas.openxmlformats.org/drawingml/2006/main">
            <a:ext uri="{FF2B5EF4-FFF2-40B4-BE49-F238E27FC236}">
              <a16:creationId xmlns:a16="http://schemas.microsoft.com/office/drawing/2014/main" id="{73EEBB10-454A-2829-B5DF-7A5206085670}"/>
            </a:ext>
          </a:extLst>
        </cdr:cNvPr>
        <cdr:cNvSpPr txBox="1"/>
      </cdr:nvSpPr>
      <cdr:spPr>
        <a:xfrm xmlns:a="http://schemas.openxmlformats.org/drawingml/2006/main">
          <a:off x="7111886" y="4665426"/>
          <a:ext cx="853509" cy="230808"/>
        </a:xfrm>
        <a:prstGeom xmlns:a="http://schemas.openxmlformats.org/drawingml/2006/main" prst="rect">
          <a:avLst/>
        </a:prstGeom>
        <a:noFill xmlns:a="http://schemas.openxmlformats.org/drawingml/2006/main"/>
      </cdr:spPr>
      <cdr:txBody>
        <a:bodyPr xmlns:a="http://schemas.openxmlformats.org/drawingml/2006/main" wrap="square" lIns="0" rIns="0" rtlCol="0">
          <a:spAutoFit/>
        </a:bodyPr>
        <a:lstStyle xmlns:a="http://schemas.openxmlformats.org/drawingml/2006/main">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xmlns:a="http://schemas.openxmlformats.org/drawingml/2006/main">
          <a:pPr>
            <a:spcBef>
              <a:spcPts val="600"/>
            </a:spcBef>
          </a:pPr>
          <a:r>
            <a:rPr lang="en-US" sz="900">
              <a:cs typeface="Arial" panose="020B0604020202020204" pitchFamily="34" charset="0"/>
            </a:rPr>
            <a:t>Importance</a:t>
          </a:r>
        </a:p>
      </cdr:txBody>
    </cdr:sp>
  </cdr:relSizeAnchor>
  <cdr:relSizeAnchor xmlns:cdr="http://schemas.openxmlformats.org/drawingml/2006/chartDrawing">
    <cdr:from>
      <cdr:x>0.50073</cdr:x>
      <cdr:y>0.95286</cdr:y>
    </cdr:from>
    <cdr:to>
      <cdr:x>0.57537</cdr:x>
      <cdr:y>1</cdr:y>
    </cdr:to>
    <cdr:sp macro="" textlink="">
      <cdr:nvSpPr>
        <cdr:cNvPr id="6" name="TextBox 5">
          <a:extLst xmlns:a="http://schemas.openxmlformats.org/drawingml/2006/main">
            <a:ext uri="{FF2B5EF4-FFF2-40B4-BE49-F238E27FC236}">
              <a16:creationId xmlns:a16="http://schemas.microsoft.com/office/drawing/2014/main" id="{E9889560-A104-364E-8AB1-9A93BB74432C}"/>
            </a:ext>
          </a:extLst>
        </cdr:cNvPr>
        <cdr:cNvSpPr txBox="1"/>
      </cdr:nvSpPr>
      <cdr:spPr>
        <a:xfrm xmlns:a="http://schemas.openxmlformats.org/drawingml/2006/main">
          <a:off x="5725850" y="4665426"/>
          <a:ext cx="853509" cy="230808"/>
        </a:xfrm>
        <a:prstGeom xmlns:a="http://schemas.openxmlformats.org/drawingml/2006/main" prst="rect">
          <a:avLst/>
        </a:prstGeom>
        <a:noFill xmlns:a="http://schemas.openxmlformats.org/drawingml/2006/main"/>
      </cdr:spPr>
      <cdr:txBody>
        <a:bodyPr xmlns:a="http://schemas.openxmlformats.org/drawingml/2006/main" wrap="square" lIns="0" rIns="0" rtlCol="0">
          <a:spAutoFit/>
        </a:bodyPr>
        <a:lstStyle xmlns:a="http://schemas.openxmlformats.org/drawingml/2006/main">
          <a:defPPr>
            <a:defRPr lang="en-US"/>
          </a:defPPr>
          <a:lvl1pPr marL="0" indent="0" algn="l" defTabSz="457200" rtl="0" eaLnBrk="1" latinLnBrk="0" hangingPunct="1">
            <a:defRPr sz="1800" kern="1200">
              <a:solidFill>
                <a:schemeClr val="tx1"/>
              </a:solidFill>
              <a:latin typeface="+mn-lt"/>
              <a:ea typeface="+mn-ea"/>
              <a:cs typeface="+mn-cs"/>
            </a:defRPr>
          </a:lvl1pPr>
          <a:lvl2pPr marL="457200" indent="0" algn="l" defTabSz="457200" rtl="0" eaLnBrk="1" latinLnBrk="0" hangingPunct="1">
            <a:defRPr sz="1800" kern="1200">
              <a:solidFill>
                <a:schemeClr val="tx1"/>
              </a:solidFill>
              <a:latin typeface="+mn-lt"/>
              <a:ea typeface="+mn-ea"/>
              <a:cs typeface="+mn-cs"/>
            </a:defRPr>
          </a:lvl2pPr>
          <a:lvl3pPr marL="914400" indent="0" algn="l" defTabSz="457200" rtl="0" eaLnBrk="1" latinLnBrk="0" hangingPunct="1">
            <a:defRPr sz="1800" kern="1200">
              <a:solidFill>
                <a:schemeClr val="tx1"/>
              </a:solidFill>
              <a:latin typeface="+mn-lt"/>
              <a:ea typeface="+mn-ea"/>
              <a:cs typeface="+mn-cs"/>
            </a:defRPr>
          </a:lvl3pPr>
          <a:lvl4pPr marL="1371600" indent="0" algn="l" defTabSz="457200" rtl="0" eaLnBrk="1" latinLnBrk="0" hangingPunct="1">
            <a:defRPr sz="1800" kern="1200">
              <a:solidFill>
                <a:schemeClr val="tx1"/>
              </a:solidFill>
              <a:latin typeface="+mn-lt"/>
              <a:ea typeface="+mn-ea"/>
              <a:cs typeface="+mn-cs"/>
            </a:defRPr>
          </a:lvl4pPr>
          <a:lvl5pPr marL="1828800" indent="0" algn="l" defTabSz="457200" rtl="0" eaLnBrk="1" latinLnBrk="0" hangingPunct="1">
            <a:defRPr sz="1800" kern="1200">
              <a:solidFill>
                <a:schemeClr val="tx1"/>
              </a:solidFill>
              <a:latin typeface="+mn-lt"/>
              <a:ea typeface="+mn-ea"/>
              <a:cs typeface="+mn-cs"/>
            </a:defRPr>
          </a:lvl5pPr>
          <a:lvl6pPr marL="2286000" indent="0" algn="l" defTabSz="457200" rtl="0" eaLnBrk="1" latinLnBrk="0" hangingPunct="1">
            <a:defRPr sz="1800" kern="1200">
              <a:solidFill>
                <a:schemeClr val="tx1"/>
              </a:solidFill>
              <a:latin typeface="+mn-lt"/>
              <a:ea typeface="+mn-ea"/>
              <a:cs typeface="+mn-cs"/>
            </a:defRPr>
          </a:lvl6pPr>
          <a:lvl7pPr marL="2743200" indent="0" algn="l" defTabSz="457200" rtl="0" eaLnBrk="1" latinLnBrk="0" hangingPunct="1">
            <a:defRPr sz="1800" kern="1200">
              <a:solidFill>
                <a:schemeClr val="tx1"/>
              </a:solidFill>
              <a:latin typeface="+mn-lt"/>
              <a:ea typeface="+mn-ea"/>
              <a:cs typeface="+mn-cs"/>
            </a:defRPr>
          </a:lvl7pPr>
          <a:lvl8pPr marL="3200400" indent="0" algn="l" defTabSz="457200" rtl="0" eaLnBrk="1" latinLnBrk="0" hangingPunct="1">
            <a:defRPr sz="1800" kern="1200">
              <a:solidFill>
                <a:schemeClr val="tx1"/>
              </a:solidFill>
              <a:latin typeface="+mn-lt"/>
              <a:ea typeface="+mn-ea"/>
              <a:cs typeface="+mn-cs"/>
            </a:defRPr>
          </a:lvl8pPr>
          <a:lvl9pPr marL="3657600" indent="0" algn="l" defTabSz="457200" rtl="0" eaLnBrk="1" latinLnBrk="0" hangingPunct="1">
            <a:defRPr sz="1800" kern="1200">
              <a:solidFill>
                <a:schemeClr val="tx1"/>
              </a:solidFill>
              <a:latin typeface="+mn-lt"/>
              <a:ea typeface="+mn-ea"/>
              <a:cs typeface="+mn-cs"/>
            </a:defRPr>
          </a:lvl9pPr>
        </a:lstStyle>
        <a:p xmlns:a="http://schemas.openxmlformats.org/drawingml/2006/main">
          <a:pPr>
            <a:spcBef>
              <a:spcPts val="600"/>
            </a:spcBef>
          </a:pPr>
          <a:r>
            <a:rPr lang="en-US" sz="900">
              <a:cs typeface="Arial" panose="020B0604020202020204" pitchFamily="34" charset="0"/>
            </a:rPr>
            <a:t>Target Maturity</a:t>
          </a:r>
        </a:p>
      </cdr:txBody>
    </cdr:sp>
  </cdr:relSizeAnchor>
  <cdr:relSizeAnchor xmlns:cdr="http://schemas.openxmlformats.org/drawingml/2006/chartDrawing">
    <cdr:from>
      <cdr:x>0.47326</cdr:x>
      <cdr:y>0.95588</cdr:y>
    </cdr:from>
    <cdr:to>
      <cdr:x>0.49215</cdr:x>
      <cdr:y>1</cdr:y>
    </cdr:to>
    <cdr:sp macro="" textlink="">
      <cdr:nvSpPr>
        <cdr:cNvPr id="7" name="Diamond 3">
          <a:extLst xmlns:a="http://schemas.openxmlformats.org/drawingml/2006/main">
            <a:ext uri="{FF2B5EF4-FFF2-40B4-BE49-F238E27FC236}">
              <a16:creationId xmlns:a16="http://schemas.microsoft.com/office/drawing/2014/main" id="{A82E024B-22F4-8B55-CE63-2AF65C4F40DE}"/>
            </a:ext>
          </a:extLst>
        </cdr:cNvPr>
        <cdr:cNvSpPr/>
      </cdr:nvSpPr>
      <cdr:spPr>
        <a:xfrm xmlns:a="http://schemas.openxmlformats.org/drawingml/2006/main">
          <a:off x="5411730" y="4680212"/>
          <a:ext cx="216007" cy="216022"/>
        </a:xfrm>
        <a:prstGeom xmlns:a="http://schemas.openxmlformats.org/drawingml/2006/main" prst="diamond">
          <a:avLst/>
        </a:prstGeom>
        <a:solidFill xmlns:a="http://schemas.openxmlformats.org/drawingml/2006/main">
          <a:srgbClr val="FF540A"/>
        </a:solidFill>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defPPr>
            <a:defRPr lang="en-US"/>
          </a:defPPr>
          <a:lvl1pPr marL="0" indent="0" algn="l" defTabSz="457200" rtl="0" eaLnBrk="1" latinLnBrk="0" hangingPunct="1">
            <a:defRPr sz="1800" kern="1200">
              <a:solidFill>
                <a:schemeClr val="lt1"/>
              </a:solidFill>
              <a:latin typeface="+mn-lt"/>
              <a:ea typeface="+mn-ea"/>
              <a:cs typeface="+mn-cs"/>
            </a:defRPr>
          </a:lvl1pPr>
          <a:lvl2pPr marL="457200" indent="0" algn="l" defTabSz="457200" rtl="0" eaLnBrk="1" latinLnBrk="0" hangingPunct="1">
            <a:defRPr sz="1800" kern="1200">
              <a:solidFill>
                <a:schemeClr val="lt1"/>
              </a:solidFill>
              <a:latin typeface="+mn-lt"/>
              <a:ea typeface="+mn-ea"/>
              <a:cs typeface="+mn-cs"/>
            </a:defRPr>
          </a:lvl2pPr>
          <a:lvl3pPr marL="914400" indent="0" algn="l" defTabSz="457200" rtl="0" eaLnBrk="1" latinLnBrk="0" hangingPunct="1">
            <a:defRPr sz="1800" kern="1200">
              <a:solidFill>
                <a:schemeClr val="lt1"/>
              </a:solidFill>
              <a:latin typeface="+mn-lt"/>
              <a:ea typeface="+mn-ea"/>
              <a:cs typeface="+mn-cs"/>
            </a:defRPr>
          </a:lvl3pPr>
          <a:lvl4pPr marL="1371600" indent="0" algn="l" defTabSz="457200" rtl="0" eaLnBrk="1" latinLnBrk="0" hangingPunct="1">
            <a:defRPr sz="1800" kern="1200">
              <a:solidFill>
                <a:schemeClr val="lt1"/>
              </a:solidFill>
              <a:latin typeface="+mn-lt"/>
              <a:ea typeface="+mn-ea"/>
              <a:cs typeface="+mn-cs"/>
            </a:defRPr>
          </a:lvl4pPr>
          <a:lvl5pPr marL="1828800" indent="0" algn="l" defTabSz="457200" rtl="0" eaLnBrk="1" latinLnBrk="0" hangingPunct="1">
            <a:defRPr sz="1800" kern="1200">
              <a:solidFill>
                <a:schemeClr val="lt1"/>
              </a:solidFill>
              <a:latin typeface="+mn-lt"/>
              <a:ea typeface="+mn-ea"/>
              <a:cs typeface="+mn-cs"/>
            </a:defRPr>
          </a:lvl5pPr>
          <a:lvl6pPr marL="2286000" indent="0" algn="l" defTabSz="457200" rtl="0" eaLnBrk="1" latinLnBrk="0" hangingPunct="1">
            <a:defRPr sz="1800" kern="1200">
              <a:solidFill>
                <a:schemeClr val="lt1"/>
              </a:solidFill>
              <a:latin typeface="+mn-lt"/>
              <a:ea typeface="+mn-ea"/>
              <a:cs typeface="+mn-cs"/>
            </a:defRPr>
          </a:lvl6pPr>
          <a:lvl7pPr marL="2743200" indent="0" algn="l" defTabSz="457200" rtl="0" eaLnBrk="1" latinLnBrk="0" hangingPunct="1">
            <a:defRPr sz="1800" kern="1200">
              <a:solidFill>
                <a:schemeClr val="lt1"/>
              </a:solidFill>
              <a:latin typeface="+mn-lt"/>
              <a:ea typeface="+mn-ea"/>
              <a:cs typeface="+mn-cs"/>
            </a:defRPr>
          </a:lvl7pPr>
          <a:lvl8pPr marL="3200400" indent="0" algn="l" defTabSz="457200" rtl="0" eaLnBrk="1" latinLnBrk="0" hangingPunct="1">
            <a:defRPr sz="1800" kern="1200">
              <a:solidFill>
                <a:schemeClr val="lt1"/>
              </a:solidFill>
              <a:latin typeface="+mn-lt"/>
              <a:ea typeface="+mn-ea"/>
              <a:cs typeface="+mn-cs"/>
            </a:defRPr>
          </a:lvl8pPr>
          <a:lvl9pPr marL="3657600" indent="0" algn="l" defTabSz="457200" rtl="0" eaLnBrk="1" latinLnBrk="0" hangingPunct="1">
            <a:defRPr sz="1800" kern="1200">
              <a:solidFill>
                <a:schemeClr val="lt1"/>
              </a:solidFill>
              <a:latin typeface="+mn-lt"/>
              <a:ea typeface="+mn-ea"/>
              <a:cs typeface="+mn-cs"/>
            </a:defRPr>
          </a:lvl9pPr>
        </a:lstStyle>
        <a:p xmlns:a="http://schemas.openxmlformats.org/drawingml/2006/main">
          <a:pPr algn="ctr"/>
          <a:endParaRPr lang="en-US">
            <a:solidFill>
              <a:schemeClr val="bg1"/>
            </a:solidFill>
          </a:endParaRPr>
        </a:p>
      </cdr:txBody>
    </cdr:sp>
  </cdr:relSizeAnchor>
</c:userShapes>
</file>

<file path=ppt/handoutMasters/_rels/handoutMaster1.xml.rels><?xml version="1.0" encoding="UTF-8" standalone="yes"?>
<Relationships xmlns="http://schemas.openxmlformats.org/package/2006/relationships"><Relationship Id="rId3" Type="http://schemas.openxmlformats.org/officeDocument/2006/relationships/tags" Target="../tags/tag168.xml"/><Relationship Id="rId2" Type="http://schemas.openxmlformats.org/officeDocument/2006/relationships/tags" Target="../tags/tag167.xml"/><Relationship Id="rId1" Type="http://schemas.openxmlformats.org/officeDocument/2006/relationships/theme" Target="../theme/theme5.xml"/><Relationship Id="rId5" Type="http://schemas.openxmlformats.org/officeDocument/2006/relationships/tags" Target="../tags/tag170.xml"/><Relationship Id="rId4" Type="http://schemas.openxmlformats.org/officeDocument/2006/relationships/tags" Target="../tags/tag16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E26B98C-713B-4B72-A4D4-019F5DA80C94}"/>
              </a:ext>
            </a:extLst>
          </p:cNvPr>
          <p:cNvSpPr>
            <a:spLocks noGrp="1"/>
          </p:cNvSpPr>
          <p:nvPr>
            <p:ph type="hdr" sz="quarter"/>
            <p:custDataLst>
              <p:tags r:id="rId2"/>
            </p:custDataLst>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C270BE1-CA36-4E08-BA4E-AC3C07DBA581}"/>
              </a:ext>
            </a:extLst>
          </p:cNvPr>
          <p:cNvSpPr>
            <a:spLocks noGrp="1"/>
          </p:cNvSpPr>
          <p:nvPr>
            <p:ph type="dt" sz="quarter" idx="1"/>
            <p:custDataLst>
              <p:tags r:id="rId3"/>
            </p:custDataLst>
          </p:nvPr>
        </p:nvSpPr>
        <p:spPr>
          <a:xfrm>
            <a:off x="3884613" y="0"/>
            <a:ext cx="2971800" cy="458788"/>
          </a:xfrm>
          <a:prstGeom prst="rect">
            <a:avLst/>
          </a:prstGeom>
        </p:spPr>
        <p:txBody>
          <a:bodyPr vert="horz" lIns="91440" tIns="45720" rIns="91440" bIns="45720" rtlCol="0"/>
          <a:lstStyle>
            <a:lvl1pPr algn="r">
              <a:defRPr sz="1200"/>
            </a:lvl1pPr>
          </a:lstStyle>
          <a:p>
            <a:fld id="{4662039D-F6B0-4B3D-87CD-5EA4BC8D3B27}" type="datetimeFigureOut">
              <a:rPr lang="en-US" smtClean="0"/>
              <a:t>9/4/2026</a:t>
            </a:fld>
            <a:endParaRPr lang="en-US"/>
          </a:p>
        </p:txBody>
      </p:sp>
      <p:sp>
        <p:nvSpPr>
          <p:cNvPr id="4" name="Footer Placeholder 3">
            <a:extLst>
              <a:ext uri="{FF2B5EF4-FFF2-40B4-BE49-F238E27FC236}">
                <a16:creationId xmlns:a16="http://schemas.microsoft.com/office/drawing/2014/main" id="{87346B8E-2606-4769-BF30-459644BE4BF9}"/>
              </a:ext>
            </a:extLst>
          </p:cNvPr>
          <p:cNvSpPr>
            <a:spLocks noGrp="1"/>
          </p:cNvSpPr>
          <p:nvPr>
            <p:ph type="ftr" sz="quarter" idx="2"/>
            <p:custDataLst>
              <p:tags r:id="rId4"/>
            </p:custDataLst>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BEC229D-172E-43E4-8A96-CF0E11D3DD0A}"/>
              </a:ext>
            </a:extLst>
          </p:cNvPr>
          <p:cNvSpPr>
            <a:spLocks noGrp="1"/>
          </p:cNvSpPr>
          <p:nvPr>
            <p:ph type="sldNum" sz="quarter" idx="3"/>
            <p:custDataLst>
              <p:tags r:id="rId5"/>
            </p:custDataLst>
          </p:nvPr>
        </p:nvSpPr>
        <p:spPr>
          <a:xfrm>
            <a:off x="3884613" y="8685213"/>
            <a:ext cx="2971800" cy="458787"/>
          </a:xfrm>
          <a:prstGeom prst="rect">
            <a:avLst/>
          </a:prstGeom>
        </p:spPr>
        <p:txBody>
          <a:bodyPr vert="horz" lIns="91440" tIns="45720" rIns="91440" bIns="45720" rtlCol="0" anchor="b"/>
          <a:lstStyle>
            <a:lvl1pPr algn="r">
              <a:defRPr sz="1200"/>
            </a:lvl1pPr>
          </a:lstStyle>
          <a:p>
            <a:fld id="{CD3B6B68-6C65-4B67-BFEC-C9B9E8911328}" type="slidenum">
              <a:rPr lang="en-US" smtClean="0"/>
              <a:t>‹#›</a:t>
            </a:fld>
            <a:endParaRPr lang="en-US"/>
          </a:p>
        </p:txBody>
      </p:sp>
    </p:spTree>
    <p:extLst>
      <p:ext uri="{BB962C8B-B14F-4D97-AF65-F5344CB8AC3E}">
        <p14:creationId xmlns:p14="http://schemas.microsoft.com/office/powerpoint/2010/main" val="17308988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3" Type="http://schemas.openxmlformats.org/officeDocument/2006/relationships/tags" Target="../tags/tag162.xml"/><Relationship Id="rId7" Type="http://schemas.openxmlformats.org/officeDocument/2006/relationships/tags" Target="../tags/tag166.xml"/><Relationship Id="rId2" Type="http://schemas.openxmlformats.org/officeDocument/2006/relationships/tags" Target="../tags/tag161.xml"/><Relationship Id="rId1" Type="http://schemas.openxmlformats.org/officeDocument/2006/relationships/theme" Target="../theme/theme4.xml"/><Relationship Id="rId6" Type="http://schemas.openxmlformats.org/officeDocument/2006/relationships/tags" Target="../tags/tag165.xml"/><Relationship Id="rId5" Type="http://schemas.openxmlformats.org/officeDocument/2006/relationships/tags" Target="../tags/tag164.xml"/><Relationship Id="rId4" Type="http://schemas.openxmlformats.org/officeDocument/2006/relationships/tags" Target="../tags/tag16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Notes Placeholder 4"/>
          <p:cNvSpPr>
            <a:spLocks noGrp="1"/>
          </p:cNvSpPr>
          <p:nvPr>
            <p:ph type="body" sz="quarter" idx="3"/>
            <p:custDataLst>
              <p:tags r:id="rId2"/>
            </p:custDataLst>
          </p:nvPr>
        </p:nvSpPr>
        <p:spPr>
          <a:xfrm>
            <a:off x="246888" y="3134806"/>
            <a:ext cx="6373368" cy="5698298"/>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Image Placeholder 7">
            <a:extLst>
              <a:ext uri="{FF2B5EF4-FFF2-40B4-BE49-F238E27FC236}">
                <a16:creationId xmlns:a16="http://schemas.microsoft.com/office/drawing/2014/main" id="{EB9A72EB-8446-4162-8400-EAE51CA4B002}"/>
              </a:ext>
            </a:extLst>
          </p:cNvPr>
          <p:cNvSpPr>
            <a:spLocks noGrp="1" noRot="1" noChangeAspect="1"/>
          </p:cNvSpPr>
          <p:nvPr>
            <p:ph type="sldImg" idx="2"/>
            <p:custDataLst>
              <p:tags r:id="rId3"/>
            </p:custDataLst>
          </p:nvPr>
        </p:nvSpPr>
        <p:spPr>
          <a:xfrm>
            <a:off x="1333500" y="658368"/>
            <a:ext cx="4191000" cy="2357438"/>
          </a:xfrm>
          <a:prstGeom prst="rect">
            <a:avLst/>
          </a:prstGeom>
          <a:noFill/>
          <a:ln w="12700">
            <a:solidFill>
              <a:prstClr val="black"/>
            </a:solidFill>
          </a:ln>
        </p:spPr>
      </p:sp>
      <p:sp>
        <p:nvSpPr>
          <p:cNvPr id="10" name="TextBox 9">
            <a:extLst>
              <a:ext uri="{FF2B5EF4-FFF2-40B4-BE49-F238E27FC236}">
                <a16:creationId xmlns:a16="http://schemas.microsoft.com/office/drawing/2014/main" id="{F59BBFC6-D472-4F66-A33B-98EEDC87B9D3}"/>
              </a:ext>
            </a:extLst>
          </p:cNvPr>
          <p:cNvSpPr txBox="1"/>
          <p:nvPr>
            <p:custDataLst>
              <p:tags r:id="rId4"/>
            </p:custDataLst>
          </p:nvPr>
        </p:nvSpPr>
        <p:spPr>
          <a:xfrm rot="16200000">
            <a:off x="-760712" y="1686780"/>
            <a:ext cx="2143215" cy="138499"/>
          </a:xfrm>
          <a:prstGeom prst="rect">
            <a:avLst/>
          </a:prstGeom>
          <a:noFill/>
        </p:spPr>
        <p:txBody>
          <a:bodyPr wrap="none" lIns="0" tIns="0" rIns="0" bIns="0" rtlCol="0" anchor="ctr" anchorCtr="0">
            <a:spAutoFit/>
          </a:bodyPr>
          <a:lstStyle/>
          <a:p>
            <a:pPr algn="ctr"/>
            <a:r>
              <a:rPr lang="en-US" sz="900">
                <a:solidFill>
                  <a:schemeClr val="bg1">
                    <a:lumMod val="75000"/>
                  </a:schemeClr>
                </a:solidFill>
              </a:rPr>
              <a:t>— NOT FOR EXTERNAL DISTRIBUTION —</a:t>
            </a:r>
          </a:p>
        </p:txBody>
      </p:sp>
      <p:sp>
        <p:nvSpPr>
          <p:cNvPr id="11" name="TextBox 10">
            <a:extLst>
              <a:ext uri="{FF2B5EF4-FFF2-40B4-BE49-F238E27FC236}">
                <a16:creationId xmlns:a16="http://schemas.microsoft.com/office/drawing/2014/main" id="{DA573FBF-EDF7-4974-B2B2-CF1E73B474F9}"/>
              </a:ext>
            </a:extLst>
          </p:cNvPr>
          <p:cNvSpPr txBox="1"/>
          <p:nvPr>
            <p:custDataLst>
              <p:tags r:id="rId5"/>
            </p:custDataLst>
          </p:nvPr>
        </p:nvSpPr>
        <p:spPr>
          <a:xfrm rot="5400000">
            <a:off x="5475496" y="1686780"/>
            <a:ext cx="2143215" cy="138499"/>
          </a:xfrm>
          <a:prstGeom prst="rect">
            <a:avLst/>
          </a:prstGeom>
          <a:noFill/>
        </p:spPr>
        <p:txBody>
          <a:bodyPr wrap="none" lIns="0" tIns="0" rIns="0" bIns="0" rtlCol="0" anchor="ctr" anchorCtr="0">
            <a:spAutoFit/>
          </a:bodyPr>
          <a:lstStyle/>
          <a:p>
            <a:pPr algn="ctr"/>
            <a:r>
              <a:rPr lang="en-US" sz="900">
                <a:solidFill>
                  <a:schemeClr val="bg1">
                    <a:lumMod val="75000"/>
                  </a:schemeClr>
                </a:solidFill>
              </a:rPr>
              <a:t>— NOT FOR EXTERNAL DISTRIBUTION —</a:t>
            </a:r>
          </a:p>
        </p:txBody>
      </p:sp>
      <p:sp>
        <p:nvSpPr>
          <p:cNvPr id="23" name="TextBox 22">
            <a:extLst>
              <a:ext uri="{FF2B5EF4-FFF2-40B4-BE49-F238E27FC236}">
                <a16:creationId xmlns:a16="http://schemas.microsoft.com/office/drawing/2014/main" id="{92C8F8D4-DFC9-4259-86F5-A4F987BA15DE}"/>
              </a:ext>
            </a:extLst>
          </p:cNvPr>
          <p:cNvSpPr txBox="1"/>
          <p:nvPr>
            <p:custDataLst>
              <p:tags r:id="rId6"/>
            </p:custDataLst>
          </p:nvPr>
        </p:nvSpPr>
        <p:spPr>
          <a:xfrm>
            <a:off x="246888" y="8887968"/>
            <a:ext cx="4449936" cy="184666"/>
          </a:xfrm>
          <a:prstGeom prst="rect">
            <a:avLst/>
          </a:prstGeom>
          <a:noFill/>
        </p:spPr>
        <p:txBody>
          <a:bodyPr wrap="none" lIns="0" tIns="0" rIns="0" bIns="0" rtlCol="0" anchor="b" anchorCtr="0">
            <a:spAutoFit/>
          </a:bodyPr>
          <a:lstStyle/>
          <a:p>
            <a:pPr marL="228600" indent="-228600"/>
            <a:fld id="{E1F39F5E-4058-4856-B2BD-0FDE5C1B6221}" type="slidenum">
              <a:rPr lang="en-US" sz="600" smtClean="0">
                <a:solidFill>
                  <a:schemeClr val="tx1"/>
                </a:solidFill>
              </a:rPr>
              <a:t>‹#›</a:t>
            </a:fld>
            <a:r>
              <a:rPr lang="en-US" sz="600">
                <a:solidFill>
                  <a:schemeClr val="tx1"/>
                </a:solidFill>
              </a:rPr>
              <a:t>	© 2026 Gartner, Inc. and/or its affiliates. All rights reserved. Gartner is a registered trademark of Gartner, Inc. or its affiliates.</a:t>
            </a:r>
            <a:br>
              <a:rPr lang="en-US" sz="600">
                <a:solidFill>
                  <a:schemeClr val="tx1"/>
                </a:solidFill>
              </a:rPr>
            </a:br>
            <a:r>
              <a:rPr lang="en-US" sz="600" b="1">
                <a:solidFill>
                  <a:schemeClr val="tx1"/>
                </a:solidFill>
              </a:rPr>
              <a:t>RESTRICTED</a:t>
            </a:r>
            <a:r>
              <a:rPr lang="en-US" sz="600">
                <a:solidFill>
                  <a:schemeClr val="tx1"/>
                </a:solidFill>
              </a:rPr>
              <a:t> | Version X.X | Last updated [insert date format: DD Month YYYY]</a:t>
            </a:r>
          </a:p>
        </p:txBody>
      </p:sp>
      <p:sp>
        <p:nvSpPr>
          <p:cNvPr id="26" name="TextBox 25">
            <a:extLst>
              <a:ext uri="{FF2B5EF4-FFF2-40B4-BE49-F238E27FC236}">
                <a16:creationId xmlns:a16="http://schemas.microsoft.com/office/drawing/2014/main" id="{EF32A807-544A-4EBE-989F-ECAA016BF8D1}"/>
              </a:ext>
            </a:extLst>
          </p:cNvPr>
          <p:cNvSpPr txBox="1"/>
          <p:nvPr>
            <p:custDataLst>
              <p:tags r:id="rId7"/>
            </p:custDataLst>
          </p:nvPr>
        </p:nvSpPr>
        <p:spPr>
          <a:xfrm>
            <a:off x="246887" y="128016"/>
            <a:ext cx="6327648" cy="244682"/>
          </a:xfrm>
          <a:prstGeom prst="rect">
            <a:avLst/>
          </a:prstGeom>
          <a:noFill/>
        </p:spPr>
        <p:txBody>
          <a:bodyPr wrap="square" lIns="0" rtlCol="0">
            <a:spAutoFit/>
          </a:bodyPr>
          <a:lstStyle/>
          <a:p>
            <a:pPr>
              <a:lnSpc>
                <a:spcPct val="90000"/>
              </a:lnSpc>
            </a:pPr>
            <a:r>
              <a:rPr lang="en-US" sz="1100" b="0">
                <a:solidFill>
                  <a:schemeClr val="tx1"/>
                </a:solidFill>
                <a:latin typeface="+mj-lt"/>
              </a:rPr>
              <a:t>Presentation Title</a:t>
            </a:r>
          </a:p>
        </p:txBody>
      </p:sp>
    </p:spTree>
    <p:extLst>
      <p:ext uri="{BB962C8B-B14F-4D97-AF65-F5344CB8AC3E}">
        <p14:creationId xmlns:p14="http://schemas.microsoft.com/office/powerpoint/2010/main" val="922378356"/>
      </p:ext>
    </p:extLst>
  </p:cSld>
  <p:clrMap bg1="lt1" tx1="dk1" bg2="lt2" tx2="dk2" accent1="accent1" accent2="accent2" accent3="accent3" accent4="accent4" accent5="accent5" accent6="accent6" hlink="hlink" folHlink="folHlink"/>
  <p:notesStyle>
    <a:lvl1pPr marL="0" algn="l" defTabSz="914400" rtl="0" eaLnBrk="1" latinLnBrk="0" hangingPunct="1">
      <a:lnSpc>
        <a:spcPct val="90000"/>
      </a:lnSpc>
      <a:spcAft>
        <a:spcPts val="600"/>
      </a:spcAft>
      <a:defRPr sz="1200" kern="1200">
        <a:solidFill>
          <a:schemeClr val="tx1"/>
        </a:solidFill>
        <a:latin typeface="+mn-lt"/>
        <a:ea typeface="+mn-ea"/>
        <a:cs typeface="+mn-cs"/>
      </a:defRPr>
    </a:lvl1pPr>
    <a:lvl2pPr marL="18288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2pPr>
    <a:lvl3pPr marL="36576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3pPr>
    <a:lvl4pPr marL="54864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4pPr>
    <a:lvl5pPr marL="73152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tags" Target="../tags/tag178.xml"/><Relationship Id="rId2" Type="http://schemas.openxmlformats.org/officeDocument/2006/relationships/tags" Target="../tags/tag177.xml"/><Relationship Id="rId1" Type="http://schemas.openxmlformats.org/officeDocument/2006/relationships/tags" Target="../tags/tag176.xml"/><Relationship Id="rId5" Type="http://schemas.openxmlformats.org/officeDocument/2006/relationships/slide" Target="../slides/slide1.xml"/><Relationship Id="rId4"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195.xml"/><Relationship Id="rId1" Type="http://schemas.openxmlformats.org/officeDocument/2006/relationships/tags" Target="../tags/tag194.xml"/><Relationship Id="rId4"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298.xml"/><Relationship Id="rId1" Type="http://schemas.openxmlformats.org/officeDocument/2006/relationships/tags" Target="../tags/tag297.xml"/><Relationship Id="rId4"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309.xml"/><Relationship Id="rId1" Type="http://schemas.openxmlformats.org/officeDocument/2006/relationships/tags" Target="../tags/tag308.xml"/><Relationship Id="rId4"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320.xml"/><Relationship Id="rId1" Type="http://schemas.openxmlformats.org/officeDocument/2006/relationships/tags" Target="../tags/tag319.xml"/><Relationship Id="rId4"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331.xml"/><Relationship Id="rId1" Type="http://schemas.openxmlformats.org/officeDocument/2006/relationships/tags" Target="../tags/tag330.xml"/><Relationship Id="rId4"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342.xml"/><Relationship Id="rId1" Type="http://schemas.openxmlformats.org/officeDocument/2006/relationships/tags" Target="../tags/tag341.xml"/><Relationship Id="rId4"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353.xml"/><Relationship Id="rId1" Type="http://schemas.openxmlformats.org/officeDocument/2006/relationships/tags" Target="../tags/tag352.xml"/><Relationship Id="rId4"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364.xml"/><Relationship Id="rId1" Type="http://schemas.openxmlformats.org/officeDocument/2006/relationships/tags" Target="../tags/tag363.xml"/><Relationship Id="rId4"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563.xml"/><Relationship Id="rId1" Type="http://schemas.openxmlformats.org/officeDocument/2006/relationships/tags" Target="../tags/tag562.xml"/><Relationship Id="rId4"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noChangeAspect="1"/>
          </p:cNvSpPr>
          <p:nvPr>
            <p:ph type="body" idx="1"/>
            <p:custDataLst>
              <p:tags r:id="rId1"/>
            </p:custDataLst>
          </p:nvPr>
        </p:nvSpPr>
        <p:spPr/>
        <p:txBody>
          <a:bodyPr/>
          <a:lstStyle/>
          <a:p>
            <a:endParaRPr lang="en-US"/>
          </a:p>
        </p:txBody>
      </p:sp>
      <p:sp>
        <p:nvSpPr>
          <p:cNvPr id="4" name="Rectangle 103">
            <a:extLst>
              <a:ext uri="{FF2B5EF4-FFF2-40B4-BE49-F238E27FC236}">
                <a16:creationId xmlns:a16="http://schemas.microsoft.com/office/drawing/2014/main" id="{B3772AE2-76C5-43EB-BBF0-1E8DDB46AEB7}"/>
              </a:ext>
            </a:extLst>
          </p:cNvPr>
          <p:cNvSpPr>
            <a:spLocks noChangeArrowheads="1"/>
          </p:cNvSpPr>
          <p:nvPr>
            <p:custDataLst>
              <p:tags r:id="rId2"/>
            </p:custDataLst>
          </p:nvPr>
        </p:nvSpPr>
        <p:spPr bwMode="gray">
          <a:xfrm>
            <a:off x="3862389" y="100605"/>
            <a:ext cx="2618422" cy="420582"/>
          </a:xfrm>
          <a:prstGeom prst="rect">
            <a:avLst/>
          </a:prstGeom>
          <a:noFill/>
          <a:ln w="9525">
            <a:noFill/>
            <a:miter lim="800000"/>
          </a:ln>
        </p:spPr>
        <p:txBody>
          <a:bodyPr wrap="square" lIns="65028" tIns="25377" rIns="65028" bIns="25377">
            <a:spAutoFit/>
          </a:bodyPr>
          <a:lstStyle/>
          <a:p>
            <a:pPr algn="l" defTabSz="947738">
              <a:lnSpc>
                <a:spcPct val="100000"/>
              </a:lnSpc>
              <a:spcBef>
                <a:spcPct val="0"/>
              </a:spcBef>
              <a:spcAft>
                <a:spcPct val="0"/>
              </a:spcAft>
            </a:pPr>
            <a:r>
              <a:rPr lang="en-US" sz="1200"/>
              <a:t>Presenter's Name</a:t>
            </a:r>
          </a:p>
          <a:p>
            <a:pPr algn="l" defTabSz="947738">
              <a:lnSpc>
                <a:spcPct val="100000"/>
              </a:lnSpc>
              <a:spcBef>
                <a:spcPct val="0"/>
              </a:spcBef>
              <a:spcAft>
                <a:spcPct val="0"/>
              </a:spcAft>
            </a:pPr>
            <a:r>
              <a:rPr lang="en-US" sz="1200"/>
              <a:t>Presenter's Name</a:t>
            </a:r>
          </a:p>
        </p:txBody>
      </p:sp>
      <p:sp>
        <p:nvSpPr>
          <p:cNvPr id="6" name="Slide Image Placeholder 5">
            <a:extLst>
              <a:ext uri="{FF2B5EF4-FFF2-40B4-BE49-F238E27FC236}">
                <a16:creationId xmlns:a16="http://schemas.microsoft.com/office/drawing/2014/main" id="{CE842C09-60FC-3CF9-E372-D32E5E324260}"/>
              </a:ext>
            </a:extLst>
          </p:cNvPr>
          <p:cNvSpPr>
            <a:spLocks noGrp="1" noRot="1" noChangeAspect="1"/>
          </p:cNvSpPr>
          <p:nvPr>
            <p:ph type="sldImg"/>
            <p:custDataLst>
              <p:tags r:id="rId3"/>
            </p:custDataLst>
          </p:nvPr>
        </p:nvSpPr>
        <p:spPr>
          <a:xfrm>
            <a:off x="1333500" y="658813"/>
            <a:ext cx="4191000" cy="2357437"/>
          </a:xfrm>
        </p:spPr>
      </p:sp>
    </p:spTree>
    <p:extLst>
      <p:ext uri="{BB962C8B-B14F-4D97-AF65-F5344CB8AC3E}">
        <p14:creationId xmlns:p14="http://schemas.microsoft.com/office/powerpoint/2010/main" val="4104669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55A7B-43B3-268E-E364-63F7AF7885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F70B88-86D8-79A1-30BB-08C147FEAE92}"/>
              </a:ext>
            </a:extLst>
          </p:cNvPr>
          <p:cNvSpPr>
            <a:spLocks noGrp="1" noRot="1" noChangeAspect="1"/>
          </p:cNvSpPr>
          <p:nvPr>
            <p:ph type="sldImg"/>
            <p:custDataLst>
              <p:tags r:id="rId1"/>
            </p:custDataLst>
          </p:nvPr>
        </p:nvSpPr>
        <p:spPr>
          <a:xfrm>
            <a:off x="1031875" y="712788"/>
            <a:ext cx="4794250" cy="2697162"/>
          </a:xfrm>
        </p:spPr>
      </p:sp>
      <p:sp>
        <p:nvSpPr>
          <p:cNvPr id="3" name="Notes Placeholder 2">
            <a:extLst>
              <a:ext uri="{FF2B5EF4-FFF2-40B4-BE49-F238E27FC236}">
                <a16:creationId xmlns:a16="http://schemas.microsoft.com/office/drawing/2014/main" id="{44BBEFDD-13A1-2E6B-E868-924A41B608AF}"/>
              </a:ext>
            </a:extLst>
          </p:cNvPr>
          <p:cNvSpPr>
            <a:spLocks noGrp="1"/>
          </p:cNvSpPr>
          <p:nvPr>
            <p:ph type="body" idx="1"/>
            <p:custDataLst>
              <p:tags r:id="rId2"/>
            </p:custDataLst>
          </p:nvPr>
        </p:nvSpPr>
        <p:spPr/>
        <p:txBody>
          <a:bodyPr/>
          <a:lstStyle/>
          <a:p>
            <a:endParaRPr lang="en-US"/>
          </a:p>
        </p:txBody>
      </p:sp>
    </p:spTree>
    <p:extLst>
      <p:ext uri="{BB962C8B-B14F-4D97-AF65-F5344CB8AC3E}">
        <p14:creationId xmlns:p14="http://schemas.microsoft.com/office/powerpoint/2010/main" val="31732116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21695884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1876848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16299063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1145F-0371-F630-CB20-2F8C761A76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03E741-D8D3-B771-5F02-7B542B768AA6}"/>
              </a:ext>
            </a:extLst>
          </p:cNvPr>
          <p:cNvSpPr>
            <a:spLocks noGrp="1" noRot="1" noChangeAspect="1"/>
          </p:cNvSpPr>
          <p:nvPr>
            <p:ph type="sldImg"/>
            <p:custDataLst>
              <p:tags r:id="rId1"/>
            </p:custDataLst>
          </p:nvPr>
        </p:nvSpPr>
        <p:spPr>
          <a:xfrm>
            <a:off x="1031875" y="712788"/>
            <a:ext cx="4794250" cy="2697162"/>
          </a:xfrm>
        </p:spPr>
      </p:sp>
      <p:sp>
        <p:nvSpPr>
          <p:cNvPr id="3" name="Notes Placeholder 2">
            <a:extLst>
              <a:ext uri="{FF2B5EF4-FFF2-40B4-BE49-F238E27FC236}">
                <a16:creationId xmlns:a16="http://schemas.microsoft.com/office/drawing/2014/main" id="{1044F574-8E9F-C580-8C67-B819E7D3B7D9}"/>
              </a:ext>
            </a:extLst>
          </p:cNvPr>
          <p:cNvSpPr>
            <a:spLocks noGrp="1"/>
          </p:cNvSpPr>
          <p:nvPr>
            <p:ph type="body" idx="1"/>
            <p:custDataLst>
              <p:tags r:id="rId2"/>
            </p:custDataLst>
          </p:nvPr>
        </p:nvSpPr>
        <p:spPr/>
        <p:txBody>
          <a:bodyPr/>
          <a:lstStyle/>
          <a:p>
            <a:endParaRPr lang="en-US"/>
          </a:p>
        </p:txBody>
      </p:sp>
    </p:spTree>
    <p:extLst>
      <p:ext uri="{BB962C8B-B14F-4D97-AF65-F5344CB8AC3E}">
        <p14:creationId xmlns:p14="http://schemas.microsoft.com/office/powerpoint/2010/main" val="27600601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3ECE3-579C-874C-5477-79B6DAD2F5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2E5D5D-4283-4023-02AD-C2E0B04251F5}"/>
              </a:ext>
            </a:extLst>
          </p:cNvPr>
          <p:cNvSpPr>
            <a:spLocks noGrp="1" noRot="1" noChangeAspect="1"/>
          </p:cNvSpPr>
          <p:nvPr>
            <p:ph type="sldImg"/>
            <p:custDataLst>
              <p:tags r:id="rId1"/>
            </p:custDataLst>
          </p:nvPr>
        </p:nvSpPr>
        <p:spPr>
          <a:xfrm>
            <a:off x="1031875" y="712788"/>
            <a:ext cx="4794250" cy="2697162"/>
          </a:xfrm>
        </p:spPr>
      </p:sp>
      <p:sp>
        <p:nvSpPr>
          <p:cNvPr id="3" name="Notes Placeholder 2">
            <a:extLst>
              <a:ext uri="{FF2B5EF4-FFF2-40B4-BE49-F238E27FC236}">
                <a16:creationId xmlns:a16="http://schemas.microsoft.com/office/drawing/2014/main" id="{078929BD-B979-FE0C-EB84-F4693335B025}"/>
              </a:ext>
            </a:extLst>
          </p:cNvPr>
          <p:cNvSpPr>
            <a:spLocks noGrp="1"/>
          </p:cNvSpPr>
          <p:nvPr>
            <p:ph type="body" idx="1"/>
            <p:custDataLst>
              <p:tags r:id="rId2"/>
            </p:custDataLst>
          </p:nvPr>
        </p:nvSpPr>
        <p:spPr/>
        <p:txBody>
          <a:bodyPr/>
          <a:lstStyle/>
          <a:p>
            <a:endParaRPr lang="en-US"/>
          </a:p>
        </p:txBody>
      </p:sp>
    </p:spTree>
    <p:extLst>
      <p:ext uri="{BB962C8B-B14F-4D97-AF65-F5344CB8AC3E}">
        <p14:creationId xmlns:p14="http://schemas.microsoft.com/office/powerpoint/2010/main" val="33443796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F0982-ECAA-D0E0-A53B-305BD9361B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656DFA-E709-4BCA-096F-F06DC5A5E25A}"/>
              </a:ext>
            </a:extLst>
          </p:cNvPr>
          <p:cNvSpPr>
            <a:spLocks noGrp="1" noRot="1" noChangeAspect="1"/>
          </p:cNvSpPr>
          <p:nvPr>
            <p:ph type="sldImg"/>
            <p:custDataLst>
              <p:tags r:id="rId1"/>
            </p:custDataLst>
          </p:nvPr>
        </p:nvSpPr>
        <p:spPr>
          <a:xfrm>
            <a:off x="1031875" y="712788"/>
            <a:ext cx="4794250" cy="2697162"/>
          </a:xfrm>
        </p:spPr>
      </p:sp>
      <p:sp>
        <p:nvSpPr>
          <p:cNvPr id="3" name="Notes Placeholder 2">
            <a:extLst>
              <a:ext uri="{FF2B5EF4-FFF2-40B4-BE49-F238E27FC236}">
                <a16:creationId xmlns:a16="http://schemas.microsoft.com/office/drawing/2014/main" id="{863F3AF8-911D-93B4-E2F1-A3BB0FF97FBA}"/>
              </a:ext>
            </a:extLst>
          </p:cNvPr>
          <p:cNvSpPr>
            <a:spLocks noGrp="1"/>
          </p:cNvSpPr>
          <p:nvPr>
            <p:ph type="body" idx="1"/>
            <p:custDataLst>
              <p:tags r:id="rId2"/>
            </p:custDataLst>
          </p:nvPr>
        </p:nvSpPr>
        <p:spPr/>
        <p:txBody>
          <a:bodyPr/>
          <a:lstStyle/>
          <a:p>
            <a:endParaRPr lang="en-US"/>
          </a:p>
        </p:txBody>
      </p:sp>
    </p:spTree>
    <p:extLst>
      <p:ext uri="{BB962C8B-B14F-4D97-AF65-F5344CB8AC3E}">
        <p14:creationId xmlns:p14="http://schemas.microsoft.com/office/powerpoint/2010/main" val="35883267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3AF6C-E0BC-3012-1193-B84C8ABF0F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5104F4-39E9-7346-9745-EE4ED7C93D45}"/>
              </a:ext>
            </a:extLst>
          </p:cNvPr>
          <p:cNvSpPr>
            <a:spLocks noGrp="1" noRot="1" noChangeAspect="1"/>
          </p:cNvSpPr>
          <p:nvPr>
            <p:ph type="sldImg"/>
            <p:custDataLst>
              <p:tags r:id="rId1"/>
            </p:custDataLst>
          </p:nvPr>
        </p:nvSpPr>
        <p:spPr>
          <a:xfrm>
            <a:off x="1031875" y="712788"/>
            <a:ext cx="4794250" cy="2697162"/>
          </a:xfrm>
        </p:spPr>
      </p:sp>
      <p:sp>
        <p:nvSpPr>
          <p:cNvPr id="3" name="Notes Placeholder 2">
            <a:extLst>
              <a:ext uri="{FF2B5EF4-FFF2-40B4-BE49-F238E27FC236}">
                <a16:creationId xmlns:a16="http://schemas.microsoft.com/office/drawing/2014/main" id="{CABA8896-13A2-3C55-639D-C55A47D33E21}"/>
              </a:ext>
            </a:extLst>
          </p:cNvPr>
          <p:cNvSpPr>
            <a:spLocks noGrp="1"/>
          </p:cNvSpPr>
          <p:nvPr>
            <p:ph type="body" idx="1"/>
            <p:custDataLst>
              <p:tags r:id="rId2"/>
            </p:custDataLst>
          </p:nvPr>
        </p:nvSpPr>
        <p:spPr/>
        <p:txBody>
          <a:bodyPr/>
          <a:lstStyle/>
          <a:p>
            <a:endParaRPr lang="en-US"/>
          </a:p>
        </p:txBody>
      </p:sp>
    </p:spTree>
    <p:extLst>
      <p:ext uri="{BB962C8B-B14F-4D97-AF65-F5344CB8AC3E}">
        <p14:creationId xmlns:p14="http://schemas.microsoft.com/office/powerpoint/2010/main" val="39629374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custDataLst>
              <p:tags r:id="rId1"/>
            </p:custDataLst>
          </p:nvPr>
        </p:nvSpPr>
        <p:spPr>
          <a:xfrm>
            <a:off x="1031875" y="712788"/>
            <a:ext cx="4794250" cy="2697162"/>
          </a:xfrm>
        </p:spPr>
      </p:sp>
      <p:sp>
        <p:nvSpPr>
          <p:cNvPr id="3" name="Notes Placeholder 2"/>
          <p:cNvSpPr>
            <a:spLocks noGrp="1"/>
          </p:cNvSpPr>
          <p:nvPr>
            <p:ph type="body" idx="1"/>
            <p:custDataLst>
              <p:tags r:id="rId2"/>
            </p:custDataLst>
          </p:nvPr>
        </p:nvSpPr>
        <p:spPr/>
        <p:txBody>
          <a:bodyPr/>
          <a:lstStyle/>
          <a:p>
            <a:endParaRPr lang="en-US"/>
          </a:p>
        </p:txBody>
      </p:sp>
    </p:spTree>
    <p:extLst>
      <p:ext uri="{BB962C8B-B14F-4D97-AF65-F5344CB8AC3E}">
        <p14:creationId xmlns:p14="http://schemas.microsoft.com/office/powerpoint/2010/main" val="3743355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9266C-34CB-8990-3D23-9169F73C93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134680-6015-AF72-585F-62ED28EF0113}"/>
              </a:ext>
            </a:extLst>
          </p:cNvPr>
          <p:cNvSpPr>
            <a:spLocks noGrp="1" noRot="1" noChangeAspect="1"/>
          </p:cNvSpPr>
          <p:nvPr>
            <p:ph type="sldImg"/>
            <p:custDataLst>
              <p:tags r:id="rId1"/>
            </p:custDataLst>
          </p:nvPr>
        </p:nvSpPr>
        <p:spPr>
          <a:xfrm>
            <a:off x="1031875" y="712788"/>
            <a:ext cx="4794250" cy="2697162"/>
          </a:xfrm>
        </p:spPr>
      </p:sp>
      <p:sp>
        <p:nvSpPr>
          <p:cNvPr id="3" name="Notes Placeholder 2">
            <a:extLst>
              <a:ext uri="{FF2B5EF4-FFF2-40B4-BE49-F238E27FC236}">
                <a16:creationId xmlns:a16="http://schemas.microsoft.com/office/drawing/2014/main" id="{740E8A4E-AFD6-B276-6FAB-58B406324CBD}"/>
              </a:ext>
            </a:extLst>
          </p:cNvPr>
          <p:cNvSpPr>
            <a:spLocks noGrp="1"/>
          </p:cNvSpPr>
          <p:nvPr>
            <p:ph type="body" idx="1"/>
            <p:custDataLst>
              <p:tags r:id="rId2"/>
            </p:custDataLst>
          </p:nvPr>
        </p:nvSpPr>
        <p:spPr/>
        <p:txBody>
          <a:bodyPr/>
          <a:lstStyle/>
          <a:p>
            <a:endParaRPr lang="en-US"/>
          </a:p>
        </p:txBody>
      </p:sp>
    </p:spTree>
    <p:extLst>
      <p:ext uri="{BB962C8B-B14F-4D97-AF65-F5344CB8AC3E}">
        <p14:creationId xmlns:p14="http://schemas.microsoft.com/office/powerpoint/2010/main" val="8618398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6F24F-9A72-D8E3-8341-713F9F4B36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42104D-D8C2-5FED-E75E-033546425412}"/>
              </a:ext>
            </a:extLst>
          </p:cNvPr>
          <p:cNvSpPr>
            <a:spLocks noGrp="1" noRot="1" noChangeAspect="1"/>
          </p:cNvSpPr>
          <p:nvPr>
            <p:ph type="sldImg"/>
            <p:custDataLst>
              <p:tags r:id="rId1"/>
            </p:custDataLst>
          </p:nvPr>
        </p:nvSpPr>
        <p:spPr>
          <a:xfrm>
            <a:off x="1031875" y="712788"/>
            <a:ext cx="4794250" cy="2697162"/>
          </a:xfrm>
        </p:spPr>
      </p:sp>
      <p:sp>
        <p:nvSpPr>
          <p:cNvPr id="3" name="Notes Placeholder 2">
            <a:extLst>
              <a:ext uri="{FF2B5EF4-FFF2-40B4-BE49-F238E27FC236}">
                <a16:creationId xmlns:a16="http://schemas.microsoft.com/office/drawing/2014/main" id="{A478E007-5610-87F9-FBF6-A3C993FB08BB}"/>
              </a:ext>
            </a:extLst>
          </p:cNvPr>
          <p:cNvSpPr>
            <a:spLocks noGrp="1"/>
          </p:cNvSpPr>
          <p:nvPr>
            <p:ph type="body" idx="1"/>
            <p:custDataLst>
              <p:tags r:id="rId2"/>
            </p:custDataLst>
          </p:nvPr>
        </p:nvSpPr>
        <p:spPr/>
        <p:txBody>
          <a:bodyPr/>
          <a:lstStyle/>
          <a:p>
            <a:endParaRPr lang="en-US"/>
          </a:p>
        </p:txBody>
      </p:sp>
    </p:spTree>
    <p:extLst>
      <p:ext uri="{BB962C8B-B14F-4D97-AF65-F5344CB8AC3E}">
        <p14:creationId xmlns:p14="http://schemas.microsoft.com/office/powerpoint/2010/main" val="810570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40204318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1903384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23836304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28039563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31423504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30162777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14982857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custDataLst>
              <p:tags r:id="rId1"/>
            </p:custDataLst>
          </p:nvPr>
        </p:nvSpPr>
        <p:spPr>
          <a:xfrm>
            <a:off x="1031875" y="712788"/>
            <a:ext cx="4794250" cy="2697162"/>
          </a:xfrm>
        </p:spPr>
      </p:sp>
      <p:sp>
        <p:nvSpPr>
          <p:cNvPr id="3" name="Notes Placeholder 2"/>
          <p:cNvSpPr>
            <a:spLocks noGrp="1"/>
          </p:cNvSpPr>
          <p:nvPr>
            <p:ph type="body" idx="1"/>
            <p:custDataLst>
              <p:tags r:id="rId2"/>
            </p:custDataLst>
          </p:nvPr>
        </p:nvSpPr>
        <p:spPr/>
        <p:txBody>
          <a:bodyPr/>
          <a:lstStyle/>
          <a:p>
            <a:endParaRPr lang="en-US"/>
          </a:p>
        </p:txBody>
      </p:sp>
    </p:spTree>
    <p:extLst>
      <p:ext uri="{BB962C8B-B14F-4D97-AF65-F5344CB8AC3E}">
        <p14:creationId xmlns:p14="http://schemas.microsoft.com/office/powerpoint/2010/main" val="37678744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2.png"/><Relationship Id="rId5" Type="http://schemas.openxmlformats.org/officeDocument/2006/relationships/slideMaster" Target="../slideMasters/slideMaster1.xml"/><Relationship Id="rId4" Type="http://schemas.openxmlformats.org/officeDocument/2006/relationships/tags" Target="../tags/tag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1.png"/><Relationship Id="rId5" Type="http://schemas.openxmlformats.org/officeDocument/2006/relationships/slideMaster" Target="../slideMasters/slideMaster1.xml"/><Relationship Id="rId4" Type="http://schemas.openxmlformats.org/officeDocument/2006/relationships/tags" Target="../tags/tag1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6.xml"/><Relationship Id="rId1" Type="http://schemas.openxmlformats.org/officeDocument/2006/relationships/tags" Target="../tags/tag15.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slideMaster" Target="../slideMasters/slideMaster1.xml"/><Relationship Id="rId4" Type="http://schemas.openxmlformats.org/officeDocument/2006/relationships/tags" Target="../tags/tag25.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slideMaster" Target="../slideMasters/slideMaster1.xml"/><Relationship Id="rId4" Type="http://schemas.openxmlformats.org/officeDocument/2006/relationships/tags" Target="../tags/tag29.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slideMaster" Target="../slideMasters/slideMaster1.xml"/><Relationship Id="rId5" Type="http://schemas.openxmlformats.org/officeDocument/2006/relationships/tags" Target="../tags/tag34.xml"/><Relationship Id="rId4" Type="http://schemas.openxmlformats.org/officeDocument/2006/relationships/tags" Target="../tags/tag33.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slideMaster" Target="../slideMasters/slideMaster1.xml"/><Relationship Id="rId5" Type="http://schemas.openxmlformats.org/officeDocument/2006/relationships/tags" Target="../tags/tag39.xml"/><Relationship Id="rId4" Type="http://schemas.openxmlformats.org/officeDocument/2006/relationships/tags" Target="../tags/tag38.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5" Type="http://schemas.openxmlformats.org/officeDocument/2006/relationships/slideMaster" Target="../slideMasters/slideMaster1.xml"/><Relationship Id="rId4" Type="http://schemas.openxmlformats.org/officeDocument/2006/relationships/tags" Target="../tags/tag44.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tags" Target="../tags/tag45.xml"/><Relationship Id="rId5" Type="http://schemas.openxmlformats.org/officeDocument/2006/relationships/slideMaster" Target="../slideMasters/slideMaster1.xml"/><Relationship Id="rId4" Type="http://schemas.openxmlformats.org/officeDocument/2006/relationships/tags" Target="../tags/tag48.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3.xml"/><Relationship Id="rId1" Type="http://schemas.openxmlformats.org/officeDocument/2006/relationships/tags" Target="../tags/tag5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6.xml"/><Relationship Id="rId1" Type="http://schemas.openxmlformats.org/officeDocument/2006/relationships/tags" Target="../tags/tag55.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image" Target="../media/image2.png"/><Relationship Id="rId5" Type="http://schemas.openxmlformats.org/officeDocument/2006/relationships/slideMaster" Target="../slideMasters/slideMaster2.xml"/><Relationship Id="rId4" Type="http://schemas.openxmlformats.org/officeDocument/2006/relationships/tags" Target="../tags/tag64.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3.png"/><Relationship Id="rId5" Type="http://schemas.openxmlformats.org/officeDocument/2006/relationships/slideMaster" Target="../slideMasters/slideMaster2.xml"/><Relationship Id="rId4" Type="http://schemas.openxmlformats.org/officeDocument/2006/relationships/tags" Target="../tags/tag68.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9.xml"/></Relationships>
</file>

<file path=ppt/slideLayouts/_rels/slideLayout2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1.xml"/><Relationship Id="rId1" Type="http://schemas.openxmlformats.org/officeDocument/2006/relationships/tags" Target="../tags/tag70.xml"/></Relationships>
</file>

<file path=ppt/slideLayouts/_rels/slideLayout2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3.xml"/><Relationship Id="rId1" Type="http://schemas.openxmlformats.org/officeDocument/2006/relationships/tags" Target="../tags/tag72.xml"/></Relationships>
</file>

<file path=ppt/slideLayouts/_rels/slideLayout25.xml.rels><?xml version="1.0" encoding="UTF-8" standalone="yes"?>
<Relationships xmlns="http://schemas.openxmlformats.org/package/2006/relationships"><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tags" Target="../tags/tag74.xml"/><Relationship Id="rId4"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tags" Target="../tags/tag77.xml"/><Relationship Id="rId5" Type="http://schemas.openxmlformats.org/officeDocument/2006/relationships/slideMaster" Target="../slideMasters/slideMaster2.xml"/><Relationship Id="rId4" Type="http://schemas.openxmlformats.org/officeDocument/2006/relationships/tags" Target="../tags/tag80.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 Id="rId5" Type="http://schemas.openxmlformats.org/officeDocument/2006/relationships/slideMaster" Target="../slideMasters/slideMaster2.xml"/><Relationship Id="rId4" Type="http://schemas.openxmlformats.org/officeDocument/2006/relationships/tags" Target="../tags/tag84.xml"/></Relationships>
</file>

<file path=ppt/slideLayouts/_rels/slideLayout28.xml.rels><?xml version="1.0" encoding="UTF-8" standalone="yes"?>
<Relationships xmlns="http://schemas.openxmlformats.org/package/2006/relationships"><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slideMaster" Target="../slideMasters/slideMaster2.xml"/><Relationship Id="rId5" Type="http://schemas.openxmlformats.org/officeDocument/2006/relationships/tags" Target="../tags/tag89.xml"/><Relationship Id="rId4" Type="http://schemas.openxmlformats.org/officeDocument/2006/relationships/tags" Target="../tags/tag88.xml"/></Relationships>
</file>

<file path=ppt/slideLayouts/_rels/slideLayout29.xml.rels><?xml version="1.0" encoding="UTF-8" standalone="yes"?>
<Relationships xmlns="http://schemas.openxmlformats.org/package/2006/relationships"><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slideMaster" Target="../slideMasters/slideMaster2.xml"/><Relationship Id="rId5" Type="http://schemas.openxmlformats.org/officeDocument/2006/relationships/tags" Target="../tags/tag94.xml"/><Relationship Id="rId4" Type="http://schemas.openxmlformats.org/officeDocument/2006/relationships/tags" Target="../tags/tag93.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95.xml"/></Relationships>
</file>

<file path=ppt/slideLayouts/_rels/slideLayout31.xml.rels><?xml version="1.0" encoding="UTF-8" standalone="yes"?>
<Relationships xmlns="http://schemas.openxmlformats.org/package/2006/relationships"><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 Id="rId5" Type="http://schemas.openxmlformats.org/officeDocument/2006/relationships/slideMaster" Target="../slideMasters/slideMaster2.xml"/><Relationship Id="rId4" Type="http://schemas.openxmlformats.org/officeDocument/2006/relationships/tags" Target="../tags/tag99.xml"/></Relationships>
</file>

<file path=ppt/slideLayouts/_rels/slideLayout32.xml.rels><?xml version="1.0" encoding="UTF-8" standalone="yes"?>
<Relationships xmlns="http://schemas.openxmlformats.org/package/2006/relationships"><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 Id="rId5" Type="http://schemas.openxmlformats.org/officeDocument/2006/relationships/slideMaster" Target="../slideMasters/slideMaster2.xml"/><Relationship Id="rId4" Type="http://schemas.openxmlformats.org/officeDocument/2006/relationships/tags" Target="../tags/tag103.xml"/></Relationships>
</file>

<file path=ppt/slideLayouts/_rels/slideLayout33.xml.rels><?xml version="1.0" encoding="UTF-8" standalone="yes"?>
<Relationships xmlns="http://schemas.openxmlformats.org/package/2006/relationships"><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tags" Target="../tags/tag104.xml"/><Relationship Id="rId4"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8.xml"/><Relationship Id="rId1" Type="http://schemas.openxmlformats.org/officeDocument/2006/relationships/tags" Target="../tags/tag107.xml"/></Relationships>
</file>

<file path=ppt/slideLayouts/_rels/slideLayout35.xml.rels><?xml version="1.0" encoding="UTF-8" standalone="yes"?>
<Relationships xmlns="http://schemas.openxmlformats.org/package/2006/relationships"><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tags" Target="../tags/tag113.xml"/><Relationship Id="rId6" Type="http://schemas.openxmlformats.org/officeDocument/2006/relationships/image" Target="../media/image2.png"/><Relationship Id="rId5" Type="http://schemas.openxmlformats.org/officeDocument/2006/relationships/slideMaster" Target="../slideMasters/slideMaster3.xml"/><Relationship Id="rId4" Type="http://schemas.openxmlformats.org/officeDocument/2006/relationships/tags" Target="../tags/tag116.xml"/></Relationships>
</file>

<file path=ppt/slideLayouts/_rels/slideLayout36.xml.rels><?xml version="1.0" encoding="UTF-8" standalone="yes"?>
<Relationships xmlns="http://schemas.openxmlformats.org/package/2006/relationships"><Relationship Id="rId3" Type="http://schemas.openxmlformats.org/officeDocument/2006/relationships/tags" Target="../tags/tag119.xml"/><Relationship Id="rId2" Type="http://schemas.openxmlformats.org/officeDocument/2006/relationships/tags" Target="../tags/tag118.xml"/><Relationship Id="rId1" Type="http://schemas.openxmlformats.org/officeDocument/2006/relationships/tags" Target="../tags/tag117.xml"/><Relationship Id="rId6" Type="http://schemas.openxmlformats.org/officeDocument/2006/relationships/image" Target="../media/image1.png"/><Relationship Id="rId5" Type="http://schemas.openxmlformats.org/officeDocument/2006/relationships/slideMaster" Target="../slideMasters/slideMaster3.xml"/><Relationship Id="rId4" Type="http://schemas.openxmlformats.org/officeDocument/2006/relationships/tags" Target="../tags/tag120.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21.xml"/></Relationships>
</file>

<file path=ppt/slideLayouts/_rels/slideLayout3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3.xml"/><Relationship Id="rId1" Type="http://schemas.openxmlformats.org/officeDocument/2006/relationships/tags" Target="../tags/tag122.xml"/></Relationships>
</file>

<file path=ppt/slideLayouts/_rels/slideLayout4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5.xml"/><Relationship Id="rId1" Type="http://schemas.openxmlformats.org/officeDocument/2006/relationships/tags" Target="../tags/tag124.xml"/></Relationships>
</file>

<file path=ppt/slideLayouts/_rels/slideLayout41.xml.rels><?xml version="1.0" encoding="UTF-8" standalone="yes"?>
<Relationships xmlns="http://schemas.openxmlformats.org/package/2006/relationships"><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tags" Target="../tags/tag126.xml"/><Relationship Id="rId4"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 Id="rId5" Type="http://schemas.openxmlformats.org/officeDocument/2006/relationships/slideMaster" Target="../slideMasters/slideMaster3.xml"/><Relationship Id="rId4" Type="http://schemas.openxmlformats.org/officeDocument/2006/relationships/tags" Target="../tags/tag132.xml"/></Relationships>
</file>

<file path=ppt/slideLayouts/_rels/slideLayout43.xml.rels><?xml version="1.0" encoding="UTF-8" standalone="yes"?>
<Relationships xmlns="http://schemas.openxmlformats.org/package/2006/relationships"><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tags" Target="../tags/tag133.xml"/><Relationship Id="rId5" Type="http://schemas.openxmlformats.org/officeDocument/2006/relationships/slideMaster" Target="../slideMasters/slideMaster3.xml"/><Relationship Id="rId4" Type="http://schemas.openxmlformats.org/officeDocument/2006/relationships/tags" Target="../tags/tag136.xml"/></Relationships>
</file>

<file path=ppt/slideLayouts/_rels/slideLayout44.xml.rels><?xml version="1.0" encoding="UTF-8" standalone="yes"?>
<Relationships xmlns="http://schemas.openxmlformats.org/package/2006/relationships"><Relationship Id="rId3" Type="http://schemas.openxmlformats.org/officeDocument/2006/relationships/tags" Target="../tags/tag139.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slideMaster" Target="../slideMasters/slideMaster3.xml"/><Relationship Id="rId5" Type="http://schemas.openxmlformats.org/officeDocument/2006/relationships/tags" Target="../tags/tag141.xml"/><Relationship Id="rId4" Type="http://schemas.openxmlformats.org/officeDocument/2006/relationships/tags" Target="../tags/tag140.xml"/></Relationships>
</file>

<file path=ppt/slideLayouts/_rels/slideLayout45.xml.rels><?xml version="1.0" encoding="UTF-8" standalone="yes"?>
<Relationships xmlns="http://schemas.openxmlformats.org/package/2006/relationships"><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tags" Target="../tags/tag142.xml"/><Relationship Id="rId6" Type="http://schemas.openxmlformats.org/officeDocument/2006/relationships/slideMaster" Target="../slideMasters/slideMaster3.xml"/><Relationship Id="rId5" Type="http://schemas.openxmlformats.org/officeDocument/2006/relationships/tags" Target="../tags/tag146.xml"/><Relationship Id="rId4" Type="http://schemas.openxmlformats.org/officeDocument/2006/relationships/tags" Target="../tags/tag145.xml"/></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47.xml"/></Relationships>
</file>

<file path=ppt/slideLayouts/_rels/slideLayout47.xml.rels><?xml version="1.0" encoding="UTF-8" standalone="yes"?>
<Relationships xmlns="http://schemas.openxmlformats.org/package/2006/relationships"><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tags" Target="../tags/tag148.xml"/><Relationship Id="rId5" Type="http://schemas.openxmlformats.org/officeDocument/2006/relationships/slideMaster" Target="../slideMasters/slideMaster3.xml"/><Relationship Id="rId4" Type="http://schemas.openxmlformats.org/officeDocument/2006/relationships/tags" Target="../tags/tag151.xml"/></Relationships>
</file>

<file path=ppt/slideLayouts/_rels/slideLayout48.xml.rels><?xml version="1.0" encoding="UTF-8" standalone="yes"?>
<Relationships xmlns="http://schemas.openxmlformats.org/package/2006/relationships"><Relationship Id="rId3" Type="http://schemas.openxmlformats.org/officeDocument/2006/relationships/tags" Target="../tags/tag154.xml"/><Relationship Id="rId2" Type="http://schemas.openxmlformats.org/officeDocument/2006/relationships/tags" Target="../tags/tag153.xml"/><Relationship Id="rId1" Type="http://schemas.openxmlformats.org/officeDocument/2006/relationships/tags" Target="../tags/tag152.xml"/><Relationship Id="rId5" Type="http://schemas.openxmlformats.org/officeDocument/2006/relationships/slideMaster" Target="../slideMasters/slideMaster3.xml"/><Relationship Id="rId4" Type="http://schemas.openxmlformats.org/officeDocument/2006/relationships/tags" Target="../tags/tag155.xml"/></Relationships>
</file>

<file path=ppt/slideLayouts/_rels/slideLayout49.xml.rels><?xml version="1.0" encoding="UTF-8" standalone="yes"?>
<Relationships xmlns="http://schemas.openxmlformats.org/package/2006/relationships"><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 Id="rId4"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0.xml"/><Relationship Id="rId1" Type="http://schemas.openxmlformats.org/officeDocument/2006/relationships/tags" Target="../tags/tag159.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a:gsLst>
            <a:gs pos="20000">
              <a:schemeClr val="bg2"/>
            </a:gs>
            <a:gs pos="100000">
              <a:schemeClr val="accent2"/>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custDataLst>
              <p:tags r:id="rId1"/>
            </p:custDataLst>
          </p:nvPr>
        </p:nvSpPr>
        <p:spPr bwMode="invGray">
          <a:xfrm>
            <a:off x="1371600" y="2149713"/>
            <a:ext cx="8426918" cy="2185214"/>
          </a:xfrm>
          <a:prstGeom prst="bracketPair">
            <a:avLst>
              <a:gd name="adj" fmla="val 0"/>
            </a:avLst>
          </a:prstGeom>
          <a:ln w="101600">
            <a:solidFill>
              <a:schemeClr val="accent3"/>
            </a:solidFill>
          </a:ln>
        </p:spPr>
        <p:txBody>
          <a:bodyPr wrap="square" lIns="228600" tIns="91440" rIns="182880" bIns="731520" anchor="t" anchorCtr="0">
            <a:spAutoFit/>
          </a:bodyPr>
          <a:lstStyle>
            <a:lvl1pPr algn="l">
              <a:defRPr sz="4400"/>
            </a:lvl1pPr>
          </a:lstStyle>
          <a:p>
            <a:r>
              <a:rPr lang="en-US"/>
              <a:t>Click to Add Title; 2 Lines of Copy; 60 Characters Maximum</a:t>
            </a:r>
          </a:p>
        </p:txBody>
      </p:sp>
      <p:sp>
        <p:nvSpPr>
          <p:cNvPr id="3" name="Subtitle 2"/>
          <p:cNvSpPr>
            <a:spLocks noGrp="1"/>
          </p:cNvSpPr>
          <p:nvPr>
            <p:ph type="subTitle" idx="1" hasCustomPrompt="1"/>
            <p:custDataLst>
              <p:tags r:id="rId2"/>
            </p:custDataLst>
          </p:nvPr>
        </p:nvSpPr>
        <p:spPr>
          <a:xfrm>
            <a:off x="1371600" y="3851940"/>
            <a:ext cx="8426919" cy="276999"/>
          </a:xfrm>
        </p:spPr>
        <p:txBody>
          <a:bodyPr wrap="square" lIns="246888" rIns="182880">
            <a:spAutoFit/>
          </a:bodyPr>
          <a:lstStyle>
            <a:lvl1pPr marL="0" marR="0" indent="0" algn="l" defTabSz="914400" rtl="0" eaLnBrk="1" fontAlgn="auto" latinLnBrk="0" hangingPunct="1">
              <a:lnSpc>
                <a:spcPct val="100000"/>
              </a:lnSpc>
              <a:spcBef>
                <a:spcPct val="0"/>
              </a:spcBef>
              <a:spcAft>
                <a:spcPct val="0"/>
              </a:spcAft>
              <a:buClrTx/>
              <a:buSzTx/>
              <a:buFont typeface="Arial" panose="020B0604020202020204" pitchFamily="34" charset="0"/>
              <a:buNone/>
              <a:defRPr sz="1800" b="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
        <p:nvSpPr>
          <p:cNvPr id="14" name="TextBox 13">
            <a:extLst>
              <a:ext uri="{FF2B5EF4-FFF2-40B4-BE49-F238E27FC236}">
                <a16:creationId xmlns:a16="http://schemas.microsoft.com/office/drawing/2014/main" id="{BB93A754-CF98-4BEB-BE89-ADF1CF77AA4F}"/>
              </a:ext>
            </a:extLst>
          </p:cNvPr>
          <p:cNvSpPr txBox="1"/>
          <p:nvPr>
            <p:custDataLst>
              <p:tags r:id="rId3"/>
            </p:custDataLst>
          </p:nvPr>
        </p:nvSpPr>
        <p:spPr>
          <a:xfrm>
            <a:off x="685800" y="6202757"/>
            <a:ext cx="7095744" cy="320040"/>
          </a:xfrm>
          <a:prstGeom prst="rect">
            <a:avLst/>
          </a:prstGeom>
          <a:noFill/>
        </p:spPr>
        <p:txBody>
          <a:bodyPr wrap="square" lIns="0" tIns="0" rIns="0" bIns="0" rtlCol="0" anchor="b" anchorCtr="0">
            <a:spAutoFit/>
          </a:bodyPr>
          <a:lstStyle/>
          <a:p>
            <a:r>
              <a:rPr lang="en-US" sz="700"/>
              <a:t>© </a:t>
            </a:r>
            <a:r>
              <a:rPr lang="en-IN" sz="700"/>
              <a:t>2026</a:t>
            </a:r>
            <a:r>
              <a:rPr lang="en-US" sz="700"/>
              <a:t>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27" name="Picture 26">
            <a:extLst>
              <a:ext uri="{FF2B5EF4-FFF2-40B4-BE49-F238E27FC236}">
                <a16:creationId xmlns:a16="http://schemas.microsoft.com/office/drawing/2014/main" id="{E77AE7DB-FD48-4294-BD87-EA8DA4C9EC3F}"/>
              </a:ext>
            </a:extLst>
          </p:cNvPr>
          <p:cNvPicPr>
            <a:picLocks noChangeAspect="1"/>
          </p:cNvPicPr>
          <p:nvPr>
            <p:custDataLst>
              <p:tags r:id="rId4"/>
            </p:custDataLst>
          </p:nvPr>
        </p:nvPicPr>
        <p:blipFill>
          <a:blip r:embed="rId6">
            <a:extLst>
              <a:ext uri="{28A0092B-C50C-407E-A947-70E740481C1C}">
                <a14:useLocalDpi xmlns:a14="http://schemas.microsoft.com/office/drawing/2010/main" val="0"/>
              </a:ext>
            </a:extLst>
          </a:blip>
          <a:stretch>
            <a:fillRect/>
          </a:stretch>
        </p:blipFill>
        <p:spPr>
          <a:xfrm>
            <a:off x="685800" y="685800"/>
            <a:ext cx="1737435" cy="395448"/>
          </a:xfrm>
          <a:prstGeom prst="rect">
            <a:avLst/>
          </a:prstGeom>
        </p:spPr>
      </p:pic>
    </p:spTree>
    <p:extLst>
      <p:ext uri="{BB962C8B-B14F-4D97-AF65-F5344CB8AC3E}">
        <p14:creationId xmlns:p14="http://schemas.microsoft.com/office/powerpoint/2010/main" val="36028393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2">
    <p:bg>
      <p:bgPr>
        <a:solidFill>
          <a:srgbClr val="E0F1FF"/>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custDataLst>
              <p:tags r:id="rId1"/>
            </p:custDataLst>
          </p:nvPr>
        </p:nvSpPr>
        <p:spPr bwMode="gray">
          <a:xfrm>
            <a:off x="1371600" y="2149713"/>
            <a:ext cx="8426919" cy="2185214"/>
          </a:xfrm>
          <a:prstGeom prst="bracketPair">
            <a:avLst>
              <a:gd name="adj" fmla="val 0"/>
            </a:avLst>
          </a:prstGeom>
          <a:ln w="114300">
            <a:solidFill>
              <a:schemeClr val="accent3"/>
            </a:solidFill>
          </a:ln>
        </p:spPr>
        <p:txBody>
          <a:bodyPr wrap="square" lIns="228600" tIns="91440" rIns="182880" bIns="731520" anchor="t" anchorCtr="0">
            <a:spAutoFit/>
          </a:bodyPr>
          <a:lstStyle>
            <a:lvl1pPr algn="l">
              <a:defRPr sz="4400"/>
            </a:lvl1pPr>
          </a:lstStyle>
          <a:p>
            <a:r>
              <a:rPr lang="en-US"/>
              <a:t>Click to Add Title; 2 Lines of Copy; 60 Characters Maximum</a:t>
            </a:r>
          </a:p>
        </p:txBody>
      </p:sp>
      <p:sp>
        <p:nvSpPr>
          <p:cNvPr id="14" name="TextBox 13">
            <a:extLst>
              <a:ext uri="{FF2B5EF4-FFF2-40B4-BE49-F238E27FC236}">
                <a16:creationId xmlns:a16="http://schemas.microsoft.com/office/drawing/2014/main" id="{BB93A754-CF98-4BEB-BE89-ADF1CF77AA4F}"/>
              </a:ext>
            </a:extLst>
          </p:cNvPr>
          <p:cNvSpPr txBox="1"/>
          <p:nvPr>
            <p:custDataLst>
              <p:tags r:id="rId2"/>
            </p:custDataLst>
          </p:nvPr>
        </p:nvSpPr>
        <p:spPr>
          <a:xfrm>
            <a:off x="685800" y="6202757"/>
            <a:ext cx="7095744" cy="320040"/>
          </a:xfrm>
          <a:prstGeom prst="rect">
            <a:avLst/>
          </a:prstGeom>
          <a:noFill/>
        </p:spPr>
        <p:txBody>
          <a:bodyPr wrap="square" lIns="0" tIns="0" rIns="0" bIns="0" rtlCol="0" anchor="b" anchorCtr="0">
            <a:spAutoFit/>
          </a:bodyPr>
          <a:lstStyle/>
          <a:p>
            <a:r>
              <a:rPr lang="en-US" sz="700"/>
              <a:t>© </a:t>
            </a:r>
            <a:r>
              <a:rPr lang="en-IN" sz="700"/>
              <a:t>2026</a:t>
            </a:r>
            <a:r>
              <a:rPr lang="en-US" sz="700"/>
              <a:t>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8" name="Picture 7">
            <a:extLst>
              <a:ext uri="{FF2B5EF4-FFF2-40B4-BE49-F238E27FC236}">
                <a16:creationId xmlns:a16="http://schemas.microsoft.com/office/drawing/2014/main" id="{4B98EA9B-8D5B-4923-90F5-A4CDF4762E56}"/>
              </a:ext>
            </a:extLst>
          </p:cNvPr>
          <p:cNvPicPr>
            <a:picLocks noChangeAspect="1"/>
          </p:cNvPicPr>
          <p:nvPr userDrawn="1">
            <p:custDataLst>
              <p:tags r:id="rId3"/>
            </p:custDataLst>
          </p:nvPr>
        </p:nvPicPr>
        <p:blipFill>
          <a:blip r:embed="rId6">
            <a:extLst>
              <a:ext uri="{28A0092B-C50C-407E-A947-70E740481C1C}">
                <a14:useLocalDpi xmlns:a14="http://schemas.microsoft.com/office/drawing/2010/main" val="0"/>
              </a:ext>
            </a:extLst>
          </a:blip>
          <a:srcRect t="226" b="226"/>
          <a:stretch>
            <a:fillRect/>
          </a:stretch>
        </p:blipFill>
        <p:spPr>
          <a:xfrm>
            <a:off x="685800" y="685800"/>
            <a:ext cx="1736570" cy="395448"/>
          </a:xfrm>
          <a:prstGeom prst="rect">
            <a:avLst/>
          </a:prstGeom>
        </p:spPr>
      </p:pic>
      <p:sp>
        <p:nvSpPr>
          <p:cNvPr id="3" name="Subtitle 2"/>
          <p:cNvSpPr>
            <a:spLocks noGrp="1"/>
          </p:cNvSpPr>
          <p:nvPr>
            <p:ph type="subTitle" idx="1" hasCustomPrompt="1"/>
            <p:custDataLst>
              <p:tags r:id="rId4"/>
            </p:custDataLst>
          </p:nvPr>
        </p:nvSpPr>
        <p:spPr>
          <a:xfrm>
            <a:off x="1371600" y="3851940"/>
            <a:ext cx="8426919" cy="276999"/>
          </a:xfrm>
        </p:spPr>
        <p:txBody>
          <a:bodyPr lIns="246888" rIns="182880">
            <a:spAutoFit/>
          </a:bodyPr>
          <a:lstStyle>
            <a:lvl1pPr marL="0" marR="0" indent="0" algn="l" defTabSz="914400" rtl="0" eaLnBrk="1" fontAlgn="auto" latinLnBrk="0" hangingPunct="1">
              <a:lnSpc>
                <a:spcPct val="100000"/>
              </a:lnSpc>
              <a:spcBef>
                <a:spcPct val="0"/>
              </a:spcBef>
              <a:spcAft>
                <a:spcPct val="0"/>
              </a:spcAft>
              <a:buClrTx/>
              <a:buSzTx/>
              <a:buFont typeface="Arial" panose="020B0604020202020204" pitchFamily="34" charset="0"/>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Tree>
    <p:extLst>
      <p:ext uri="{BB962C8B-B14F-4D97-AF65-F5344CB8AC3E}">
        <p14:creationId xmlns:p14="http://schemas.microsoft.com/office/powerpoint/2010/main" val="19090687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789675"/>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DE8436-F632-4929-A0C4-8AB62F36165A}"/>
              </a:ext>
            </a:extLst>
          </p:cNvPr>
          <p:cNvSpPr>
            <a:spLocks noGrp="1"/>
          </p:cNvSpPr>
          <p:nvPr>
            <p:ph type="title" hasCustomPrompt="1"/>
            <p:custDataLst>
              <p:tags r:id="rId1"/>
            </p:custDataLst>
          </p:nvPr>
        </p:nvSpPr>
        <p:spPr/>
        <p:txBody>
          <a:bodyPr/>
          <a:lstStyle/>
          <a:p>
            <a:r>
              <a:rPr lang="en-US"/>
              <a:t>Click to edit title</a:t>
            </a:r>
          </a:p>
        </p:txBody>
      </p:sp>
    </p:spTree>
    <p:extLst>
      <p:ext uri="{BB962C8B-B14F-4D97-AF65-F5344CB8AC3E}">
        <p14:creationId xmlns:p14="http://schemas.microsoft.com/office/powerpoint/2010/main" val="2352677434"/>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4EDECE2-F9F2-4351-A826-ACD78703CADF}"/>
              </a:ext>
            </a:extLst>
          </p:cNvPr>
          <p:cNvSpPr>
            <a:spLocks noGrp="1"/>
          </p:cNvSpPr>
          <p:nvPr>
            <p:ph type="title" hasCustomPrompt="1"/>
            <p:custDataLst>
              <p:tags r:id="rId1"/>
            </p:custDataLst>
          </p:nvPr>
        </p:nvSpPr>
        <p:spPr/>
        <p:txBody>
          <a:bodyPr/>
          <a:lstStyle/>
          <a:p>
            <a:r>
              <a:rPr lang="en-US"/>
              <a:t>Click to edit title</a:t>
            </a:r>
          </a:p>
        </p:txBody>
      </p:sp>
      <p:sp>
        <p:nvSpPr>
          <p:cNvPr id="3" name="Content Placeholder 2"/>
          <p:cNvSpPr>
            <a:spLocks noGrp="1"/>
          </p:cNvSpPr>
          <p:nvPr>
            <p:ph idx="1" hasCustomPrompt="1"/>
            <p:custDataLst>
              <p:tags r:id="rId2"/>
            </p:custDataLst>
          </p:nvPr>
        </p:nvSpPr>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22885013"/>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lumn graphics right">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p:txBody>
          <a:bodyPr/>
          <a:lstStyle/>
          <a:p>
            <a:r>
              <a:rPr lang="en-US"/>
              <a:t>Click to edit title</a:t>
            </a:r>
          </a:p>
        </p:txBody>
      </p:sp>
      <p:sp>
        <p:nvSpPr>
          <p:cNvPr id="3" name="Content Placeholder 2"/>
          <p:cNvSpPr>
            <a:spLocks noGrp="1"/>
          </p:cNvSpPr>
          <p:nvPr>
            <p:ph sz="half" idx="1" hasCustomPrompt="1"/>
            <p:custDataLst>
              <p:tags r:id="rId2"/>
            </p:custDataLst>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94041999"/>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p:txBody>
          <a:bodyPr/>
          <a:lstStyle/>
          <a:p>
            <a:r>
              <a:rPr lang="en-US"/>
              <a:t>Click to edit title</a:t>
            </a:r>
          </a:p>
        </p:txBody>
      </p:sp>
      <p:sp>
        <p:nvSpPr>
          <p:cNvPr id="3" name="Content Placeholder 2"/>
          <p:cNvSpPr>
            <a:spLocks noGrp="1"/>
          </p:cNvSpPr>
          <p:nvPr>
            <p:ph sz="half" idx="1" hasCustomPrompt="1"/>
            <p:custDataLst>
              <p:tags r:id="rId2"/>
            </p:custDataLst>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custDataLst>
              <p:tags r:id="rId3"/>
            </p:custDataLst>
          </p:nvPr>
        </p:nvSpPr>
        <p:spPr>
          <a:xfrm>
            <a:off x="6236208"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978377"/>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hree column">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p:txBody>
          <a:bodyPr/>
          <a:lstStyle/>
          <a:p>
            <a:r>
              <a:rPr lang="en-US"/>
              <a:t>Click to edit title</a:t>
            </a:r>
          </a:p>
        </p:txBody>
      </p:sp>
      <p:sp>
        <p:nvSpPr>
          <p:cNvPr id="3" name="Content Placeholder 2"/>
          <p:cNvSpPr>
            <a:spLocks noGrp="1"/>
          </p:cNvSpPr>
          <p:nvPr>
            <p:ph sz="half" idx="1" hasCustomPrompt="1"/>
            <p:custDataLst>
              <p:tags r:id="rId2"/>
            </p:custDataLst>
          </p:nvPr>
        </p:nvSpPr>
        <p:spPr>
          <a:xfrm>
            <a:off x="457200"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custDataLst>
              <p:tags r:id="rId3"/>
            </p:custDataLst>
          </p:nvPr>
        </p:nvSpPr>
        <p:spPr>
          <a:xfrm>
            <a:off x="4425696"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custDataLst>
              <p:tags r:id="rId4"/>
            </p:custDataLst>
          </p:nvPr>
        </p:nvSpPr>
        <p:spPr>
          <a:xfrm>
            <a:off x="8394192"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141238"/>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hree column shaded">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p:txBody>
          <a:bodyPr/>
          <a:lstStyle/>
          <a:p>
            <a:r>
              <a:rPr lang="en-US"/>
              <a:t>Click to edit title</a:t>
            </a:r>
          </a:p>
        </p:txBody>
      </p:sp>
      <p:sp>
        <p:nvSpPr>
          <p:cNvPr id="3" name="Content Placeholder 2"/>
          <p:cNvSpPr>
            <a:spLocks noGrp="1"/>
          </p:cNvSpPr>
          <p:nvPr>
            <p:ph sz="half" idx="1" hasCustomPrompt="1"/>
            <p:custDataLst>
              <p:tags r:id="rId2"/>
            </p:custDataLst>
          </p:nvPr>
        </p:nvSpPr>
        <p:spPr bwMode="ltGray">
          <a:xfrm>
            <a:off x="457200" y="1527048"/>
            <a:ext cx="3337560" cy="4462272"/>
          </a:xfrm>
          <a:solidFill>
            <a:srgbClr val="E0F1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custDataLst>
              <p:tags r:id="rId3"/>
            </p:custDataLst>
          </p:nvPr>
        </p:nvSpPr>
        <p:spPr bwMode="ltGray">
          <a:xfrm>
            <a:off x="4425696" y="1527048"/>
            <a:ext cx="3337560" cy="4462272"/>
          </a:xfrm>
          <a:solidFill>
            <a:srgbClr val="E0F1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custDataLst>
              <p:tags r:id="rId4"/>
            </p:custDataLst>
          </p:nvPr>
        </p:nvSpPr>
        <p:spPr bwMode="ltGray">
          <a:xfrm>
            <a:off x="8394192" y="1527048"/>
            <a:ext cx="3337560" cy="4462272"/>
          </a:xfrm>
          <a:solidFill>
            <a:srgbClr val="E0F1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9462584"/>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Four column">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custDataLst>
              <p:tags r:id="rId2"/>
            </p:custDataLst>
          </p:nvPr>
        </p:nvSpPr>
        <p:spPr>
          <a:xfrm>
            <a:off x="457200"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custDataLst>
              <p:tags r:id="rId3"/>
            </p:custDataLst>
          </p:nvPr>
        </p:nvSpPr>
        <p:spPr>
          <a:xfrm>
            <a:off x="3348482"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custDataLst>
              <p:tags r:id="rId4"/>
            </p:custDataLst>
          </p:nvPr>
        </p:nvSpPr>
        <p:spPr>
          <a:xfrm>
            <a:off x="6239764"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B226B5DF-DF35-419C-8251-4F81A740D77A}"/>
              </a:ext>
            </a:extLst>
          </p:cNvPr>
          <p:cNvSpPr>
            <a:spLocks noGrp="1"/>
          </p:cNvSpPr>
          <p:nvPr>
            <p:ph sz="half" idx="11" hasCustomPrompt="1"/>
            <p:custDataLst>
              <p:tags r:id="rId5"/>
            </p:custDataLst>
          </p:nvPr>
        </p:nvSpPr>
        <p:spPr>
          <a:xfrm>
            <a:off x="9131046"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6599461"/>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Four column shaded">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custDataLst>
              <p:tags r:id="rId2"/>
            </p:custDataLst>
          </p:nvPr>
        </p:nvSpPr>
        <p:spPr bwMode="ltGray">
          <a:xfrm>
            <a:off x="457200"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custDataLst>
              <p:tags r:id="rId3"/>
            </p:custDataLst>
          </p:nvPr>
        </p:nvSpPr>
        <p:spPr bwMode="ltGray">
          <a:xfrm>
            <a:off x="3348482"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custDataLst>
              <p:tags r:id="rId4"/>
            </p:custDataLst>
          </p:nvPr>
        </p:nvSpPr>
        <p:spPr bwMode="ltGray">
          <a:xfrm>
            <a:off x="6239764"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F44528D9-D4DF-4ABD-97AD-FCFEE24F7C53}"/>
              </a:ext>
            </a:extLst>
          </p:cNvPr>
          <p:cNvSpPr>
            <a:spLocks noGrp="1"/>
          </p:cNvSpPr>
          <p:nvPr>
            <p:ph sz="half" idx="11" hasCustomPrompt="1"/>
            <p:custDataLst>
              <p:tags r:id="rId5"/>
            </p:custDataLst>
          </p:nvPr>
        </p:nvSpPr>
        <p:spPr bwMode="ltGray">
          <a:xfrm>
            <a:off x="9131046"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66284199"/>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Slide">
    <p:bg>
      <p:bgPr>
        <a:solidFill>
          <a:srgbClr val="E0F1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BAA7-7402-7653-A21A-2C33B981B892}"/>
              </a:ext>
            </a:extLst>
          </p:cNvPr>
          <p:cNvSpPr>
            <a:spLocks noGrp="1"/>
          </p:cNvSpPr>
          <p:nvPr>
            <p:ph type="title" hasCustomPrompt="1"/>
            <p:custDataLst>
              <p:tags r:id="rId1"/>
            </p:custDataLst>
          </p:nvPr>
        </p:nvSpPr>
        <p:spPr bwMode="gray">
          <a:xfrm>
            <a:off x="1365814" y="1590378"/>
            <a:ext cx="5408210" cy="2031326"/>
          </a:xfrm>
          <a:prstGeom prst="bracketPair">
            <a:avLst>
              <a:gd name="adj" fmla="val 0"/>
            </a:avLst>
          </a:prstGeom>
          <a:ln w="101600">
            <a:solidFill>
              <a:schemeClr val="accent3"/>
            </a:solidFill>
          </a:ln>
        </p:spPr>
        <p:txBody>
          <a:bodyPr wrap="square" lIns="228600" rIns="182880" anchor="ctr" anchorCtr="0">
            <a:spAutoFit/>
          </a:bodyPr>
          <a:lstStyle>
            <a:lvl1pPr>
              <a:defRPr sz="4400"/>
            </a:lvl1pPr>
          </a:lstStyle>
          <a:p>
            <a:r>
              <a:rPr lang="en-US"/>
              <a:t>Divider Slide</a:t>
            </a:r>
            <a:br>
              <a:rPr lang="en-US"/>
            </a:br>
            <a:r>
              <a:rPr lang="en-US"/>
              <a:t>30 Characters Max.</a:t>
            </a:r>
            <a:br>
              <a:rPr lang="en-US"/>
            </a:br>
            <a:r>
              <a:rPr lang="en-US"/>
              <a:t>Lorem Ipsum</a:t>
            </a:r>
          </a:p>
        </p:txBody>
      </p:sp>
    </p:spTree>
    <p:extLst>
      <p:ext uri="{BB962C8B-B14F-4D97-AF65-F5344CB8AC3E}">
        <p14:creationId xmlns:p14="http://schemas.microsoft.com/office/powerpoint/2010/main" val="282060281"/>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eft Rai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1F3F689-0EFE-267D-1F38-8A7BB7CF62AF}"/>
              </a:ext>
            </a:extLst>
          </p:cNvPr>
          <p:cNvSpPr/>
          <p:nvPr userDrawn="1">
            <p:custDataLst>
              <p:tags r:id="rId1"/>
            </p:custDataLst>
          </p:nvPr>
        </p:nvSpPr>
        <p:spPr bwMode="invGray">
          <a:xfrm>
            <a:off x="-1" y="0"/>
            <a:ext cx="4050792" cy="6858000"/>
          </a:xfrm>
          <a:prstGeom prst="rect">
            <a:avLst/>
          </a:prstGeom>
          <a:gradFill>
            <a:gsLst>
              <a:gs pos="20000">
                <a:srgbClr val="002869"/>
              </a:gs>
              <a:gs pos="100000">
                <a:srgbClr val="0057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9D03778-9F51-35F8-9B55-7FB58E49C224}"/>
              </a:ext>
            </a:extLst>
          </p:cNvPr>
          <p:cNvSpPr>
            <a:spLocks noGrp="1"/>
          </p:cNvSpPr>
          <p:nvPr>
            <p:ph type="title"/>
            <p:custDataLst>
              <p:tags r:id="rId2"/>
            </p:custDataLst>
          </p:nvPr>
        </p:nvSpPr>
        <p:spPr>
          <a:xfrm>
            <a:off x="457200" y="361950"/>
            <a:ext cx="3114675" cy="2051312"/>
          </a:xfrm>
        </p:spPr>
        <p:txBody>
          <a:bodyPr/>
          <a:lstStyle>
            <a:lvl1pPr>
              <a:defRPr>
                <a:solidFill>
                  <a:srgbClr val="FFFFFF"/>
                </a:solidFill>
              </a:defRPr>
            </a:lvl1pPr>
          </a:lstStyle>
          <a:p>
            <a:r>
              <a:rPr lang="en-US"/>
              <a:t>Click to edit Master title style</a:t>
            </a:r>
          </a:p>
        </p:txBody>
      </p:sp>
      <p:sp>
        <p:nvSpPr>
          <p:cNvPr id="4" name="TextBox 3">
            <a:extLst>
              <a:ext uri="{FF2B5EF4-FFF2-40B4-BE49-F238E27FC236}">
                <a16:creationId xmlns:a16="http://schemas.microsoft.com/office/drawing/2014/main" id="{64B9B515-6C0A-2DCC-BDD9-2AEDE0D6D5DB}"/>
              </a:ext>
            </a:extLst>
          </p:cNvPr>
          <p:cNvSpPr txBox="1"/>
          <p:nvPr userDrawn="1">
            <p:custDataLst>
              <p:tags r:id="rId3"/>
            </p:custDataLst>
          </p:nvPr>
        </p:nvSpPr>
        <p:spPr>
          <a:xfrm>
            <a:off x="457200" y="6394704"/>
            <a:ext cx="3566160" cy="152400"/>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rgbClr val="FFFFFF"/>
                </a:solidFill>
              </a:rPr>
              <a:t>‹#›</a:t>
            </a:fld>
            <a:r>
              <a:rPr lang="en-US" sz="700" b="0">
                <a:solidFill>
                  <a:srgbClr val="FFFFFF"/>
                </a:solidFill>
              </a:rPr>
              <a:t>	RESTRICTED ©  2026, Inc. and/or its affiliates. All rights reserved.</a:t>
            </a:r>
          </a:p>
        </p:txBody>
      </p:sp>
      <p:sp>
        <p:nvSpPr>
          <p:cNvPr id="6" name="Content Placeholder 5">
            <a:extLst>
              <a:ext uri="{FF2B5EF4-FFF2-40B4-BE49-F238E27FC236}">
                <a16:creationId xmlns:a16="http://schemas.microsoft.com/office/drawing/2014/main" id="{D3AB07D3-66B0-EF24-E15D-D61DB03311CA}"/>
              </a:ext>
            </a:extLst>
          </p:cNvPr>
          <p:cNvSpPr>
            <a:spLocks noGrp="1"/>
          </p:cNvSpPr>
          <p:nvPr>
            <p:ph sz="quarter" idx="10"/>
            <p:custDataLst>
              <p:tags r:id="rId4"/>
            </p:custDataLst>
          </p:nvPr>
        </p:nvSpPr>
        <p:spPr>
          <a:xfrm>
            <a:off x="4478482" y="1346200"/>
            <a:ext cx="7256318" cy="4504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2706901"/>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C83FFE-85A9-5C0D-5033-94BE254D3694}"/>
              </a:ext>
            </a:extLst>
          </p:cNvPr>
          <p:cNvSpPr txBox="1"/>
          <p:nvPr userDrawn="1">
            <p:custDataLst>
              <p:tags r:id="rId1"/>
            </p:custDataLst>
          </p:nvPr>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2" name="Title 1">
            <a:extLst>
              <a:ext uri="{FF2B5EF4-FFF2-40B4-BE49-F238E27FC236}">
                <a16:creationId xmlns:a16="http://schemas.microsoft.com/office/drawing/2014/main" id="{8B478971-A225-4A64-8E00-AA9C8577611D}"/>
              </a:ext>
            </a:extLst>
          </p:cNvPr>
          <p:cNvSpPr>
            <a:spLocks noGrp="1"/>
          </p:cNvSpPr>
          <p:nvPr>
            <p:ph type="title" hasCustomPrompt="1"/>
            <p:custDataLst>
              <p:tags r:id="rId2"/>
            </p:custDataLst>
          </p:nvPr>
        </p:nvSpPr>
        <p:spPr>
          <a:xfrm>
            <a:off x="773056" y="1009268"/>
            <a:ext cx="5718415" cy="4476115"/>
          </a:xfrm>
        </p:spPr>
        <p:txBody>
          <a:bodyPr anchor="ctr" anchorCtr="0"/>
          <a:lstStyle>
            <a:lvl1pPr marL="0" indent="0">
              <a:lnSpc>
                <a:spcPct val="100000"/>
              </a:lnSpc>
              <a:defRPr sz="2800">
                <a:latin typeface="+mj-lt"/>
              </a:defRPr>
            </a:lvl1pPr>
          </a:lstStyle>
          <a:p>
            <a:r>
              <a:rPr lang="en-US"/>
              <a:t>Quote placeholder Lorem ipsum dolor sit amet, conse ctet ur adipiscing elit. Mauris accum san urna. Sus pendisse sem per semper commodo.”</a:t>
            </a:r>
          </a:p>
        </p:txBody>
      </p:sp>
      <p:sp>
        <p:nvSpPr>
          <p:cNvPr id="3" name="Text Placeholder 2">
            <a:extLst>
              <a:ext uri="{FF2B5EF4-FFF2-40B4-BE49-F238E27FC236}">
                <a16:creationId xmlns:a16="http://schemas.microsoft.com/office/drawing/2014/main" id="{44D4D588-53FA-4557-81C5-0FF86A2FBBA3}"/>
              </a:ext>
            </a:extLst>
          </p:cNvPr>
          <p:cNvSpPr>
            <a:spLocks noGrp="1"/>
          </p:cNvSpPr>
          <p:nvPr>
            <p:ph type="body" idx="1" hasCustomPrompt="1"/>
            <p:custDataLst>
              <p:tags r:id="rId3"/>
            </p:custDataLst>
          </p:nvPr>
        </p:nvSpPr>
        <p:spPr>
          <a:xfrm>
            <a:off x="773056" y="5641514"/>
            <a:ext cx="5718415"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
        <p:nvSpPr>
          <p:cNvPr id="10" name="Picture Placeholder 9">
            <a:extLst>
              <a:ext uri="{FF2B5EF4-FFF2-40B4-BE49-F238E27FC236}">
                <a16:creationId xmlns:a16="http://schemas.microsoft.com/office/drawing/2014/main" id="{D2E7EA53-F4D0-483C-9798-E23D7CCB2A12}"/>
              </a:ext>
            </a:extLst>
          </p:cNvPr>
          <p:cNvSpPr>
            <a:spLocks noGrp="1"/>
          </p:cNvSpPr>
          <p:nvPr>
            <p:ph type="pic" sz="quarter" idx="10"/>
            <p:custDataLst>
              <p:tags r:id="rId4"/>
            </p:custDataLst>
          </p:nvPr>
        </p:nvSpPr>
        <p:spPr>
          <a:xfrm>
            <a:off x="7043928" y="1346199"/>
            <a:ext cx="4690872" cy="4297680"/>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3827290906"/>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C41137-E6C9-A053-8403-388C27EB8CE1}"/>
              </a:ext>
            </a:extLst>
          </p:cNvPr>
          <p:cNvSpPr txBox="1"/>
          <p:nvPr userDrawn="1">
            <p:custDataLst>
              <p:tags r:id="rId1"/>
            </p:custDataLst>
          </p:nvPr>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6" name="Title 1">
            <a:extLst>
              <a:ext uri="{FF2B5EF4-FFF2-40B4-BE49-F238E27FC236}">
                <a16:creationId xmlns:a16="http://schemas.microsoft.com/office/drawing/2014/main" id="{A5204F30-1AF4-524D-A3DC-8D6F9529A61E}"/>
              </a:ext>
            </a:extLst>
          </p:cNvPr>
          <p:cNvSpPr>
            <a:spLocks noGrp="1"/>
          </p:cNvSpPr>
          <p:nvPr>
            <p:ph type="title" hasCustomPrompt="1"/>
            <p:custDataLst>
              <p:tags r:id="rId2"/>
            </p:custDataLst>
          </p:nvPr>
        </p:nvSpPr>
        <p:spPr>
          <a:xfrm>
            <a:off x="773054" y="995363"/>
            <a:ext cx="8086466" cy="4460875"/>
          </a:xfrm>
        </p:spPr>
        <p:txBody>
          <a:bodyPr anchor="ctr" anchorCtr="0"/>
          <a:lstStyle>
            <a:lvl1pPr marL="0" indent="0">
              <a:lnSpc>
                <a:spcPct val="100000"/>
              </a:lnSpc>
              <a:defRPr sz="2800"/>
            </a:lvl1pPr>
          </a:lstStyle>
          <a:p>
            <a:r>
              <a:rPr lang="en-US"/>
              <a:t>Quote placeholder Lorem ipsum dolor sit amet, conse ctet ur adip iscing elit. Mauris accum san urna. Sus pendisse sem per semper commodo lorem.”</a:t>
            </a:r>
          </a:p>
        </p:txBody>
      </p:sp>
      <p:sp>
        <p:nvSpPr>
          <p:cNvPr id="7" name="Text Placeholder 2">
            <a:extLst>
              <a:ext uri="{FF2B5EF4-FFF2-40B4-BE49-F238E27FC236}">
                <a16:creationId xmlns:a16="http://schemas.microsoft.com/office/drawing/2014/main" id="{D53A335E-67E2-3E4F-88F7-0D3EB5BAE73D}"/>
              </a:ext>
            </a:extLst>
          </p:cNvPr>
          <p:cNvSpPr>
            <a:spLocks noGrp="1"/>
          </p:cNvSpPr>
          <p:nvPr>
            <p:ph type="body" idx="1" hasCustomPrompt="1"/>
            <p:custDataLst>
              <p:tags r:id="rId3"/>
            </p:custDataLst>
          </p:nvPr>
        </p:nvSpPr>
        <p:spPr>
          <a:xfrm>
            <a:off x="773056" y="5641514"/>
            <a:ext cx="8086463"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Tree>
    <p:extLst>
      <p:ext uri="{BB962C8B-B14F-4D97-AF65-F5344CB8AC3E}">
        <p14:creationId xmlns:p14="http://schemas.microsoft.com/office/powerpoint/2010/main" val="1157396392"/>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FFFF0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65764A-9DB5-E0B9-2854-737204071442}"/>
              </a:ext>
            </a:extLst>
          </p:cNvPr>
          <p:cNvSpPr txBox="1"/>
          <p:nvPr userDrawn="1">
            <p:custDataLst>
              <p:tags r:id="rId1"/>
            </p:custDataLst>
          </p:nvPr>
        </p:nvSpPr>
        <p:spPr>
          <a:xfrm>
            <a:off x="208972" y="189623"/>
            <a:ext cx="11774056" cy="6555641"/>
          </a:xfrm>
          <a:prstGeom prst="rect">
            <a:avLst/>
          </a:prstGeom>
          <a:noFill/>
        </p:spPr>
        <p:txBody>
          <a:bodyPr wrap="none" lIns="0" rIns="0" rtlCol="0">
            <a:spAutoFit/>
          </a:bodyPr>
          <a:lstStyle/>
          <a:p>
            <a:pPr algn="ctr">
              <a:spcBef>
                <a:spcPts val="600"/>
              </a:spcBef>
            </a:pPr>
            <a:r>
              <a:rPr lang="en-US" sz="9600">
                <a:solidFill>
                  <a:srgbClr val="00002D"/>
                </a:solidFill>
                <a:latin typeface="+mj-lt"/>
              </a:rPr>
              <a:t>Don’t use this or any </a:t>
            </a:r>
            <a:br>
              <a:rPr lang="en-US" sz="9600">
                <a:solidFill>
                  <a:srgbClr val="00002D"/>
                </a:solidFill>
                <a:latin typeface="+mj-lt"/>
              </a:rPr>
            </a:br>
            <a:r>
              <a:rPr lang="en-US" sz="9600">
                <a:solidFill>
                  <a:srgbClr val="00002D"/>
                </a:solidFill>
                <a:latin typeface="+mj-lt"/>
              </a:rPr>
              <a:t>layouts after this.</a:t>
            </a:r>
            <a:endParaRPr lang="en-US" sz="4400">
              <a:solidFill>
                <a:srgbClr val="00002D"/>
              </a:solidFill>
              <a:latin typeface="+mj-lt"/>
            </a:endParaRPr>
          </a:p>
          <a:p>
            <a:pPr algn="ctr">
              <a:spcBef>
                <a:spcPts val="3600"/>
              </a:spcBef>
            </a:pPr>
            <a:r>
              <a:rPr lang="en-US" sz="6600">
                <a:solidFill>
                  <a:srgbClr val="00002D"/>
                </a:solidFill>
              </a:rPr>
              <a:t>Choose an appropriate </a:t>
            </a:r>
            <a:br>
              <a:rPr lang="en-US" sz="6600">
                <a:solidFill>
                  <a:srgbClr val="00002D"/>
                </a:solidFill>
              </a:rPr>
            </a:br>
            <a:r>
              <a:rPr lang="en-US" sz="6600">
                <a:solidFill>
                  <a:srgbClr val="00002D"/>
                </a:solidFill>
              </a:rPr>
              <a:t>layout from </a:t>
            </a:r>
            <a:br>
              <a:rPr lang="en-US" sz="6600">
                <a:solidFill>
                  <a:srgbClr val="00002D"/>
                </a:solidFill>
              </a:rPr>
            </a:br>
            <a:r>
              <a:rPr lang="en-US" sz="6600" b="1">
                <a:solidFill>
                  <a:srgbClr val="00002D"/>
                </a:solidFill>
              </a:rPr>
              <a:t>Home</a:t>
            </a:r>
            <a:r>
              <a:rPr lang="en-US" sz="6600">
                <a:solidFill>
                  <a:srgbClr val="00002D"/>
                </a:solidFill>
              </a:rPr>
              <a:t> &gt; </a:t>
            </a:r>
            <a:r>
              <a:rPr lang="en-US" sz="6600" b="1">
                <a:solidFill>
                  <a:srgbClr val="00002D"/>
                </a:solidFill>
              </a:rPr>
              <a:t>Layout gallery</a:t>
            </a:r>
            <a:r>
              <a:rPr lang="en-US" sz="6600">
                <a:solidFill>
                  <a:srgbClr val="00002D"/>
                </a:solidFill>
              </a:rPr>
              <a:t>.</a:t>
            </a:r>
          </a:p>
        </p:txBody>
      </p:sp>
      <p:sp>
        <p:nvSpPr>
          <p:cNvPr id="4" name="TextBox 3">
            <a:extLst>
              <a:ext uri="{FF2B5EF4-FFF2-40B4-BE49-F238E27FC236}">
                <a16:creationId xmlns:a16="http://schemas.microsoft.com/office/drawing/2014/main" id="{AA84E2C2-7CA7-DF36-F217-BE27B9E2B7F8}"/>
              </a:ext>
            </a:extLst>
          </p:cNvPr>
          <p:cNvSpPr txBox="1"/>
          <p:nvPr userDrawn="1">
            <p:custDataLst>
              <p:tags r:id="rId2"/>
            </p:custDataLst>
          </p:nvPr>
        </p:nvSpPr>
        <p:spPr>
          <a:xfrm>
            <a:off x="12346930" y="835909"/>
            <a:ext cx="2668480" cy="2539157"/>
          </a:xfrm>
          <a:prstGeom prst="rect">
            <a:avLst/>
          </a:prstGeom>
          <a:noFill/>
          <a:ln>
            <a:solidFill>
              <a:srgbClr val="707996"/>
            </a:solidFill>
          </a:ln>
        </p:spPr>
        <p:txBody>
          <a:bodyPr wrap="square" lIns="91440" rIns="91440" rtlCol="0">
            <a:spAutoFit/>
          </a:bodyPr>
          <a:lstStyle/>
          <a:p>
            <a:pPr algn="l">
              <a:spcBef>
                <a:spcPts val="600"/>
              </a:spcBef>
            </a:pPr>
            <a:r>
              <a:rPr lang="en-US" sz="1400">
                <a:solidFill>
                  <a:srgbClr val="00002D"/>
                </a:solidFill>
              </a:rPr>
              <a:t>When pasting legacy slides that doesn’t match any of the new layouts, PowerPoint adds it to the end of the layouts and prepends the layout name with a number (1_Title Slide, for example). </a:t>
            </a:r>
          </a:p>
          <a:p>
            <a:pPr algn="l">
              <a:spcBef>
                <a:spcPts val="600"/>
              </a:spcBef>
            </a:pPr>
            <a:r>
              <a:rPr lang="en-US" sz="1400">
                <a:solidFill>
                  <a:srgbClr val="00002D"/>
                </a:solidFill>
              </a:rPr>
              <a:t>These “orphaned” layouts should not be used, instead choose from the layouts preceding this one. </a:t>
            </a:r>
          </a:p>
        </p:txBody>
      </p:sp>
    </p:spTree>
    <p:extLst>
      <p:ext uri="{BB962C8B-B14F-4D97-AF65-F5344CB8AC3E}">
        <p14:creationId xmlns:p14="http://schemas.microsoft.com/office/powerpoint/2010/main" val="1491741291"/>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p:txBody>
          <a:bodyPr/>
          <a:lstStyle>
            <a:lvl1pPr>
              <a:defRPr/>
            </a:lvl1pPr>
          </a:lstStyle>
          <a:p>
            <a:r>
              <a:rPr lang="en-US"/>
              <a:t>Click to edit title</a:t>
            </a:r>
          </a:p>
        </p:txBody>
      </p:sp>
    </p:spTree>
    <p:extLst>
      <p:ext uri="{BB962C8B-B14F-4D97-AF65-F5344CB8AC3E}">
        <p14:creationId xmlns:p14="http://schemas.microsoft.com/office/powerpoint/2010/main" val="1002323837"/>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p:txBody>
          <a:bodyPr/>
          <a:lstStyle>
            <a:lvl1pPr>
              <a:defRPr/>
            </a:lvl1pPr>
          </a:lstStyle>
          <a:p>
            <a:r>
              <a:rPr lang="en-US"/>
              <a:t>Click to edit title</a:t>
            </a:r>
          </a:p>
        </p:txBody>
      </p:sp>
      <p:sp>
        <p:nvSpPr>
          <p:cNvPr id="7" name="Content Placeholder 6"/>
          <p:cNvSpPr>
            <a:spLocks noGrp="1"/>
          </p:cNvSpPr>
          <p:nvPr>
            <p:ph sz="quarter" idx="10" hasCustomPrompt="1"/>
            <p:custDataLst>
              <p:tags r:id="rId2"/>
            </p:custDataLst>
          </p:nvPr>
        </p:nvSpPr>
        <p:spPr/>
        <p:txBody>
          <a:bodyPr/>
          <a:lstStyle>
            <a:lvl1pPr>
              <a:defRPr/>
            </a:lvl1pPr>
            <a:lvl2pPr>
              <a:defRPr/>
            </a:lvl2pPr>
            <a:lvl3pPr>
              <a:defRPr/>
            </a:lvl3pPr>
            <a:lvl4pPr>
              <a:defRPr/>
            </a:lvl4pPr>
            <a:lvl5pPr>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4650811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a:gsLst>
            <a:gs pos="20000">
              <a:schemeClr val="bg2"/>
            </a:gs>
            <a:gs pos="100000">
              <a:schemeClr val="accent2"/>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custDataLst>
              <p:tags r:id="rId1"/>
            </p:custDataLst>
          </p:nvPr>
        </p:nvSpPr>
        <p:spPr bwMode="invGray">
          <a:xfrm>
            <a:off x="1371600" y="2149713"/>
            <a:ext cx="8426919" cy="2185214"/>
          </a:xfrm>
          <a:prstGeom prst="bracketPair">
            <a:avLst>
              <a:gd name="adj" fmla="val 0"/>
            </a:avLst>
          </a:prstGeom>
          <a:ln w="101600">
            <a:solidFill>
              <a:schemeClr val="accent3"/>
            </a:solidFill>
          </a:ln>
        </p:spPr>
        <p:txBody>
          <a:bodyPr lIns="228600" tIns="91440" rIns="182880" bIns="731520" anchor="t" anchorCtr="0">
            <a:spAutoFit/>
          </a:bodyPr>
          <a:lstStyle>
            <a:lvl1pPr algn="l">
              <a:defRPr sz="4400"/>
            </a:lvl1pPr>
          </a:lstStyle>
          <a:p>
            <a:r>
              <a:rPr lang="en-US"/>
              <a:t>Click to Add Title; 2 Lines of Copy; 60 Characters Maximum</a:t>
            </a:r>
          </a:p>
        </p:txBody>
      </p:sp>
      <p:sp>
        <p:nvSpPr>
          <p:cNvPr id="3" name="Subtitle 2"/>
          <p:cNvSpPr>
            <a:spLocks noGrp="1"/>
          </p:cNvSpPr>
          <p:nvPr>
            <p:ph type="subTitle" idx="1" hasCustomPrompt="1"/>
            <p:custDataLst>
              <p:tags r:id="rId2"/>
            </p:custDataLst>
          </p:nvPr>
        </p:nvSpPr>
        <p:spPr>
          <a:xfrm>
            <a:off x="1371600" y="3851940"/>
            <a:ext cx="8426919" cy="276999"/>
          </a:xfrm>
        </p:spPr>
        <p:txBody>
          <a:bodyPr lIns="246888" rIns="182880">
            <a:spAutoFit/>
          </a:bodyPr>
          <a:lstStyle>
            <a:lvl1pPr marL="0" marR="0" indent="0" algn="l" defTabSz="914400" rtl="0" eaLnBrk="1" fontAlgn="auto" latinLnBrk="0" hangingPunct="1">
              <a:lnSpc>
                <a:spcPct val="100000"/>
              </a:lnSpc>
              <a:spcBef>
                <a:spcPct val="0"/>
              </a:spcBef>
              <a:spcAft>
                <a:spcPct val="0"/>
              </a:spcAft>
              <a:buClrTx/>
              <a:buSzTx/>
              <a:buFont typeface="Arial" panose="020B0604020202020204" pitchFamily="34" charset="0"/>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
        <p:nvSpPr>
          <p:cNvPr id="14" name="TextBox 13">
            <a:extLst>
              <a:ext uri="{FF2B5EF4-FFF2-40B4-BE49-F238E27FC236}">
                <a16:creationId xmlns:a16="http://schemas.microsoft.com/office/drawing/2014/main" id="{BB93A754-CF98-4BEB-BE89-ADF1CF77AA4F}"/>
              </a:ext>
            </a:extLst>
          </p:cNvPr>
          <p:cNvSpPr txBox="1"/>
          <p:nvPr>
            <p:custDataLst>
              <p:tags r:id="rId3"/>
            </p:custDataLst>
          </p:nvPr>
        </p:nvSpPr>
        <p:spPr>
          <a:xfrm>
            <a:off x="685800" y="6202757"/>
            <a:ext cx="7095744" cy="320040"/>
          </a:xfrm>
          <a:prstGeom prst="rect">
            <a:avLst/>
          </a:prstGeom>
          <a:noFill/>
        </p:spPr>
        <p:txBody>
          <a:bodyPr wrap="square" lIns="0" tIns="0" rIns="0" bIns="0" rtlCol="0" anchor="b" anchorCtr="0">
            <a:spAutoFit/>
          </a:bodyPr>
          <a:lstStyle/>
          <a:p>
            <a:r>
              <a:rPr lang="en-US" sz="700"/>
              <a:t>© </a:t>
            </a:r>
            <a:r>
              <a:rPr lang="en-IN" sz="700"/>
              <a:t>2026 </a:t>
            </a:r>
            <a:r>
              <a:rPr lang="en-US" sz="700"/>
              <a:t>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27" name="Picture 26">
            <a:extLst>
              <a:ext uri="{FF2B5EF4-FFF2-40B4-BE49-F238E27FC236}">
                <a16:creationId xmlns:a16="http://schemas.microsoft.com/office/drawing/2014/main" id="{E77AE7DB-FD48-4294-BD87-EA8DA4C9EC3F}"/>
              </a:ext>
            </a:extLst>
          </p:cNvPr>
          <p:cNvPicPr>
            <a:picLocks noChangeAspect="1"/>
          </p:cNvPicPr>
          <p:nvPr>
            <p:custDataLst>
              <p:tags r:id="rId4"/>
            </p:custDataLst>
          </p:nvPr>
        </p:nvPicPr>
        <p:blipFill>
          <a:blip r:embed="rId6">
            <a:extLst>
              <a:ext uri="{28A0092B-C50C-407E-A947-70E740481C1C}">
                <a14:useLocalDpi xmlns:a14="http://schemas.microsoft.com/office/drawing/2010/main" val="0"/>
              </a:ext>
            </a:extLst>
          </a:blip>
          <a:stretch>
            <a:fillRect/>
          </a:stretch>
        </p:blipFill>
        <p:spPr>
          <a:xfrm>
            <a:off x="685800" y="685800"/>
            <a:ext cx="1737435" cy="395448"/>
          </a:xfrm>
          <a:prstGeom prst="rect">
            <a:avLst/>
          </a:prstGeom>
        </p:spPr>
      </p:pic>
    </p:spTree>
    <p:extLst>
      <p:ext uri="{BB962C8B-B14F-4D97-AF65-F5344CB8AC3E}">
        <p14:creationId xmlns:p14="http://schemas.microsoft.com/office/powerpoint/2010/main" val="1637713437"/>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itle" preserve="1">
  <p:cSld name="Title Slide 2">
    <p:spTree>
      <p:nvGrpSpPr>
        <p:cNvPr id="1" name=""/>
        <p:cNvGrpSpPr/>
        <p:nvPr/>
      </p:nvGrpSpPr>
      <p:grpSpPr>
        <a:xfrm>
          <a:off x="0" y="0"/>
          <a:ext cx="0" cy="0"/>
          <a:chOff x="0" y="0"/>
          <a:chExt cx="0" cy="0"/>
        </a:xfrm>
      </p:grpSpPr>
      <p:sp>
        <p:nvSpPr>
          <p:cNvPr id="2" name="Title 1"/>
          <p:cNvSpPr>
            <a:spLocks noGrp="1"/>
          </p:cNvSpPr>
          <p:nvPr>
            <p:ph type="ctrTitle" hasCustomPrompt="1"/>
            <p:custDataLst>
              <p:tags r:id="rId1"/>
            </p:custDataLst>
          </p:nvPr>
        </p:nvSpPr>
        <p:spPr bwMode="gray">
          <a:xfrm>
            <a:off x="1371600" y="2149713"/>
            <a:ext cx="8426919" cy="2185214"/>
          </a:xfrm>
          <a:prstGeom prst="bracketPair">
            <a:avLst>
              <a:gd name="adj" fmla="val 0"/>
            </a:avLst>
          </a:prstGeom>
          <a:ln w="114300">
            <a:solidFill>
              <a:schemeClr val="accent3"/>
            </a:solidFill>
          </a:ln>
        </p:spPr>
        <p:txBody>
          <a:bodyPr lIns="228600" tIns="91440" rIns="182880" bIns="731520" anchor="t" anchorCtr="0">
            <a:spAutoFit/>
          </a:bodyPr>
          <a:lstStyle>
            <a:lvl1pPr algn="l">
              <a:defRPr sz="4400"/>
            </a:lvl1pPr>
          </a:lstStyle>
          <a:p>
            <a:r>
              <a:rPr lang="en-US"/>
              <a:t>Click to Add Title; 2 Lines of Copy; 60 Characters Maximum</a:t>
            </a:r>
          </a:p>
        </p:txBody>
      </p:sp>
      <p:sp>
        <p:nvSpPr>
          <p:cNvPr id="14" name="TextBox 13">
            <a:extLst>
              <a:ext uri="{FF2B5EF4-FFF2-40B4-BE49-F238E27FC236}">
                <a16:creationId xmlns:a16="http://schemas.microsoft.com/office/drawing/2014/main" id="{BB93A754-CF98-4BEB-BE89-ADF1CF77AA4F}"/>
              </a:ext>
            </a:extLst>
          </p:cNvPr>
          <p:cNvSpPr txBox="1"/>
          <p:nvPr>
            <p:custDataLst>
              <p:tags r:id="rId2"/>
            </p:custDataLst>
          </p:nvPr>
        </p:nvSpPr>
        <p:spPr>
          <a:xfrm>
            <a:off x="685800" y="6202757"/>
            <a:ext cx="7095744" cy="320040"/>
          </a:xfrm>
          <a:prstGeom prst="rect">
            <a:avLst/>
          </a:prstGeom>
          <a:noFill/>
        </p:spPr>
        <p:txBody>
          <a:bodyPr wrap="square" lIns="0" tIns="0" rIns="0" bIns="0" rtlCol="0" anchor="b" anchorCtr="0">
            <a:spAutoFit/>
          </a:bodyPr>
          <a:lstStyle/>
          <a:p>
            <a:r>
              <a:rPr lang="en-US" sz="700"/>
              <a:t>© </a:t>
            </a:r>
            <a:r>
              <a:rPr lang="en-IN" sz="700"/>
              <a:t>2026</a:t>
            </a:r>
            <a:r>
              <a:rPr lang="en-US" sz="700"/>
              <a:t>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8" name="Picture 7">
            <a:extLst>
              <a:ext uri="{FF2B5EF4-FFF2-40B4-BE49-F238E27FC236}">
                <a16:creationId xmlns:a16="http://schemas.microsoft.com/office/drawing/2014/main" id="{4B98EA9B-8D5B-4923-90F5-A4CDF4762E56}"/>
              </a:ext>
            </a:extLst>
          </p:cNvPr>
          <p:cNvPicPr>
            <a:picLocks noChangeAspect="1"/>
          </p:cNvPicPr>
          <p:nvPr userDrawn="1">
            <p:custDataLst>
              <p:tags r:id="rId3"/>
            </p:custDataLst>
          </p:nvPr>
        </p:nvPicPr>
        <p:blipFill>
          <a:blip r:embed="rId6">
            <a:extLst>
              <a:ext uri="{28A0092B-C50C-407E-A947-70E740481C1C}">
                <a14:useLocalDpi xmlns:a14="http://schemas.microsoft.com/office/drawing/2010/main" val="0"/>
              </a:ext>
            </a:extLst>
          </a:blip>
          <a:srcRect t="217" b="217"/>
          <a:stretch>
            <a:fillRect/>
          </a:stretch>
        </p:blipFill>
        <p:spPr>
          <a:xfrm>
            <a:off x="685800" y="685800"/>
            <a:ext cx="1736281" cy="395448"/>
          </a:xfrm>
          <a:prstGeom prst="rect">
            <a:avLst/>
          </a:prstGeom>
        </p:spPr>
      </p:pic>
      <p:sp>
        <p:nvSpPr>
          <p:cNvPr id="3" name="Subtitle 2"/>
          <p:cNvSpPr>
            <a:spLocks noGrp="1"/>
          </p:cNvSpPr>
          <p:nvPr>
            <p:ph type="subTitle" idx="1" hasCustomPrompt="1"/>
            <p:custDataLst>
              <p:tags r:id="rId4"/>
            </p:custDataLst>
          </p:nvPr>
        </p:nvSpPr>
        <p:spPr>
          <a:xfrm>
            <a:off x="1371600" y="3851940"/>
            <a:ext cx="8426919" cy="276999"/>
          </a:xfrm>
        </p:spPr>
        <p:txBody>
          <a:bodyPr lIns="246888" rIns="182880">
            <a:spAutoFit/>
          </a:bodyPr>
          <a:lstStyle>
            <a:lvl1pPr marL="0" marR="0" indent="0" algn="l" defTabSz="914400" rtl="0" eaLnBrk="1" fontAlgn="auto" latinLnBrk="0" hangingPunct="1">
              <a:lnSpc>
                <a:spcPct val="100000"/>
              </a:lnSpc>
              <a:spcBef>
                <a:spcPct val="0"/>
              </a:spcBef>
              <a:spcAft>
                <a:spcPct val="0"/>
              </a:spcAft>
              <a:buClrTx/>
              <a:buSzTx/>
              <a:buFont typeface="Arial" panose="020B0604020202020204" pitchFamily="34" charset="0"/>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Tree>
    <p:extLst>
      <p:ext uri="{BB962C8B-B14F-4D97-AF65-F5344CB8AC3E}">
        <p14:creationId xmlns:p14="http://schemas.microsoft.com/office/powerpoint/2010/main" val="813846857"/>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2972810"/>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DE8436-F632-4929-A0C4-8AB62F36165A}"/>
              </a:ext>
            </a:extLst>
          </p:cNvPr>
          <p:cNvSpPr>
            <a:spLocks noGrp="1"/>
          </p:cNvSpPr>
          <p:nvPr>
            <p:ph type="title" hasCustomPrompt="1"/>
            <p:custDataLst>
              <p:tags r:id="rId1"/>
            </p:custDataLst>
          </p:nvPr>
        </p:nvSpPr>
        <p:spPr/>
        <p:txBody>
          <a:bodyPr/>
          <a:lstStyle/>
          <a:p>
            <a:r>
              <a:rPr lang="en-US"/>
              <a:t>Click to edit title</a:t>
            </a:r>
          </a:p>
        </p:txBody>
      </p:sp>
    </p:spTree>
    <p:extLst>
      <p:ext uri="{BB962C8B-B14F-4D97-AF65-F5344CB8AC3E}">
        <p14:creationId xmlns:p14="http://schemas.microsoft.com/office/powerpoint/2010/main" val="800470015"/>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4EDECE2-F9F2-4351-A826-ACD78703CADF}"/>
              </a:ext>
            </a:extLst>
          </p:cNvPr>
          <p:cNvSpPr>
            <a:spLocks noGrp="1"/>
          </p:cNvSpPr>
          <p:nvPr>
            <p:ph type="title" hasCustomPrompt="1"/>
            <p:custDataLst>
              <p:tags r:id="rId1"/>
            </p:custDataLst>
          </p:nvPr>
        </p:nvSpPr>
        <p:spPr/>
        <p:txBody>
          <a:bodyPr/>
          <a:lstStyle/>
          <a:p>
            <a:r>
              <a:rPr lang="en-US"/>
              <a:t>Click to edit title</a:t>
            </a:r>
          </a:p>
        </p:txBody>
      </p:sp>
      <p:sp>
        <p:nvSpPr>
          <p:cNvPr id="3" name="Content Placeholder 2"/>
          <p:cNvSpPr>
            <a:spLocks noGrp="1"/>
          </p:cNvSpPr>
          <p:nvPr>
            <p:ph idx="1" hasCustomPrompt="1"/>
            <p:custDataLst>
              <p:tags r:id="rId2"/>
            </p:custDataLst>
          </p:nvPr>
        </p:nvSpPr>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53886601"/>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wo column graphics right">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p:txBody>
          <a:bodyPr/>
          <a:lstStyle/>
          <a:p>
            <a:r>
              <a:rPr lang="en-US"/>
              <a:t>Click to edit title</a:t>
            </a:r>
          </a:p>
        </p:txBody>
      </p:sp>
      <p:sp>
        <p:nvSpPr>
          <p:cNvPr id="3" name="Content Placeholder 2"/>
          <p:cNvSpPr>
            <a:spLocks noGrp="1"/>
          </p:cNvSpPr>
          <p:nvPr>
            <p:ph sz="half" idx="1" hasCustomPrompt="1"/>
            <p:custDataLst>
              <p:tags r:id="rId2"/>
            </p:custDataLst>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49189372"/>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p:txBody>
          <a:bodyPr/>
          <a:lstStyle/>
          <a:p>
            <a:r>
              <a:rPr lang="en-US"/>
              <a:t>Click to edit title</a:t>
            </a:r>
          </a:p>
        </p:txBody>
      </p:sp>
      <p:sp>
        <p:nvSpPr>
          <p:cNvPr id="3" name="Content Placeholder 2"/>
          <p:cNvSpPr>
            <a:spLocks noGrp="1"/>
          </p:cNvSpPr>
          <p:nvPr>
            <p:ph sz="half" idx="1" hasCustomPrompt="1"/>
            <p:custDataLst>
              <p:tags r:id="rId2"/>
            </p:custDataLst>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custDataLst>
              <p:tags r:id="rId3"/>
            </p:custDataLst>
          </p:nvPr>
        </p:nvSpPr>
        <p:spPr>
          <a:xfrm>
            <a:off x="6236208"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24773300"/>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hree column">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p:txBody>
          <a:bodyPr/>
          <a:lstStyle/>
          <a:p>
            <a:r>
              <a:rPr lang="en-US"/>
              <a:t>Click to edit title</a:t>
            </a:r>
          </a:p>
        </p:txBody>
      </p:sp>
      <p:sp>
        <p:nvSpPr>
          <p:cNvPr id="3" name="Content Placeholder 2"/>
          <p:cNvSpPr>
            <a:spLocks noGrp="1"/>
          </p:cNvSpPr>
          <p:nvPr>
            <p:ph sz="half" idx="1" hasCustomPrompt="1"/>
            <p:custDataLst>
              <p:tags r:id="rId2"/>
            </p:custDataLst>
          </p:nvPr>
        </p:nvSpPr>
        <p:spPr>
          <a:xfrm>
            <a:off x="457200"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custDataLst>
              <p:tags r:id="rId3"/>
            </p:custDataLst>
          </p:nvPr>
        </p:nvSpPr>
        <p:spPr>
          <a:xfrm>
            <a:off x="4425696"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custDataLst>
              <p:tags r:id="rId4"/>
            </p:custDataLst>
          </p:nvPr>
        </p:nvSpPr>
        <p:spPr>
          <a:xfrm>
            <a:off x="8394192"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2264898"/>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hree column shaded">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p:txBody>
          <a:bodyPr/>
          <a:lstStyle/>
          <a:p>
            <a:r>
              <a:rPr lang="en-US"/>
              <a:t>Click to edit title</a:t>
            </a:r>
          </a:p>
        </p:txBody>
      </p:sp>
      <p:sp>
        <p:nvSpPr>
          <p:cNvPr id="3" name="Content Placeholder 2"/>
          <p:cNvSpPr>
            <a:spLocks noGrp="1"/>
          </p:cNvSpPr>
          <p:nvPr>
            <p:ph sz="half" idx="1" hasCustomPrompt="1"/>
            <p:custDataLst>
              <p:tags r:id="rId2"/>
            </p:custDataLst>
          </p:nvPr>
        </p:nvSpPr>
        <p:spPr bwMode="ltGray">
          <a:xfrm>
            <a:off x="457200" y="1527048"/>
            <a:ext cx="3337560" cy="4462272"/>
          </a:xfrm>
          <a:solidFill>
            <a:srgbClr val="1A3E78"/>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custDataLst>
              <p:tags r:id="rId3"/>
            </p:custDataLst>
          </p:nvPr>
        </p:nvSpPr>
        <p:spPr bwMode="ltGray">
          <a:xfrm>
            <a:off x="4425696" y="1527048"/>
            <a:ext cx="3337560" cy="4462272"/>
          </a:xfrm>
          <a:solidFill>
            <a:srgbClr val="1A3E78"/>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custDataLst>
              <p:tags r:id="rId4"/>
            </p:custDataLst>
          </p:nvPr>
        </p:nvSpPr>
        <p:spPr bwMode="ltGray">
          <a:xfrm>
            <a:off x="8394192" y="1527048"/>
            <a:ext cx="3337560" cy="4462272"/>
          </a:xfrm>
          <a:solidFill>
            <a:srgbClr val="1A3E78"/>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6644413"/>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Four column">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custDataLst>
              <p:tags r:id="rId2"/>
            </p:custDataLst>
          </p:nvPr>
        </p:nvSpPr>
        <p:spPr>
          <a:xfrm>
            <a:off x="457200"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custDataLst>
              <p:tags r:id="rId3"/>
            </p:custDataLst>
          </p:nvPr>
        </p:nvSpPr>
        <p:spPr>
          <a:xfrm>
            <a:off x="3348482"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custDataLst>
              <p:tags r:id="rId4"/>
            </p:custDataLst>
          </p:nvPr>
        </p:nvSpPr>
        <p:spPr>
          <a:xfrm>
            <a:off x="6239764"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B226B5DF-DF35-419C-8251-4F81A740D77A}"/>
              </a:ext>
            </a:extLst>
          </p:cNvPr>
          <p:cNvSpPr>
            <a:spLocks noGrp="1"/>
          </p:cNvSpPr>
          <p:nvPr>
            <p:ph sz="half" idx="11" hasCustomPrompt="1"/>
            <p:custDataLst>
              <p:tags r:id="rId5"/>
            </p:custDataLst>
          </p:nvPr>
        </p:nvSpPr>
        <p:spPr>
          <a:xfrm>
            <a:off x="9131046"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15617916"/>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Four column shaded">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custDataLst>
              <p:tags r:id="rId2"/>
            </p:custDataLst>
          </p:nvPr>
        </p:nvSpPr>
        <p:spPr bwMode="ltGray">
          <a:xfrm>
            <a:off x="457200" y="1527048"/>
            <a:ext cx="2600706" cy="4462272"/>
          </a:xfrm>
          <a:solidFill>
            <a:srgbClr val="1A3E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custDataLst>
              <p:tags r:id="rId3"/>
            </p:custDataLst>
          </p:nvPr>
        </p:nvSpPr>
        <p:spPr bwMode="ltGray">
          <a:xfrm>
            <a:off x="3348482" y="1527048"/>
            <a:ext cx="2600706" cy="4462272"/>
          </a:xfrm>
          <a:solidFill>
            <a:srgbClr val="1A3E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custDataLst>
              <p:tags r:id="rId4"/>
            </p:custDataLst>
          </p:nvPr>
        </p:nvSpPr>
        <p:spPr bwMode="ltGray">
          <a:xfrm>
            <a:off x="6239764" y="1527048"/>
            <a:ext cx="2600706" cy="4462272"/>
          </a:xfrm>
          <a:solidFill>
            <a:srgbClr val="1A3E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F44528D9-D4DF-4ABD-97AD-FCFEE24F7C53}"/>
              </a:ext>
            </a:extLst>
          </p:cNvPr>
          <p:cNvSpPr>
            <a:spLocks noGrp="1"/>
          </p:cNvSpPr>
          <p:nvPr>
            <p:ph sz="half" idx="11" hasCustomPrompt="1"/>
            <p:custDataLst>
              <p:tags r:id="rId5"/>
            </p:custDataLst>
          </p:nvPr>
        </p:nvSpPr>
        <p:spPr bwMode="ltGray">
          <a:xfrm>
            <a:off x="9131046" y="1527048"/>
            <a:ext cx="2600706" cy="4462272"/>
          </a:xfrm>
          <a:solidFill>
            <a:srgbClr val="1A3E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28649534"/>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BAA7-7402-7653-A21A-2C33B981B892}"/>
              </a:ext>
            </a:extLst>
          </p:cNvPr>
          <p:cNvSpPr>
            <a:spLocks noGrp="1"/>
          </p:cNvSpPr>
          <p:nvPr>
            <p:ph type="title" hasCustomPrompt="1"/>
            <p:custDataLst>
              <p:tags r:id="rId1"/>
            </p:custDataLst>
          </p:nvPr>
        </p:nvSpPr>
        <p:spPr bwMode="gray">
          <a:xfrm>
            <a:off x="1365814" y="1590378"/>
            <a:ext cx="5408210" cy="2031326"/>
          </a:xfrm>
          <a:prstGeom prst="bracketPair">
            <a:avLst>
              <a:gd name="adj" fmla="val 0"/>
            </a:avLst>
          </a:prstGeom>
          <a:ln w="101600">
            <a:solidFill>
              <a:schemeClr val="accent3"/>
            </a:solidFill>
          </a:ln>
        </p:spPr>
        <p:txBody>
          <a:bodyPr wrap="square" lIns="228600" rIns="182880" anchor="ctr" anchorCtr="0">
            <a:spAutoFit/>
          </a:bodyPr>
          <a:lstStyle>
            <a:lvl1pPr>
              <a:defRPr sz="4400"/>
            </a:lvl1pPr>
          </a:lstStyle>
          <a:p>
            <a:r>
              <a:rPr lang="en-US"/>
              <a:t>Divider Slide</a:t>
            </a:r>
            <a:br>
              <a:rPr lang="en-US"/>
            </a:br>
            <a:r>
              <a:rPr lang="en-US"/>
              <a:t>30 Characters Max.</a:t>
            </a:r>
            <a:br>
              <a:rPr lang="en-US"/>
            </a:br>
            <a:r>
              <a:rPr lang="en-US"/>
              <a:t>Lorem Ipsum</a:t>
            </a:r>
          </a:p>
        </p:txBody>
      </p:sp>
    </p:spTree>
    <p:extLst>
      <p:ext uri="{BB962C8B-B14F-4D97-AF65-F5344CB8AC3E}">
        <p14:creationId xmlns:p14="http://schemas.microsoft.com/office/powerpoint/2010/main" val="1832228784"/>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Left Rai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1F3F689-0EFE-267D-1F38-8A7BB7CF62AF}"/>
              </a:ext>
            </a:extLst>
          </p:cNvPr>
          <p:cNvSpPr/>
          <p:nvPr userDrawn="1">
            <p:custDataLst>
              <p:tags r:id="rId1"/>
            </p:custDataLst>
          </p:nvPr>
        </p:nvSpPr>
        <p:spPr bwMode="invGray">
          <a:xfrm>
            <a:off x="-1" y="0"/>
            <a:ext cx="4050792" cy="6858000"/>
          </a:xfrm>
          <a:prstGeom prst="rect">
            <a:avLst/>
          </a:prstGeom>
          <a:gradFill>
            <a:gsLst>
              <a:gs pos="0">
                <a:schemeClr val="accent2"/>
              </a:gs>
              <a:gs pos="80000">
                <a:schemeClr val="accent1"/>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9D03778-9F51-35F8-9B55-7FB58E49C224}"/>
              </a:ext>
            </a:extLst>
          </p:cNvPr>
          <p:cNvSpPr>
            <a:spLocks noGrp="1"/>
          </p:cNvSpPr>
          <p:nvPr>
            <p:ph type="title"/>
            <p:custDataLst>
              <p:tags r:id="rId2"/>
            </p:custDataLst>
          </p:nvPr>
        </p:nvSpPr>
        <p:spPr>
          <a:xfrm>
            <a:off x="457200" y="361950"/>
            <a:ext cx="3114675" cy="2051312"/>
          </a:xfrm>
        </p:spPr>
        <p:txBody>
          <a:bodyPr/>
          <a:lstStyle>
            <a:lvl1pPr>
              <a:defRPr>
                <a:solidFill>
                  <a:srgbClr val="FFFFFF"/>
                </a:solidFill>
              </a:defRPr>
            </a:lvl1pPr>
          </a:lstStyle>
          <a:p>
            <a:r>
              <a:rPr lang="en-US"/>
              <a:t>Click to edit Master title style</a:t>
            </a:r>
          </a:p>
        </p:txBody>
      </p:sp>
      <p:sp>
        <p:nvSpPr>
          <p:cNvPr id="4" name="TextBox 3">
            <a:extLst>
              <a:ext uri="{FF2B5EF4-FFF2-40B4-BE49-F238E27FC236}">
                <a16:creationId xmlns:a16="http://schemas.microsoft.com/office/drawing/2014/main" id="{64B9B515-6C0A-2DCC-BDD9-2AEDE0D6D5DB}"/>
              </a:ext>
            </a:extLst>
          </p:cNvPr>
          <p:cNvSpPr txBox="1"/>
          <p:nvPr userDrawn="1">
            <p:custDataLst>
              <p:tags r:id="rId3"/>
            </p:custDataLst>
          </p:nvPr>
        </p:nvSpPr>
        <p:spPr>
          <a:xfrm>
            <a:off x="457200" y="6394704"/>
            <a:ext cx="3566160" cy="152400"/>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rgbClr val="FFFFFF"/>
                </a:solidFill>
              </a:rPr>
              <a:t>‹#›</a:t>
            </a:fld>
            <a:r>
              <a:rPr lang="en-US" sz="700" b="0">
                <a:solidFill>
                  <a:srgbClr val="FFFFFF"/>
                </a:solidFill>
              </a:rPr>
              <a:t>	RESTRICTED © </a:t>
            </a:r>
            <a:r>
              <a:rPr lang="en-IN" sz="700"/>
              <a:t>2026</a:t>
            </a:r>
            <a:r>
              <a:rPr lang="en-US" sz="700" b="0">
                <a:solidFill>
                  <a:srgbClr val="FFFFFF"/>
                </a:solidFill>
              </a:rPr>
              <a:t> Gartner, Inc. and/or its affiliates. All rights reserved.</a:t>
            </a:r>
          </a:p>
        </p:txBody>
      </p:sp>
      <p:sp>
        <p:nvSpPr>
          <p:cNvPr id="6" name="Content Placeholder 5">
            <a:extLst>
              <a:ext uri="{FF2B5EF4-FFF2-40B4-BE49-F238E27FC236}">
                <a16:creationId xmlns:a16="http://schemas.microsoft.com/office/drawing/2014/main" id="{D3AB07D3-66B0-EF24-E15D-D61DB03311CA}"/>
              </a:ext>
            </a:extLst>
          </p:cNvPr>
          <p:cNvSpPr>
            <a:spLocks noGrp="1"/>
          </p:cNvSpPr>
          <p:nvPr>
            <p:ph sz="quarter" idx="10"/>
            <p:custDataLst>
              <p:tags r:id="rId4"/>
            </p:custDataLst>
          </p:nvPr>
        </p:nvSpPr>
        <p:spPr>
          <a:xfrm>
            <a:off x="4478482" y="1346200"/>
            <a:ext cx="7256318" cy="4504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80635414"/>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C83FFE-85A9-5C0D-5033-94BE254D3694}"/>
              </a:ext>
            </a:extLst>
          </p:cNvPr>
          <p:cNvSpPr txBox="1"/>
          <p:nvPr userDrawn="1">
            <p:custDataLst>
              <p:tags r:id="rId1"/>
            </p:custDataLst>
          </p:nvPr>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chemeClr val="accent2"/>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2" name="Title 1">
            <a:extLst>
              <a:ext uri="{FF2B5EF4-FFF2-40B4-BE49-F238E27FC236}">
                <a16:creationId xmlns:a16="http://schemas.microsoft.com/office/drawing/2014/main" id="{8B478971-A225-4A64-8E00-AA9C8577611D}"/>
              </a:ext>
            </a:extLst>
          </p:cNvPr>
          <p:cNvSpPr>
            <a:spLocks noGrp="1"/>
          </p:cNvSpPr>
          <p:nvPr>
            <p:ph type="title" hasCustomPrompt="1"/>
            <p:custDataLst>
              <p:tags r:id="rId2"/>
            </p:custDataLst>
          </p:nvPr>
        </p:nvSpPr>
        <p:spPr>
          <a:xfrm>
            <a:off x="773056" y="1009268"/>
            <a:ext cx="5718415" cy="4476115"/>
          </a:xfrm>
        </p:spPr>
        <p:txBody>
          <a:bodyPr anchor="ctr" anchorCtr="0"/>
          <a:lstStyle>
            <a:lvl1pPr marL="0" indent="0">
              <a:lnSpc>
                <a:spcPct val="100000"/>
              </a:lnSpc>
              <a:defRPr sz="2800">
                <a:latin typeface="+mj-lt"/>
              </a:defRPr>
            </a:lvl1pPr>
          </a:lstStyle>
          <a:p>
            <a:r>
              <a:rPr lang="en-US"/>
              <a:t>Quote placeholder Lorem ipsum dolor sit amet, conse ctet ur adipiscing elit. Mauris accum san urna. Sus pendisse sem per semper commodo.”</a:t>
            </a:r>
          </a:p>
        </p:txBody>
      </p:sp>
      <p:sp>
        <p:nvSpPr>
          <p:cNvPr id="3" name="Text Placeholder 2">
            <a:extLst>
              <a:ext uri="{FF2B5EF4-FFF2-40B4-BE49-F238E27FC236}">
                <a16:creationId xmlns:a16="http://schemas.microsoft.com/office/drawing/2014/main" id="{44D4D588-53FA-4557-81C5-0FF86A2FBBA3}"/>
              </a:ext>
            </a:extLst>
          </p:cNvPr>
          <p:cNvSpPr>
            <a:spLocks noGrp="1"/>
          </p:cNvSpPr>
          <p:nvPr>
            <p:ph type="body" idx="1" hasCustomPrompt="1"/>
            <p:custDataLst>
              <p:tags r:id="rId3"/>
            </p:custDataLst>
          </p:nvPr>
        </p:nvSpPr>
        <p:spPr>
          <a:xfrm>
            <a:off x="773056" y="5641514"/>
            <a:ext cx="5718415"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
        <p:nvSpPr>
          <p:cNvPr id="10" name="Picture Placeholder 9">
            <a:extLst>
              <a:ext uri="{FF2B5EF4-FFF2-40B4-BE49-F238E27FC236}">
                <a16:creationId xmlns:a16="http://schemas.microsoft.com/office/drawing/2014/main" id="{D2E7EA53-F4D0-483C-9798-E23D7CCB2A12}"/>
              </a:ext>
            </a:extLst>
          </p:cNvPr>
          <p:cNvSpPr>
            <a:spLocks noGrp="1"/>
          </p:cNvSpPr>
          <p:nvPr>
            <p:ph type="pic" sz="quarter" idx="10"/>
            <p:custDataLst>
              <p:tags r:id="rId4"/>
            </p:custDataLst>
          </p:nvPr>
        </p:nvSpPr>
        <p:spPr>
          <a:xfrm>
            <a:off x="7043928" y="1346199"/>
            <a:ext cx="4690872" cy="4297680"/>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990342292"/>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C41137-E6C9-A053-8403-388C27EB8CE1}"/>
              </a:ext>
            </a:extLst>
          </p:cNvPr>
          <p:cNvSpPr txBox="1"/>
          <p:nvPr userDrawn="1">
            <p:custDataLst>
              <p:tags r:id="rId1"/>
            </p:custDataLst>
          </p:nvPr>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chemeClr val="accent2"/>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6" name="Title 1">
            <a:extLst>
              <a:ext uri="{FF2B5EF4-FFF2-40B4-BE49-F238E27FC236}">
                <a16:creationId xmlns:a16="http://schemas.microsoft.com/office/drawing/2014/main" id="{A5204F30-1AF4-524D-A3DC-8D6F9529A61E}"/>
              </a:ext>
            </a:extLst>
          </p:cNvPr>
          <p:cNvSpPr>
            <a:spLocks noGrp="1"/>
          </p:cNvSpPr>
          <p:nvPr>
            <p:ph type="title" hasCustomPrompt="1"/>
            <p:custDataLst>
              <p:tags r:id="rId2"/>
            </p:custDataLst>
          </p:nvPr>
        </p:nvSpPr>
        <p:spPr>
          <a:xfrm>
            <a:off x="773054" y="995363"/>
            <a:ext cx="8086466" cy="4460875"/>
          </a:xfrm>
        </p:spPr>
        <p:txBody>
          <a:bodyPr anchor="ctr" anchorCtr="0"/>
          <a:lstStyle>
            <a:lvl1pPr marL="0" indent="0">
              <a:lnSpc>
                <a:spcPct val="100000"/>
              </a:lnSpc>
              <a:defRPr sz="2800"/>
            </a:lvl1pPr>
          </a:lstStyle>
          <a:p>
            <a:r>
              <a:rPr lang="en-US"/>
              <a:t>Quote placeholder Lorem ipsum dolor sit amet, conse ctet ur adip iscing elit. Mauris accum san urna. Sus pendisse sem per semper commodo lorem.”</a:t>
            </a:r>
          </a:p>
        </p:txBody>
      </p:sp>
      <p:sp>
        <p:nvSpPr>
          <p:cNvPr id="7" name="Text Placeholder 2">
            <a:extLst>
              <a:ext uri="{FF2B5EF4-FFF2-40B4-BE49-F238E27FC236}">
                <a16:creationId xmlns:a16="http://schemas.microsoft.com/office/drawing/2014/main" id="{D53A335E-67E2-3E4F-88F7-0D3EB5BAE73D}"/>
              </a:ext>
            </a:extLst>
          </p:cNvPr>
          <p:cNvSpPr>
            <a:spLocks noGrp="1"/>
          </p:cNvSpPr>
          <p:nvPr>
            <p:ph type="body" idx="1" hasCustomPrompt="1"/>
            <p:custDataLst>
              <p:tags r:id="rId3"/>
            </p:custDataLst>
          </p:nvPr>
        </p:nvSpPr>
        <p:spPr>
          <a:xfrm>
            <a:off x="773056" y="5641514"/>
            <a:ext cx="8086463"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Tree>
    <p:extLst>
      <p:ext uri="{BB962C8B-B14F-4D97-AF65-F5344CB8AC3E}">
        <p14:creationId xmlns:p14="http://schemas.microsoft.com/office/powerpoint/2010/main" val="791098100"/>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FFFF0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65764A-9DB5-E0B9-2854-737204071442}"/>
              </a:ext>
            </a:extLst>
          </p:cNvPr>
          <p:cNvSpPr txBox="1"/>
          <p:nvPr userDrawn="1">
            <p:custDataLst>
              <p:tags r:id="rId1"/>
            </p:custDataLst>
          </p:nvPr>
        </p:nvSpPr>
        <p:spPr>
          <a:xfrm>
            <a:off x="208972" y="189623"/>
            <a:ext cx="11774056" cy="6555641"/>
          </a:xfrm>
          <a:prstGeom prst="rect">
            <a:avLst/>
          </a:prstGeom>
          <a:noFill/>
        </p:spPr>
        <p:txBody>
          <a:bodyPr wrap="none" lIns="0" rIns="0" rtlCol="0">
            <a:spAutoFit/>
          </a:bodyPr>
          <a:lstStyle/>
          <a:p>
            <a:pPr algn="ctr">
              <a:spcBef>
                <a:spcPts val="600"/>
              </a:spcBef>
            </a:pPr>
            <a:r>
              <a:rPr lang="en-US" sz="9600">
                <a:solidFill>
                  <a:srgbClr val="00002D"/>
                </a:solidFill>
                <a:latin typeface="+mj-lt"/>
              </a:rPr>
              <a:t>Don’t use this or any </a:t>
            </a:r>
            <a:br>
              <a:rPr lang="en-US" sz="9600">
                <a:solidFill>
                  <a:srgbClr val="00002D"/>
                </a:solidFill>
                <a:latin typeface="+mj-lt"/>
              </a:rPr>
            </a:br>
            <a:r>
              <a:rPr lang="en-US" sz="9600">
                <a:solidFill>
                  <a:srgbClr val="00002D"/>
                </a:solidFill>
                <a:latin typeface="+mj-lt"/>
              </a:rPr>
              <a:t>layouts after this.</a:t>
            </a:r>
            <a:endParaRPr lang="en-US" sz="4400">
              <a:solidFill>
                <a:srgbClr val="00002D"/>
              </a:solidFill>
              <a:latin typeface="+mj-lt"/>
            </a:endParaRPr>
          </a:p>
          <a:p>
            <a:pPr algn="ctr">
              <a:spcBef>
                <a:spcPts val="3600"/>
              </a:spcBef>
            </a:pPr>
            <a:r>
              <a:rPr lang="en-US" sz="6600">
                <a:solidFill>
                  <a:srgbClr val="00002D"/>
                </a:solidFill>
              </a:rPr>
              <a:t>Choose an appropriate </a:t>
            </a:r>
            <a:br>
              <a:rPr lang="en-US" sz="6600">
                <a:solidFill>
                  <a:srgbClr val="00002D"/>
                </a:solidFill>
              </a:rPr>
            </a:br>
            <a:r>
              <a:rPr lang="en-US" sz="6600">
                <a:solidFill>
                  <a:srgbClr val="00002D"/>
                </a:solidFill>
              </a:rPr>
              <a:t>layout from </a:t>
            </a:r>
            <a:br>
              <a:rPr lang="en-US" sz="6600">
                <a:solidFill>
                  <a:srgbClr val="00002D"/>
                </a:solidFill>
              </a:rPr>
            </a:br>
            <a:r>
              <a:rPr lang="en-US" sz="6600" b="1">
                <a:solidFill>
                  <a:srgbClr val="00002D"/>
                </a:solidFill>
              </a:rPr>
              <a:t>Home</a:t>
            </a:r>
            <a:r>
              <a:rPr lang="en-US" sz="6600">
                <a:solidFill>
                  <a:srgbClr val="00002D"/>
                </a:solidFill>
              </a:rPr>
              <a:t> &gt; </a:t>
            </a:r>
            <a:r>
              <a:rPr lang="en-US" sz="6600" b="1">
                <a:solidFill>
                  <a:srgbClr val="00002D"/>
                </a:solidFill>
              </a:rPr>
              <a:t>Layout gallery</a:t>
            </a:r>
            <a:r>
              <a:rPr lang="en-US" sz="6600">
                <a:solidFill>
                  <a:srgbClr val="00002D"/>
                </a:solidFill>
              </a:rPr>
              <a:t>.</a:t>
            </a:r>
          </a:p>
        </p:txBody>
      </p:sp>
      <p:sp>
        <p:nvSpPr>
          <p:cNvPr id="2" name="TextBox 1">
            <a:extLst>
              <a:ext uri="{FF2B5EF4-FFF2-40B4-BE49-F238E27FC236}">
                <a16:creationId xmlns:a16="http://schemas.microsoft.com/office/drawing/2014/main" id="{EB11D6F1-48A0-B0B0-BC3C-5FC66330BED9}"/>
              </a:ext>
            </a:extLst>
          </p:cNvPr>
          <p:cNvSpPr txBox="1"/>
          <p:nvPr userDrawn="1">
            <p:custDataLst>
              <p:tags r:id="rId2"/>
            </p:custDataLst>
          </p:nvPr>
        </p:nvSpPr>
        <p:spPr>
          <a:xfrm>
            <a:off x="12346930" y="835909"/>
            <a:ext cx="2668480" cy="2539157"/>
          </a:xfrm>
          <a:prstGeom prst="rect">
            <a:avLst/>
          </a:prstGeom>
          <a:noFill/>
          <a:ln>
            <a:solidFill>
              <a:srgbClr val="707996"/>
            </a:solidFill>
          </a:ln>
        </p:spPr>
        <p:txBody>
          <a:bodyPr wrap="square" lIns="91440" rIns="91440" rtlCol="0">
            <a:spAutoFit/>
          </a:bodyPr>
          <a:lstStyle/>
          <a:p>
            <a:pPr algn="l">
              <a:spcBef>
                <a:spcPts val="600"/>
              </a:spcBef>
            </a:pPr>
            <a:r>
              <a:rPr lang="en-US" sz="1400">
                <a:solidFill>
                  <a:srgbClr val="00002D"/>
                </a:solidFill>
              </a:rPr>
              <a:t>When pasting legacy slides that doesn’t match any of the new layouts, PowerPoint adds it to the end of the layouts and prepends the layout name with a number (1_Title Slide, for example). </a:t>
            </a:r>
          </a:p>
          <a:p>
            <a:pPr algn="l">
              <a:spcBef>
                <a:spcPts val="600"/>
              </a:spcBef>
            </a:pPr>
            <a:r>
              <a:rPr lang="en-US" sz="1400">
                <a:solidFill>
                  <a:srgbClr val="00002D"/>
                </a:solidFill>
              </a:rPr>
              <a:t>These “orphaned” layouts should not be used, instead choose from the layouts preceding this one. </a:t>
            </a:r>
          </a:p>
        </p:txBody>
      </p:sp>
    </p:spTree>
    <p:extLst>
      <p:ext uri="{BB962C8B-B14F-4D97-AF65-F5344CB8AC3E}">
        <p14:creationId xmlns:p14="http://schemas.microsoft.com/office/powerpoint/2010/main" val="1134893230"/>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a:gsLst>
            <a:gs pos="20000">
              <a:schemeClr val="bg2"/>
            </a:gs>
            <a:gs pos="100000">
              <a:schemeClr val="accent2"/>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custDataLst>
              <p:tags r:id="rId1"/>
            </p:custDataLst>
          </p:nvPr>
        </p:nvSpPr>
        <p:spPr bwMode="invGray">
          <a:xfrm>
            <a:off x="1371600" y="2149713"/>
            <a:ext cx="8426919" cy="2185214"/>
          </a:xfrm>
          <a:prstGeom prst="bracketPair">
            <a:avLst>
              <a:gd name="adj" fmla="val 0"/>
            </a:avLst>
          </a:prstGeom>
          <a:ln w="101600">
            <a:solidFill>
              <a:schemeClr val="accent3"/>
            </a:solidFill>
          </a:ln>
        </p:spPr>
        <p:txBody>
          <a:bodyPr lIns="228600" tIns="91440" rIns="182880" bIns="731520" anchor="t" anchorCtr="0">
            <a:spAutoFit/>
          </a:bodyPr>
          <a:lstStyle>
            <a:lvl1pPr algn="l">
              <a:defRPr sz="4400"/>
            </a:lvl1pPr>
          </a:lstStyle>
          <a:p>
            <a:r>
              <a:rPr lang="en-US"/>
              <a:t>Click to Add Title; 2 Lines of Copy; 60 Characters Maximum</a:t>
            </a:r>
          </a:p>
        </p:txBody>
      </p:sp>
      <p:sp>
        <p:nvSpPr>
          <p:cNvPr id="3" name="Subtitle 2"/>
          <p:cNvSpPr>
            <a:spLocks noGrp="1"/>
          </p:cNvSpPr>
          <p:nvPr>
            <p:ph type="subTitle" idx="1" hasCustomPrompt="1"/>
            <p:custDataLst>
              <p:tags r:id="rId2"/>
            </p:custDataLst>
          </p:nvPr>
        </p:nvSpPr>
        <p:spPr>
          <a:xfrm>
            <a:off x="1371600" y="3851940"/>
            <a:ext cx="8426919" cy="276999"/>
          </a:xfrm>
        </p:spPr>
        <p:txBody>
          <a:bodyPr lIns="246888" rIns="182880">
            <a:spAutoFit/>
          </a:bodyPr>
          <a:lstStyle>
            <a:lvl1pPr marL="0" marR="0" indent="0" algn="l" defTabSz="914400" rtl="0" eaLnBrk="1" fontAlgn="auto" latinLnBrk="0" hangingPunct="1">
              <a:lnSpc>
                <a:spcPct val="100000"/>
              </a:lnSpc>
              <a:spcBef>
                <a:spcPct val="0"/>
              </a:spcBef>
              <a:spcAft>
                <a:spcPct val="0"/>
              </a:spcAft>
              <a:buClrTx/>
              <a:buSzTx/>
              <a:buFont typeface="Arial" panose="020B0604020202020204" pitchFamily="34" charset="0"/>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
        <p:nvSpPr>
          <p:cNvPr id="14" name="TextBox 13">
            <a:extLst>
              <a:ext uri="{FF2B5EF4-FFF2-40B4-BE49-F238E27FC236}">
                <a16:creationId xmlns:a16="http://schemas.microsoft.com/office/drawing/2014/main" id="{BB93A754-CF98-4BEB-BE89-ADF1CF77AA4F}"/>
              </a:ext>
            </a:extLst>
          </p:cNvPr>
          <p:cNvSpPr txBox="1"/>
          <p:nvPr>
            <p:custDataLst>
              <p:tags r:id="rId3"/>
            </p:custDataLst>
          </p:nvPr>
        </p:nvSpPr>
        <p:spPr>
          <a:xfrm>
            <a:off x="685800" y="6187517"/>
            <a:ext cx="7095744" cy="335280"/>
          </a:xfrm>
          <a:prstGeom prst="rect">
            <a:avLst/>
          </a:prstGeom>
          <a:noFill/>
        </p:spPr>
        <p:txBody>
          <a:bodyPr wrap="square" lIns="0" tIns="0" rIns="0" bIns="0" rtlCol="0" anchor="b" anchorCtr="0">
            <a:spAutoFit/>
          </a:bodyPr>
          <a:lstStyle/>
          <a:p>
            <a:r>
              <a:rPr lang="en-US" sz="700"/>
              <a:t>© </a:t>
            </a:r>
            <a:r>
              <a:rPr lang="en-IN" sz="800"/>
              <a:t>2026</a:t>
            </a:r>
            <a:r>
              <a:rPr lang="en-US" sz="700"/>
              <a:t>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27" name="Picture 26">
            <a:extLst>
              <a:ext uri="{FF2B5EF4-FFF2-40B4-BE49-F238E27FC236}">
                <a16:creationId xmlns:a16="http://schemas.microsoft.com/office/drawing/2014/main" id="{E77AE7DB-FD48-4294-BD87-EA8DA4C9EC3F}"/>
              </a:ext>
            </a:extLst>
          </p:cNvPr>
          <p:cNvPicPr>
            <a:picLocks noChangeAspect="1"/>
          </p:cNvPicPr>
          <p:nvPr>
            <p:custDataLst>
              <p:tags r:id="rId4"/>
            </p:custDataLst>
          </p:nvPr>
        </p:nvPicPr>
        <p:blipFill>
          <a:blip r:embed="rId6">
            <a:extLst>
              <a:ext uri="{28A0092B-C50C-407E-A947-70E740481C1C}">
                <a14:useLocalDpi xmlns:a14="http://schemas.microsoft.com/office/drawing/2010/main" val="0"/>
              </a:ext>
            </a:extLst>
          </a:blip>
          <a:stretch>
            <a:fillRect/>
          </a:stretch>
        </p:blipFill>
        <p:spPr>
          <a:xfrm>
            <a:off x="685800" y="685800"/>
            <a:ext cx="1737435" cy="395448"/>
          </a:xfrm>
          <a:prstGeom prst="rect">
            <a:avLst/>
          </a:prstGeom>
        </p:spPr>
      </p:pic>
    </p:spTree>
    <p:extLst>
      <p:ext uri="{BB962C8B-B14F-4D97-AF65-F5344CB8AC3E}">
        <p14:creationId xmlns:p14="http://schemas.microsoft.com/office/powerpoint/2010/main" val="13874042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itle" preserve="1">
  <p:cSld name="Title Slide 2">
    <p:bg>
      <p:bgPr>
        <a:solidFill>
          <a:srgbClr val="E0F1FF"/>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custDataLst>
              <p:tags r:id="rId1"/>
            </p:custDataLst>
          </p:nvPr>
        </p:nvSpPr>
        <p:spPr bwMode="gray">
          <a:xfrm>
            <a:off x="1371600" y="2149713"/>
            <a:ext cx="8426919" cy="2185214"/>
          </a:xfrm>
          <a:prstGeom prst="bracketPair">
            <a:avLst>
              <a:gd name="adj" fmla="val 0"/>
            </a:avLst>
          </a:prstGeom>
          <a:ln w="114300">
            <a:solidFill>
              <a:schemeClr val="accent3"/>
            </a:solidFill>
          </a:ln>
        </p:spPr>
        <p:txBody>
          <a:bodyPr lIns="228600" tIns="91440" rIns="182880" bIns="731520" anchor="t" anchorCtr="0">
            <a:spAutoFit/>
          </a:bodyPr>
          <a:lstStyle>
            <a:lvl1pPr algn="l">
              <a:defRPr sz="4400"/>
            </a:lvl1pPr>
          </a:lstStyle>
          <a:p>
            <a:r>
              <a:rPr lang="en-US"/>
              <a:t>Click to Add Title; 2 Lines of Copy; 60 Characters Maximum</a:t>
            </a:r>
          </a:p>
        </p:txBody>
      </p:sp>
      <p:sp>
        <p:nvSpPr>
          <p:cNvPr id="14" name="TextBox 13">
            <a:extLst>
              <a:ext uri="{FF2B5EF4-FFF2-40B4-BE49-F238E27FC236}">
                <a16:creationId xmlns:a16="http://schemas.microsoft.com/office/drawing/2014/main" id="{BB93A754-CF98-4BEB-BE89-ADF1CF77AA4F}"/>
              </a:ext>
            </a:extLst>
          </p:cNvPr>
          <p:cNvSpPr txBox="1"/>
          <p:nvPr>
            <p:custDataLst>
              <p:tags r:id="rId2"/>
            </p:custDataLst>
          </p:nvPr>
        </p:nvSpPr>
        <p:spPr>
          <a:xfrm>
            <a:off x="685800" y="6187517"/>
            <a:ext cx="7095744" cy="335280"/>
          </a:xfrm>
          <a:prstGeom prst="rect">
            <a:avLst/>
          </a:prstGeom>
          <a:noFill/>
        </p:spPr>
        <p:txBody>
          <a:bodyPr wrap="square" lIns="0" tIns="0" rIns="0" bIns="0" rtlCol="0" anchor="b" anchorCtr="0">
            <a:spAutoFit/>
          </a:bodyPr>
          <a:lstStyle/>
          <a:p>
            <a:r>
              <a:rPr lang="en-US" sz="700"/>
              <a:t>© </a:t>
            </a:r>
            <a:r>
              <a:rPr lang="en-IN" sz="800"/>
              <a:t>2026</a:t>
            </a:r>
            <a:r>
              <a:rPr lang="en-US" sz="700"/>
              <a:t>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8" name="Picture 7">
            <a:extLst>
              <a:ext uri="{FF2B5EF4-FFF2-40B4-BE49-F238E27FC236}">
                <a16:creationId xmlns:a16="http://schemas.microsoft.com/office/drawing/2014/main" id="{4B98EA9B-8D5B-4923-90F5-A4CDF4762E56}"/>
              </a:ext>
            </a:extLst>
          </p:cNvPr>
          <p:cNvPicPr>
            <a:picLocks noChangeAspect="1"/>
          </p:cNvPicPr>
          <p:nvPr userDrawn="1">
            <p:custDataLst>
              <p:tags r:id="rId3"/>
            </p:custDataLst>
          </p:nvPr>
        </p:nvPicPr>
        <p:blipFill>
          <a:blip r:embed="rId6">
            <a:extLst>
              <a:ext uri="{28A0092B-C50C-407E-A947-70E740481C1C}">
                <a14:useLocalDpi xmlns:a14="http://schemas.microsoft.com/office/drawing/2010/main" val="0"/>
              </a:ext>
            </a:extLst>
          </a:blip>
          <a:srcRect t="226" b="226"/>
          <a:stretch>
            <a:fillRect/>
          </a:stretch>
        </p:blipFill>
        <p:spPr>
          <a:xfrm>
            <a:off x="685800" y="685800"/>
            <a:ext cx="1736570" cy="395448"/>
          </a:xfrm>
          <a:prstGeom prst="rect">
            <a:avLst/>
          </a:prstGeom>
        </p:spPr>
      </p:pic>
      <p:sp>
        <p:nvSpPr>
          <p:cNvPr id="3" name="Subtitle 2"/>
          <p:cNvSpPr>
            <a:spLocks noGrp="1"/>
          </p:cNvSpPr>
          <p:nvPr>
            <p:ph type="subTitle" idx="1" hasCustomPrompt="1"/>
            <p:custDataLst>
              <p:tags r:id="rId4"/>
            </p:custDataLst>
          </p:nvPr>
        </p:nvSpPr>
        <p:spPr>
          <a:xfrm>
            <a:off x="1371600" y="3851940"/>
            <a:ext cx="8426919" cy="276999"/>
          </a:xfrm>
        </p:spPr>
        <p:txBody>
          <a:bodyPr lIns="246888" rIns="182880">
            <a:spAutoFit/>
          </a:bodyPr>
          <a:lstStyle>
            <a:lvl1pPr marL="0" marR="0" indent="0" algn="l" defTabSz="914400" rtl="0" eaLnBrk="1" fontAlgn="auto" latinLnBrk="0" hangingPunct="1">
              <a:lnSpc>
                <a:spcPct val="100000"/>
              </a:lnSpc>
              <a:spcBef>
                <a:spcPct val="0"/>
              </a:spcBef>
              <a:spcAft>
                <a:spcPct val="0"/>
              </a:spcAft>
              <a:buClrTx/>
              <a:buSzTx/>
              <a:buFont typeface="Arial" panose="020B0604020202020204" pitchFamily="34" charset="0"/>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Tree>
    <p:extLst>
      <p:ext uri="{BB962C8B-B14F-4D97-AF65-F5344CB8AC3E}">
        <p14:creationId xmlns:p14="http://schemas.microsoft.com/office/powerpoint/2010/main" val="27947198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0920321"/>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DE8436-F632-4929-A0C4-8AB62F36165A}"/>
              </a:ext>
            </a:extLst>
          </p:cNvPr>
          <p:cNvSpPr>
            <a:spLocks noGrp="1"/>
          </p:cNvSpPr>
          <p:nvPr>
            <p:ph type="title" hasCustomPrompt="1"/>
            <p:custDataLst>
              <p:tags r:id="rId1"/>
            </p:custDataLst>
          </p:nvPr>
        </p:nvSpPr>
        <p:spPr/>
        <p:txBody>
          <a:bodyPr/>
          <a:lstStyle/>
          <a:p>
            <a:r>
              <a:rPr lang="en-US"/>
              <a:t>Click to edit title</a:t>
            </a:r>
          </a:p>
        </p:txBody>
      </p:sp>
    </p:spTree>
    <p:extLst>
      <p:ext uri="{BB962C8B-B14F-4D97-AF65-F5344CB8AC3E}">
        <p14:creationId xmlns:p14="http://schemas.microsoft.com/office/powerpoint/2010/main" val="4160567727"/>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4EDECE2-F9F2-4351-A826-ACD78703CADF}"/>
              </a:ext>
            </a:extLst>
          </p:cNvPr>
          <p:cNvSpPr>
            <a:spLocks noGrp="1"/>
          </p:cNvSpPr>
          <p:nvPr>
            <p:ph type="title" hasCustomPrompt="1"/>
            <p:custDataLst>
              <p:tags r:id="rId1"/>
            </p:custDataLst>
          </p:nvPr>
        </p:nvSpPr>
        <p:spPr/>
        <p:txBody>
          <a:bodyPr/>
          <a:lstStyle/>
          <a:p>
            <a:r>
              <a:rPr lang="en-US"/>
              <a:t>Click to edit title</a:t>
            </a:r>
          </a:p>
        </p:txBody>
      </p:sp>
      <p:sp>
        <p:nvSpPr>
          <p:cNvPr id="3" name="Content Placeholder 2"/>
          <p:cNvSpPr>
            <a:spLocks noGrp="1"/>
          </p:cNvSpPr>
          <p:nvPr>
            <p:ph idx="1" hasCustomPrompt="1"/>
            <p:custDataLst>
              <p:tags r:id="rId2"/>
            </p:custDataLst>
          </p:nvPr>
        </p:nvSpPr>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0529838"/>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wo column graphics right">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p:txBody>
          <a:bodyPr/>
          <a:lstStyle/>
          <a:p>
            <a:r>
              <a:rPr lang="en-US"/>
              <a:t>Click to edit title</a:t>
            </a:r>
          </a:p>
        </p:txBody>
      </p:sp>
      <p:sp>
        <p:nvSpPr>
          <p:cNvPr id="3" name="Content Placeholder 2"/>
          <p:cNvSpPr>
            <a:spLocks noGrp="1"/>
          </p:cNvSpPr>
          <p:nvPr>
            <p:ph sz="half" idx="1" hasCustomPrompt="1"/>
            <p:custDataLst>
              <p:tags r:id="rId2"/>
            </p:custDataLst>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2653105"/>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p:txBody>
          <a:bodyPr/>
          <a:lstStyle/>
          <a:p>
            <a:r>
              <a:rPr lang="en-US"/>
              <a:t>Click to edit title</a:t>
            </a:r>
          </a:p>
        </p:txBody>
      </p:sp>
      <p:sp>
        <p:nvSpPr>
          <p:cNvPr id="3" name="Content Placeholder 2"/>
          <p:cNvSpPr>
            <a:spLocks noGrp="1"/>
          </p:cNvSpPr>
          <p:nvPr>
            <p:ph sz="half" idx="1" hasCustomPrompt="1"/>
            <p:custDataLst>
              <p:tags r:id="rId2"/>
            </p:custDataLst>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custDataLst>
              <p:tags r:id="rId3"/>
            </p:custDataLst>
          </p:nvPr>
        </p:nvSpPr>
        <p:spPr>
          <a:xfrm>
            <a:off x="6236208"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7487879"/>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hree column">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p:txBody>
          <a:bodyPr/>
          <a:lstStyle/>
          <a:p>
            <a:r>
              <a:rPr lang="en-US"/>
              <a:t>Click to edit title</a:t>
            </a:r>
          </a:p>
        </p:txBody>
      </p:sp>
      <p:sp>
        <p:nvSpPr>
          <p:cNvPr id="3" name="Content Placeholder 2"/>
          <p:cNvSpPr>
            <a:spLocks noGrp="1"/>
          </p:cNvSpPr>
          <p:nvPr>
            <p:ph sz="half" idx="1" hasCustomPrompt="1"/>
            <p:custDataLst>
              <p:tags r:id="rId2"/>
            </p:custDataLst>
          </p:nvPr>
        </p:nvSpPr>
        <p:spPr>
          <a:xfrm>
            <a:off x="457200"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custDataLst>
              <p:tags r:id="rId3"/>
            </p:custDataLst>
          </p:nvPr>
        </p:nvSpPr>
        <p:spPr>
          <a:xfrm>
            <a:off x="4425696"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custDataLst>
              <p:tags r:id="rId4"/>
            </p:custDataLst>
          </p:nvPr>
        </p:nvSpPr>
        <p:spPr>
          <a:xfrm>
            <a:off x="8394192"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0009306"/>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hree column shaded">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p:txBody>
          <a:bodyPr/>
          <a:lstStyle/>
          <a:p>
            <a:r>
              <a:rPr lang="en-US"/>
              <a:t>Click to edit title</a:t>
            </a:r>
          </a:p>
        </p:txBody>
      </p:sp>
      <p:sp>
        <p:nvSpPr>
          <p:cNvPr id="3" name="Content Placeholder 2"/>
          <p:cNvSpPr>
            <a:spLocks noGrp="1"/>
          </p:cNvSpPr>
          <p:nvPr>
            <p:ph sz="half" idx="1" hasCustomPrompt="1"/>
            <p:custDataLst>
              <p:tags r:id="rId2"/>
            </p:custDataLst>
          </p:nvPr>
        </p:nvSpPr>
        <p:spPr bwMode="ltGray">
          <a:xfrm>
            <a:off x="457200" y="1527048"/>
            <a:ext cx="3337560" cy="4462272"/>
          </a:xfrm>
          <a:solidFill>
            <a:srgbClr val="B8DE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custDataLst>
              <p:tags r:id="rId3"/>
            </p:custDataLst>
          </p:nvPr>
        </p:nvSpPr>
        <p:spPr bwMode="ltGray">
          <a:xfrm>
            <a:off x="4425696" y="1527048"/>
            <a:ext cx="3337560" cy="4462272"/>
          </a:xfrm>
          <a:solidFill>
            <a:srgbClr val="B8DE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custDataLst>
              <p:tags r:id="rId4"/>
            </p:custDataLst>
          </p:nvPr>
        </p:nvSpPr>
        <p:spPr bwMode="ltGray">
          <a:xfrm>
            <a:off x="8394192" y="1527048"/>
            <a:ext cx="3337560" cy="4462272"/>
          </a:xfrm>
          <a:solidFill>
            <a:srgbClr val="B8DE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7733254"/>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Four column">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custDataLst>
              <p:tags r:id="rId2"/>
            </p:custDataLst>
          </p:nvPr>
        </p:nvSpPr>
        <p:spPr>
          <a:xfrm>
            <a:off x="457200"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custDataLst>
              <p:tags r:id="rId3"/>
            </p:custDataLst>
          </p:nvPr>
        </p:nvSpPr>
        <p:spPr>
          <a:xfrm>
            <a:off x="3348482"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custDataLst>
              <p:tags r:id="rId4"/>
            </p:custDataLst>
          </p:nvPr>
        </p:nvSpPr>
        <p:spPr>
          <a:xfrm>
            <a:off x="6239764"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B226B5DF-DF35-419C-8251-4F81A740D77A}"/>
              </a:ext>
            </a:extLst>
          </p:cNvPr>
          <p:cNvSpPr>
            <a:spLocks noGrp="1"/>
          </p:cNvSpPr>
          <p:nvPr>
            <p:ph sz="half" idx="11" hasCustomPrompt="1"/>
            <p:custDataLst>
              <p:tags r:id="rId5"/>
            </p:custDataLst>
          </p:nvPr>
        </p:nvSpPr>
        <p:spPr>
          <a:xfrm>
            <a:off x="9131046"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57854417"/>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Four column shaded">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custDataLst>
              <p:tags r:id="rId2"/>
            </p:custDataLst>
          </p:nvPr>
        </p:nvSpPr>
        <p:spPr bwMode="ltGray">
          <a:xfrm>
            <a:off x="457200" y="1527048"/>
            <a:ext cx="2600706" cy="4462272"/>
          </a:xfrm>
          <a:solidFill>
            <a:srgbClr val="B8DE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custDataLst>
              <p:tags r:id="rId3"/>
            </p:custDataLst>
          </p:nvPr>
        </p:nvSpPr>
        <p:spPr bwMode="ltGray">
          <a:xfrm>
            <a:off x="3348482" y="1527048"/>
            <a:ext cx="2600706" cy="4462272"/>
          </a:xfrm>
          <a:solidFill>
            <a:srgbClr val="B8DE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custDataLst>
              <p:tags r:id="rId4"/>
            </p:custDataLst>
          </p:nvPr>
        </p:nvSpPr>
        <p:spPr bwMode="ltGray">
          <a:xfrm>
            <a:off x="6239764" y="1527048"/>
            <a:ext cx="2600706" cy="4462272"/>
          </a:xfrm>
          <a:solidFill>
            <a:srgbClr val="B8DE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F44528D9-D4DF-4ABD-97AD-FCFEE24F7C53}"/>
              </a:ext>
            </a:extLst>
          </p:cNvPr>
          <p:cNvSpPr>
            <a:spLocks noGrp="1"/>
          </p:cNvSpPr>
          <p:nvPr>
            <p:ph sz="half" idx="11" hasCustomPrompt="1"/>
            <p:custDataLst>
              <p:tags r:id="rId5"/>
            </p:custDataLst>
          </p:nvPr>
        </p:nvSpPr>
        <p:spPr bwMode="ltGray">
          <a:xfrm>
            <a:off x="9131046" y="1527048"/>
            <a:ext cx="2600706" cy="4462272"/>
          </a:xfrm>
          <a:solidFill>
            <a:srgbClr val="B8DE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70233971"/>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ivider Slide">
    <p:bg>
      <p:bgPr>
        <a:solidFill>
          <a:srgbClr val="E0F1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BAA7-7402-7653-A21A-2C33B981B892}"/>
              </a:ext>
            </a:extLst>
          </p:cNvPr>
          <p:cNvSpPr>
            <a:spLocks noGrp="1"/>
          </p:cNvSpPr>
          <p:nvPr>
            <p:ph type="title" hasCustomPrompt="1"/>
            <p:custDataLst>
              <p:tags r:id="rId1"/>
            </p:custDataLst>
          </p:nvPr>
        </p:nvSpPr>
        <p:spPr bwMode="gray">
          <a:xfrm>
            <a:off x="1365814" y="1590378"/>
            <a:ext cx="5408210" cy="2031326"/>
          </a:xfrm>
          <a:prstGeom prst="bracketPair">
            <a:avLst>
              <a:gd name="adj" fmla="val 0"/>
            </a:avLst>
          </a:prstGeom>
          <a:ln w="101600">
            <a:solidFill>
              <a:schemeClr val="accent3"/>
            </a:solidFill>
          </a:ln>
        </p:spPr>
        <p:txBody>
          <a:bodyPr wrap="square" lIns="228600" rIns="182880" anchor="ctr" anchorCtr="0">
            <a:spAutoFit/>
          </a:bodyPr>
          <a:lstStyle>
            <a:lvl1pPr>
              <a:defRPr sz="4400"/>
            </a:lvl1pPr>
          </a:lstStyle>
          <a:p>
            <a:r>
              <a:rPr lang="en-US"/>
              <a:t>Divider Slide</a:t>
            </a:r>
            <a:br>
              <a:rPr lang="en-US"/>
            </a:br>
            <a:r>
              <a:rPr lang="en-US"/>
              <a:t>30 Characters Max.</a:t>
            </a:r>
            <a:br>
              <a:rPr lang="en-US"/>
            </a:br>
            <a:r>
              <a:rPr lang="en-US"/>
              <a:t>Lorem Ipsum</a:t>
            </a:r>
          </a:p>
        </p:txBody>
      </p:sp>
    </p:spTree>
    <p:extLst>
      <p:ext uri="{BB962C8B-B14F-4D97-AF65-F5344CB8AC3E}">
        <p14:creationId xmlns:p14="http://schemas.microsoft.com/office/powerpoint/2010/main" val="1694389639"/>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Left Rai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1F3F689-0EFE-267D-1F38-8A7BB7CF62AF}"/>
              </a:ext>
            </a:extLst>
          </p:cNvPr>
          <p:cNvSpPr/>
          <p:nvPr userDrawn="1">
            <p:custDataLst>
              <p:tags r:id="rId1"/>
            </p:custDataLst>
          </p:nvPr>
        </p:nvSpPr>
        <p:spPr bwMode="invGray">
          <a:xfrm>
            <a:off x="-1" y="0"/>
            <a:ext cx="4050792" cy="6858000"/>
          </a:xfrm>
          <a:prstGeom prst="rect">
            <a:avLst/>
          </a:prstGeom>
          <a:gradFill>
            <a:gsLst>
              <a:gs pos="0">
                <a:schemeClr val="accent2"/>
              </a:gs>
              <a:gs pos="80000">
                <a:schemeClr val="tx2"/>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9D03778-9F51-35F8-9B55-7FB58E49C224}"/>
              </a:ext>
            </a:extLst>
          </p:cNvPr>
          <p:cNvSpPr>
            <a:spLocks noGrp="1"/>
          </p:cNvSpPr>
          <p:nvPr>
            <p:ph type="title"/>
            <p:custDataLst>
              <p:tags r:id="rId2"/>
            </p:custDataLst>
          </p:nvPr>
        </p:nvSpPr>
        <p:spPr>
          <a:xfrm>
            <a:off x="457200" y="361950"/>
            <a:ext cx="3114675" cy="2051312"/>
          </a:xfrm>
        </p:spPr>
        <p:txBody>
          <a:bodyPr/>
          <a:lstStyle>
            <a:lvl1pPr>
              <a:defRPr>
                <a:solidFill>
                  <a:srgbClr val="FFFFFF"/>
                </a:solidFill>
              </a:defRPr>
            </a:lvl1pPr>
          </a:lstStyle>
          <a:p>
            <a:r>
              <a:rPr lang="en-US"/>
              <a:t>Click to edit Master title style</a:t>
            </a:r>
          </a:p>
        </p:txBody>
      </p:sp>
      <p:sp>
        <p:nvSpPr>
          <p:cNvPr id="4" name="TextBox 3">
            <a:extLst>
              <a:ext uri="{FF2B5EF4-FFF2-40B4-BE49-F238E27FC236}">
                <a16:creationId xmlns:a16="http://schemas.microsoft.com/office/drawing/2014/main" id="{64B9B515-6C0A-2DCC-BDD9-2AEDE0D6D5DB}"/>
              </a:ext>
            </a:extLst>
          </p:cNvPr>
          <p:cNvSpPr txBox="1"/>
          <p:nvPr userDrawn="1">
            <p:custDataLst>
              <p:tags r:id="rId3"/>
            </p:custDataLst>
          </p:nvPr>
        </p:nvSpPr>
        <p:spPr>
          <a:xfrm>
            <a:off x="457200" y="6394704"/>
            <a:ext cx="3566160" cy="152400"/>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rgbClr val="FFFFFF"/>
                </a:solidFill>
              </a:rPr>
              <a:t>‹#›</a:t>
            </a:fld>
            <a:r>
              <a:rPr lang="en-US" sz="700" b="0">
                <a:solidFill>
                  <a:srgbClr val="FFFFFF"/>
                </a:solidFill>
              </a:rPr>
              <a:t>	RESTRICTED ©  2026 Gartner, Inc. and/or its affiliates. All rights reserved.</a:t>
            </a:r>
          </a:p>
        </p:txBody>
      </p:sp>
      <p:sp>
        <p:nvSpPr>
          <p:cNvPr id="6" name="Content Placeholder 5">
            <a:extLst>
              <a:ext uri="{FF2B5EF4-FFF2-40B4-BE49-F238E27FC236}">
                <a16:creationId xmlns:a16="http://schemas.microsoft.com/office/drawing/2014/main" id="{D3AB07D3-66B0-EF24-E15D-D61DB03311CA}"/>
              </a:ext>
            </a:extLst>
          </p:cNvPr>
          <p:cNvSpPr>
            <a:spLocks noGrp="1"/>
          </p:cNvSpPr>
          <p:nvPr>
            <p:ph sz="quarter" idx="10"/>
            <p:custDataLst>
              <p:tags r:id="rId4"/>
            </p:custDataLst>
          </p:nvPr>
        </p:nvSpPr>
        <p:spPr>
          <a:xfrm>
            <a:off x="4478482" y="1346200"/>
            <a:ext cx="7256318" cy="4504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8398924"/>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C83FFE-85A9-5C0D-5033-94BE254D3694}"/>
              </a:ext>
            </a:extLst>
          </p:cNvPr>
          <p:cNvSpPr txBox="1"/>
          <p:nvPr userDrawn="1">
            <p:custDataLst>
              <p:tags r:id="rId1"/>
            </p:custDataLst>
          </p:nvPr>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2" name="Title 1">
            <a:extLst>
              <a:ext uri="{FF2B5EF4-FFF2-40B4-BE49-F238E27FC236}">
                <a16:creationId xmlns:a16="http://schemas.microsoft.com/office/drawing/2014/main" id="{8B478971-A225-4A64-8E00-AA9C8577611D}"/>
              </a:ext>
            </a:extLst>
          </p:cNvPr>
          <p:cNvSpPr>
            <a:spLocks noGrp="1"/>
          </p:cNvSpPr>
          <p:nvPr>
            <p:ph type="title" hasCustomPrompt="1"/>
            <p:custDataLst>
              <p:tags r:id="rId2"/>
            </p:custDataLst>
          </p:nvPr>
        </p:nvSpPr>
        <p:spPr>
          <a:xfrm>
            <a:off x="773056" y="1009268"/>
            <a:ext cx="5718415" cy="4476115"/>
          </a:xfrm>
        </p:spPr>
        <p:txBody>
          <a:bodyPr anchor="ctr" anchorCtr="0"/>
          <a:lstStyle>
            <a:lvl1pPr marL="0" indent="0">
              <a:lnSpc>
                <a:spcPct val="100000"/>
              </a:lnSpc>
              <a:defRPr sz="2800">
                <a:latin typeface="+mj-lt"/>
              </a:defRPr>
            </a:lvl1pPr>
          </a:lstStyle>
          <a:p>
            <a:r>
              <a:rPr lang="en-US"/>
              <a:t>Quote placeholder Lorem ipsum dolor sit amet, conse ctet ur adipiscing elit. Mauris accum san urna. Sus pendisse sem per semper commodo.”</a:t>
            </a:r>
          </a:p>
        </p:txBody>
      </p:sp>
      <p:sp>
        <p:nvSpPr>
          <p:cNvPr id="3" name="Text Placeholder 2">
            <a:extLst>
              <a:ext uri="{FF2B5EF4-FFF2-40B4-BE49-F238E27FC236}">
                <a16:creationId xmlns:a16="http://schemas.microsoft.com/office/drawing/2014/main" id="{44D4D588-53FA-4557-81C5-0FF86A2FBBA3}"/>
              </a:ext>
            </a:extLst>
          </p:cNvPr>
          <p:cNvSpPr>
            <a:spLocks noGrp="1"/>
          </p:cNvSpPr>
          <p:nvPr>
            <p:ph type="body" idx="1" hasCustomPrompt="1"/>
            <p:custDataLst>
              <p:tags r:id="rId3"/>
            </p:custDataLst>
          </p:nvPr>
        </p:nvSpPr>
        <p:spPr>
          <a:xfrm>
            <a:off x="773056" y="5641514"/>
            <a:ext cx="5718415"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
        <p:nvSpPr>
          <p:cNvPr id="10" name="Picture Placeholder 9">
            <a:extLst>
              <a:ext uri="{FF2B5EF4-FFF2-40B4-BE49-F238E27FC236}">
                <a16:creationId xmlns:a16="http://schemas.microsoft.com/office/drawing/2014/main" id="{D2E7EA53-F4D0-483C-9798-E23D7CCB2A12}"/>
              </a:ext>
            </a:extLst>
          </p:cNvPr>
          <p:cNvSpPr>
            <a:spLocks noGrp="1"/>
          </p:cNvSpPr>
          <p:nvPr>
            <p:ph type="pic" sz="quarter" idx="10"/>
            <p:custDataLst>
              <p:tags r:id="rId4"/>
            </p:custDataLst>
          </p:nvPr>
        </p:nvSpPr>
        <p:spPr>
          <a:xfrm>
            <a:off x="7043928" y="1346199"/>
            <a:ext cx="4690872" cy="4297680"/>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4211464626"/>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C41137-E6C9-A053-8403-388C27EB8CE1}"/>
              </a:ext>
            </a:extLst>
          </p:cNvPr>
          <p:cNvSpPr txBox="1"/>
          <p:nvPr userDrawn="1">
            <p:custDataLst>
              <p:tags r:id="rId1"/>
            </p:custDataLst>
          </p:nvPr>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6" name="Title 1">
            <a:extLst>
              <a:ext uri="{FF2B5EF4-FFF2-40B4-BE49-F238E27FC236}">
                <a16:creationId xmlns:a16="http://schemas.microsoft.com/office/drawing/2014/main" id="{A5204F30-1AF4-524D-A3DC-8D6F9529A61E}"/>
              </a:ext>
            </a:extLst>
          </p:cNvPr>
          <p:cNvSpPr>
            <a:spLocks noGrp="1"/>
          </p:cNvSpPr>
          <p:nvPr>
            <p:ph type="title" hasCustomPrompt="1"/>
            <p:custDataLst>
              <p:tags r:id="rId2"/>
            </p:custDataLst>
          </p:nvPr>
        </p:nvSpPr>
        <p:spPr>
          <a:xfrm>
            <a:off x="773054" y="995363"/>
            <a:ext cx="8086466" cy="4460875"/>
          </a:xfrm>
        </p:spPr>
        <p:txBody>
          <a:bodyPr anchor="ctr" anchorCtr="0"/>
          <a:lstStyle>
            <a:lvl1pPr marL="0" indent="0">
              <a:lnSpc>
                <a:spcPct val="100000"/>
              </a:lnSpc>
              <a:defRPr sz="2800"/>
            </a:lvl1pPr>
          </a:lstStyle>
          <a:p>
            <a:r>
              <a:rPr lang="en-US"/>
              <a:t>Quote placeholder Lorem ipsum dolor sit amet, conse ctet ur adip iscing elit. Mauris accum san urna. Sus pendisse sem per semper commodo lorem.”</a:t>
            </a:r>
          </a:p>
        </p:txBody>
      </p:sp>
      <p:sp>
        <p:nvSpPr>
          <p:cNvPr id="7" name="Text Placeholder 2">
            <a:extLst>
              <a:ext uri="{FF2B5EF4-FFF2-40B4-BE49-F238E27FC236}">
                <a16:creationId xmlns:a16="http://schemas.microsoft.com/office/drawing/2014/main" id="{D53A335E-67E2-3E4F-88F7-0D3EB5BAE73D}"/>
              </a:ext>
            </a:extLst>
          </p:cNvPr>
          <p:cNvSpPr>
            <a:spLocks noGrp="1"/>
          </p:cNvSpPr>
          <p:nvPr>
            <p:ph type="body" idx="1" hasCustomPrompt="1"/>
            <p:custDataLst>
              <p:tags r:id="rId3"/>
            </p:custDataLst>
          </p:nvPr>
        </p:nvSpPr>
        <p:spPr>
          <a:xfrm>
            <a:off x="773056" y="5641514"/>
            <a:ext cx="8086463"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Tree>
    <p:extLst>
      <p:ext uri="{BB962C8B-B14F-4D97-AF65-F5344CB8AC3E}">
        <p14:creationId xmlns:p14="http://schemas.microsoft.com/office/powerpoint/2010/main" val="656736656"/>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FFFF0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65764A-9DB5-E0B9-2854-737204071442}"/>
              </a:ext>
            </a:extLst>
          </p:cNvPr>
          <p:cNvSpPr txBox="1"/>
          <p:nvPr userDrawn="1">
            <p:custDataLst>
              <p:tags r:id="rId1"/>
            </p:custDataLst>
          </p:nvPr>
        </p:nvSpPr>
        <p:spPr>
          <a:xfrm>
            <a:off x="208972" y="189623"/>
            <a:ext cx="11774056" cy="6555641"/>
          </a:xfrm>
          <a:prstGeom prst="rect">
            <a:avLst/>
          </a:prstGeom>
          <a:noFill/>
        </p:spPr>
        <p:txBody>
          <a:bodyPr wrap="none" lIns="0" rIns="0" rtlCol="0">
            <a:spAutoFit/>
          </a:bodyPr>
          <a:lstStyle/>
          <a:p>
            <a:pPr algn="ctr">
              <a:spcBef>
                <a:spcPts val="600"/>
              </a:spcBef>
            </a:pPr>
            <a:r>
              <a:rPr lang="en-US" sz="9600">
                <a:solidFill>
                  <a:srgbClr val="00002D"/>
                </a:solidFill>
                <a:latin typeface="+mj-lt"/>
              </a:rPr>
              <a:t>Don’t use this or any </a:t>
            </a:r>
            <a:br>
              <a:rPr lang="en-US" sz="9600">
                <a:solidFill>
                  <a:srgbClr val="00002D"/>
                </a:solidFill>
                <a:latin typeface="+mj-lt"/>
              </a:rPr>
            </a:br>
            <a:r>
              <a:rPr lang="en-US" sz="9600">
                <a:solidFill>
                  <a:srgbClr val="00002D"/>
                </a:solidFill>
                <a:latin typeface="+mj-lt"/>
              </a:rPr>
              <a:t>layouts after this.</a:t>
            </a:r>
            <a:endParaRPr lang="en-US" sz="4400">
              <a:solidFill>
                <a:srgbClr val="00002D"/>
              </a:solidFill>
              <a:latin typeface="+mj-lt"/>
            </a:endParaRPr>
          </a:p>
          <a:p>
            <a:pPr algn="ctr">
              <a:spcBef>
                <a:spcPts val="3600"/>
              </a:spcBef>
            </a:pPr>
            <a:r>
              <a:rPr lang="en-US" sz="6600">
                <a:solidFill>
                  <a:srgbClr val="00002D"/>
                </a:solidFill>
              </a:rPr>
              <a:t>Choose an appropriate </a:t>
            </a:r>
            <a:br>
              <a:rPr lang="en-US" sz="6600">
                <a:solidFill>
                  <a:srgbClr val="00002D"/>
                </a:solidFill>
              </a:rPr>
            </a:br>
            <a:r>
              <a:rPr lang="en-US" sz="6600">
                <a:solidFill>
                  <a:srgbClr val="00002D"/>
                </a:solidFill>
              </a:rPr>
              <a:t>layout from </a:t>
            </a:r>
            <a:br>
              <a:rPr lang="en-US" sz="6600">
                <a:solidFill>
                  <a:srgbClr val="00002D"/>
                </a:solidFill>
              </a:rPr>
            </a:br>
            <a:r>
              <a:rPr lang="en-US" sz="6600" b="1">
                <a:solidFill>
                  <a:srgbClr val="00002D"/>
                </a:solidFill>
              </a:rPr>
              <a:t>Home</a:t>
            </a:r>
            <a:r>
              <a:rPr lang="en-US" sz="6600">
                <a:solidFill>
                  <a:srgbClr val="00002D"/>
                </a:solidFill>
              </a:rPr>
              <a:t> &gt; </a:t>
            </a:r>
            <a:r>
              <a:rPr lang="en-US" sz="6600" b="1">
                <a:solidFill>
                  <a:srgbClr val="00002D"/>
                </a:solidFill>
              </a:rPr>
              <a:t>Layout gallery</a:t>
            </a:r>
            <a:r>
              <a:rPr lang="en-US" sz="6600">
                <a:solidFill>
                  <a:srgbClr val="00002D"/>
                </a:solidFill>
              </a:rPr>
              <a:t>.</a:t>
            </a:r>
          </a:p>
        </p:txBody>
      </p:sp>
      <p:sp>
        <p:nvSpPr>
          <p:cNvPr id="2" name="TextBox 1">
            <a:extLst>
              <a:ext uri="{FF2B5EF4-FFF2-40B4-BE49-F238E27FC236}">
                <a16:creationId xmlns:a16="http://schemas.microsoft.com/office/drawing/2014/main" id="{C79BCB47-00AD-DF01-2171-B288626052B6}"/>
              </a:ext>
            </a:extLst>
          </p:cNvPr>
          <p:cNvSpPr txBox="1"/>
          <p:nvPr userDrawn="1">
            <p:custDataLst>
              <p:tags r:id="rId2"/>
            </p:custDataLst>
          </p:nvPr>
        </p:nvSpPr>
        <p:spPr>
          <a:xfrm>
            <a:off x="12346930" y="835909"/>
            <a:ext cx="2668480" cy="2539157"/>
          </a:xfrm>
          <a:prstGeom prst="rect">
            <a:avLst/>
          </a:prstGeom>
          <a:noFill/>
          <a:ln>
            <a:solidFill>
              <a:srgbClr val="707996"/>
            </a:solidFill>
          </a:ln>
        </p:spPr>
        <p:txBody>
          <a:bodyPr wrap="square" lIns="91440" rIns="91440" rtlCol="0">
            <a:spAutoFit/>
          </a:bodyPr>
          <a:lstStyle/>
          <a:p>
            <a:pPr algn="l">
              <a:spcBef>
                <a:spcPts val="600"/>
              </a:spcBef>
            </a:pPr>
            <a:r>
              <a:rPr lang="en-US" sz="1400">
                <a:solidFill>
                  <a:srgbClr val="00002D"/>
                </a:solidFill>
              </a:rPr>
              <a:t>When pasting legacy slides that doesn’t match any of the new layouts, PowerPoint adds it to the end of the layouts and prepends the layout name with a number (1_Title Slide, for example). </a:t>
            </a:r>
          </a:p>
          <a:p>
            <a:pPr algn="l">
              <a:spcBef>
                <a:spcPts val="600"/>
              </a:spcBef>
            </a:pPr>
            <a:r>
              <a:rPr lang="en-US" sz="1400">
                <a:solidFill>
                  <a:srgbClr val="00002D"/>
                </a:solidFill>
              </a:rPr>
              <a:t>These “orphaned” layouts should not be used, instead choose from the layouts preceding this one. </a:t>
            </a:r>
          </a:p>
        </p:txBody>
      </p:sp>
    </p:spTree>
    <p:extLst>
      <p:ext uri="{BB962C8B-B14F-4D97-AF65-F5344CB8AC3E}">
        <p14:creationId xmlns:p14="http://schemas.microsoft.com/office/powerpoint/2010/main" val="2995931520"/>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tags" Target="../tags/tag57.xml"/><Relationship Id="rId3" Type="http://schemas.openxmlformats.org/officeDocument/2006/relationships/slideLayout" Target="../slideLayouts/slideLayout21.xml"/><Relationship Id="rId21" Type="http://schemas.openxmlformats.org/officeDocument/2006/relationships/tags" Target="../tags/tag60.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theme" Target="../theme/theme2.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tags" Target="../tags/tag59.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19" Type="http://schemas.openxmlformats.org/officeDocument/2006/relationships/tags" Target="../tags/tag5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 Id="rId22"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18" Type="http://schemas.openxmlformats.org/officeDocument/2006/relationships/tags" Target="../tags/tag109.xml"/><Relationship Id="rId3" Type="http://schemas.openxmlformats.org/officeDocument/2006/relationships/slideLayout" Target="../slideLayouts/slideLayout37.xml"/><Relationship Id="rId21" Type="http://schemas.openxmlformats.org/officeDocument/2006/relationships/tags" Target="../tags/tag112.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theme" Target="../theme/theme3.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20" Type="http://schemas.openxmlformats.org/officeDocument/2006/relationships/tags" Target="../tags/tag111.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10" Type="http://schemas.openxmlformats.org/officeDocument/2006/relationships/slideLayout" Target="../slideLayouts/slideLayout44.xml"/><Relationship Id="rId19" Type="http://schemas.openxmlformats.org/officeDocument/2006/relationships/tags" Target="../tags/tag110.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20"/>
            </p:custDataLst>
          </p:nvPr>
        </p:nvSpPr>
        <p:spPr>
          <a:xfrm>
            <a:off x="457200" y="361950"/>
            <a:ext cx="11274552" cy="451231"/>
          </a:xfrm>
          <a:prstGeom prst="rect">
            <a:avLst/>
          </a:prstGeom>
        </p:spPr>
        <p:txBody>
          <a:bodyPr vert="horz" lIns="0" tIns="0" rIns="0" bIns="0" rtlCol="0" anchor="t" anchorCtr="0">
            <a:noAutofit/>
          </a:bodyPr>
          <a:lstStyle/>
          <a:p>
            <a:r>
              <a:rPr lang="en-US"/>
              <a:t>Click to edit title</a:t>
            </a:r>
          </a:p>
        </p:txBody>
      </p:sp>
      <p:sp>
        <p:nvSpPr>
          <p:cNvPr id="3" name="Text Placeholder 2"/>
          <p:cNvSpPr>
            <a:spLocks noGrp="1"/>
          </p:cNvSpPr>
          <p:nvPr>
            <p:ph type="body" idx="1"/>
            <p:custDataLst>
              <p:tags r:id="rId21"/>
            </p:custDataLst>
          </p:nvPr>
        </p:nvSpPr>
        <p:spPr>
          <a:xfrm>
            <a:off x="457200" y="1527048"/>
            <a:ext cx="11274552" cy="4462272"/>
          </a:xfrm>
          <a:prstGeom prst="rect">
            <a:avLst/>
          </a:prstGeom>
        </p:spPr>
        <p:txBody>
          <a:bodyPr vert="horz" lIns="0" tIns="0" rIns="0" bIns="0" rtlCol="0">
            <a:noAutofit/>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02A410-1807-488C-9458-4CFAF1E4E8F0}"/>
              </a:ext>
            </a:extLst>
          </p:cNvPr>
          <p:cNvSpPr txBox="1"/>
          <p:nvPr>
            <p:custDataLst>
              <p:tags r:id="rId22"/>
            </p:custDataLst>
          </p:nvPr>
        </p:nvSpPr>
        <p:spPr>
          <a:xfrm>
            <a:off x="457200" y="6394704"/>
            <a:ext cx="7306056" cy="152400"/>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chemeClr val="tx1"/>
                </a:solidFill>
              </a:rPr>
              <a:t>‹#›</a:t>
            </a:fld>
            <a:r>
              <a:rPr lang="en-US" sz="700" b="0">
                <a:solidFill>
                  <a:schemeClr val="tx1"/>
                </a:solidFill>
              </a:rPr>
              <a:t>	RESTRICTED © 2026 Gartner, Inc. and/or its affiliates. All rights reserved.</a:t>
            </a:r>
          </a:p>
        </p:txBody>
      </p:sp>
      <p:pic>
        <p:nvPicPr>
          <p:cNvPr id="7" name="Picture 6">
            <a:extLst>
              <a:ext uri="{FF2B5EF4-FFF2-40B4-BE49-F238E27FC236}">
                <a16:creationId xmlns:a16="http://schemas.microsoft.com/office/drawing/2014/main" id="{57E7FBBB-CE99-4B6D-A472-B54EFCF17046}"/>
              </a:ext>
            </a:extLst>
          </p:cNvPr>
          <p:cNvPicPr>
            <a:picLocks noChangeAspect="1"/>
          </p:cNvPicPr>
          <p:nvPr>
            <p:custDataLst>
              <p:tags r:id="rId23"/>
            </p:custDataLst>
          </p:nvPr>
        </p:nvPicPr>
        <p:blipFill>
          <a:blip r:embed="rId24">
            <a:extLst>
              <a:ext uri="{28A0092B-C50C-407E-A947-70E740481C1C}">
                <a14:useLocalDpi xmlns:a14="http://schemas.microsoft.com/office/drawing/2010/main" val="0"/>
              </a:ext>
            </a:extLst>
          </a:blip>
          <a:srcRect t="226" b="226"/>
          <a:stretch>
            <a:fillRect/>
          </a:stretch>
        </p:blipFill>
        <p:spPr>
          <a:xfrm>
            <a:off x="10454640" y="6239533"/>
            <a:ext cx="1350666" cy="307571"/>
          </a:xfrm>
          <a:prstGeom prst="rect">
            <a:avLst/>
          </a:prstGeom>
        </p:spPr>
      </p:pic>
    </p:spTree>
    <p:extLst>
      <p:ext uri="{BB962C8B-B14F-4D97-AF65-F5344CB8AC3E}">
        <p14:creationId xmlns:p14="http://schemas.microsoft.com/office/powerpoint/2010/main" val="377813297"/>
      </p:ext>
    </p:extLst>
  </p:cSld>
  <p:clrMap bg1="lt1" tx1="dk1" bg2="lt2" tx2="dk2" accent1="accent1" accent2="accent2" accent3="accent3" accent4="accent4" accent5="accent5" accent6="accent6" hlink="hlink" folHlink="folHlink"/>
  <p:sldLayoutIdLst>
    <p:sldLayoutId id="2147483852" r:id="rId1"/>
    <p:sldLayoutId id="2147483929" r:id="rId2"/>
    <p:sldLayoutId id="2147483854" r:id="rId3"/>
    <p:sldLayoutId id="2147483855" r:id="rId4"/>
    <p:sldLayoutId id="2147483856" r:id="rId5"/>
    <p:sldLayoutId id="2147483857" r:id="rId6"/>
    <p:sldLayoutId id="2147483858" r:id="rId7"/>
    <p:sldLayoutId id="2147483859" r:id="rId8"/>
    <p:sldLayoutId id="2147483860" r:id="rId9"/>
    <p:sldLayoutId id="2147483943" r:id="rId10"/>
    <p:sldLayoutId id="2147483944" r:id="rId11"/>
    <p:sldLayoutId id="2147483948" r:id="rId12"/>
    <p:sldLayoutId id="2147483947" r:id="rId13"/>
    <p:sldLayoutId id="2147483867" r:id="rId14"/>
    <p:sldLayoutId id="2147483941" r:id="rId15"/>
    <p:sldLayoutId id="2147483949" r:id="rId16"/>
    <p:sldLayoutId id="2147483987" r:id="rId17"/>
    <p:sldLayoutId id="2147483988" r:id="rId18"/>
  </p:sldLayoutIdLst>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hf sldNum="0" hdr="0" dt="0"/>
  <p:txStyles>
    <p:titleStyle>
      <a:lvl1pPr algn="l" defTabSz="914400" rtl="0" eaLnBrk="1" latinLnBrk="0" hangingPunct="1">
        <a:lnSpc>
          <a:spcPct val="100000"/>
        </a:lnSpc>
        <a:spcBef>
          <a:spcPct val="0"/>
        </a:spcBef>
        <a:spcAft>
          <a:spcPct val="0"/>
        </a:spcAft>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200"/>
        </a:spcBef>
        <a:spcAft>
          <a:spcPct val="0"/>
        </a:spcAft>
        <a:buSzTx/>
        <a:buFont typeface="Arial" panose="020B0604020202020204" pitchFamily="34" charset="0"/>
        <a:buChar char="•"/>
        <a:defRPr sz="2000" kern="1200">
          <a:solidFill>
            <a:schemeClr val="tx1"/>
          </a:solidFill>
          <a:latin typeface="+mn-lt"/>
          <a:ea typeface="+mn-ea"/>
          <a:cs typeface="+mn-cs"/>
        </a:defRPr>
      </a:lvl1pPr>
      <a:lvl2pPr marL="630936" indent="-292608" algn="l" defTabSz="914400" rtl="0" eaLnBrk="1" latinLnBrk="0" hangingPunct="1">
        <a:lnSpc>
          <a:spcPct val="100000"/>
        </a:lnSpc>
        <a:spcBef>
          <a:spcPts val="1200"/>
        </a:spcBef>
        <a:spcAft>
          <a:spcPct val="0"/>
        </a:spcAft>
        <a:buSzTx/>
        <a:buFont typeface="Arial" panose="020B0604020202020204" pitchFamily="34" charset="0"/>
        <a:buChar char="–"/>
        <a:defRPr sz="2000" kern="1200">
          <a:solidFill>
            <a:schemeClr val="tx1"/>
          </a:solidFill>
          <a:latin typeface="+mn-lt"/>
          <a:ea typeface="+mn-ea"/>
          <a:cs typeface="+mn-cs"/>
        </a:defRPr>
      </a:lvl2pPr>
      <a:lvl3pPr marL="978408" indent="-228600" algn="l" defTabSz="914400" rtl="0" eaLnBrk="1" latinLnBrk="0" hangingPunct="1">
        <a:lnSpc>
          <a:spcPct val="100000"/>
        </a:lnSpc>
        <a:spcBef>
          <a:spcPts val="1200"/>
        </a:spcBef>
        <a:spcAft>
          <a:spcPct val="0"/>
        </a:spcAft>
        <a:buSzTx/>
        <a:buFont typeface="Arial" panose="020B0604020202020204" pitchFamily="34" charset="0"/>
        <a:buChar char="•"/>
        <a:defRPr sz="2000" kern="1200">
          <a:solidFill>
            <a:schemeClr val="tx1"/>
          </a:solidFill>
          <a:latin typeface="+mn-lt"/>
          <a:ea typeface="+mn-ea"/>
          <a:cs typeface="+mn-cs"/>
        </a:defRPr>
      </a:lvl3pPr>
      <a:lvl4pPr marL="1380744" indent="-292608" algn="l" defTabSz="914400" rtl="0" eaLnBrk="1" latinLnBrk="0" hangingPunct="1">
        <a:lnSpc>
          <a:spcPct val="100000"/>
        </a:lnSpc>
        <a:spcBef>
          <a:spcPts val="1200"/>
        </a:spcBef>
        <a:spcAft>
          <a:spcPct val="0"/>
        </a:spcAft>
        <a:buSzTx/>
        <a:buFont typeface="Arial" panose="020B0604020202020204" pitchFamily="34" charset="0"/>
        <a:buChar char="–"/>
        <a:defRPr sz="2000" kern="1200">
          <a:solidFill>
            <a:schemeClr val="tx1"/>
          </a:solidFill>
          <a:latin typeface="+mn-lt"/>
          <a:ea typeface="+mn-ea"/>
          <a:cs typeface="+mn-cs"/>
        </a:defRPr>
      </a:lvl4pPr>
      <a:lvl5pPr marL="1719072" indent="-228600" algn="l" defTabSz="914400" rtl="0" eaLnBrk="1" latinLnBrk="0" hangingPunct="1">
        <a:lnSpc>
          <a:spcPct val="100000"/>
        </a:lnSpc>
        <a:spcBef>
          <a:spcPts val="12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orient="horz" pos="228" userDrawn="1">
          <p15:clr>
            <a:srgbClr val="5ACBF0"/>
          </p15:clr>
        </p15:guide>
        <p15:guide id="4" orient="horz" pos="537" userDrawn="1">
          <p15:clr>
            <a:srgbClr val="FDE53C"/>
          </p15:clr>
        </p15:guide>
        <p15:guide id="5" orient="horz" pos="848" userDrawn="1">
          <p15:clr>
            <a:srgbClr val="FDE53C"/>
          </p15:clr>
        </p15:guide>
        <p15:guide id="6" orient="horz" pos="960" userDrawn="1">
          <p15:clr>
            <a:srgbClr val="5ACBF0"/>
          </p15:clr>
        </p15:guide>
        <p15:guide id="7" orient="horz" pos="3773" userDrawn="1">
          <p15:clr>
            <a:srgbClr val="FBAE40"/>
          </p15:clr>
        </p15:guide>
        <p15:guide id="8" orient="horz" pos="4001" userDrawn="1">
          <p15:clr>
            <a:srgbClr val="5ACBF0"/>
          </p15:clr>
        </p15:guide>
        <p15:guide id="9" orient="horz" pos="4113" userDrawn="1">
          <p15:clr>
            <a:srgbClr val="5ACBF0"/>
          </p15:clr>
        </p15:guide>
        <p15:guide id="10" pos="288" userDrawn="1">
          <p15:clr>
            <a:srgbClr val="5ACBF0"/>
          </p15:clr>
        </p15:guide>
        <p15:guide id="11" pos="3756" userDrawn="1">
          <p15:clr>
            <a:srgbClr val="5ACBF0"/>
          </p15:clr>
        </p15:guide>
        <p15:guide id="12" pos="3927" userDrawn="1">
          <p15:clr>
            <a:srgbClr val="5ACBF0"/>
          </p15:clr>
        </p15:guide>
        <p15:guide id="13" pos="7394" userDrawn="1">
          <p15:clr>
            <a:srgbClr val="5ACBF0"/>
          </p15:clr>
        </p15:guide>
        <p15:guide id="14" orient="horz" pos="3969"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8"/>
            </p:custDataLst>
          </p:nvPr>
        </p:nvSpPr>
        <p:spPr>
          <a:xfrm>
            <a:off x="457200" y="361950"/>
            <a:ext cx="11274552" cy="451231"/>
          </a:xfrm>
          <a:prstGeom prst="rect">
            <a:avLst/>
          </a:prstGeom>
        </p:spPr>
        <p:txBody>
          <a:bodyPr vert="horz" lIns="0" tIns="0" rIns="0" bIns="0" rtlCol="0" anchor="t" anchorCtr="0">
            <a:noAutofit/>
          </a:bodyPr>
          <a:lstStyle/>
          <a:p>
            <a:r>
              <a:rPr lang="en-US"/>
              <a:t>Click to edit title</a:t>
            </a:r>
          </a:p>
        </p:txBody>
      </p:sp>
      <p:sp>
        <p:nvSpPr>
          <p:cNvPr id="3" name="Text Placeholder 2"/>
          <p:cNvSpPr>
            <a:spLocks noGrp="1"/>
          </p:cNvSpPr>
          <p:nvPr>
            <p:ph type="body" idx="1"/>
            <p:custDataLst>
              <p:tags r:id="rId19"/>
            </p:custDataLst>
          </p:nvPr>
        </p:nvSpPr>
        <p:spPr>
          <a:xfrm>
            <a:off x="457200" y="1527048"/>
            <a:ext cx="11274552" cy="4462272"/>
          </a:xfrm>
          <a:prstGeom prst="rect">
            <a:avLst/>
          </a:prstGeom>
        </p:spPr>
        <p:txBody>
          <a:bodyPr vert="horz" lIns="0" tIns="0" rIns="0" bIns="0" rtlCol="0">
            <a:noAutofit/>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02A410-1807-488C-9458-4CFAF1E4E8F0}"/>
              </a:ext>
            </a:extLst>
          </p:cNvPr>
          <p:cNvSpPr txBox="1"/>
          <p:nvPr>
            <p:custDataLst>
              <p:tags r:id="rId20"/>
            </p:custDataLst>
          </p:nvPr>
        </p:nvSpPr>
        <p:spPr>
          <a:xfrm>
            <a:off x="457200" y="6394704"/>
            <a:ext cx="7306056" cy="152400"/>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chemeClr val="tx1"/>
                </a:solidFill>
              </a:rPr>
              <a:t>‹#›</a:t>
            </a:fld>
            <a:r>
              <a:rPr lang="en-US" sz="700" b="0">
                <a:solidFill>
                  <a:schemeClr val="tx1"/>
                </a:solidFill>
              </a:rPr>
              <a:t>	RESTRICTED © </a:t>
            </a:r>
            <a:r>
              <a:rPr lang="en-IN" sz="700"/>
              <a:t>2026</a:t>
            </a:r>
            <a:r>
              <a:rPr lang="en-US" sz="700" b="0">
                <a:solidFill>
                  <a:schemeClr val="tx1"/>
                </a:solidFill>
              </a:rPr>
              <a:t> Gartner, Inc. and/or its affiliates. All rights reserved.</a:t>
            </a:r>
          </a:p>
        </p:txBody>
      </p:sp>
      <p:pic>
        <p:nvPicPr>
          <p:cNvPr id="7" name="Picture 6">
            <a:extLst>
              <a:ext uri="{FF2B5EF4-FFF2-40B4-BE49-F238E27FC236}">
                <a16:creationId xmlns:a16="http://schemas.microsoft.com/office/drawing/2014/main" id="{57E7FBBB-CE99-4B6D-A472-B54EFCF17046}"/>
              </a:ext>
            </a:extLst>
          </p:cNvPr>
          <p:cNvPicPr>
            <a:picLocks noChangeAspect="1"/>
          </p:cNvPicPr>
          <p:nvPr>
            <p:custDataLst>
              <p:tags r:id="rId21"/>
            </p:custDataLst>
          </p:nvPr>
        </p:nvPicPr>
        <p:blipFill>
          <a:blip r:embed="rId22">
            <a:extLst>
              <a:ext uri="{28A0092B-C50C-407E-A947-70E740481C1C}">
                <a14:useLocalDpi xmlns:a14="http://schemas.microsoft.com/office/drawing/2010/main" val="0"/>
              </a:ext>
            </a:extLst>
          </a:blip>
          <a:srcRect t="217" b="217"/>
          <a:stretch>
            <a:fillRect/>
          </a:stretch>
        </p:blipFill>
        <p:spPr>
          <a:xfrm>
            <a:off x="10454640" y="6239533"/>
            <a:ext cx="1350441" cy="307571"/>
          </a:xfrm>
          <a:prstGeom prst="rect">
            <a:avLst/>
          </a:prstGeom>
        </p:spPr>
      </p:pic>
    </p:spTree>
    <p:extLst>
      <p:ext uri="{BB962C8B-B14F-4D97-AF65-F5344CB8AC3E}">
        <p14:creationId xmlns:p14="http://schemas.microsoft.com/office/powerpoint/2010/main" val="1624709770"/>
      </p:ext>
    </p:extLst>
  </p:cSld>
  <p:clrMap bg1="dk1" tx1="lt1" bg2="dk2" tx2="lt2" accent1="accent1" accent2="accent2" accent3="accent3" accent4="accent4" accent5="accent5" accent6="accent6" hlink="hlink" folHlink="folHlink"/>
  <p:sldLayoutIdLst>
    <p:sldLayoutId id="2147483954" r:id="rId1"/>
    <p:sldLayoutId id="2147483953" r:id="rId2"/>
    <p:sldLayoutId id="2147483955" r:id="rId3"/>
    <p:sldLayoutId id="2147483956" r:id="rId4"/>
    <p:sldLayoutId id="2147483957" r:id="rId5"/>
    <p:sldLayoutId id="2147483958" r:id="rId6"/>
    <p:sldLayoutId id="2147483959" r:id="rId7"/>
    <p:sldLayoutId id="2147483960" r:id="rId8"/>
    <p:sldLayoutId id="2147483961" r:id="rId9"/>
    <p:sldLayoutId id="2147483962" r:id="rId10"/>
    <p:sldLayoutId id="2147483963" r:id="rId11"/>
    <p:sldLayoutId id="2147483964" r:id="rId12"/>
    <p:sldLayoutId id="2147483965" r:id="rId13"/>
    <p:sldLayoutId id="2147483966" r:id="rId14"/>
    <p:sldLayoutId id="2147483967" r:id="rId15"/>
    <p:sldLayoutId id="2147483985" r:id="rId16"/>
  </p:sldLayoutIdLst>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hf sldNum="0" hdr="0" dt="0"/>
  <p:txStyles>
    <p:titleStyle>
      <a:lvl1pPr algn="l" defTabSz="914400" rtl="0" eaLnBrk="1" latinLnBrk="0" hangingPunct="1">
        <a:lnSpc>
          <a:spcPct val="100000"/>
        </a:lnSpc>
        <a:spcBef>
          <a:spcPct val="0"/>
        </a:spcBef>
        <a:spcAft>
          <a:spcPct val="0"/>
        </a:spcAft>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200"/>
        </a:spcBef>
        <a:spcAft>
          <a:spcPct val="0"/>
        </a:spcAft>
        <a:buSzTx/>
        <a:buFont typeface="Arial" panose="020B0604020202020204" pitchFamily="34" charset="0"/>
        <a:buChar char="•"/>
        <a:defRPr sz="2000" kern="1200">
          <a:solidFill>
            <a:schemeClr val="tx1"/>
          </a:solidFill>
          <a:latin typeface="+mn-lt"/>
          <a:ea typeface="+mn-ea"/>
          <a:cs typeface="+mn-cs"/>
        </a:defRPr>
      </a:lvl1pPr>
      <a:lvl2pPr marL="630936" indent="-292608" algn="l" defTabSz="914400" rtl="0" eaLnBrk="1" latinLnBrk="0" hangingPunct="1">
        <a:lnSpc>
          <a:spcPct val="100000"/>
        </a:lnSpc>
        <a:spcBef>
          <a:spcPts val="1200"/>
        </a:spcBef>
        <a:spcAft>
          <a:spcPct val="0"/>
        </a:spcAft>
        <a:buSzTx/>
        <a:buFont typeface="Arial" panose="020B0604020202020204" pitchFamily="34" charset="0"/>
        <a:buChar char="–"/>
        <a:defRPr sz="2000" kern="1200">
          <a:solidFill>
            <a:schemeClr val="tx1"/>
          </a:solidFill>
          <a:latin typeface="+mn-lt"/>
          <a:ea typeface="+mn-ea"/>
          <a:cs typeface="+mn-cs"/>
        </a:defRPr>
      </a:lvl2pPr>
      <a:lvl3pPr marL="978408" indent="-228600" algn="l" defTabSz="914400" rtl="0" eaLnBrk="1" latinLnBrk="0" hangingPunct="1">
        <a:lnSpc>
          <a:spcPct val="100000"/>
        </a:lnSpc>
        <a:spcBef>
          <a:spcPts val="1200"/>
        </a:spcBef>
        <a:spcAft>
          <a:spcPct val="0"/>
        </a:spcAft>
        <a:buSzTx/>
        <a:buFont typeface="Arial" panose="020B0604020202020204" pitchFamily="34" charset="0"/>
        <a:buChar char="•"/>
        <a:defRPr sz="2000" kern="1200">
          <a:solidFill>
            <a:schemeClr val="tx1"/>
          </a:solidFill>
          <a:latin typeface="+mn-lt"/>
          <a:ea typeface="+mn-ea"/>
          <a:cs typeface="+mn-cs"/>
        </a:defRPr>
      </a:lvl3pPr>
      <a:lvl4pPr marL="1380744" indent="-292608" algn="l" defTabSz="914400" rtl="0" eaLnBrk="1" latinLnBrk="0" hangingPunct="1">
        <a:lnSpc>
          <a:spcPct val="100000"/>
        </a:lnSpc>
        <a:spcBef>
          <a:spcPts val="1200"/>
        </a:spcBef>
        <a:spcAft>
          <a:spcPct val="0"/>
        </a:spcAft>
        <a:buSzTx/>
        <a:buFont typeface="Arial" panose="020B0604020202020204" pitchFamily="34" charset="0"/>
        <a:buChar char="–"/>
        <a:defRPr sz="2000" kern="1200">
          <a:solidFill>
            <a:schemeClr val="tx1"/>
          </a:solidFill>
          <a:latin typeface="+mn-lt"/>
          <a:ea typeface="+mn-ea"/>
          <a:cs typeface="+mn-cs"/>
        </a:defRPr>
      </a:lvl4pPr>
      <a:lvl5pPr marL="1719072" indent="-228600" algn="l" defTabSz="914400" rtl="0" eaLnBrk="1" latinLnBrk="0" hangingPunct="1">
        <a:lnSpc>
          <a:spcPct val="100000"/>
        </a:lnSpc>
        <a:spcBef>
          <a:spcPts val="12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orient="horz" pos="228" userDrawn="1">
          <p15:clr>
            <a:srgbClr val="5ACBF0"/>
          </p15:clr>
        </p15:guide>
        <p15:guide id="4" orient="horz" pos="537" userDrawn="1">
          <p15:clr>
            <a:srgbClr val="FDE53C"/>
          </p15:clr>
        </p15:guide>
        <p15:guide id="5" orient="horz" pos="848" userDrawn="1">
          <p15:clr>
            <a:srgbClr val="FDE53C"/>
          </p15:clr>
        </p15:guide>
        <p15:guide id="6" orient="horz" pos="960" userDrawn="1">
          <p15:clr>
            <a:srgbClr val="5ACBF0"/>
          </p15:clr>
        </p15:guide>
        <p15:guide id="7" orient="horz" pos="3773" userDrawn="1">
          <p15:clr>
            <a:srgbClr val="FBAE40"/>
          </p15:clr>
        </p15:guide>
        <p15:guide id="8" orient="horz" pos="4001" userDrawn="1">
          <p15:clr>
            <a:srgbClr val="5ACBF0"/>
          </p15:clr>
        </p15:guide>
        <p15:guide id="9" orient="horz" pos="4113" userDrawn="1">
          <p15:clr>
            <a:srgbClr val="5ACBF0"/>
          </p15:clr>
        </p15:guide>
        <p15:guide id="10" pos="288" userDrawn="1">
          <p15:clr>
            <a:srgbClr val="5ACBF0"/>
          </p15:clr>
        </p15:guide>
        <p15:guide id="11" pos="3756" userDrawn="1">
          <p15:clr>
            <a:srgbClr val="5ACBF0"/>
          </p15:clr>
        </p15:guide>
        <p15:guide id="12" pos="3927" userDrawn="1">
          <p15:clr>
            <a:srgbClr val="5ACBF0"/>
          </p15:clr>
        </p15:guide>
        <p15:guide id="13" pos="7394" userDrawn="1">
          <p15:clr>
            <a:srgbClr val="5ACBF0"/>
          </p15:clr>
        </p15:guide>
        <p15:guide id="14" orient="horz" pos="3969" userDrawn="1">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E0F1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custDataLst>
              <p:tags r:id="rId18"/>
            </p:custDataLst>
          </p:nvPr>
        </p:nvSpPr>
        <p:spPr>
          <a:xfrm>
            <a:off x="457200" y="361950"/>
            <a:ext cx="11274552" cy="451231"/>
          </a:xfrm>
          <a:prstGeom prst="rect">
            <a:avLst/>
          </a:prstGeom>
        </p:spPr>
        <p:txBody>
          <a:bodyPr vert="horz" lIns="0" tIns="0" rIns="0" bIns="0" rtlCol="0" anchor="t" anchorCtr="0">
            <a:noAutofit/>
          </a:bodyPr>
          <a:lstStyle/>
          <a:p>
            <a:r>
              <a:rPr lang="en-US"/>
              <a:t>Click to edit title</a:t>
            </a:r>
          </a:p>
        </p:txBody>
      </p:sp>
      <p:sp>
        <p:nvSpPr>
          <p:cNvPr id="3" name="Text Placeholder 2"/>
          <p:cNvSpPr>
            <a:spLocks noGrp="1"/>
          </p:cNvSpPr>
          <p:nvPr>
            <p:ph type="body" idx="1"/>
            <p:custDataLst>
              <p:tags r:id="rId19"/>
            </p:custDataLst>
          </p:nvPr>
        </p:nvSpPr>
        <p:spPr>
          <a:xfrm>
            <a:off x="457200" y="1527048"/>
            <a:ext cx="11274552" cy="4462272"/>
          </a:xfrm>
          <a:prstGeom prst="rect">
            <a:avLst/>
          </a:prstGeom>
        </p:spPr>
        <p:txBody>
          <a:bodyPr vert="horz" lIns="0" tIns="0" rIns="0" bIns="0" rtlCol="0">
            <a:noAutofit/>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02A410-1807-488C-9458-4CFAF1E4E8F0}"/>
              </a:ext>
            </a:extLst>
          </p:cNvPr>
          <p:cNvSpPr txBox="1"/>
          <p:nvPr>
            <p:custDataLst>
              <p:tags r:id="rId20"/>
            </p:custDataLst>
          </p:nvPr>
        </p:nvSpPr>
        <p:spPr>
          <a:xfrm>
            <a:off x="457200" y="6394704"/>
            <a:ext cx="7306056" cy="152400"/>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chemeClr val="tx1"/>
                </a:solidFill>
              </a:rPr>
              <a:t>‹#›</a:t>
            </a:fld>
            <a:r>
              <a:rPr lang="en-US" sz="700" b="0">
                <a:solidFill>
                  <a:schemeClr val="tx1"/>
                </a:solidFill>
              </a:rPr>
              <a:t>	RESTRICTED © </a:t>
            </a:r>
            <a:r>
              <a:rPr lang="en-IN" sz="800"/>
              <a:t>2026</a:t>
            </a:r>
            <a:r>
              <a:rPr lang="en-US" sz="700" b="0">
                <a:solidFill>
                  <a:schemeClr val="tx1"/>
                </a:solidFill>
              </a:rPr>
              <a:t> Gartner, Inc. and/or its affiliates. All rights reserved.</a:t>
            </a:r>
          </a:p>
        </p:txBody>
      </p:sp>
      <p:pic>
        <p:nvPicPr>
          <p:cNvPr id="7" name="Picture 6">
            <a:extLst>
              <a:ext uri="{FF2B5EF4-FFF2-40B4-BE49-F238E27FC236}">
                <a16:creationId xmlns:a16="http://schemas.microsoft.com/office/drawing/2014/main" id="{57E7FBBB-CE99-4B6D-A472-B54EFCF17046}"/>
              </a:ext>
            </a:extLst>
          </p:cNvPr>
          <p:cNvPicPr>
            <a:picLocks noChangeAspect="1"/>
          </p:cNvPicPr>
          <p:nvPr>
            <p:custDataLst>
              <p:tags r:id="rId21"/>
            </p:custDataLst>
          </p:nvPr>
        </p:nvPicPr>
        <p:blipFill>
          <a:blip r:embed="rId22">
            <a:extLst>
              <a:ext uri="{28A0092B-C50C-407E-A947-70E740481C1C}">
                <a14:useLocalDpi xmlns:a14="http://schemas.microsoft.com/office/drawing/2010/main" val="0"/>
              </a:ext>
            </a:extLst>
          </a:blip>
          <a:srcRect t="226" b="226"/>
          <a:stretch>
            <a:fillRect/>
          </a:stretch>
        </p:blipFill>
        <p:spPr>
          <a:xfrm>
            <a:off x="10454640" y="6239533"/>
            <a:ext cx="1350666" cy="307571"/>
          </a:xfrm>
          <a:prstGeom prst="rect">
            <a:avLst/>
          </a:prstGeom>
        </p:spPr>
      </p:pic>
    </p:spTree>
    <p:extLst>
      <p:ext uri="{BB962C8B-B14F-4D97-AF65-F5344CB8AC3E}">
        <p14:creationId xmlns:p14="http://schemas.microsoft.com/office/powerpoint/2010/main" val="2602401083"/>
      </p:ext>
    </p:extLst>
  </p:cSld>
  <p:clrMap bg1="lt1" tx1="dk1" bg2="lt2" tx2="dk2" accent1="accent1" accent2="accent2" accent3="accent3" accent4="accent4" accent5="accent5" accent6="accent6" hlink="hlink" folHlink="folHlink"/>
  <p:sldLayoutIdLst>
    <p:sldLayoutId id="2147483971" r:id="rId1"/>
    <p:sldLayoutId id="2147483970" r:id="rId2"/>
    <p:sldLayoutId id="2147483972" r:id="rId3"/>
    <p:sldLayoutId id="2147483973" r:id="rId4"/>
    <p:sldLayoutId id="2147483974" r:id="rId5"/>
    <p:sldLayoutId id="2147483975" r:id="rId6"/>
    <p:sldLayoutId id="2147483976" r:id="rId7"/>
    <p:sldLayoutId id="2147483977" r:id="rId8"/>
    <p:sldLayoutId id="2147483978" r:id="rId9"/>
    <p:sldLayoutId id="2147483979" r:id="rId10"/>
    <p:sldLayoutId id="2147483980" r:id="rId11"/>
    <p:sldLayoutId id="2147483981" r:id="rId12"/>
    <p:sldLayoutId id="2147483982" r:id="rId13"/>
    <p:sldLayoutId id="2147483983" r:id="rId14"/>
    <p:sldLayoutId id="2147483984" r:id="rId15"/>
    <p:sldLayoutId id="2147483986" r:id="rId16"/>
  </p:sldLayoutIdLst>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hf sldNum="0" hdr="0" dt="0"/>
  <p:txStyles>
    <p:titleStyle>
      <a:lvl1pPr algn="l" defTabSz="914400" rtl="0" eaLnBrk="1" latinLnBrk="0" hangingPunct="1">
        <a:lnSpc>
          <a:spcPct val="100000"/>
        </a:lnSpc>
        <a:spcBef>
          <a:spcPct val="0"/>
        </a:spcBef>
        <a:spcAft>
          <a:spcPct val="0"/>
        </a:spcAft>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200"/>
        </a:spcBef>
        <a:spcAft>
          <a:spcPct val="0"/>
        </a:spcAft>
        <a:buSzTx/>
        <a:buFont typeface="Arial" panose="020B0604020202020204" pitchFamily="34" charset="0"/>
        <a:buChar char="•"/>
        <a:defRPr sz="2000" kern="1200">
          <a:solidFill>
            <a:schemeClr val="tx1"/>
          </a:solidFill>
          <a:latin typeface="+mn-lt"/>
          <a:ea typeface="+mn-ea"/>
          <a:cs typeface="+mn-cs"/>
        </a:defRPr>
      </a:lvl1pPr>
      <a:lvl2pPr marL="630936" indent="-292608" algn="l" defTabSz="914400" rtl="0" eaLnBrk="1" latinLnBrk="0" hangingPunct="1">
        <a:lnSpc>
          <a:spcPct val="100000"/>
        </a:lnSpc>
        <a:spcBef>
          <a:spcPts val="1200"/>
        </a:spcBef>
        <a:spcAft>
          <a:spcPct val="0"/>
        </a:spcAft>
        <a:buSzTx/>
        <a:buFont typeface="Arial" panose="020B0604020202020204" pitchFamily="34" charset="0"/>
        <a:buChar char="–"/>
        <a:defRPr sz="2000" kern="1200">
          <a:solidFill>
            <a:schemeClr val="tx1"/>
          </a:solidFill>
          <a:latin typeface="+mn-lt"/>
          <a:ea typeface="+mn-ea"/>
          <a:cs typeface="+mn-cs"/>
        </a:defRPr>
      </a:lvl2pPr>
      <a:lvl3pPr marL="978408" indent="-228600" algn="l" defTabSz="914400" rtl="0" eaLnBrk="1" latinLnBrk="0" hangingPunct="1">
        <a:lnSpc>
          <a:spcPct val="100000"/>
        </a:lnSpc>
        <a:spcBef>
          <a:spcPts val="1200"/>
        </a:spcBef>
        <a:spcAft>
          <a:spcPct val="0"/>
        </a:spcAft>
        <a:buSzTx/>
        <a:buFont typeface="Arial" panose="020B0604020202020204" pitchFamily="34" charset="0"/>
        <a:buChar char="•"/>
        <a:defRPr sz="2000" kern="1200">
          <a:solidFill>
            <a:schemeClr val="tx1"/>
          </a:solidFill>
          <a:latin typeface="+mn-lt"/>
          <a:ea typeface="+mn-ea"/>
          <a:cs typeface="+mn-cs"/>
        </a:defRPr>
      </a:lvl3pPr>
      <a:lvl4pPr marL="1380744" indent="-292608" algn="l" defTabSz="914400" rtl="0" eaLnBrk="1" latinLnBrk="0" hangingPunct="1">
        <a:lnSpc>
          <a:spcPct val="100000"/>
        </a:lnSpc>
        <a:spcBef>
          <a:spcPts val="1200"/>
        </a:spcBef>
        <a:spcAft>
          <a:spcPct val="0"/>
        </a:spcAft>
        <a:buSzTx/>
        <a:buFont typeface="Arial" panose="020B0604020202020204" pitchFamily="34" charset="0"/>
        <a:buChar char="–"/>
        <a:defRPr sz="2000" kern="1200">
          <a:solidFill>
            <a:schemeClr val="tx1"/>
          </a:solidFill>
          <a:latin typeface="+mn-lt"/>
          <a:ea typeface="+mn-ea"/>
          <a:cs typeface="+mn-cs"/>
        </a:defRPr>
      </a:lvl4pPr>
      <a:lvl5pPr marL="1719072" indent="-228600" algn="l" defTabSz="914400" rtl="0" eaLnBrk="1" latinLnBrk="0" hangingPunct="1">
        <a:lnSpc>
          <a:spcPct val="100000"/>
        </a:lnSpc>
        <a:spcBef>
          <a:spcPts val="12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orient="horz" pos="228" userDrawn="1">
          <p15:clr>
            <a:srgbClr val="5ACBF0"/>
          </p15:clr>
        </p15:guide>
        <p15:guide id="4" orient="horz" pos="537" userDrawn="1">
          <p15:clr>
            <a:srgbClr val="FDE53C"/>
          </p15:clr>
        </p15:guide>
        <p15:guide id="5" orient="horz" pos="848" userDrawn="1">
          <p15:clr>
            <a:srgbClr val="FDE53C"/>
          </p15:clr>
        </p15:guide>
        <p15:guide id="6" orient="horz" pos="960" userDrawn="1">
          <p15:clr>
            <a:srgbClr val="5ACBF0"/>
          </p15:clr>
        </p15:guide>
        <p15:guide id="7" orient="horz" pos="3773" userDrawn="1">
          <p15:clr>
            <a:srgbClr val="FBAE40"/>
          </p15:clr>
        </p15:guide>
        <p15:guide id="8" orient="horz" pos="4001" userDrawn="1">
          <p15:clr>
            <a:srgbClr val="5ACBF0"/>
          </p15:clr>
        </p15:guide>
        <p15:guide id="9" orient="horz" pos="4113" userDrawn="1">
          <p15:clr>
            <a:srgbClr val="5ACBF0"/>
          </p15:clr>
        </p15:guide>
        <p15:guide id="10" pos="288" userDrawn="1">
          <p15:clr>
            <a:srgbClr val="5ACBF0"/>
          </p15:clr>
        </p15:guide>
        <p15:guide id="11" pos="3756" userDrawn="1">
          <p15:clr>
            <a:srgbClr val="5ACBF0"/>
          </p15:clr>
        </p15:guide>
        <p15:guide id="12" pos="3927" userDrawn="1">
          <p15:clr>
            <a:srgbClr val="5ACBF0"/>
          </p15:clr>
        </p15:guide>
        <p15:guide id="13" pos="7394" userDrawn="1">
          <p15:clr>
            <a:srgbClr val="5ACBF0"/>
          </p15:clr>
        </p15:guide>
        <p15:guide id="14" orient="horz" pos="3969"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173.xml"/><Relationship Id="rId7" Type="http://schemas.openxmlformats.org/officeDocument/2006/relationships/notesSlide" Target="../notesSlides/notesSlide1.xml"/><Relationship Id="rId2" Type="http://schemas.openxmlformats.org/officeDocument/2006/relationships/tags" Target="../tags/tag172.xml"/><Relationship Id="rId1" Type="http://schemas.openxmlformats.org/officeDocument/2006/relationships/tags" Target="../tags/tag171.xml"/><Relationship Id="rId6" Type="http://schemas.openxmlformats.org/officeDocument/2006/relationships/slideLayout" Target="../slideLayouts/slideLayout1.xml"/><Relationship Id="rId5" Type="http://schemas.openxmlformats.org/officeDocument/2006/relationships/tags" Target="../tags/tag175.xml"/><Relationship Id="rId4" Type="http://schemas.openxmlformats.org/officeDocument/2006/relationships/tags" Target="../tags/tag174.xml"/></Relationships>
</file>

<file path=ppt/slides/_rels/slide2.xml.rels><?xml version="1.0" encoding="UTF-8" standalone="yes"?>
<Relationships xmlns="http://schemas.openxmlformats.org/package/2006/relationships"><Relationship Id="rId8" Type="http://schemas.openxmlformats.org/officeDocument/2006/relationships/tags" Target="../tags/tag186.xml"/><Relationship Id="rId13" Type="http://schemas.openxmlformats.org/officeDocument/2006/relationships/tags" Target="../tags/tag191.xml"/><Relationship Id="rId18" Type="http://schemas.openxmlformats.org/officeDocument/2006/relationships/chart" Target="../charts/chart1.xml"/><Relationship Id="rId3" Type="http://schemas.openxmlformats.org/officeDocument/2006/relationships/tags" Target="../tags/tag181.xml"/><Relationship Id="rId7" Type="http://schemas.openxmlformats.org/officeDocument/2006/relationships/tags" Target="../tags/tag185.xml"/><Relationship Id="rId12" Type="http://schemas.openxmlformats.org/officeDocument/2006/relationships/tags" Target="../tags/tag190.xml"/><Relationship Id="rId17" Type="http://schemas.openxmlformats.org/officeDocument/2006/relationships/notesSlide" Target="../notesSlides/notesSlide2.xml"/><Relationship Id="rId2" Type="http://schemas.openxmlformats.org/officeDocument/2006/relationships/tags" Target="../tags/tag180.xml"/><Relationship Id="rId16" Type="http://schemas.openxmlformats.org/officeDocument/2006/relationships/slideLayout" Target="../slideLayouts/slideLayout17.xml"/><Relationship Id="rId1" Type="http://schemas.openxmlformats.org/officeDocument/2006/relationships/tags" Target="../tags/tag179.xml"/><Relationship Id="rId6" Type="http://schemas.openxmlformats.org/officeDocument/2006/relationships/tags" Target="../tags/tag184.xml"/><Relationship Id="rId11" Type="http://schemas.openxmlformats.org/officeDocument/2006/relationships/tags" Target="../tags/tag189.xml"/><Relationship Id="rId5" Type="http://schemas.openxmlformats.org/officeDocument/2006/relationships/tags" Target="../tags/tag183.xml"/><Relationship Id="rId15" Type="http://schemas.openxmlformats.org/officeDocument/2006/relationships/tags" Target="../tags/tag193.xml"/><Relationship Id="rId10" Type="http://schemas.openxmlformats.org/officeDocument/2006/relationships/tags" Target="../tags/tag188.xml"/><Relationship Id="rId4" Type="http://schemas.openxmlformats.org/officeDocument/2006/relationships/tags" Target="../tags/tag182.xml"/><Relationship Id="rId9" Type="http://schemas.openxmlformats.org/officeDocument/2006/relationships/tags" Target="../tags/tag187.xml"/><Relationship Id="rId14" Type="http://schemas.openxmlformats.org/officeDocument/2006/relationships/tags" Target="../tags/tag192.xml"/></Relationships>
</file>

<file path=ppt/slides/_rels/slide3.xml.rels><?xml version="1.0" encoding="UTF-8" standalone="yes"?>
<Relationships xmlns="http://schemas.openxmlformats.org/package/2006/relationships"><Relationship Id="rId13" Type="http://schemas.openxmlformats.org/officeDocument/2006/relationships/tags" Target="../tags/tag208.xml"/><Relationship Id="rId18" Type="http://schemas.openxmlformats.org/officeDocument/2006/relationships/tags" Target="../tags/tag213.xml"/><Relationship Id="rId26" Type="http://schemas.openxmlformats.org/officeDocument/2006/relationships/tags" Target="../tags/tag221.xml"/><Relationship Id="rId39" Type="http://schemas.openxmlformats.org/officeDocument/2006/relationships/tags" Target="../tags/tag234.xml"/><Relationship Id="rId21" Type="http://schemas.openxmlformats.org/officeDocument/2006/relationships/tags" Target="../tags/tag216.xml"/><Relationship Id="rId34" Type="http://schemas.openxmlformats.org/officeDocument/2006/relationships/tags" Target="../tags/tag229.xml"/><Relationship Id="rId42" Type="http://schemas.openxmlformats.org/officeDocument/2006/relationships/tags" Target="../tags/tag237.xml"/><Relationship Id="rId47" Type="http://schemas.openxmlformats.org/officeDocument/2006/relationships/chart" Target="../charts/chart3.xml"/><Relationship Id="rId7" Type="http://schemas.openxmlformats.org/officeDocument/2006/relationships/tags" Target="../tags/tag202.xml"/><Relationship Id="rId2" Type="http://schemas.openxmlformats.org/officeDocument/2006/relationships/tags" Target="../tags/tag197.xml"/><Relationship Id="rId16" Type="http://schemas.openxmlformats.org/officeDocument/2006/relationships/tags" Target="../tags/tag211.xml"/><Relationship Id="rId29" Type="http://schemas.openxmlformats.org/officeDocument/2006/relationships/tags" Target="../tags/tag224.xml"/><Relationship Id="rId11" Type="http://schemas.openxmlformats.org/officeDocument/2006/relationships/tags" Target="../tags/tag206.xml"/><Relationship Id="rId24" Type="http://schemas.openxmlformats.org/officeDocument/2006/relationships/tags" Target="../tags/tag219.xml"/><Relationship Id="rId32" Type="http://schemas.openxmlformats.org/officeDocument/2006/relationships/tags" Target="../tags/tag227.xml"/><Relationship Id="rId37" Type="http://schemas.openxmlformats.org/officeDocument/2006/relationships/tags" Target="../tags/tag232.xml"/><Relationship Id="rId40" Type="http://schemas.openxmlformats.org/officeDocument/2006/relationships/tags" Target="../tags/tag235.xml"/><Relationship Id="rId45" Type="http://schemas.openxmlformats.org/officeDocument/2006/relationships/notesSlide" Target="../notesSlides/notesSlide3.xml"/><Relationship Id="rId5" Type="http://schemas.openxmlformats.org/officeDocument/2006/relationships/tags" Target="../tags/tag200.xml"/><Relationship Id="rId15" Type="http://schemas.openxmlformats.org/officeDocument/2006/relationships/tags" Target="../tags/tag210.xml"/><Relationship Id="rId23" Type="http://schemas.openxmlformats.org/officeDocument/2006/relationships/tags" Target="../tags/tag218.xml"/><Relationship Id="rId28" Type="http://schemas.openxmlformats.org/officeDocument/2006/relationships/tags" Target="../tags/tag223.xml"/><Relationship Id="rId36" Type="http://schemas.openxmlformats.org/officeDocument/2006/relationships/tags" Target="../tags/tag231.xml"/><Relationship Id="rId49" Type="http://schemas.openxmlformats.org/officeDocument/2006/relationships/chart" Target="../charts/chart5.xml"/><Relationship Id="rId10" Type="http://schemas.openxmlformats.org/officeDocument/2006/relationships/tags" Target="../tags/tag205.xml"/><Relationship Id="rId19" Type="http://schemas.openxmlformats.org/officeDocument/2006/relationships/tags" Target="../tags/tag214.xml"/><Relationship Id="rId31" Type="http://schemas.openxmlformats.org/officeDocument/2006/relationships/tags" Target="../tags/tag226.xml"/><Relationship Id="rId44" Type="http://schemas.openxmlformats.org/officeDocument/2006/relationships/slideLayout" Target="../slideLayouts/slideLayout18.xml"/><Relationship Id="rId4" Type="http://schemas.openxmlformats.org/officeDocument/2006/relationships/tags" Target="../tags/tag199.xml"/><Relationship Id="rId9" Type="http://schemas.openxmlformats.org/officeDocument/2006/relationships/tags" Target="../tags/tag204.xml"/><Relationship Id="rId14" Type="http://schemas.openxmlformats.org/officeDocument/2006/relationships/tags" Target="../tags/tag209.xml"/><Relationship Id="rId22" Type="http://schemas.openxmlformats.org/officeDocument/2006/relationships/tags" Target="../tags/tag217.xml"/><Relationship Id="rId27" Type="http://schemas.openxmlformats.org/officeDocument/2006/relationships/tags" Target="../tags/tag222.xml"/><Relationship Id="rId30" Type="http://schemas.openxmlformats.org/officeDocument/2006/relationships/tags" Target="../tags/tag225.xml"/><Relationship Id="rId35" Type="http://schemas.openxmlformats.org/officeDocument/2006/relationships/tags" Target="../tags/tag230.xml"/><Relationship Id="rId43" Type="http://schemas.openxmlformats.org/officeDocument/2006/relationships/tags" Target="../tags/tag238.xml"/><Relationship Id="rId48" Type="http://schemas.openxmlformats.org/officeDocument/2006/relationships/chart" Target="../charts/chart4.xml"/><Relationship Id="rId8" Type="http://schemas.openxmlformats.org/officeDocument/2006/relationships/tags" Target="../tags/tag203.xml"/><Relationship Id="rId3" Type="http://schemas.openxmlformats.org/officeDocument/2006/relationships/tags" Target="../tags/tag198.xml"/><Relationship Id="rId12" Type="http://schemas.openxmlformats.org/officeDocument/2006/relationships/tags" Target="../tags/tag207.xml"/><Relationship Id="rId17" Type="http://schemas.openxmlformats.org/officeDocument/2006/relationships/tags" Target="../tags/tag212.xml"/><Relationship Id="rId25" Type="http://schemas.openxmlformats.org/officeDocument/2006/relationships/tags" Target="../tags/tag220.xml"/><Relationship Id="rId33" Type="http://schemas.openxmlformats.org/officeDocument/2006/relationships/tags" Target="../tags/tag228.xml"/><Relationship Id="rId38" Type="http://schemas.openxmlformats.org/officeDocument/2006/relationships/tags" Target="../tags/tag233.xml"/><Relationship Id="rId46" Type="http://schemas.openxmlformats.org/officeDocument/2006/relationships/chart" Target="../charts/chart2.xml"/><Relationship Id="rId20" Type="http://schemas.openxmlformats.org/officeDocument/2006/relationships/tags" Target="../tags/tag215.xml"/><Relationship Id="rId41" Type="http://schemas.openxmlformats.org/officeDocument/2006/relationships/tags" Target="../tags/tag236.xml"/><Relationship Id="rId1" Type="http://schemas.openxmlformats.org/officeDocument/2006/relationships/tags" Target="../tags/tag196.xml"/><Relationship Id="rId6" Type="http://schemas.openxmlformats.org/officeDocument/2006/relationships/tags" Target="../tags/tag201.xml"/></Relationships>
</file>

<file path=ppt/slides/_rels/slide4.xml.rels><?xml version="1.0" encoding="UTF-8" standalone="yes"?>
<Relationships xmlns="http://schemas.openxmlformats.org/package/2006/relationships"><Relationship Id="rId13" Type="http://schemas.openxmlformats.org/officeDocument/2006/relationships/tags" Target="../tags/tag251.xml"/><Relationship Id="rId18" Type="http://schemas.openxmlformats.org/officeDocument/2006/relationships/tags" Target="../tags/tag256.xml"/><Relationship Id="rId26" Type="http://schemas.openxmlformats.org/officeDocument/2006/relationships/tags" Target="../tags/tag264.xml"/><Relationship Id="rId39" Type="http://schemas.openxmlformats.org/officeDocument/2006/relationships/notesSlide" Target="../notesSlides/notesSlide4.xml"/><Relationship Id="rId21" Type="http://schemas.openxmlformats.org/officeDocument/2006/relationships/tags" Target="../tags/tag259.xml"/><Relationship Id="rId34" Type="http://schemas.openxmlformats.org/officeDocument/2006/relationships/tags" Target="../tags/tag272.xml"/><Relationship Id="rId42" Type="http://schemas.openxmlformats.org/officeDocument/2006/relationships/chart" Target="../charts/chart8.xml"/><Relationship Id="rId7" Type="http://schemas.openxmlformats.org/officeDocument/2006/relationships/tags" Target="../tags/tag245.xml"/><Relationship Id="rId2" Type="http://schemas.openxmlformats.org/officeDocument/2006/relationships/tags" Target="../tags/tag240.xml"/><Relationship Id="rId16" Type="http://schemas.openxmlformats.org/officeDocument/2006/relationships/tags" Target="../tags/tag254.xml"/><Relationship Id="rId20" Type="http://schemas.openxmlformats.org/officeDocument/2006/relationships/tags" Target="../tags/tag258.xml"/><Relationship Id="rId29" Type="http://schemas.openxmlformats.org/officeDocument/2006/relationships/tags" Target="../tags/tag267.xml"/><Relationship Id="rId41" Type="http://schemas.openxmlformats.org/officeDocument/2006/relationships/chart" Target="../charts/chart7.xml"/><Relationship Id="rId1" Type="http://schemas.openxmlformats.org/officeDocument/2006/relationships/tags" Target="../tags/tag239.xml"/><Relationship Id="rId6" Type="http://schemas.openxmlformats.org/officeDocument/2006/relationships/tags" Target="../tags/tag244.xml"/><Relationship Id="rId11" Type="http://schemas.openxmlformats.org/officeDocument/2006/relationships/tags" Target="../tags/tag249.xml"/><Relationship Id="rId24" Type="http://schemas.openxmlformats.org/officeDocument/2006/relationships/tags" Target="../tags/tag262.xml"/><Relationship Id="rId32" Type="http://schemas.openxmlformats.org/officeDocument/2006/relationships/tags" Target="../tags/tag270.xml"/><Relationship Id="rId37" Type="http://schemas.openxmlformats.org/officeDocument/2006/relationships/tags" Target="../tags/tag275.xml"/><Relationship Id="rId40" Type="http://schemas.openxmlformats.org/officeDocument/2006/relationships/chart" Target="../charts/chart6.xml"/><Relationship Id="rId5" Type="http://schemas.openxmlformats.org/officeDocument/2006/relationships/tags" Target="../tags/tag243.xml"/><Relationship Id="rId15" Type="http://schemas.openxmlformats.org/officeDocument/2006/relationships/tags" Target="../tags/tag253.xml"/><Relationship Id="rId23" Type="http://schemas.openxmlformats.org/officeDocument/2006/relationships/tags" Target="../tags/tag261.xml"/><Relationship Id="rId28" Type="http://schemas.openxmlformats.org/officeDocument/2006/relationships/tags" Target="../tags/tag266.xml"/><Relationship Id="rId36" Type="http://schemas.openxmlformats.org/officeDocument/2006/relationships/tags" Target="../tags/tag274.xml"/><Relationship Id="rId10" Type="http://schemas.openxmlformats.org/officeDocument/2006/relationships/tags" Target="../tags/tag248.xml"/><Relationship Id="rId19" Type="http://schemas.openxmlformats.org/officeDocument/2006/relationships/tags" Target="../tags/tag257.xml"/><Relationship Id="rId31" Type="http://schemas.openxmlformats.org/officeDocument/2006/relationships/tags" Target="../tags/tag269.xml"/><Relationship Id="rId4" Type="http://schemas.openxmlformats.org/officeDocument/2006/relationships/tags" Target="../tags/tag242.xml"/><Relationship Id="rId9" Type="http://schemas.openxmlformats.org/officeDocument/2006/relationships/tags" Target="../tags/tag247.xml"/><Relationship Id="rId14" Type="http://schemas.openxmlformats.org/officeDocument/2006/relationships/tags" Target="../tags/tag252.xml"/><Relationship Id="rId22" Type="http://schemas.openxmlformats.org/officeDocument/2006/relationships/tags" Target="../tags/tag260.xml"/><Relationship Id="rId27" Type="http://schemas.openxmlformats.org/officeDocument/2006/relationships/tags" Target="../tags/tag265.xml"/><Relationship Id="rId30" Type="http://schemas.openxmlformats.org/officeDocument/2006/relationships/tags" Target="../tags/tag268.xml"/><Relationship Id="rId35" Type="http://schemas.openxmlformats.org/officeDocument/2006/relationships/tags" Target="../tags/tag273.xml"/><Relationship Id="rId8" Type="http://schemas.openxmlformats.org/officeDocument/2006/relationships/tags" Target="../tags/tag246.xml"/><Relationship Id="rId3" Type="http://schemas.openxmlformats.org/officeDocument/2006/relationships/tags" Target="../tags/tag241.xml"/><Relationship Id="rId12" Type="http://schemas.openxmlformats.org/officeDocument/2006/relationships/tags" Target="../tags/tag250.xml"/><Relationship Id="rId17" Type="http://schemas.openxmlformats.org/officeDocument/2006/relationships/tags" Target="../tags/tag255.xml"/><Relationship Id="rId25" Type="http://schemas.openxmlformats.org/officeDocument/2006/relationships/tags" Target="../tags/tag263.xml"/><Relationship Id="rId33" Type="http://schemas.openxmlformats.org/officeDocument/2006/relationships/tags" Target="../tags/tag271.xml"/><Relationship Id="rId38"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8" Type="http://schemas.openxmlformats.org/officeDocument/2006/relationships/tags" Target="../tags/tag283.xml"/><Relationship Id="rId13" Type="http://schemas.openxmlformats.org/officeDocument/2006/relationships/slideLayout" Target="../slideLayouts/slideLayout17.xml"/><Relationship Id="rId3" Type="http://schemas.openxmlformats.org/officeDocument/2006/relationships/tags" Target="../tags/tag278.xml"/><Relationship Id="rId7" Type="http://schemas.openxmlformats.org/officeDocument/2006/relationships/tags" Target="../tags/tag282.xml"/><Relationship Id="rId12" Type="http://schemas.openxmlformats.org/officeDocument/2006/relationships/tags" Target="../tags/tag287.xml"/><Relationship Id="rId2" Type="http://schemas.openxmlformats.org/officeDocument/2006/relationships/tags" Target="../tags/tag277.xml"/><Relationship Id="rId1" Type="http://schemas.openxmlformats.org/officeDocument/2006/relationships/tags" Target="../tags/tag276.xml"/><Relationship Id="rId6" Type="http://schemas.openxmlformats.org/officeDocument/2006/relationships/tags" Target="../tags/tag281.xml"/><Relationship Id="rId11" Type="http://schemas.openxmlformats.org/officeDocument/2006/relationships/tags" Target="../tags/tag286.xml"/><Relationship Id="rId5" Type="http://schemas.openxmlformats.org/officeDocument/2006/relationships/tags" Target="../tags/tag280.xml"/><Relationship Id="rId15" Type="http://schemas.openxmlformats.org/officeDocument/2006/relationships/chart" Target="../charts/chart9.xml"/><Relationship Id="rId10" Type="http://schemas.openxmlformats.org/officeDocument/2006/relationships/tags" Target="../tags/tag285.xml"/><Relationship Id="rId4" Type="http://schemas.openxmlformats.org/officeDocument/2006/relationships/tags" Target="../tags/tag279.xml"/><Relationship Id="rId9" Type="http://schemas.openxmlformats.org/officeDocument/2006/relationships/tags" Target="../tags/tag284.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tags" Target="../tags/tag295.xml"/><Relationship Id="rId13" Type="http://schemas.openxmlformats.org/officeDocument/2006/relationships/hyperlink" Target="https://www.gartner.com/document-reader/document/5373763?ref=tool_EVALUATIONS_TheAIMaturityAssessment" TargetMode="External"/><Relationship Id="rId3" Type="http://schemas.openxmlformats.org/officeDocument/2006/relationships/tags" Target="../tags/tag290.xml"/><Relationship Id="rId7" Type="http://schemas.openxmlformats.org/officeDocument/2006/relationships/tags" Target="../tags/tag294.xml"/><Relationship Id="rId12" Type="http://schemas.openxmlformats.org/officeDocument/2006/relationships/hyperlink" Target="https://www.gartner.com/document/5891043?ref=solrResearch&amp;refval=458077082&amp;?ref=tool_EVALUATIONS_TheAIMaturityAssessment" TargetMode="External"/><Relationship Id="rId2" Type="http://schemas.openxmlformats.org/officeDocument/2006/relationships/tags" Target="../tags/tag289.xml"/><Relationship Id="rId1" Type="http://schemas.openxmlformats.org/officeDocument/2006/relationships/tags" Target="../tags/tag288.xml"/><Relationship Id="rId6" Type="http://schemas.openxmlformats.org/officeDocument/2006/relationships/tags" Target="../tags/tag293.xml"/><Relationship Id="rId11" Type="http://schemas.openxmlformats.org/officeDocument/2006/relationships/notesSlide" Target="../notesSlides/notesSlide6.xml"/><Relationship Id="rId5" Type="http://schemas.openxmlformats.org/officeDocument/2006/relationships/tags" Target="../tags/tag292.xml"/><Relationship Id="rId15" Type="http://schemas.openxmlformats.org/officeDocument/2006/relationships/hyperlink" Target="https://www.gartner.com/document-reader/document/6385043?ref=solrAll&amp;refval=557927861&amp;?ref=tool_EVALUATIONS_TheAIMaturityAssessment" TargetMode="External"/><Relationship Id="rId10" Type="http://schemas.openxmlformats.org/officeDocument/2006/relationships/slideLayout" Target="../slideLayouts/slideLayout17.xml"/><Relationship Id="rId4" Type="http://schemas.openxmlformats.org/officeDocument/2006/relationships/tags" Target="../tags/tag291.xml"/><Relationship Id="rId9" Type="http://schemas.openxmlformats.org/officeDocument/2006/relationships/tags" Target="../tags/tag296.xml"/><Relationship Id="rId14" Type="http://schemas.openxmlformats.org/officeDocument/2006/relationships/hyperlink" Target="https://www.gartner.com/document-reader/document/7673761?ref=solrAll&amp;refval=557924839&amp;?ref=tool_EVALUATIONS_TheAIMaturityAssessment" TargetMode="External"/></Relationships>
</file>

<file path=ppt/slides/_rels/slide7.xml.rels><?xml version="1.0" encoding="UTF-8" standalone="yes"?>
<Relationships xmlns="http://schemas.openxmlformats.org/package/2006/relationships"><Relationship Id="rId8" Type="http://schemas.openxmlformats.org/officeDocument/2006/relationships/tags" Target="../tags/tag306.xml"/><Relationship Id="rId13" Type="http://schemas.openxmlformats.org/officeDocument/2006/relationships/hyperlink" Target="https://www.gartner.com/document-reader/document/7509153?ref=solrAll&amp;refval=557928901&amp;?ref=tool_EVALUATIONS_TheAIMaturityAssessment" TargetMode="External"/><Relationship Id="rId3" Type="http://schemas.openxmlformats.org/officeDocument/2006/relationships/tags" Target="../tags/tag301.xml"/><Relationship Id="rId7" Type="http://schemas.openxmlformats.org/officeDocument/2006/relationships/tags" Target="../tags/tag305.xml"/><Relationship Id="rId12" Type="http://schemas.openxmlformats.org/officeDocument/2006/relationships/hyperlink" Target="https://www.gartner.com/document-reader/document/7603365?ref=solrAll&amp;refval=557928412&amp;?ref=tool_EVALUATIONS_TheAIMaturityAssessment" TargetMode="External"/><Relationship Id="rId2" Type="http://schemas.openxmlformats.org/officeDocument/2006/relationships/tags" Target="../tags/tag300.xml"/><Relationship Id="rId1" Type="http://schemas.openxmlformats.org/officeDocument/2006/relationships/tags" Target="../tags/tag299.xml"/><Relationship Id="rId6" Type="http://schemas.openxmlformats.org/officeDocument/2006/relationships/tags" Target="../tags/tag304.xml"/><Relationship Id="rId11" Type="http://schemas.openxmlformats.org/officeDocument/2006/relationships/notesSlide" Target="../notesSlides/notesSlide7.xml"/><Relationship Id="rId5" Type="http://schemas.openxmlformats.org/officeDocument/2006/relationships/tags" Target="../tags/tag303.xml"/><Relationship Id="rId15" Type="http://schemas.openxmlformats.org/officeDocument/2006/relationships/hyperlink" Target="https://www.gartner.com/document-reader/document/7576733?ref=solrAll&amp;refval=557931525&amp;?ref=tool_EVALUATIONS_TheAIMaturityAssessment" TargetMode="External"/><Relationship Id="rId10" Type="http://schemas.openxmlformats.org/officeDocument/2006/relationships/slideLayout" Target="../slideLayouts/slideLayout17.xml"/><Relationship Id="rId4" Type="http://schemas.openxmlformats.org/officeDocument/2006/relationships/tags" Target="../tags/tag302.xml"/><Relationship Id="rId9" Type="http://schemas.openxmlformats.org/officeDocument/2006/relationships/tags" Target="../tags/tag307.xml"/><Relationship Id="rId14" Type="http://schemas.openxmlformats.org/officeDocument/2006/relationships/hyperlink" Target="https://www.gartner.com/document/6264951?ref=solrResearch&amp;refval=458070223&amp;?ref=tool_EVALUATIONS_TheAIMaturityAssessment" TargetMode="External"/></Relationships>
</file>

<file path=ppt/slides/_rels/slide8.xml.rels><?xml version="1.0" encoding="UTF-8" standalone="yes"?>
<Relationships xmlns="http://schemas.openxmlformats.org/package/2006/relationships"><Relationship Id="rId8" Type="http://schemas.openxmlformats.org/officeDocument/2006/relationships/tags" Target="../tags/tag317.xml"/><Relationship Id="rId13" Type="http://schemas.openxmlformats.org/officeDocument/2006/relationships/hyperlink" Target="https://www.gartner.com/document-reader/document/6386743?ref=solrAll&amp;refval=558941001&amp;?ref=tool_EVALUATIONS_TheAIMaturityAssessment" TargetMode="External"/><Relationship Id="rId3" Type="http://schemas.openxmlformats.org/officeDocument/2006/relationships/tags" Target="../tags/tag312.xml"/><Relationship Id="rId7" Type="http://schemas.openxmlformats.org/officeDocument/2006/relationships/tags" Target="../tags/tag316.xml"/><Relationship Id="rId12" Type="http://schemas.openxmlformats.org/officeDocument/2006/relationships/hyperlink" Target="https://www.gartner.com/document-reader/document/6910066?ref=solrAll&amp;refval=558936565&amp;?ref=tool_EVALUATIONS_TheAIMaturityAssessment" TargetMode="External"/><Relationship Id="rId2" Type="http://schemas.openxmlformats.org/officeDocument/2006/relationships/tags" Target="../tags/tag311.xml"/><Relationship Id="rId1" Type="http://schemas.openxmlformats.org/officeDocument/2006/relationships/tags" Target="../tags/tag310.xml"/><Relationship Id="rId6" Type="http://schemas.openxmlformats.org/officeDocument/2006/relationships/tags" Target="../tags/tag315.xml"/><Relationship Id="rId11" Type="http://schemas.openxmlformats.org/officeDocument/2006/relationships/notesSlide" Target="../notesSlides/notesSlide8.xml"/><Relationship Id="rId5" Type="http://schemas.openxmlformats.org/officeDocument/2006/relationships/tags" Target="../tags/tag314.xml"/><Relationship Id="rId15" Type="http://schemas.openxmlformats.org/officeDocument/2006/relationships/hyperlink" Target="https://www.gartner.com/document-reader/document/7807717?ref=solrAll&amp;refval=558936071&amp;?ref=tool_EVALUATIONS_TheAIMaturityAssessment" TargetMode="External"/><Relationship Id="rId10" Type="http://schemas.openxmlformats.org/officeDocument/2006/relationships/slideLayout" Target="../slideLayouts/slideLayout17.xml"/><Relationship Id="rId4" Type="http://schemas.openxmlformats.org/officeDocument/2006/relationships/tags" Target="../tags/tag313.xml"/><Relationship Id="rId9" Type="http://schemas.openxmlformats.org/officeDocument/2006/relationships/tags" Target="../tags/tag318.xml"/><Relationship Id="rId14" Type="http://schemas.openxmlformats.org/officeDocument/2006/relationships/hyperlink" Target="https://www.gartner.com/document-reader/document/6959266?ref=solrAll&amp;refval=558938519&amp;?ref=tool_EVALUATIONS_TheAIMaturityAssessment" TargetMode="External"/></Relationships>
</file>

<file path=ppt/slides/_rels/slide9.xml.rels><?xml version="1.0" encoding="UTF-8" standalone="yes"?>
<Relationships xmlns="http://schemas.openxmlformats.org/package/2006/relationships"><Relationship Id="rId8" Type="http://schemas.openxmlformats.org/officeDocument/2006/relationships/tags" Target="../tags/tag328.xml"/><Relationship Id="rId13" Type="http://schemas.openxmlformats.org/officeDocument/2006/relationships/hyperlink" Target="https://www.gartner.com/document-reader/document/5021731?ref=solrAll&amp;refval=558943745&amp;?ref=tool_EVALUATIONS_TheAIMaturityAssessment" TargetMode="External"/><Relationship Id="rId3" Type="http://schemas.openxmlformats.org/officeDocument/2006/relationships/tags" Target="../tags/tag323.xml"/><Relationship Id="rId7" Type="http://schemas.openxmlformats.org/officeDocument/2006/relationships/tags" Target="../tags/tag327.xml"/><Relationship Id="rId12" Type="http://schemas.openxmlformats.org/officeDocument/2006/relationships/hyperlink" Target="https://www.gartner.com/document-reader/document/7088198?ref=solrAll&amp;refval=558942975&amp;?ref=tool_EVALUATIONS_TheAIMaturityAssessment" TargetMode="External"/><Relationship Id="rId2" Type="http://schemas.openxmlformats.org/officeDocument/2006/relationships/tags" Target="../tags/tag322.xml"/><Relationship Id="rId1" Type="http://schemas.openxmlformats.org/officeDocument/2006/relationships/tags" Target="../tags/tag321.xml"/><Relationship Id="rId6" Type="http://schemas.openxmlformats.org/officeDocument/2006/relationships/tags" Target="../tags/tag326.xml"/><Relationship Id="rId11" Type="http://schemas.openxmlformats.org/officeDocument/2006/relationships/notesSlide" Target="../notesSlides/notesSlide9.xml"/><Relationship Id="rId5" Type="http://schemas.openxmlformats.org/officeDocument/2006/relationships/tags" Target="../tags/tag325.xml"/><Relationship Id="rId15" Type="http://schemas.openxmlformats.org/officeDocument/2006/relationships/hyperlink" Target="https://www.gartner.com/document-reader/document/6956066?ref=solrAll&amp;refval=558944730&amp;?ref=tool_EVALUATIONS_TheAIMaturityAssessment" TargetMode="External"/><Relationship Id="rId10" Type="http://schemas.openxmlformats.org/officeDocument/2006/relationships/slideLayout" Target="../slideLayouts/slideLayout17.xml"/><Relationship Id="rId4" Type="http://schemas.openxmlformats.org/officeDocument/2006/relationships/tags" Target="../tags/tag324.xml"/><Relationship Id="rId9" Type="http://schemas.openxmlformats.org/officeDocument/2006/relationships/tags" Target="../tags/tag329.xml"/><Relationship Id="rId14" Type="http://schemas.openxmlformats.org/officeDocument/2006/relationships/hyperlink" Target="https://www.gartner.com/document-reader/document/7653361?ref=solrAll&amp;refval=558942975&amp;?ref=tool_EVALUATIONS_TheAIMaturityAssessment" TargetMode="External"/></Relationships>
</file>

<file path=ppt/slides/_rels/slide10.xml.rels><?xml version="1.0" encoding="UTF-8" standalone="yes"?>
<Relationships xmlns="http://schemas.openxmlformats.org/package/2006/relationships"><Relationship Id="rId8" Type="http://schemas.openxmlformats.org/officeDocument/2006/relationships/tags" Target="../tags/tag339.xml"/><Relationship Id="rId13" Type="http://schemas.openxmlformats.org/officeDocument/2006/relationships/hyperlink" Target="https://www.gartner.com/document-reader/document/code/846945?ref=ddisp&amp;refval=846945&amp;?ref=tool_EVALUATIONS_TheAIMaturityAssessment" TargetMode="External"/><Relationship Id="rId3" Type="http://schemas.openxmlformats.org/officeDocument/2006/relationships/tags" Target="../tags/tag334.xml"/><Relationship Id="rId7" Type="http://schemas.openxmlformats.org/officeDocument/2006/relationships/tags" Target="../tags/tag338.xml"/><Relationship Id="rId12" Type="http://schemas.openxmlformats.org/officeDocument/2006/relationships/hyperlink" Target="https://www.gartner.com/document-reader/document/6810434?ref=solrAll&amp;refval=557476535&amp;?ref=tool_EVALUATIONS_TheAIMaturityAssessment" TargetMode="External"/><Relationship Id="rId2" Type="http://schemas.openxmlformats.org/officeDocument/2006/relationships/tags" Target="../tags/tag333.xml"/><Relationship Id="rId1" Type="http://schemas.openxmlformats.org/officeDocument/2006/relationships/tags" Target="../tags/tag332.xml"/><Relationship Id="rId6" Type="http://schemas.openxmlformats.org/officeDocument/2006/relationships/tags" Target="../tags/tag337.xml"/><Relationship Id="rId11" Type="http://schemas.openxmlformats.org/officeDocument/2006/relationships/notesSlide" Target="../notesSlides/notesSlide10.xml"/><Relationship Id="rId5" Type="http://schemas.openxmlformats.org/officeDocument/2006/relationships/tags" Target="../tags/tag336.xml"/><Relationship Id="rId15" Type="http://schemas.openxmlformats.org/officeDocument/2006/relationships/hyperlink" Target="https://www.gartner.com/document-reader/document/7358430?ref=solrAll&amp;refval=557493737&amp;?ref=tool_EVALUATIONS_TheAIMaturityAssessment" TargetMode="External"/><Relationship Id="rId10" Type="http://schemas.openxmlformats.org/officeDocument/2006/relationships/slideLayout" Target="../slideLayouts/slideLayout17.xml"/><Relationship Id="rId4" Type="http://schemas.openxmlformats.org/officeDocument/2006/relationships/tags" Target="../tags/tag335.xml"/><Relationship Id="rId9" Type="http://schemas.openxmlformats.org/officeDocument/2006/relationships/tags" Target="../tags/tag340.xml"/><Relationship Id="rId14" Type="http://schemas.openxmlformats.org/officeDocument/2006/relationships/hyperlink" Target="https://www.gartner.com/document-reader/document/7257330?ref=solrAll&amp;refval=557488862&amp;?ref=tool_EVALUATIONS_TheAIMaturityAssessment" TargetMode="External"/></Relationships>
</file>

<file path=ppt/slides/_rels/slide11.xml.rels><?xml version="1.0" encoding="UTF-8" standalone="yes"?>
<Relationships xmlns="http://schemas.openxmlformats.org/package/2006/relationships"><Relationship Id="rId8" Type="http://schemas.openxmlformats.org/officeDocument/2006/relationships/tags" Target="../tags/tag350.xml"/><Relationship Id="rId13" Type="http://schemas.openxmlformats.org/officeDocument/2006/relationships/hyperlink" Target="https://www.gartner.com/accelerator/7898977?ref=solrAll&amp;refval=558950360&amp;?ref=tool_EVALUATIONS_TheAIMaturityAssessment" TargetMode="External"/><Relationship Id="rId3" Type="http://schemas.openxmlformats.org/officeDocument/2006/relationships/tags" Target="../tags/tag345.xml"/><Relationship Id="rId7" Type="http://schemas.openxmlformats.org/officeDocument/2006/relationships/tags" Target="../tags/tag349.xml"/><Relationship Id="rId12" Type="http://schemas.openxmlformats.org/officeDocument/2006/relationships/hyperlink" Target="https://www.gartner.com/document-reader/document/7730357?ref=solrAll&amp;refval=558945581&amp;?ref=tool_EVALUATIONS_TheAIMaturityAssessment" TargetMode="External"/><Relationship Id="rId2" Type="http://schemas.openxmlformats.org/officeDocument/2006/relationships/tags" Target="../tags/tag344.xml"/><Relationship Id="rId1" Type="http://schemas.openxmlformats.org/officeDocument/2006/relationships/tags" Target="../tags/tag343.xml"/><Relationship Id="rId6" Type="http://schemas.openxmlformats.org/officeDocument/2006/relationships/tags" Target="../tags/tag348.xml"/><Relationship Id="rId11" Type="http://schemas.openxmlformats.org/officeDocument/2006/relationships/notesSlide" Target="../notesSlides/notesSlide11.xml"/><Relationship Id="rId5" Type="http://schemas.openxmlformats.org/officeDocument/2006/relationships/tags" Target="../tags/tag347.xml"/><Relationship Id="rId15" Type="http://schemas.openxmlformats.org/officeDocument/2006/relationships/hyperlink" Target="https://www.gartner.com/document-reader/document/7785653?ref=solrAll&amp;refval=558951565&amp;?ref=tool_EVALUATIONS_TheAIMaturityAssessment" TargetMode="External"/><Relationship Id="rId10" Type="http://schemas.openxmlformats.org/officeDocument/2006/relationships/slideLayout" Target="../slideLayouts/slideLayout17.xml"/><Relationship Id="rId4" Type="http://schemas.openxmlformats.org/officeDocument/2006/relationships/tags" Target="../tags/tag346.xml"/><Relationship Id="rId9" Type="http://schemas.openxmlformats.org/officeDocument/2006/relationships/tags" Target="../tags/tag351.xml"/><Relationship Id="rId14" Type="http://schemas.openxmlformats.org/officeDocument/2006/relationships/hyperlink" Target="https://www.gartner.com/document-reader/document/7442226?ref=solrAll&amp;refval=558947122&amp;?ref=tool_EVALUATIONS_TheAIMaturityAssessment" TargetMode="External"/></Relationships>
</file>

<file path=ppt/slides/_rels/slide12.xml.rels><?xml version="1.0" encoding="UTF-8" standalone="yes"?>
<Relationships xmlns="http://schemas.openxmlformats.org/package/2006/relationships"><Relationship Id="rId8" Type="http://schemas.openxmlformats.org/officeDocument/2006/relationships/tags" Target="../tags/tag361.xml"/><Relationship Id="rId13" Type="http://schemas.openxmlformats.org/officeDocument/2006/relationships/hyperlink" Target="https://www.gartner.com/document-reader/document/7773053?ref=tool_EVALUATIONS_TheAIMaturityAssessment" TargetMode="External"/><Relationship Id="rId3" Type="http://schemas.openxmlformats.org/officeDocument/2006/relationships/tags" Target="../tags/tag356.xml"/><Relationship Id="rId7" Type="http://schemas.openxmlformats.org/officeDocument/2006/relationships/tags" Target="../tags/tag360.xml"/><Relationship Id="rId12" Type="http://schemas.openxmlformats.org/officeDocument/2006/relationships/hyperlink" Target="https://www.gartner.com/document-reader/document/5432763?ref=authrightrec&amp;refval=5728083&amp;?ref=tool_EVALUATIONS_TheAIMaturityAssessment" TargetMode="External"/><Relationship Id="rId2" Type="http://schemas.openxmlformats.org/officeDocument/2006/relationships/tags" Target="../tags/tag355.xml"/><Relationship Id="rId1" Type="http://schemas.openxmlformats.org/officeDocument/2006/relationships/tags" Target="../tags/tag354.xml"/><Relationship Id="rId6" Type="http://schemas.openxmlformats.org/officeDocument/2006/relationships/tags" Target="../tags/tag359.xml"/><Relationship Id="rId11" Type="http://schemas.openxmlformats.org/officeDocument/2006/relationships/notesSlide" Target="../notesSlides/notesSlide12.xml"/><Relationship Id="rId5" Type="http://schemas.openxmlformats.org/officeDocument/2006/relationships/tags" Target="../tags/tag358.xml"/><Relationship Id="rId15" Type="http://schemas.openxmlformats.org/officeDocument/2006/relationships/hyperlink" Target="https://www.gartner.com/document-reader/document/6961766?ref=solrAll&amp;refval=558963872&amp;?ref=tool_EVALUATIONS_TheAIMaturityAssessment" TargetMode="External"/><Relationship Id="rId10" Type="http://schemas.openxmlformats.org/officeDocument/2006/relationships/slideLayout" Target="../slideLayouts/slideLayout17.xml"/><Relationship Id="rId4" Type="http://schemas.openxmlformats.org/officeDocument/2006/relationships/tags" Target="../tags/tag357.xml"/><Relationship Id="rId9" Type="http://schemas.openxmlformats.org/officeDocument/2006/relationships/tags" Target="../tags/tag362.xml"/><Relationship Id="rId14" Type="http://schemas.openxmlformats.org/officeDocument/2006/relationships/hyperlink" Target="https://www.gartner.com/interactive/mq/7195930?ref=solrAll&amp;refval=558956014&amp;?ref=tool_EVALUATIONS_TheAIMaturityAssessment" TargetMode="External"/></Relationships>
</file>

<file path=ppt/slides/_rels/slide13.xml.rels><?xml version="1.0" encoding="UTF-8" standalone="yes"?>
<Relationships xmlns="http://schemas.openxmlformats.org/package/2006/relationships"><Relationship Id="rId13" Type="http://schemas.openxmlformats.org/officeDocument/2006/relationships/tags" Target="../tags/tag377.xml"/><Relationship Id="rId18" Type="http://schemas.openxmlformats.org/officeDocument/2006/relationships/tags" Target="../tags/tag382.xml"/><Relationship Id="rId26" Type="http://schemas.openxmlformats.org/officeDocument/2006/relationships/tags" Target="../tags/tag390.xml"/><Relationship Id="rId39" Type="http://schemas.openxmlformats.org/officeDocument/2006/relationships/chart" Target="../charts/chart14.xml"/><Relationship Id="rId21" Type="http://schemas.openxmlformats.org/officeDocument/2006/relationships/tags" Target="../tags/tag385.xml"/><Relationship Id="rId34" Type="http://schemas.openxmlformats.org/officeDocument/2006/relationships/notesSlide" Target="../notesSlides/notesSlide13.xml"/><Relationship Id="rId7" Type="http://schemas.openxmlformats.org/officeDocument/2006/relationships/tags" Target="../tags/tag371.xml"/><Relationship Id="rId12" Type="http://schemas.openxmlformats.org/officeDocument/2006/relationships/tags" Target="../tags/tag376.xml"/><Relationship Id="rId17" Type="http://schemas.openxmlformats.org/officeDocument/2006/relationships/tags" Target="../tags/tag381.xml"/><Relationship Id="rId25" Type="http://schemas.openxmlformats.org/officeDocument/2006/relationships/tags" Target="../tags/tag389.xml"/><Relationship Id="rId33" Type="http://schemas.openxmlformats.org/officeDocument/2006/relationships/slideLayout" Target="../slideLayouts/slideLayout18.xml"/><Relationship Id="rId38" Type="http://schemas.openxmlformats.org/officeDocument/2006/relationships/chart" Target="../charts/chart13.xml"/><Relationship Id="rId2" Type="http://schemas.openxmlformats.org/officeDocument/2006/relationships/tags" Target="../tags/tag366.xml"/><Relationship Id="rId16" Type="http://schemas.openxmlformats.org/officeDocument/2006/relationships/tags" Target="../tags/tag380.xml"/><Relationship Id="rId20" Type="http://schemas.openxmlformats.org/officeDocument/2006/relationships/tags" Target="../tags/tag384.xml"/><Relationship Id="rId29" Type="http://schemas.openxmlformats.org/officeDocument/2006/relationships/tags" Target="../tags/tag393.xml"/><Relationship Id="rId1" Type="http://schemas.openxmlformats.org/officeDocument/2006/relationships/tags" Target="../tags/tag365.xml"/><Relationship Id="rId6" Type="http://schemas.openxmlformats.org/officeDocument/2006/relationships/tags" Target="../tags/tag370.xml"/><Relationship Id="rId11" Type="http://schemas.openxmlformats.org/officeDocument/2006/relationships/tags" Target="../tags/tag375.xml"/><Relationship Id="rId24" Type="http://schemas.openxmlformats.org/officeDocument/2006/relationships/tags" Target="../tags/tag388.xml"/><Relationship Id="rId32" Type="http://schemas.openxmlformats.org/officeDocument/2006/relationships/tags" Target="../tags/tag396.xml"/><Relationship Id="rId37" Type="http://schemas.openxmlformats.org/officeDocument/2006/relationships/chart" Target="../charts/chart12.xml"/><Relationship Id="rId5" Type="http://schemas.openxmlformats.org/officeDocument/2006/relationships/tags" Target="../tags/tag369.xml"/><Relationship Id="rId15" Type="http://schemas.openxmlformats.org/officeDocument/2006/relationships/tags" Target="../tags/tag379.xml"/><Relationship Id="rId23" Type="http://schemas.openxmlformats.org/officeDocument/2006/relationships/tags" Target="../tags/tag387.xml"/><Relationship Id="rId28" Type="http://schemas.openxmlformats.org/officeDocument/2006/relationships/tags" Target="../tags/tag392.xml"/><Relationship Id="rId36" Type="http://schemas.openxmlformats.org/officeDocument/2006/relationships/chart" Target="../charts/chart11.xml"/><Relationship Id="rId10" Type="http://schemas.openxmlformats.org/officeDocument/2006/relationships/tags" Target="../tags/tag374.xml"/><Relationship Id="rId19" Type="http://schemas.openxmlformats.org/officeDocument/2006/relationships/tags" Target="../tags/tag383.xml"/><Relationship Id="rId31" Type="http://schemas.openxmlformats.org/officeDocument/2006/relationships/tags" Target="../tags/tag395.xml"/><Relationship Id="rId4" Type="http://schemas.openxmlformats.org/officeDocument/2006/relationships/tags" Target="../tags/tag368.xml"/><Relationship Id="rId9" Type="http://schemas.openxmlformats.org/officeDocument/2006/relationships/tags" Target="../tags/tag373.xml"/><Relationship Id="rId14" Type="http://schemas.openxmlformats.org/officeDocument/2006/relationships/tags" Target="../tags/tag378.xml"/><Relationship Id="rId22" Type="http://schemas.openxmlformats.org/officeDocument/2006/relationships/tags" Target="../tags/tag386.xml"/><Relationship Id="rId27" Type="http://schemas.openxmlformats.org/officeDocument/2006/relationships/tags" Target="../tags/tag391.xml"/><Relationship Id="rId30" Type="http://schemas.openxmlformats.org/officeDocument/2006/relationships/tags" Target="../tags/tag394.xml"/><Relationship Id="rId35" Type="http://schemas.openxmlformats.org/officeDocument/2006/relationships/chart" Target="../charts/chart10.xml"/><Relationship Id="rId8" Type="http://schemas.openxmlformats.org/officeDocument/2006/relationships/tags" Target="../tags/tag372.xml"/><Relationship Id="rId3" Type="http://schemas.openxmlformats.org/officeDocument/2006/relationships/tags" Target="../tags/tag367.xml"/></Relationships>
</file>

<file path=ppt/slides/_rels/slide14.xml.rels><?xml version="1.0" encoding="UTF-8" standalone="yes"?>
<Relationships xmlns="http://schemas.openxmlformats.org/package/2006/relationships"><Relationship Id="rId8" Type="http://schemas.openxmlformats.org/officeDocument/2006/relationships/tags" Target="../tags/tag404.xml"/><Relationship Id="rId13" Type="http://schemas.openxmlformats.org/officeDocument/2006/relationships/tags" Target="../tags/tag409.xml"/><Relationship Id="rId18" Type="http://schemas.openxmlformats.org/officeDocument/2006/relationships/tags" Target="../tags/tag414.xml"/><Relationship Id="rId26" Type="http://schemas.openxmlformats.org/officeDocument/2006/relationships/tags" Target="../tags/tag422.xml"/><Relationship Id="rId3" Type="http://schemas.openxmlformats.org/officeDocument/2006/relationships/tags" Target="../tags/tag399.xml"/><Relationship Id="rId21" Type="http://schemas.openxmlformats.org/officeDocument/2006/relationships/tags" Target="../tags/tag417.xml"/><Relationship Id="rId7" Type="http://schemas.openxmlformats.org/officeDocument/2006/relationships/tags" Target="../tags/tag403.xml"/><Relationship Id="rId12" Type="http://schemas.openxmlformats.org/officeDocument/2006/relationships/tags" Target="../tags/tag408.xml"/><Relationship Id="rId17" Type="http://schemas.openxmlformats.org/officeDocument/2006/relationships/tags" Target="../tags/tag413.xml"/><Relationship Id="rId25" Type="http://schemas.openxmlformats.org/officeDocument/2006/relationships/tags" Target="../tags/tag421.xml"/><Relationship Id="rId2" Type="http://schemas.openxmlformats.org/officeDocument/2006/relationships/tags" Target="../tags/tag398.xml"/><Relationship Id="rId16" Type="http://schemas.openxmlformats.org/officeDocument/2006/relationships/tags" Target="../tags/tag412.xml"/><Relationship Id="rId20" Type="http://schemas.openxmlformats.org/officeDocument/2006/relationships/tags" Target="../tags/tag416.xml"/><Relationship Id="rId29" Type="http://schemas.openxmlformats.org/officeDocument/2006/relationships/chart" Target="../charts/chart15.xml"/><Relationship Id="rId1" Type="http://schemas.openxmlformats.org/officeDocument/2006/relationships/tags" Target="../tags/tag397.xml"/><Relationship Id="rId6" Type="http://schemas.openxmlformats.org/officeDocument/2006/relationships/tags" Target="../tags/tag402.xml"/><Relationship Id="rId11" Type="http://schemas.openxmlformats.org/officeDocument/2006/relationships/tags" Target="../tags/tag407.xml"/><Relationship Id="rId24" Type="http://schemas.openxmlformats.org/officeDocument/2006/relationships/tags" Target="../tags/tag420.xml"/><Relationship Id="rId5" Type="http://schemas.openxmlformats.org/officeDocument/2006/relationships/tags" Target="../tags/tag401.xml"/><Relationship Id="rId15" Type="http://schemas.openxmlformats.org/officeDocument/2006/relationships/tags" Target="../tags/tag411.xml"/><Relationship Id="rId23" Type="http://schemas.openxmlformats.org/officeDocument/2006/relationships/tags" Target="../tags/tag419.xml"/><Relationship Id="rId28" Type="http://schemas.openxmlformats.org/officeDocument/2006/relationships/notesSlide" Target="../notesSlides/notesSlide14.xml"/><Relationship Id="rId10" Type="http://schemas.openxmlformats.org/officeDocument/2006/relationships/tags" Target="../tags/tag406.xml"/><Relationship Id="rId19" Type="http://schemas.openxmlformats.org/officeDocument/2006/relationships/tags" Target="../tags/tag415.xml"/><Relationship Id="rId31" Type="http://schemas.openxmlformats.org/officeDocument/2006/relationships/chart" Target="../charts/chart17.xml"/><Relationship Id="rId4" Type="http://schemas.openxmlformats.org/officeDocument/2006/relationships/tags" Target="../tags/tag400.xml"/><Relationship Id="rId9" Type="http://schemas.openxmlformats.org/officeDocument/2006/relationships/tags" Target="../tags/tag405.xml"/><Relationship Id="rId14" Type="http://schemas.openxmlformats.org/officeDocument/2006/relationships/tags" Target="../tags/tag410.xml"/><Relationship Id="rId22" Type="http://schemas.openxmlformats.org/officeDocument/2006/relationships/tags" Target="../tags/tag418.xml"/><Relationship Id="rId27" Type="http://schemas.openxmlformats.org/officeDocument/2006/relationships/slideLayout" Target="../slideLayouts/slideLayout18.xml"/><Relationship Id="rId30" Type="http://schemas.openxmlformats.org/officeDocument/2006/relationships/chart" Target="../charts/chart16.xml"/></Relationships>
</file>

<file path=ppt/slides/_rels/slide15.xml.rels><?xml version="1.0" encoding="UTF-8" standalone="yes"?>
<Relationships xmlns="http://schemas.openxmlformats.org/package/2006/relationships"><Relationship Id="rId8" Type="http://schemas.openxmlformats.org/officeDocument/2006/relationships/tags" Target="../tags/tag430.xml"/><Relationship Id="rId13" Type="http://schemas.openxmlformats.org/officeDocument/2006/relationships/tags" Target="../tags/tag435.xml"/><Relationship Id="rId18" Type="http://schemas.openxmlformats.org/officeDocument/2006/relationships/tags" Target="../tags/tag440.xml"/><Relationship Id="rId26" Type="http://schemas.openxmlformats.org/officeDocument/2006/relationships/tags" Target="../tags/tag448.xml"/><Relationship Id="rId3" Type="http://schemas.openxmlformats.org/officeDocument/2006/relationships/tags" Target="../tags/tag425.xml"/><Relationship Id="rId21" Type="http://schemas.openxmlformats.org/officeDocument/2006/relationships/tags" Target="../tags/tag443.xml"/><Relationship Id="rId7" Type="http://schemas.openxmlformats.org/officeDocument/2006/relationships/tags" Target="../tags/tag429.xml"/><Relationship Id="rId12" Type="http://schemas.openxmlformats.org/officeDocument/2006/relationships/tags" Target="../tags/tag434.xml"/><Relationship Id="rId17" Type="http://schemas.openxmlformats.org/officeDocument/2006/relationships/tags" Target="../tags/tag439.xml"/><Relationship Id="rId25" Type="http://schemas.openxmlformats.org/officeDocument/2006/relationships/tags" Target="../tags/tag447.xml"/><Relationship Id="rId2" Type="http://schemas.openxmlformats.org/officeDocument/2006/relationships/tags" Target="../tags/tag424.xml"/><Relationship Id="rId16" Type="http://schemas.openxmlformats.org/officeDocument/2006/relationships/tags" Target="../tags/tag438.xml"/><Relationship Id="rId20" Type="http://schemas.openxmlformats.org/officeDocument/2006/relationships/tags" Target="../tags/tag442.xml"/><Relationship Id="rId29" Type="http://schemas.openxmlformats.org/officeDocument/2006/relationships/chart" Target="../charts/chart18.xml"/><Relationship Id="rId1" Type="http://schemas.openxmlformats.org/officeDocument/2006/relationships/tags" Target="../tags/tag423.xml"/><Relationship Id="rId6" Type="http://schemas.openxmlformats.org/officeDocument/2006/relationships/tags" Target="../tags/tag428.xml"/><Relationship Id="rId11" Type="http://schemas.openxmlformats.org/officeDocument/2006/relationships/tags" Target="../tags/tag433.xml"/><Relationship Id="rId24" Type="http://schemas.openxmlformats.org/officeDocument/2006/relationships/tags" Target="../tags/tag446.xml"/><Relationship Id="rId5" Type="http://schemas.openxmlformats.org/officeDocument/2006/relationships/tags" Target="../tags/tag427.xml"/><Relationship Id="rId15" Type="http://schemas.openxmlformats.org/officeDocument/2006/relationships/tags" Target="../tags/tag437.xml"/><Relationship Id="rId23" Type="http://schemas.openxmlformats.org/officeDocument/2006/relationships/tags" Target="../tags/tag445.xml"/><Relationship Id="rId28" Type="http://schemas.openxmlformats.org/officeDocument/2006/relationships/notesSlide" Target="../notesSlides/notesSlide15.xml"/><Relationship Id="rId10" Type="http://schemas.openxmlformats.org/officeDocument/2006/relationships/tags" Target="../tags/tag432.xml"/><Relationship Id="rId19" Type="http://schemas.openxmlformats.org/officeDocument/2006/relationships/tags" Target="../tags/tag441.xml"/><Relationship Id="rId31" Type="http://schemas.openxmlformats.org/officeDocument/2006/relationships/chart" Target="../charts/chart20.xml"/><Relationship Id="rId4" Type="http://schemas.openxmlformats.org/officeDocument/2006/relationships/tags" Target="../tags/tag426.xml"/><Relationship Id="rId9" Type="http://schemas.openxmlformats.org/officeDocument/2006/relationships/tags" Target="../tags/tag431.xml"/><Relationship Id="rId14" Type="http://schemas.openxmlformats.org/officeDocument/2006/relationships/tags" Target="../tags/tag436.xml"/><Relationship Id="rId22" Type="http://schemas.openxmlformats.org/officeDocument/2006/relationships/tags" Target="../tags/tag444.xml"/><Relationship Id="rId27" Type="http://schemas.openxmlformats.org/officeDocument/2006/relationships/slideLayout" Target="../slideLayouts/slideLayout18.xml"/><Relationship Id="rId30" Type="http://schemas.openxmlformats.org/officeDocument/2006/relationships/chart" Target="../charts/chart19.xml"/></Relationships>
</file>

<file path=ppt/slides/_rels/slide16.xml.rels><?xml version="1.0" encoding="UTF-8" standalone="yes"?>
<Relationships xmlns="http://schemas.openxmlformats.org/package/2006/relationships"><Relationship Id="rId8" Type="http://schemas.openxmlformats.org/officeDocument/2006/relationships/tags" Target="../tags/tag456.xml"/><Relationship Id="rId13" Type="http://schemas.openxmlformats.org/officeDocument/2006/relationships/tags" Target="../tags/tag461.xml"/><Relationship Id="rId18" Type="http://schemas.openxmlformats.org/officeDocument/2006/relationships/tags" Target="../tags/tag466.xml"/><Relationship Id="rId26" Type="http://schemas.openxmlformats.org/officeDocument/2006/relationships/tags" Target="../tags/tag474.xml"/><Relationship Id="rId3" Type="http://schemas.openxmlformats.org/officeDocument/2006/relationships/tags" Target="../tags/tag451.xml"/><Relationship Id="rId21" Type="http://schemas.openxmlformats.org/officeDocument/2006/relationships/tags" Target="../tags/tag469.xml"/><Relationship Id="rId7" Type="http://schemas.openxmlformats.org/officeDocument/2006/relationships/tags" Target="../tags/tag455.xml"/><Relationship Id="rId12" Type="http://schemas.openxmlformats.org/officeDocument/2006/relationships/tags" Target="../tags/tag460.xml"/><Relationship Id="rId17" Type="http://schemas.openxmlformats.org/officeDocument/2006/relationships/tags" Target="../tags/tag465.xml"/><Relationship Id="rId25" Type="http://schemas.openxmlformats.org/officeDocument/2006/relationships/tags" Target="../tags/tag473.xml"/><Relationship Id="rId2" Type="http://schemas.openxmlformats.org/officeDocument/2006/relationships/tags" Target="../tags/tag450.xml"/><Relationship Id="rId16" Type="http://schemas.openxmlformats.org/officeDocument/2006/relationships/tags" Target="../tags/tag464.xml"/><Relationship Id="rId20" Type="http://schemas.openxmlformats.org/officeDocument/2006/relationships/tags" Target="../tags/tag468.xml"/><Relationship Id="rId29" Type="http://schemas.openxmlformats.org/officeDocument/2006/relationships/chart" Target="../charts/chart21.xml"/><Relationship Id="rId1" Type="http://schemas.openxmlformats.org/officeDocument/2006/relationships/tags" Target="../tags/tag449.xml"/><Relationship Id="rId6" Type="http://schemas.openxmlformats.org/officeDocument/2006/relationships/tags" Target="../tags/tag454.xml"/><Relationship Id="rId11" Type="http://schemas.openxmlformats.org/officeDocument/2006/relationships/tags" Target="../tags/tag459.xml"/><Relationship Id="rId24" Type="http://schemas.openxmlformats.org/officeDocument/2006/relationships/tags" Target="../tags/tag472.xml"/><Relationship Id="rId5" Type="http://schemas.openxmlformats.org/officeDocument/2006/relationships/tags" Target="../tags/tag453.xml"/><Relationship Id="rId15" Type="http://schemas.openxmlformats.org/officeDocument/2006/relationships/tags" Target="../tags/tag463.xml"/><Relationship Id="rId23" Type="http://schemas.openxmlformats.org/officeDocument/2006/relationships/tags" Target="../tags/tag471.xml"/><Relationship Id="rId28" Type="http://schemas.openxmlformats.org/officeDocument/2006/relationships/notesSlide" Target="../notesSlides/notesSlide16.xml"/><Relationship Id="rId10" Type="http://schemas.openxmlformats.org/officeDocument/2006/relationships/tags" Target="../tags/tag458.xml"/><Relationship Id="rId19" Type="http://schemas.openxmlformats.org/officeDocument/2006/relationships/tags" Target="../tags/tag467.xml"/><Relationship Id="rId31" Type="http://schemas.openxmlformats.org/officeDocument/2006/relationships/chart" Target="../charts/chart23.xml"/><Relationship Id="rId4" Type="http://schemas.openxmlformats.org/officeDocument/2006/relationships/tags" Target="../tags/tag452.xml"/><Relationship Id="rId9" Type="http://schemas.openxmlformats.org/officeDocument/2006/relationships/tags" Target="../tags/tag457.xml"/><Relationship Id="rId14" Type="http://schemas.openxmlformats.org/officeDocument/2006/relationships/tags" Target="../tags/tag462.xml"/><Relationship Id="rId22" Type="http://schemas.openxmlformats.org/officeDocument/2006/relationships/tags" Target="../tags/tag470.xml"/><Relationship Id="rId27" Type="http://schemas.openxmlformats.org/officeDocument/2006/relationships/slideLayout" Target="../slideLayouts/slideLayout18.xml"/><Relationship Id="rId30" Type="http://schemas.openxmlformats.org/officeDocument/2006/relationships/chart" Target="../charts/chart22.xml"/></Relationships>
</file>

<file path=ppt/slides/_rels/slide17.xml.rels><?xml version="1.0" encoding="UTF-8" standalone="yes"?>
<Relationships xmlns="http://schemas.openxmlformats.org/package/2006/relationships"><Relationship Id="rId8" Type="http://schemas.openxmlformats.org/officeDocument/2006/relationships/tags" Target="../tags/tag482.xml"/><Relationship Id="rId13" Type="http://schemas.openxmlformats.org/officeDocument/2006/relationships/tags" Target="../tags/tag487.xml"/><Relationship Id="rId18" Type="http://schemas.openxmlformats.org/officeDocument/2006/relationships/tags" Target="../tags/tag492.xml"/><Relationship Id="rId26" Type="http://schemas.openxmlformats.org/officeDocument/2006/relationships/tags" Target="../tags/tag500.xml"/><Relationship Id="rId3" Type="http://schemas.openxmlformats.org/officeDocument/2006/relationships/tags" Target="../tags/tag477.xml"/><Relationship Id="rId21" Type="http://schemas.openxmlformats.org/officeDocument/2006/relationships/tags" Target="../tags/tag495.xml"/><Relationship Id="rId7" Type="http://schemas.openxmlformats.org/officeDocument/2006/relationships/tags" Target="../tags/tag481.xml"/><Relationship Id="rId12" Type="http://schemas.openxmlformats.org/officeDocument/2006/relationships/tags" Target="../tags/tag486.xml"/><Relationship Id="rId17" Type="http://schemas.openxmlformats.org/officeDocument/2006/relationships/tags" Target="../tags/tag491.xml"/><Relationship Id="rId25" Type="http://schemas.openxmlformats.org/officeDocument/2006/relationships/tags" Target="../tags/tag499.xml"/><Relationship Id="rId2" Type="http://schemas.openxmlformats.org/officeDocument/2006/relationships/tags" Target="../tags/tag476.xml"/><Relationship Id="rId16" Type="http://schemas.openxmlformats.org/officeDocument/2006/relationships/tags" Target="../tags/tag490.xml"/><Relationship Id="rId20" Type="http://schemas.openxmlformats.org/officeDocument/2006/relationships/tags" Target="../tags/tag494.xml"/><Relationship Id="rId29" Type="http://schemas.openxmlformats.org/officeDocument/2006/relationships/chart" Target="../charts/chart24.xml"/><Relationship Id="rId1" Type="http://schemas.openxmlformats.org/officeDocument/2006/relationships/tags" Target="../tags/tag475.xml"/><Relationship Id="rId6" Type="http://schemas.openxmlformats.org/officeDocument/2006/relationships/tags" Target="../tags/tag480.xml"/><Relationship Id="rId11" Type="http://schemas.openxmlformats.org/officeDocument/2006/relationships/tags" Target="../tags/tag485.xml"/><Relationship Id="rId24" Type="http://schemas.openxmlformats.org/officeDocument/2006/relationships/tags" Target="../tags/tag498.xml"/><Relationship Id="rId5" Type="http://schemas.openxmlformats.org/officeDocument/2006/relationships/tags" Target="../tags/tag479.xml"/><Relationship Id="rId15" Type="http://schemas.openxmlformats.org/officeDocument/2006/relationships/tags" Target="../tags/tag489.xml"/><Relationship Id="rId23" Type="http://schemas.openxmlformats.org/officeDocument/2006/relationships/tags" Target="../tags/tag497.xml"/><Relationship Id="rId28" Type="http://schemas.openxmlformats.org/officeDocument/2006/relationships/notesSlide" Target="../notesSlides/notesSlide17.xml"/><Relationship Id="rId10" Type="http://schemas.openxmlformats.org/officeDocument/2006/relationships/tags" Target="../tags/tag484.xml"/><Relationship Id="rId19" Type="http://schemas.openxmlformats.org/officeDocument/2006/relationships/tags" Target="../tags/tag493.xml"/><Relationship Id="rId31" Type="http://schemas.openxmlformats.org/officeDocument/2006/relationships/chart" Target="../charts/chart26.xml"/><Relationship Id="rId4" Type="http://schemas.openxmlformats.org/officeDocument/2006/relationships/tags" Target="../tags/tag478.xml"/><Relationship Id="rId9" Type="http://schemas.openxmlformats.org/officeDocument/2006/relationships/tags" Target="../tags/tag483.xml"/><Relationship Id="rId14" Type="http://schemas.openxmlformats.org/officeDocument/2006/relationships/tags" Target="../tags/tag488.xml"/><Relationship Id="rId22" Type="http://schemas.openxmlformats.org/officeDocument/2006/relationships/tags" Target="../tags/tag496.xml"/><Relationship Id="rId27" Type="http://schemas.openxmlformats.org/officeDocument/2006/relationships/slideLayout" Target="../slideLayouts/slideLayout18.xml"/><Relationship Id="rId30" Type="http://schemas.openxmlformats.org/officeDocument/2006/relationships/chart" Target="../charts/chart25.xml"/></Relationships>
</file>

<file path=ppt/slides/_rels/slide18.xml.rels><?xml version="1.0" encoding="UTF-8" standalone="yes"?>
<Relationships xmlns="http://schemas.openxmlformats.org/package/2006/relationships"><Relationship Id="rId13" Type="http://schemas.openxmlformats.org/officeDocument/2006/relationships/tags" Target="../tags/tag513.xml"/><Relationship Id="rId18" Type="http://schemas.openxmlformats.org/officeDocument/2006/relationships/tags" Target="../tags/tag518.xml"/><Relationship Id="rId26" Type="http://schemas.openxmlformats.org/officeDocument/2006/relationships/tags" Target="../tags/tag526.xml"/><Relationship Id="rId39" Type="http://schemas.openxmlformats.org/officeDocument/2006/relationships/chart" Target="../charts/chart31.xml"/><Relationship Id="rId21" Type="http://schemas.openxmlformats.org/officeDocument/2006/relationships/tags" Target="../tags/tag521.xml"/><Relationship Id="rId34" Type="http://schemas.openxmlformats.org/officeDocument/2006/relationships/notesSlide" Target="../notesSlides/notesSlide18.xml"/><Relationship Id="rId7" Type="http://schemas.openxmlformats.org/officeDocument/2006/relationships/tags" Target="../tags/tag507.xml"/><Relationship Id="rId12" Type="http://schemas.openxmlformats.org/officeDocument/2006/relationships/tags" Target="../tags/tag512.xml"/><Relationship Id="rId17" Type="http://schemas.openxmlformats.org/officeDocument/2006/relationships/tags" Target="../tags/tag517.xml"/><Relationship Id="rId25" Type="http://schemas.openxmlformats.org/officeDocument/2006/relationships/tags" Target="../tags/tag525.xml"/><Relationship Id="rId33" Type="http://schemas.openxmlformats.org/officeDocument/2006/relationships/slideLayout" Target="../slideLayouts/slideLayout18.xml"/><Relationship Id="rId38" Type="http://schemas.openxmlformats.org/officeDocument/2006/relationships/chart" Target="../charts/chart30.xml"/><Relationship Id="rId2" Type="http://schemas.openxmlformats.org/officeDocument/2006/relationships/tags" Target="../tags/tag502.xml"/><Relationship Id="rId16" Type="http://schemas.openxmlformats.org/officeDocument/2006/relationships/tags" Target="../tags/tag516.xml"/><Relationship Id="rId20" Type="http://schemas.openxmlformats.org/officeDocument/2006/relationships/tags" Target="../tags/tag520.xml"/><Relationship Id="rId29" Type="http://schemas.openxmlformats.org/officeDocument/2006/relationships/tags" Target="../tags/tag529.xml"/><Relationship Id="rId1" Type="http://schemas.openxmlformats.org/officeDocument/2006/relationships/tags" Target="../tags/tag501.xml"/><Relationship Id="rId6" Type="http://schemas.openxmlformats.org/officeDocument/2006/relationships/tags" Target="../tags/tag506.xml"/><Relationship Id="rId11" Type="http://schemas.openxmlformats.org/officeDocument/2006/relationships/tags" Target="../tags/tag511.xml"/><Relationship Id="rId24" Type="http://schemas.openxmlformats.org/officeDocument/2006/relationships/tags" Target="../tags/tag524.xml"/><Relationship Id="rId32" Type="http://schemas.openxmlformats.org/officeDocument/2006/relationships/tags" Target="../tags/tag532.xml"/><Relationship Id="rId37" Type="http://schemas.openxmlformats.org/officeDocument/2006/relationships/chart" Target="../charts/chart29.xml"/><Relationship Id="rId5" Type="http://schemas.openxmlformats.org/officeDocument/2006/relationships/tags" Target="../tags/tag505.xml"/><Relationship Id="rId15" Type="http://schemas.openxmlformats.org/officeDocument/2006/relationships/tags" Target="../tags/tag515.xml"/><Relationship Id="rId23" Type="http://schemas.openxmlformats.org/officeDocument/2006/relationships/tags" Target="../tags/tag523.xml"/><Relationship Id="rId28" Type="http://schemas.openxmlformats.org/officeDocument/2006/relationships/tags" Target="../tags/tag528.xml"/><Relationship Id="rId36" Type="http://schemas.openxmlformats.org/officeDocument/2006/relationships/chart" Target="../charts/chart28.xml"/><Relationship Id="rId10" Type="http://schemas.openxmlformats.org/officeDocument/2006/relationships/tags" Target="../tags/tag510.xml"/><Relationship Id="rId19" Type="http://schemas.openxmlformats.org/officeDocument/2006/relationships/tags" Target="../tags/tag519.xml"/><Relationship Id="rId31" Type="http://schemas.openxmlformats.org/officeDocument/2006/relationships/tags" Target="../tags/tag531.xml"/><Relationship Id="rId4" Type="http://schemas.openxmlformats.org/officeDocument/2006/relationships/tags" Target="../tags/tag504.xml"/><Relationship Id="rId9" Type="http://schemas.openxmlformats.org/officeDocument/2006/relationships/tags" Target="../tags/tag509.xml"/><Relationship Id="rId14" Type="http://schemas.openxmlformats.org/officeDocument/2006/relationships/tags" Target="../tags/tag514.xml"/><Relationship Id="rId22" Type="http://schemas.openxmlformats.org/officeDocument/2006/relationships/tags" Target="../tags/tag522.xml"/><Relationship Id="rId27" Type="http://schemas.openxmlformats.org/officeDocument/2006/relationships/tags" Target="../tags/tag527.xml"/><Relationship Id="rId30" Type="http://schemas.openxmlformats.org/officeDocument/2006/relationships/tags" Target="../tags/tag530.xml"/><Relationship Id="rId35" Type="http://schemas.openxmlformats.org/officeDocument/2006/relationships/chart" Target="../charts/chart27.xml"/><Relationship Id="rId8" Type="http://schemas.openxmlformats.org/officeDocument/2006/relationships/tags" Target="../tags/tag508.xml"/><Relationship Id="rId3" Type="http://schemas.openxmlformats.org/officeDocument/2006/relationships/tags" Target="../tags/tag503.xml"/></Relationships>
</file>

<file path=ppt/slides/_rels/slide19.xml.rels><?xml version="1.0" encoding="UTF-8" standalone="yes"?>
<Relationships xmlns="http://schemas.openxmlformats.org/package/2006/relationships"><Relationship Id="rId8" Type="http://schemas.openxmlformats.org/officeDocument/2006/relationships/tags" Target="../tags/tag540.xml"/><Relationship Id="rId13" Type="http://schemas.openxmlformats.org/officeDocument/2006/relationships/tags" Target="../tags/tag545.xml"/><Relationship Id="rId18" Type="http://schemas.openxmlformats.org/officeDocument/2006/relationships/tags" Target="../tags/tag550.xml"/><Relationship Id="rId26" Type="http://schemas.openxmlformats.org/officeDocument/2006/relationships/tags" Target="../tags/tag558.xml"/><Relationship Id="rId3" Type="http://schemas.openxmlformats.org/officeDocument/2006/relationships/tags" Target="../tags/tag535.xml"/><Relationship Id="rId21" Type="http://schemas.openxmlformats.org/officeDocument/2006/relationships/tags" Target="../tags/tag553.xml"/><Relationship Id="rId7" Type="http://schemas.openxmlformats.org/officeDocument/2006/relationships/tags" Target="../tags/tag539.xml"/><Relationship Id="rId12" Type="http://schemas.openxmlformats.org/officeDocument/2006/relationships/tags" Target="../tags/tag544.xml"/><Relationship Id="rId17" Type="http://schemas.openxmlformats.org/officeDocument/2006/relationships/tags" Target="../tags/tag549.xml"/><Relationship Id="rId25" Type="http://schemas.openxmlformats.org/officeDocument/2006/relationships/tags" Target="../tags/tag557.xml"/><Relationship Id="rId2" Type="http://schemas.openxmlformats.org/officeDocument/2006/relationships/tags" Target="../tags/tag534.xml"/><Relationship Id="rId16" Type="http://schemas.openxmlformats.org/officeDocument/2006/relationships/tags" Target="../tags/tag548.xml"/><Relationship Id="rId20" Type="http://schemas.openxmlformats.org/officeDocument/2006/relationships/tags" Target="../tags/tag552.xml"/><Relationship Id="rId29" Type="http://schemas.openxmlformats.org/officeDocument/2006/relationships/chart" Target="../charts/chart32.xml"/><Relationship Id="rId1" Type="http://schemas.openxmlformats.org/officeDocument/2006/relationships/tags" Target="../tags/tag533.xml"/><Relationship Id="rId6" Type="http://schemas.openxmlformats.org/officeDocument/2006/relationships/tags" Target="../tags/tag538.xml"/><Relationship Id="rId11" Type="http://schemas.openxmlformats.org/officeDocument/2006/relationships/tags" Target="../tags/tag543.xml"/><Relationship Id="rId24" Type="http://schemas.openxmlformats.org/officeDocument/2006/relationships/tags" Target="../tags/tag556.xml"/><Relationship Id="rId5" Type="http://schemas.openxmlformats.org/officeDocument/2006/relationships/tags" Target="../tags/tag537.xml"/><Relationship Id="rId15" Type="http://schemas.openxmlformats.org/officeDocument/2006/relationships/tags" Target="../tags/tag547.xml"/><Relationship Id="rId23" Type="http://schemas.openxmlformats.org/officeDocument/2006/relationships/tags" Target="../tags/tag555.xml"/><Relationship Id="rId28" Type="http://schemas.openxmlformats.org/officeDocument/2006/relationships/notesSlide" Target="../notesSlides/notesSlide19.xml"/><Relationship Id="rId10" Type="http://schemas.openxmlformats.org/officeDocument/2006/relationships/tags" Target="../tags/tag542.xml"/><Relationship Id="rId19" Type="http://schemas.openxmlformats.org/officeDocument/2006/relationships/tags" Target="../tags/tag551.xml"/><Relationship Id="rId31" Type="http://schemas.openxmlformats.org/officeDocument/2006/relationships/chart" Target="../charts/chart34.xml"/><Relationship Id="rId4" Type="http://schemas.openxmlformats.org/officeDocument/2006/relationships/tags" Target="../tags/tag536.xml"/><Relationship Id="rId9" Type="http://schemas.openxmlformats.org/officeDocument/2006/relationships/tags" Target="../tags/tag541.xml"/><Relationship Id="rId14" Type="http://schemas.openxmlformats.org/officeDocument/2006/relationships/tags" Target="../tags/tag546.xml"/><Relationship Id="rId22" Type="http://schemas.openxmlformats.org/officeDocument/2006/relationships/tags" Target="../tags/tag554.xml"/><Relationship Id="rId27" Type="http://schemas.openxmlformats.org/officeDocument/2006/relationships/slideLayout" Target="../slideLayouts/slideLayout18.xml"/><Relationship Id="rId30" Type="http://schemas.openxmlformats.org/officeDocument/2006/relationships/chart" Target="../charts/chart33.xml"/></Relationships>
</file>

<file path=ppt/slides/_rels/slide20.xml.rels><?xml version="1.0" encoding="UTF-8" standalone="yes"?>
<Relationships xmlns="http://schemas.openxmlformats.org/package/2006/relationships"><Relationship Id="rId3" Type="http://schemas.openxmlformats.org/officeDocument/2006/relationships/tags" Target="../tags/tag561.xml"/><Relationship Id="rId7" Type="http://schemas.openxmlformats.org/officeDocument/2006/relationships/image" Target="../media/image4.emf"/><Relationship Id="rId2" Type="http://schemas.openxmlformats.org/officeDocument/2006/relationships/tags" Target="../tags/tag560.xml"/><Relationship Id="rId1" Type="http://schemas.openxmlformats.org/officeDocument/2006/relationships/tags" Target="../tags/tag559.xml"/><Relationship Id="rId6" Type="http://schemas.openxmlformats.org/officeDocument/2006/relationships/oleObject" Target="../embeddings/oleObject1.bin"/><Relationship Id="rId5" Type="http://schemas.openxmlformats.org/officeDocument/2006/relationships/notesSlide" Target="../notesSlides/notesSlide20.xml"/><Relationship Id="rId4"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AD108D-BB58-724B-E16A-E24ECD77937C}"/>
              </a:ext>
            </a:extLst>
          </p:cNvPr>
          <p:cNvSpPr>
            <a:spLocks noGrp="1"/>
          </p:cNvSpPr>
          <p:nvPr>
            <p:ph type="ctrTitle"/>
            <p:custDataLst>
              <p:tags r:id="rId1"/>
            </p:custDataLst>
          </p:nvPr>
        </p:nvSpPr>
        <p:spPr>
          <a:xfrm>
            <a:off x="1371600" y="2149713"/>
            <a:ext cx="8426918" cy="2164080"/>
          </a:xfrm>
        </p:spPr>
        <p:txBody>
          <a:bodyPr/>
          <a:lstStyle/>
          <a:p>
            <a:r>
              <a:rPr lang="en-US"/>
              <a:t>AI Maturity Assessment</a:t>
            </a:r>
            <a:br>
              <a:rPr lang="en-US"/>
            </a:br>
            <a:endParaRPr lang="en-US"/>
          </a:p>
        </p:txBody>
      </p:sp>
      <p:grpSp>
        <p:nvGrpSpPr>
          <p:cNvPr id="10" name="Group 9" hidden="1">
            <a:extLst>
              <a:ext uri="{FF2B5EF4-FFF2-40B4-BE49-F238E27FC236}">
                <a16:creationId xmlns:a16="http://schemas.microsoft.com/office/drawing/2014/main" id="{E8B14D26-73D5-7724-3AAF-CFDBCDAE0C20}"/>
              </a:ext>
            </a:extLst>
          </p:cNvPr>
          <p:cNvGrpSpPr/>
          <p:nvPr>
            <p:custDataLst>
              <p:tags r:id="rId2"/>
            </p:custDataLst>
          </p:nvPr>
        </p:nvGrpSpPr>
        <p:grpSpPr>
          <a:xfrm>
            <a:off x="-839787" y="2254488"/>
            <a:ext cx="628650" cy="638175"/>
            <a:chOff x="1524000" y="1892538"/>
            <a:chExt cx="628650" cy="638175"/>
          </a:xfrm>
        </p:grpSpPr>
        <p:cxnSp>
          <p:nvCxnSpPr>
            <p:cNvPr id="7" name="Straight Connector 6">
              <a:extLst>
                <a:ext uri="{FF2B5EF4-FFF2-40B4-BE49-F238E27FC236}">
                  <a16:creationId xmlns:a16="http://schemas.microsoft.com/office/drawing/2014/main" id="{11E3F0AD-1321-4D63-D89E-A2C2A0167524}"/>
                </a:ext>
              </a:extLst>
            </p:cNvPr>
            <p:cNvCxnSpPr/>
            <p:nvPr>
              <p:custDataLst>
                <p:tags r:id="rId4"/>
              </p:custDataLst>
            </p:nvPr>
          </p:nvCxnSpPr>
          <p:spPr>
            <a:xfrm>
              <a:off x="1524000" y="1892538"/>
              <a:ext cx="0" cy="638175"/>
            </a:xfrm>
            <a:prstGeom prst="line">
              <a:avLst/>
            </a:prstGeom>
            <a:noFill/>
            <a:ln w="190500" cap="flat" cmpd="sng">
              <a:solidFill>
                <a:srgbClr val="6F7878"/>
              </a:solidFill>
              <a:prstDash val="solid"/>
              <a:round/>
              <a:headEnd type="none" w="lg" len="med"/>
              <a:tailEnd type="none" w="lg" len="med"/>
            </a:ln>
          </p:spPr>
        </p:cxnSp>
        <p:cxnSp>
          <p:nvCxnSpPr>
            <p:cNvPr id="9" name="Straight Connector 8">
              <a:extLst>
                <a:ext uri="{FF2B5EF4-FFF2-40B4-BE49-F238E27FC236}">
                  <a16:creationId xmlns:a16="http://schemas.microsoft.com/office/drawing/2014/main" id="{D80AA33C-716C-4A0B-9E8F-6880972D80E8}"/>
                </a:ext>
              </a:extLst>
            </p:cNvPr>
            <p:cNvCxnSpPr/>
            <p:nvPr>
              <p:custDataLst>
                <p:tags r:id="rId5"/>
              </p:custDataLst>
            </p:nvPr>
          </p:nvCxnSpPr>
          <p:spPr>
            <a:xfrm>
              <a:off x="1584325" y="1892538"/>
              <a:ext cx="568325" cy="0"/>
            </a:xfrm>
            <a:prstGeom prst="line">
              <a:avLst/>
            </a:prstGeom>
            <a:noFill/>
            <a:ln w="190500" cap="flat" cmpd="sng">
              <a:solidFill>
                <a:srgbClr val="6F7878"/>
              </a:solidFill>
              <a:prstDash val="solid"/>
              <a:round/>
              <a:headEnd type="none" w="lg" len="med"/>
              <a:tailEnd type="none" w="lg" len="med"/>
            </a:ln>
          </p:spPr>
        </p:cxnSp>
      </p:grpSp>
      <p:sp>
        <p:nvSpPr>
          <p:cNvPr id="2" name="Text Placeholder 1">
            <a:extLst>
              <a:ext uri="{FF2B5EF4-FFF2-40B4-BE49-F238E27FC236}">
                <a16:creationId xmlns:a16="http://schemas.microsoft.com/office/drawing/2014/main" id="{618B337E-0894-3F12-43A5-AA0BA7C823BD}"/>
              </a:ext>
            </a:extLst>
          </p:cNvPr>
          <p:cNvSpPr txBox="1"/>
          <p:nvPr>
            <p:custDataLst>
              <p:tags r:id="rId3"/>
            </p:custDataLst>
          </p:nvPr>
        </p:nvSpPr>
        <p:spPr>
          <a:xfrm>
            <a:off x="1528845" y="3371701"/>
            <a:ext cx="4968000" cy="991752"/>
          </a:xfrm>
          <a:prstGeom prst="rect">
            <a:avLst/>
          </a:prstGeom>
        </p:spPr>
        <p:txBody>
          <a:bodyPr/>
          <a:lstStyle>
            <a:lvl1pPr marL="246063" indent="-246063" algn="l" defTabSz="914400" rtl="0" eaLnBrk="1" latinLnBrk="0" hangingPunct="1">
              <a:lnSpc>
                <a:spcPct val="90000"/>
              </a:lnSpc>
              <a:spcBef>
                <a:spcPts val="1200"/>
              </a:spcBef>
              <a:spcAft>
                <a:spcPct val="0"/>
              </a:spcAft>
              <a:buSzTx/>
              <a:buFont typeface="Arial" panose="020B0604020202020204" pitchFamily="34" charset="0"/>
              <a:buChar char="•"/>
              <a:defRPr sz="2400" kern="1200">
                <a:solidFill>
                  <a:schemeClr val="tx1"/>
                </a:solidFill>
                <a:latin typeface="+mn-lt"/>
                <a:ea typeface="+mn-ea"/>
                <a:cs typeface="+mn-cs"/>
              </a:defRPr>
            </a:lvl1pPr>
            <a:lvl2pPr marL="742950" indent="-314325" algn="l" defTabSz="914400" rtl="0" eaLnBrk="1" latinLnBrk="0" hangingPunct="1">
              <a:lnSpc>
                <a:spcPct val="90000"/>
              </a:lnSpc>
              <a:spcBef>
                <a:spcPts val="1200"/>
              </a:spcBef>
              <a:spcAft>
                <a:spcPct val="0"/>
              </a:spcAft>
              <a:buSzTx/>
              <a:buFont typeface="Arial" panose="020B0604020202020204" pitchFamily="34" charset="0"/>
              <a:buChar char="–"/>
              <a:defRPr sz="2400" kern="1200">
                <a:solidFill>
                  <a:schemeClr val="tx1"/>
                </a:solidFill>
                <a:latin typeface="+mn-lt"/>
                <a:ea typeface="+mn-ea"/>
                <a:cs typeface="+mn-cs"/>
              </a:defRPr>
            </a:lvl2pPr>
            <a:lvl3pPr marL="1174750" indent="-247650" algn="l" defTabSz="914400" rtl="0" eaLnBrk="1" latinLnBrk="0" hangingPunct="1">
              <a:lnSpc>
                <a:spcPct val="90000"/>
              </a:lnSpc>
              <a:spcBef>
                <a:spcPts val="1200"/>
              </a:spcBef>
              <a:spcAft>
                <a:spcPct val="0"/>
              </a:spcAft>
              <a:buSzTx/>
              <a:buFont typeface="Arial" panose="020B0604020202020204" pitchFamily="34" charset="0"/>
              <a:buChar char="•"/>
              <a:defRPr sz="2400" kern="1200">
                <a:solidFill>
                  <a:schemeClr val="tx1"/>
                </a:solidFill>
                <a:latin typeface="+mn-lt"/>
                <a:ea typeface="+mn-ea"/>
                <a:cs typeface="+mn-cs"/>
              </a:defRPr>
            </a:lvl3pPr>
            <a:lvl4pPr marL="1674813" indent="-317500" algn="l" defTabSz="914400" rtl="0" eaLnBrk="1" latinLnBrk="0" hangingPunct="1">
              <a:lnSpc>
                <a:spcPct val="90000"/>
              </a:lnSpc>
              <a:spcBef>
                <a:spcPts val="1200"/>
              </a:spcBef>
              <a:spcAft>
                <a:spcPct val="0"/>
              </a:spcAft>
              <a:buSzTx/>
              <a:buFont typeface="Arial" panose="020B0604020202020204" pitchFamily="34" charset="0"/>
              <a:buChar char="–"/>
              <a:defRPr sz="2400" kern="1200">
                <a:solidFill>
                  <a:schemeClr val="tx1"/>
                </a:solidFill>
                <a:latin typeface="+mn-lt"/>
                <a:ea typeface="+mn-ea"/>
                <a:cs typeface="+mn-cs"/>
              </a:defRPr>
            </a:lvl4pPr>
            <a:lvl5pPr marL="2105025" indent="-247650" algn="l" defTabSz="914400" rtl="0" eaLnBrk="1" latinLnBrk="0" hangingPunct="1">
              <a:lnSpc>
                <a:spcPct val="90000"/>
              </a:lnSpc>
              <a:spcBef>
                <a:spcPts val="1200"/>
              </a:spcBef>
              <a:spcAft>
                <a:spcPct val="0"/>
              </a:spcAft>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800" dirty="0">
                <a:latin typeface="Gartner Sans" panose="020B0504030402040204" pitchFamily="34" charset="0"/>
              </a:rPr>
              <a:t>SAMPLE REPORT</a:t>
            </a:r>
            <a:endParaRPr lang="en-US" sz="2800" dirty="0"/>
          </a:p>
        </p:txBody>
      </p:sp>
    </p:spTree>
    <p:extLst>
      <p:ext uri="{BB962C8B-B14F-4D97-AF65-F5344CB8AC3E}">
        <p14:creationId xmlns:p14="http://schemas.microsoft.com/office/powerpoint/2010/main" val="3567511094"/>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2EB8B-8ADA-5060-E3E5-E5C2148FFE77}"/>
            </a:ext>
          </a:extLst>
        </p:cNvPr>
        <p:cNvGrpSpPr/>
        <p:nvPr/>
      </p:nvGrpSpPr>
      <p:grpSpPr>
        <a:xfrm>
          <a:off x="0" y="0"/>
          <a:ext cx="0" cy="0"/>
          <a:chOff x="0" y="0"/>
          <a:chExt cx="0" cy="0"/>
        </a:xfrm>
      </p:grpSpPr>
      <p:cxnSp>
        <p:nvCxnSpPr>
          <p:cNvPr id="11" name="Straight Connector 1">
            <a:extLst>
              <a:ext uri="{FF2B5EF4-FFF2-40B4-BE49-F238E27FC236}">
                <a16:creationId xmlns:a16="http://schemas.microsoft.com/office/drawing/2014/main" id="{E9A4258C-7F0F-F74B-2CCB-BE2096F73815}"/>
              </a:ext>
            </a:extLst>
          </p:cNvPr>
          <p:cNvCxnSpPr/>
          <p:nvPr>
            <p:custDataLst>
              <p:tags r:id="rId1"/>
            </p:custDataLst>
          </p:nvPr>
        </p:nvCxnSpPr>
        <p:spPr>
          <a:xfrm flipH="1" flipV="1">
            <a:off x="3123247" y="2630895"/>
            <a:ext cx="7704000" cy="3600"/>
          </a:xfrm>
          <a:prstGeom prst="line">
            <a:avLst/>
          </a:prstGeom>
          <a:noFill/>
          <a:ln w="12700" cap="flat" cmpd="sng">
            <a:solidFill>
              <a:srgbClr val="BBCAD3"/>
            </a:solidFill>
            <a:prstDash val="solid"/>
            <a:round/>
            <a:headEnd type="none" w="lg" len="med"/>
            <a:tailEnd type="none" w="lg" len="med"/>
          </a:ln>
        </p:spPr>
      </p:cxnSp>
      <p:cxnSp>
        <p:nvCxnSpPr>
          <p:cNvPr id="12" name="Straight Connector 1">
            <a:extLst>
              <a:ext uri="{FF2B5EF4-FFF2-40B4-BE49-F238E27FC236}">
                <a16:creationId xmlns:a16="http://schemas.microsoft.com/office/drawing/2014/main" id="{C4A89657-5AF3-5687-038F-1B85BD39BAC2}"/>
              </a:ext>
            </a:extLst>
          </p:cNvPr>
          <p:cNvCxnSpPr/>
          <p:nvPr>
            <p:custDataLst>
              <p:tags r:id="rId2"/>
            </p:custDataLst>
          </p:nvPr>
        </p:nvCxnSpPr>
        <p:spPr>
          <a:xfrm flipH="1" flipV="1">
            <a:off x="3123247" y="3313647"/>
            <a:ext cx="7704000" cy="3600"/>
          </a:xfrm>
          <a:prstGeom prst="line">
            <a:avLst/>
          </a:prstGeom>
          <a:noFill/>
          <a:ln w="12700" cap="flat" cmpd="sng">
            <a:solidFill>
              <a:srgbClr val="BBCAD3"/>
            </a:solidFill>
            <a:prstDash val="solid"/>
            <a:round/>
            <a:headEnd type="none" w="lg" len="med"/>
            <a:tailEnd type="none" w="lg" len="med"/>
          </a:ln>
        </p:spPr>
      </p:cxnSp>
      <p:sp>
        <p:nvSpPr>
          <p:cNvPr id="23" name="Title 1">
            <a:extLst>
              <a:ext uri="{FF2B5EF4-FFF2-40B4-BE49-F238E27FC236}">
                <a16:creationId xmlns:a16="http://schemas.microsoft.com/office/drawing/2014/main" id="{EDD0C646-BEE2-AB7F-03E4-511A2685C759}"/>
              </a:ext>
            </a:extLst>
          </p:cNvPr>
          <p:cNvSpPr>
            <a:spLocks noGrp="1"/>
          </p:cNvSpPr>
          <p:nvPr>
            <p:ph type="title" hasCustomPrompt="1"/>
            <p:custDataLst>
              <p:tags r:id="rId3"/>
            </p:custDataLst>
          </p:nvPr>
        </p:nvSpPr>
        <p:spPr>
          <a:xfrm>
            <a:off x="536400" y="324000"/>
            <a:ext cx="11155680" cy="332399"/>
          </a:xfrm>
          <a:noFill/>
        </p:spPr>
        <p:txBody>
          <a:bodyPr vert="horz" wrap="square" lIns="0" tIns="0" rIns="0" bIns="0" rtlCol="0" anchor="t" anchorCtr="0">
            <a:spAutoFit/>
          </a:bodyPr>
          <a:lstStyle/>
          <a:p>
            <a:pPr>
              <a:spcBef>
                <a:spcPts val="600"/>
              </a:spcBef>
            </a:pPr>
            <a:r>
              <a:rPr lang="en-US" sz="2400">
                <a:solidFill>
                  <a:srgbClr val="002856"/>
                </a:solidFill>
                <a:latin typeface="Gartner Sans" panose="020B0504030402040204" pitchFamily="34" charset="0"/>
                <a:ea typeface="+mn-ea"/>
                <a:cs typeface="+mn-cs"/>
              </a:rPr>
              <a:t>Your AI Maturity</a:t>
            </a:r>
          </a:p>
        </p:txBody>
      </p:sp>
      <p:sp>
        <p:nvSpPr>
          <p:cNvPr id="14" name="TextBox 13">
            <a:extLst>
              <a:ext uri="{FF2B5EF4-FFF2-40B4-BE49-F238E27FC236}">
                <a16:creationId xmlns:a16="http://schemas.microsoft.com/office/drawing/2014/main" id="{A7BE8C5E-58F1-1A86-BCA9-E00015D8F4AA}"/>
              </a:ext>
            </a:extLst>
          </p:cNvPr>
          <p:cNvSpPr txBox="1"/>
          <p:nvPr>
            <p:custDataLst>
              <p:tags r:id="rId4"/>
            </p:custDataLst>
          </p:nvPr>
        </p:nvSpPr>
        <p:spPr>
          <a:xfrm>
            <a:off x="574567" y="3501697"/>
            <a:ext cx="1028873" cy="461665"/>
          </a:xfrm>
          <a:prstGeom prst="rect">
            <a:avLst/>
          </a:prstGeom>
          <a:noFill/>
        </p:spPr>
        <p:txBody>
          <a:bodyPr wrap="square" lIns="0" rIns="0" rtlCol="0">
            <a:spAutoFit/>
          </a:bodyPr>
          <a:lstStyle/>
          <a:p>
            <a:pPr algn="ctr"/>
            <a:r>
              <a:rPr lang="en-US" sz="1200" b="1">
                <a:solidFill>
                  <a:srgbClr val="454545"/>
                </a:solidFill>
              </a:rPr>
              <a:t>Your Overall Maturity Gap</a:t>
            </a:r>
          </a:p>
        </p:txBody>
      </p:sp>
      <p:sp>
        <p:nvSpPr>
          <p:cNvPr id="2" name="TextBox 1">
            <a:extLst>
              <a:ext uri="{FF2B5EF4-FFF2-40B4-BE49-F238E27FC236}">
                <a16:creationId xmlns:a16="http://schemas.microsoft.com/office/drawing/2014/main" id="{0B1B296F-E5DA-C76F-3948-2FDCCC5F93C5}"/>
              </a:ext>
            </a:extLst>
          </p:cNvPr>
          <p:cNvSpPr txBox="1"/>
          <p:nvPr>
            <p:custDataLst>
              <p:tags r:id="rId5"/>
            </p:custDataLst>
          </p:nvPr>
        </p:nvSpPr>
        <p:spPr>
          <a:xfrm>
            <a:off x="536400" y="701899"/>
            <a:ext cx="11186693" cy="461666"/>
          </a:xfrm>
          <a:prstGeom prst="rect">
            <a:avLst/>
          </a:prstGeom>
          <a:solidFill>
            <a:schemeClr val="bg1"/>
          </a:solidFill>
        </p:spPr>
        <p:txBody>
          <a:bodyPr wrap="square" lIns="0" tIns="91440" rIns="91440" bIns="91440" numCol="1" spcCol="1280160" rtlCol="0" anchor="t">
            <a:noAutofit/>
          </a:bodyPr>
          <a:lstStyle/>
          <a:p>
            <a:r>
              <a:rPr lang="en-US" sz="1400"/>
              <a:t>View your overall current and target maturity across AI capabilities</a:t>
            </a:r>
          </a:p>
          <a:p>
            <a:endParaRPr lang="en-US" sz="1200"/>
          </a:p>
        </p:txBody>
      </p:sp>
      <p:sp>
        <p:nvSpPr>
          <p:cNvPr id="16" name="TextBox 15">
            <a:extLst>
              <a:ext uri="{FF2B5EF4-FFF2-40B4-BE49-F238E27FC236}">
                <a16:creationId xmlns:a16="http://schemas.microsoft.com/office/drawing/2014/main" id="{D5320D51-7F9A-8402-1596-8F3F3B319524}"/>
              </a:ext>
            </a:extLst>
          </p:cNvPr>
          <p:cNvSpPr txBox="1"/>
          <p:nvPr>
            <p:custDataLst>
              <p:tags r:id="rId6"/>
            </p:custDataLst>
          </p:nvPr>
        </p:nvSpPr>
        <p:spPr>
          <a:xfrm>
            <a:off x="8246561" y="5183829"/>
            <a:ext cx="1080000" cy="276999"/>
          </a:xfrm>
          <a:prstGeom prst="rect">
            <a:avLst/>
          </a:prstGeom>
          <a:noFill/>
        </p:spPr>
        <p:txBody>
          <a:bodyPr wrap="square" lIns="0" rIns="0" rtlCol="0">
            <a:spAutoFit/>
          </a:bodyPr>
          <a:lstStyle/>
          <a:p>
            <a:pPr algn="l"/>
            <a:r>
              <a:rPr lang="en-US" sz="1200">
                <a:solidFill>
                  <a:srgbClr val="676767"/>
                </a:solidFill>
              </a:rPr>
              <a:t>Target Maturity</a:t>
            </a:r>
          </a:p>
        </p:txBody>
      </p:sp>
      <p:sp>
        <p:nvSpPr>
          <p:cNvPr id="18" name="TextBox 17">
            <a:extLst>
              <a:ext uri="{FF2B5EF4-FFF2-40B4-BE49-F238E27FC236}">
                <a16:creationId xmlns:a16="http://schemas.microsoft.com/office/drawing/2014/main" id="{FBC9B874-E561-80C1-97DC-7EB6B3F7F483}"/>
              </a:ext>
            </a:extLst>
          </p:cNvPr>
          <p:cNvSpPr txBox="1"/>
          <p:nvPr>
            <p:custDataLst>
              <p:tags r:id="rId7"/>
            </p:custDataLst>
          </p:nvPr>
        </p:nvSpPr>
        <p:spPr>
          <a:xfrm>
            <a:off x="6384871" y="5195371"/>
            <a:ext cx="1116000" cy="276999"/>
          </a:xfrm>
          <a:prstGeom prst="rect">
            <a:avLst/>
          </a:prstGeom>
          <a:noFill/>
        </p:spPr>
        <p:txBody>
          <a:bodyPr wrap="square" lIns="0" rIns="0" rtlCol="0">
            <a:spAutoFit/>
          </a:bodyPr>
          <a:lstStyle/>
          <a:p>
            <a:pPr algn="l"/>
            <a:r>
              <a:rPr lang="en-US" sz="1200">
                <a:solidFill>
                  <a:srgbClr val="676767"/>
                </a:solidFill>
              </a:rPr>
              <a:t>Current Maturity</a:t>
            </a:r>
          </a:p>
        </p:txBody>
      </p:sp>
      <p:sp>
        <p:nvSpPr>
          <p:cNvPr id="20" name="Rectangle 19">
            <a:extLst>
              <a:ext uri="{FF2B5EF4-FFF2-40B4-BE49-F238E27FC236}">
                <a16:creationId xmlns:a16="http://schemas.microsoft.com/office/drawing/2014/main" id="{725EDDCA-EDF4-5FA6-F3D5-F9110F971868}"/>
              </a:ext>
            </a:extLst>
          </p:cNvPr>
          <p:cNvSpPr/>
          <p:nvPr>
            <p:custDataLst>
              <p:tags r:id="rId8"/>
            </p:custDataLst>
          </p:nvPr>
        </p:nvSpPr>
        <p:spPr>
          <a:xfrm>
            <a:off x="6174000" y="5267360"/>
            <a:ext cx="136507" cy="136507"/>
          </a:xfrm>
          <a:prstGeom prst="rect">
            <a:avLst/>
          </a:prstGeom>
          <a:solidFill>
            <a:srgbClr val="002869"/>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 name="Rectangle 20">
            <a:extLst>
              <a:ext uri="{FF2B5EF4-FFF2-40B4-BE49-F238E27FC236}">
                <a16:creationId xmlns:a16="http://schemas.microsoft.com/office/drawing/2014/main" id="{094A783B-3B4C-9AAE-65CC-DC22A4F9C240}"/>
              </a:ext>
            </a:extLst>
          </p:cNvPr>
          <p:cNvSpPr/>
          <p:nvPr>
            <p:custDataLst>
              <p:tags r:id="rId9"/>
            </p:custDataLst>
          </p:nvPr>
        </p:nvSpPr>
        <p:spPr>
          <a:xfrm>
            <a:off x="8034387" y="5264333"/>
            <a:ext cx="136507" cy="136507"/>
          </a:xfrm>
          <a:prstGeom prst="rect">
            <a:avLst/>
          </a:prstGeom>
          <a:solidFill>
            <a:srgbClr val="1F9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aphicFrame>
        <p:nvGraphicFramePr>
          <p:cNvPr id="3" name="Chart 2" descr="SOURCE=[BULLET_OVERALL_CHART]&#10;">
            <a:extLst>
              <a:ext uri="{FF2B5EF4-FFF2-40B4-BE49-F238E27FC236}">
                <a16:creationId xmlns:a16="http://schemas.microsoft.com/office/drawing/2014/main" id="{126AE37E-33AF-93E9-957F-99990087B16A}"/>
              </a:ext>
            </a:extLst>
          </p:cNvPr>
          <p:cNvGraphicFramePr>
            <a:graphicFrameLocks noDrilldown="1"/>
          </p:cNvGraphicFramePr>
          <p:nvPr>
            <p:custDataLst>
              <p:tags r:id="rId10"/>
            </p:custDataLst>
            <p:extLst>
              <p:ext uri="{D42A27DB-BD31-4B8C-83A1-F6EECF244321}">
                <p14:modId xmlns:p14="http://schemas.microsoft.com/office/powerpoint/2010/main" val="2598526047"/>
              </p:ext>
            </p:extLst>
          </p:nvPr>
        </p:nvGraphicFramePr>
        <p:xfrm>
          <a:off x="2811822" y="1828800"/>
          <a:ext cx="8588849" cy="2379487"/>
        </p:xfrm>
        <a:graphic>
          <a:graphicData uri="http://schemas.openxmlformats.org/drawingml/2006/chart">
            <c:chart xmlns:c="http://schemas.openxmlformats.org/drawingml/2006/chart" xmlns:r="http://schemas.openxmlformats.org/officeDocument/2006/relationships" r:id="rId18"/>
          </a:graphicData>
        </a:graphic>
      </p:graphicFrame>
      <p:sp>
        <p:nvSpPr>
          <p:cNvPr id="5" name="TextBox 4">
            <a:extLst>
              <a:ext uri="{FF2B5EF4-FFF2-40B4-BE49-F238E27FC236}">
                <a16:creationId xmlns:a16="http://schemas.microsoft.com/office/drawing/2014/main" id="{5350C2F6-7A30-1E87-4C4C-161AFEA5810D}"/>
              </a:ext>
            </a:extLst>
          </p:cNvPr>
          <p:cNvSpPr txBox="1"/>
          <p:nvPr>
            <p:custDataLst>
              <p:tags r:id="rId11"/>
            </p:custDataLst>
          </p:nvPr>
        </p:nvSpPr>
        <p:spPr>
          <a:xfrm>
            <a:off x="1752599" y="2470327"/>
            <a:ext cx="1246815" cy="276999"/>
          </a:xfrm>
          <a:prstGeom prst="rect">
            <a:avLst/>
          </a:prstGeom>
          <a:noFill/>
        </p:spPr>
        <p:txBody>
          <a:bodyPr wrap="square" lIns="0" rIns="0" rtlCol="0" anchor="ctr">
            <a:spAutoFit/>
          </a:bodyPr>
          <a:lstStyle/>
          <a:p>
            <a:pPr algn="r"/>
            <a:r>
              <a:rPr lang="en-US" sz="1200">
                <a:solidFill>
                  <a:srgbClr val="3E3E3E"/>
                </a:solidFill>
                <a:latin typeface="Gartner Sans" panose="020B0504030402040204" pitchFamily="34" charset="0"/>
              </a:rPr>
              <a:t>Your Maturity</a:t>
            </a:r>
          </a:p>
        </p:txBody>
      </p:sp>
      <p:sp>
        <p:nvSpPr>
          <p:cNvPr id="6" name="TextBox 5">
            <a:extLst>
              <a:ext uri="{FF2B5EF4-FFF2-40B4-BE49-F238E27FC236}">
                <a16:creationId xmlns:a16="http://schemas.microsoft.com/office/drawing/2014/main" id="{B67043F3-5002-C1B0-3969-1BB4DA8D53E6}"/>
              </a:ext>
            </a:extLst>
          </p:cNvPr>
          <p:cNvSpPr txBox="1"/>
          <p:nvPr>
            <p:custDataLst>
              <p:tags r:id="rId12"/>
            </p:custDataLst>
          </p:nvPr>
        </p:nvSpPr>
        <p:spPr>
          <a:xfrm>
            <a:off x="1923835" y="3168553"/>
            <a:ext cx="1061922" cy="276999"/>
          </a:xfrm>
          <a:prstGeom prst="rect">
            <a:avLst/>
          </a:prstGeom>
          <a:noFill/>
        </p:spPr>
        <p:txBody>
          <a:bodyPr wrap="square" lIns="0" rIns="0" rtlCol="0" anchor="ctr">
            <a:spAutoFit/>
          </a:bodyPr>
          <a:lstStyle/>
          <a:p>
            <a:pPr algn="r">
              <a:spcBef>
                <a:spcPts val="600"/>
              </a:spcBef>
            </a:pPr>
            <a:r>
              <a:rPr lang="en-US" sz="1200">
                <a:solidFill>
                  <a:srgbClr val="3E3E3E"/>
                </a:solidFill>
                <a:latin typeface="Gartner Sans" panose="020B0504030402040204" pitchFamily="34" charset="0"/>
              </a:rPr>
              <a:t>Peers’ Maturity</a:t>
            </a:r>
          </a:p>
        </p:txBody>
      </p:sp>
      <p:sp>
        <p:nvSpPr>
          <p:cNvPr id="8" name="TextBox 7">
            <a:extLst>
              <a:ext uri="{FF2B5EF4-FFF2-40B4-BE49-F238E27FC236}">
                <a16:creationId xmlns:a16="http://schemas.microsoft.com/office/drawing/2014/main" id="{6A0E9E3D-FFD4-B4EE-0157-3FB74A517F72}"/>
              </a:ext>
            </a:extLst>
          </p:cNvPr>
          <p:cNvSpPr txBox="1"/>
          <p:nvPr>
            <p:custDataLst>
              <p:tags r:id="rId13"/>
            </p:custDataLst>
          </p:nvPr>
        </p:nvSpPr>
        <p:spPr>
          <a:xfrm>
            <a:off x="631804" y="6200611"/>
            <a:ext cx="11298831" cy="153888"/>
          </a:xfrm>
          <a:prstGeom prst="rect">
            <a:avLst/>
          </a:prstGeom>
          <a:noFill/>
        </p:spPr>
        <p:txBody>
          <a:bodyPr wrap="square" lIns="0" tIns="0" rIns="0" bIns="0">
            <a:spAutoFit/>
          </a:bodyPr>
          <a:lstStyle/>
          <a:p>
            <a:r>
              <a:rPr lang="en-US" sz="1000" i="0" u="none" strike="noStrike">
                <a:solidFill>
                  <a:srgbClr val="000000"/>
                </a:solidFill>
                <a:effectLst/>
                <a:latin typeface="Gartner Sans" panose="020B0504030402040204" pitchFamily="34" charset="0"/>
                <a:ea typeface="Roboto" panose="02000000000000000000" pitchFamily="2" charset="0"/>
                <a:cs typeface="Roboto" panose="02000000000000000000" pitchFamily="2" charset="0"/>
              </a:rPr>
              <a:t>Benchmark comparison group: </a:t>
            </a:r>
            <a:r>
              <a:rPr lang="en-US" sz="1000">
                <a:solidFill>
                  <a:srgbClr val="000000"/>
                </a:solidFill>
                <a:latin typeface="Gartner Sans" panose="020B0504030402040204" pitchFamily="34" charset="0"/>
                <a:ea typeface="Roboto" panose="02000000000000000000" pitchFamily="2" charset="0"/>
                <a:cs typeface="Roboto" panose="02000000000000000000" pitchFamily="2" charset="0"/>
              </a:rPr>
              <a:t>All participating respondents</a:t>
            </a:r>
            <a:endParaRPr lang="en-US" sz="1000" i="0" u="none" strike="noStrike">
              <a:solidFill>
                <a:srgbClr val="000000"/>
              </a:solidFill>
              <a:effectLst/>
              <a:latin typeface="Gartner Sans" panose="020B0504030402040204" pitchFamily="34" charset="0"/>
              <a:ea typeface="Roboto" panose="02000000000000000000" pitchFamily="2" charset="0"/>
              <a:cs typeface="Roboto" panose="02000000000000000000" pitchFamily="2" charset="0"/>
            </a:endParaRPr>
          </a:p>
        </p:txBody>
      </p:sp>
      <p:sp>
        <p:nvSpPr>
          <p:cNvPr id="9" name="Flowchart: Connector 8">
            <a:extLst>
              <a:ext uri="{FF2B5EF4-FFF2-40B4-BE49-F238E27FC236}">
                <a16:creationId xmlns:a16="http://schemas.microsoft.com/office/drawing/2014/main" id="{47FF9FED-8E8E-312F-31F8-C33DAFA1417B}"/>
              </a:ext>
            </a:extLst>
          </p:cNvPr>
          <p:cNvSpPr/>
          <p:nvPr>
            <p:custDataLst>
              <p:tags r:id="rId14"/>
            </p:custDataLst>
          </p:nvPr>
        </p:nvSpPr>
        <p:spPr>
          <a:xfrm>
            <a:off x="631804" y="2575778"/>
            <a:ext cx="914400" cy="914400"/>
          </a:xfrm>
          <a:prstGeom prst="flowChartConnector">
            <a:avLst/>
          </a:prstGeom>
          <a:solidFill>
            <a:srgbClr val="0F275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800"/>
          </a:p>
        </p:txBody>
      </p:sp>
      <p:sp>
        <p:nvSpPr>
          <p:cNvPr id="10" name="TextBox 9">
            <a:extLst>
              <a:ext uri="{FF2B5EF4-FFF2-40B4-BE49-F238E27FC236}">
                <a16:creationId xmlns:a16="http://schemas.microsoft.com/office/drawing/2014/main" id="{CFCD6D51-8674-450E-8049-1900AB14149B}"/>
              </a:ext>
            </a:extLst>
          </p:cNvPr>
          <p:cNvSpPr txBox="1"/>
          <p:nvPr>
            <p:custDataLst>
              <p:tags r:id="rId15"/>
            </p:custDataLst>
          </p:nvPr>
        </p:nvSpPr>
        <p:spPr>
          <a:xfrm>
            <a:off x="708551" y="2782669"/>
            <a:ext cx="747522" cy="487680"/>
          </a:xfrm>
          <a:prstGeom prst="rect">
            <a:avLst/>
          </a:prstGeom>
          <a:noFill/>
        </p:spPr>
        <p:txBody>
          <a:bodyPr wrap="square" lIns="0" rIns="0" rtlCol="0">
            <a:spAutoFit/>
          </a:bodyPr>
          <a:lstStyle/>
          <a:p>
            <a:pPr algn="ctr"/>
            <a:r>
              <a:rPr lang="en-US" sz="2600" b="1">
                <a:solidFill>
                  <a:schemeClr val="bg1"/>
                </a:solidFill>
              </a:rPr>
              <a:t>1.1</a:t>
            </a:r>
            <a:endParaRPr lang="en-US" sz="2600" b="1" baseline="26000">
              <a:solidFill>
                <a:schemeClr val="bg1"/>
              </a:solidFill>
            </a:endParaRPr>
          </a:p>
        </p:txBody>
      </p:sp>
    </p:spTree>
    <p:extLst>
      <p:ext uri="{BB962C8B-B14F-4D97-AF65-F5344CB8AC3E}">
        <p14:creationId xmlns:p14="http://schemas.microsoft.com/office/powerpoint/2010/main" val="426588678"/>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F12A6-5E59-5366-C095-31C52FF2766D}"/>
            </a:ext>
          </a:extLst>
        </p:cNvPr>
        <p:cNvGrpSpPr/>
        <p:nvPr/>
      </p:nvGrpSpPr>
      <p:grpSpPr>
        <a:xfrm>
          <a:off x="0" y="0"/>
          <a:ext cx="0" cy="0"/>
          <a:chOff x="0" y="0"/>
          <a:chExt cx="0" cy="0"/>
        </a:xfrm>
      </p:grpSpPr>
      <p:cxnSp>
        <p:nvCxnSpPr>
          <p:cNvPr id="33" name="Straight Connector 1">
            <a:extLst>
              <a:ext uri="{FF2B5EF4-FFF2-40B4-BE49-F238E27FC236}">
                <a16:creationId xmlns:a16="http://schemas.microsoft.com/office/drawing/2014/main" id="{A189F8C9-9D75-C329-8919-710F11845219}"/>
              </a:ext>
            </a:extLst>
          </p:cNvPr>
          <p:cNvCxnSpPr/>
          <p:nvPr>
            <p:custDataLst>
              <p:tags r:id="rId1"/>
            </p:custDataLst>
          </p:nvPr>
        </p:nvCxnSpPr>
        <p:spPr>
          <a:xfrm flipH="1" flipV="1">
            <a:off x="3556682" y="1744292"/>
            <a:ext cx="7344000" cy="3600"/>
          </a:xfrm>
          <a:prstGeom prst="line">
            <a:avLst/>
          </a:prstGeom>
          <a:noFill/>
          <a:ln w="12700" cap="flat" cmpd="sng">
            <a:solidFill>
              <a:srgbClr val="BBCAD3"/>
            </a:solidFill>
            <a:prstDash val="solid"/>
            <a:round/>
            <a:headEnd type="none" w="lg" len="med"/>
            <a:tailEnd type="none" w="lg" len="med"/>
          </a:ln>
        </p:spPr>
      </p:cxnSp>
      <p:cxnSp>
        <p:nvCxnSpPr>
          <p:cNvPr id="34" name="Straight Connector 1">
            <a:extLst>
              <a:ext uri="{FF2B5EF4-FFF2-40B4-BE49-F238E27FC236}">
                <a16:creationId xmlns:a16="http://schemas.microsoft.com/office/drawing/2014/main" id="{CF6F8F92-7179-3538-05A0-9D2A72DC500E}"/>
              </a:ext>
            </a:extLst>
          </p:cNvPr>
          <p:cNvCxnSpPr/>
          <p:nvPr>
            <p:custDataLst>
              <p:tags r:id="rId2"/>
            </p:custDataLst>
          </p:nvPr>
        </p:nvCxnSpPr>
        <p:spPr>
          <a:xfrm flipH="1" flipV="1">
            <a:off x="3556682" y="2293743"/>
            <a:ext cx="7344000" cy="3600"/>
          </a:xfrm>
          <a:prstGeom prst="line">
            <a:avLst/>
          </a:prstGeom>
          <a:noFill/>
          <a:ln w="12700" cap="flat" cmpd="sng">
            <a:solidFill>
              <a:srgbClr val="BBCAD3"/>
            </a:solidFill>
            <a:prstDash val="solid"/>
            <a:round/>
            <a:headEnd type="none" w="lg" len="med"/>
            <a:tailEnd type="none" w="lg" len="med"/>
          </a:ln>
        </p:spPr>
      </p:cxnSp>
      <p:cxnSp>
        <p:nvCxnSpPr>
          <p:cNvPr id="41" name="Straight Connector 1">
            <a:extLst>
              <a:ext uri="{FF2B5EF4-FFF2-40B4-BE49-F238E27FC236}">
                <a16:creationId xmlns:a16="http://schemas.microsoft.com/office/drawing/2014/main" id="{45E43B7A-4837-89C2-37EF-0B1CB5BBA347}"/>
              </a:ext>
            </a:extLst>
          </p:cNvPr>
          <p:cNvCxnSpPr/>
          <p:nvPr>
            <p:custDataLst>
              <p:tags r:id="rId3"/>
            </p:custDataLst>
          </p:nvPr>
        </p:nvCxnSpPr>
        <p:spPr>
          <a:xfrm flipH="1" flipV="1">
            <a:off x="3556682" y="2927024"/>
            <a:ext cx="7344000" cy="3600"/>
          </a:xfrm>
          <a:prstGeom prst="line">
            <a:avLst/>
          </a:prstGeom>
          <a:noFill/>
          <a:ln w="12700" cap="flat" cmpd="sng">
            <a:solidFill>
              <a:srgbClr val="BBCAD3"/>
            </a:solidFill>
            <a:prstDash val="solid"/>
            <a:round/>
            <a:headEnd type="none" w="lg" len="med"/>
            <a:tailEnd type="none" w="lg" len="med"/>
          </a:ln>
        </p:spPr>
      </p:cxnSp>
      <p:cxnSp>
        <p:nvCxnSpPr>
          <p:cNvPr id="42" name="Straight Connector 1">
            <a:extLst>
              <a:ext uri="{FF2B5EF4-FFF2-40B4-BE49-F238E27FC236}">
                <a16:creationId xmlns:a16="http://schemas.microsoft.com/office/drawing/2014/main" id="{F99960B4-C70C-3159-6987-A198FDDEB80C}"/>
              </a:ext>
            </a:extLst>
          </p:cNvPr>
          <p:cNvCxnSpPr/>
          <p:nvPr>
            <p:custDataLst>
              <p:tags r:id="rId4"/>
            </p:custDataLst>
          </p:nvPr>
        </p:nvCxnSpPr>
        <p:spPr>
          <a:xfrm flipH="1" flipV="1">
            <a:off x="3556682" y="3476475"/>
            <a:ext cx="7344000" cy="3600"/>
          </a:xfrm>
          <a:prstGeom prst="line">
            <a:avLst/>
          </a:prstGeom>
          <a:noFill/>
          <a:ln w="12700" cap="flat" cmpd="sng">
            <a:solidFill>
              <a:srgbClr val="BBCAD3"/>
            </a:solidFill>
            <a:prstDash val="solid"/>
            <a:round/>
            <a:headEnd type="none" w="lg" len="med"/>
            <a:tailEnd type="none" w="lg" len="med"/>
          </a:ln>
        </p:spPr>
      </p:cxnSp>
      <p:cxnSp>
        <p:nvCxnSpPr>
          <p:cNvPr id="50" name="Straight Connector 1">
            <a:extLst>
              <a:ext uri="{FF2B5EF4-FFF2-40B4-BE49-F238E27FC236}">
                <a16:creationId xmlns:a16="http://schemas.microsoft.com/office/drawing/2014/main" id="{446B94AF-243B-C615-E43F-004C90A71F39}"/>
              </a:ext>
            </a:extLst>
          </p:cNvPr>
          <p:cNvCxnSpPr/>
          <p:nvPr>
            <p:custDataLst>
              <p:tags r:id="rId5"/>
            </p:custDataLst>
          </p:nvPr>
        </p:nvCxnSpPr>
        <p:spPr>
          <a:xfrm flipH="1" flipV="1">
            <a:off x="3556682" y="4159570"/>
            <a:ext cx="7344000" cy="3600"/>
          </a:xfrm>
          <a:prstGeom prst="line">
            <a:avLst/>
          </a:prstGeom>
          <a:noFill/>
          <a:ln w="12700" cap="flat" cmpd="sng">
            <a:solidFill>
              <a:srgbClr val="BBCAD3"/>
            </a:solidFill>
            <a:prstDash val="solid"/>
            <a:round/>
            <a:headEnd type="none" w="lg" len="med"/>
            <a:tailEnd type="none" w="lg" len="med"/>
          </a:ln>
        </p:spPr>
      </p:cxnSp>
      <p:cxnSp>
        <p:nvCxnSpPr>
          <p:cNvPr id="51" name="Straight Connector 1">
            <a:extLst>
              <a:ext uri="{FF2B5EF4-FFF2-40B4-BE49-F238E27FC236}">
                <a16:creationId xmlns:a16="http://schemas.microsoft.com/office/drawing/2014/main" id="{77524C9C-AB1D-B49C-A700-787A1669DA00}"/>
              </a:ext>
            </a:extLst>
          </p:cNvPr>
          <p:cNvCxnSpPr/>
          <p:nvPr>
            <p:custDataLst>
              <p:tags r:id="rId6"/>
            </p:custDataLst>
          </p:nvPr>
        </p:nvCxnSpPr>
        <p:spPr>
          <a:xfrm flipH="1" flipV="1">
            <a:off x="3556682" y="4709021"/>
            <a:ext cx="7344000" cy="3600"/>
          </a:xfrm>
          <a:prstGeom prst="line">
            <a:avLst/>
          </a:prstGeom>
          <a:noFill/>
          <a:ln w="12700" cap="flat" cmpd="sng">
            <a:solidFill>
              <a:srgbClr val="BBCAD3"/>
            </a:solidFill>
            <a:prstDash val="solid"/>
            <a:round/>
            <a:headEnd type="none" w="lg" len="med"/>
            <a:tailEnd type="none" w="lg" len="med"/>
          </a:ln>
        </p:spPr>
      </p:cxnSp>
      <p:cxnSp>
        <p:nvCxnSpPr>
          <p:cNvPr id="52" name="Straight Connector 1">
            <a:extLst>
              <a:ext uri="{FF2B5EF4-FFF2-40B4-BE49-F238E27FC236}">
                <a16:creationId xmlns:a16="http://schemas.microsoft.com/office/drawing/2014/main" id="{FD37EB16-6C94-87D2-39A7-B4F72A7989A4}"/>
              </a:ext>
            </a:extLst>
          </p:cNvPr>
          <p:cNvCxnSpPr/>
          <p:nvPr>
            <p:custDataLst>
              <p:tags r:id="rId7"/>
            </p:custDataLst>
          </p:nvPr>
        </p:nvCxnSpPr>
        <p:spPr>
          <a:xfrm flipH="1" flipV="1">
            <a:off x="3556682" y="5359018"/>
            <a:ext cx="7344000" cy="3600"/>
          </a:xfrm>
          <a:prstGeom prst="line">
            <a:avLst/>
          </a:prstGeom>
          <a:noFill/>
          <a:ln w="12700" cap="flat" cmpd="sng">
            <a:solidFill>
              <a:srgbClr val="BBCAD3"/>
            </a:solidFill>
            <a:prstDash val="solid"/>
            <a:round/>
            <a:headEnd type="none" w="lg" len="med"/>
            <a:tailEnd type="none" w="lg" len="med"/>
          </a:ln>
        </p:spPr>
      </p:cxnSp>
      <p:cxnSp>
        <p:nvCxnSpPr>
          <p:cNvPr id="55" name="Straight Connector 1">
            <a:extLst>
              <a:ext uri="{FF2B5EF4-FFF2-40B4-BE49-F238E27FC236}">
                <a16:creationId xmlns:a16="http://schemas.microsoft.com/office/drawing/2014/main" id="{B577CDDD-AF90-96AB-C9E6-A9164D2A0BEF}"/>
              </a:ext>
            </a:extLst>
          </p:cNvPr>
          <p:cNvCxnSpPr/>
          <p:nvPr>
            <p:custDataLst>
              <p:tags r:id="rId8"/>
            </p:custDataLst>
          </p:nvPr>
        </p:nvCxnSpPr>
        <p:spPr>
          <a:xfrm flipH="1" flipV="1">
            <a:off x="3556682" y="5908469"/>
            <a:ext cx="7344000" cy="3600"/>
          </a:xfrm>
          <a:prstGeom prst="line">
            <a:avLst/>
          </a:prstGeom>
          <a:noFill/>
          <a:ln w="12700" cap="flat" cmpd="sng">
            <a:solidFill>
              <a:srgbClr val="BBCAD3"/>
            </a:solidFill>
            <a:prstDash val="solid"/>
            <a:round/>
            <a:headEnd type="none" w="lg" len="med"/>
            <a:tailEnd type="none" w="lg" len="med"/>
          </a:ln>
        </p:spPr>
      </p:cxnSp>
      <p:sp>
        <p:nvSpPr>
          <p:cNvPr id="4" name="Title 1">
            <a:extLst>
              <a:ext uri="{FF2B5EF4-FFF2-40B4-BE49-F238E27FC236}">
                <a16:creationId xmlns:a16="http://schemas.microsoft.com/office/drawing/2014/main" id="{B9888B8C-1ED4-80C8-5B78-DA1E1172D1A2}"/>
              </a:ext>
            </a:extLst>
          </p:cNvPr>
          <p:cNvSpPr>
            <a:spLocks noGrp="1"/>
          </p:cNvSpPr>
          <p:nvPr>
            <p:ph type="title"/>
            <p:custDataLst>
              <p:tags r:id="rId9"/>
            </p:custDataLst>
          </p:nvPr>
        </p:nvSpPr>
        <p:spPr bwMode="gray">
          <a:xfrm>
            <a:off x="536400" y="187200"/>
            <a:ext cx="11274552" cy="451231"/>
          </a:xfrm>
        </p:spPr>
        <p:txBody>
          <a:bodyPr vert="horz" lIns="0" tIns="0" rIns="0" bIns="0" rtlCol="0" anchor="t" anchorCtr="0">
            <a:noAutofit/>
          </a:bodyPr>
          <a:lstStyle/>
          <a:p>
            <a:r>
              <a:rPr lang="en-US" sz="2400">
                <a:solidFill>
                  <a:srgbClr val="002856"/>
                </a:solidFill>
                <a:latin typeface="+mn-lt"/>
                <a:ea typeface="+mn-ea"/>
                <a:cs typeface="+mn-cs"/>
              </a:rPr>
              <a:t>Your AI Maturity by Capability</a:t>
            </a:r>
          </a:p>
        </p:txBody>
      </p:sp>
      <p:sp>
        <p:nvSpPr>
          <p:cNvPr id="5" name="Title 1">
            <a:extLst>
              <a:ext uri="{FF2B5EF4-FFF2-40B4-BE49-F238E27FC236}">
                <a16:creationId xmlns:a16="http://schemas.microsoft.com/office/drawing/2014/main" id="{9E2A61B7-F1B9-AA45-72B6-CC4EFC50C31D}"/>
              </a:ext>
            </a:extLst>
          </p:cNvPr>
          <p:cNvSpPr txBox="1"/>
          <p:nvPr>
            <p:custDataLst>
              <p:tags r:id="rId10"/>
            </p:custDataLst>
          </p:nvPr>
        </p:nvSpPr>
        <p:spPr bwMode="gray">
          <a:xfrm>
            <a:off x="536400" y="612124"/>
            <a:ext cx="10875092" cy="303856"/>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spcAft>
                <a:spcPts val="1200"/>
              </a:spcAft>
              <a:buNone/>
              <a:defRPr sz="3200" kern="1200">
                <a:solidFill>
                  <a:schemeClr val="tx2"/>
                </a:solidFill>
                <a:latin typeface="+mj-lt"/>
                <a:ea typeface="+mj-ea"/>
                <a:cs typeface="+mj-cs"/>
              </a:defRPr>
            </a:lvl1pPr>
          </a:lstStyle>
          <a:p>
            <a:r>
              <a:rPr lang="en-US" sz="1400">
                <a:solidFill>
                  <a:schemeClr val="tx1"/>
                </a:solidFill>
                <a:latin typeface="+mn-lt"/>
                <a:ea typeface="+mn-ea"/>
                <a:cs typeface="+mn-cs"/>
              </a:rPr>
              <a:t>Use this chart to assess how far you sit from your target maturity level across seven capabilities.</a:t>
            </a:r>
          </a:p>
        </p:txBody>
      </p:sp>
      <p:grpSp>
        <p:nvGrpSpPr>
          <p:cNvPr id="2" name="Group 1">
            <a:extLst>
              <a:ext uri="{FF2B5EF4-FFF2-40B4-BE49-F238E27FC236}">
                <a16:creationId xmlns:a16="http://schemas.microsoft.com/office/drawing/2014/main" id="{CA85488E-E61A-BBD3-99C7-4597E4B56CFA}"/>
              </a:ext>
            </a:extLst>
          </p:cNvPr>
          <p:cNvGrpSpPr/>
          <p:nvPr>
            <p:custDataLst>
              <p:tags r:id="rId11"/>
            </p:custDataLst>
          </p:nvPr>
        </p:nvGrpSpPr>
        <p:grpSpPr>
          <a:xfrm>
            <a:off x="966503" y="1074475"/>
            <a:ext cx="2166003" cy="219236"/>
            <a:chOff x="3884227" y="8402296"/>
            <a:chExt cx="2166003" cy="219236"/>
          </a:xfrm>
        </p:grpSpPr>
        <p:sp>
          <p:nvSpPr>
            <p:cNvPr id="3" name="TextBox 58">
              <a:extLst>
                <a:ext uri="{FF2B5EF4-FFF2-40B4-BE49-F238E27FC236}">
                  <a16:creationId xmlns:a16="http://schemas.microsoft.com/office/drawing/2014/main" id="{AD4F0D14-2F4E-DF74-42D9-810B1D3D4C82}"/>
                </a:ext>
              </a:extLst>
            </p:cNvPr>
            <p:cNvSpPr txBox="1"/>
            <p:nvPr>
              <p:custDataLst>
                <p:tags r:id="rId40"/>
              </p:custDataLst>
            </p:nvPr>
          </p:nvSpPr>
          <p:spPr>
            <a:xfrm>
              <a:off x="4029201" y="8406088"/>
              <a:ext cx="1005125" cy="21544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panose="020B0604020202020204" pitchFamily="34" charset="0"/>
                </a:rPr>
                <a:t>Current Maturity</a:t>
              </a:r>
            </a:p>
          </p:txBody>
        </p:sp>
        <p:sp>
          <p:nvSpPr>
            <p:cNvPr id="9" name="TextBox 59">
              <a:extLst>
                <a:ext uri="{FF2B5EF4-FFF2-40B4-BE49-F238E27FC236}">
                  <a16:creationId xmlns:a16="http://schemas.microsoft.com/office/drawing/2014/main" id="{8CAFF62C-7A19-4A20-1A59-613A2582FF28}"/>
                </a:ext>
              </a:extLst>
            </p:cNvPr>
            <p:cNvSpPr txBox="1"/>
            <p:nvPr>
              <p:custDataLst>
                <p:tags r:id="rId41"/>
              </p:custDataLst>
            </p:nvPr>
          </p:nvSpPr>
          <p:spPr>
            <a:xfrm>
              <a:off x="5169038" y="8402296"/>
              <a:ext cx="881192" cy="21544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panose="020B0604020202020204" pitchFamily="34" charset="0"/>
                </a:rPr>
                <a:t>Target Maturity</a:t>
              </a:r>
            </a:p>
          </p:txBody>
        </p:sp>
        <p:sp>
          <p:nvSpPr>
            <p:cNvPr id="10" name="Rectangle 9">
              <a:extLst>
                <a:ext uri="{FF2B5EF4-FFF2-40B4-BE49-F238E27FC236}">
                  <a16:creationId xmlns:a16="http://schemas.microsoft.com/office/drawing/2014/main" id="{82DBE5F3-0EE6-B098-A2FF-6C65ADFCA497}"/>
                </a:ext>
              </a:extLst>
            </p:cNvPr>
            <p:cNvSpPr/>
            <p:nvPr>
              <p:custDataLst>
                <p:tags r:id="rId42"/>
              </p:custDataLst>
            </p:nvPr>
          </p:nvSpPr>
          <p:spPr>
            <a:xfrm>
              <a:off x="3884227" y="8444792"/>
              <a:ext cx="136507" cy="136507"/>
            </a:xfrm>
            <a:prstGeom prst="rect">
              <a:avLst/>
            </a:prstGeom>
            <a:solidFill>
              <a:srgbClr val="0028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 name="Rectangle 10">
              <a:extLst>
                <a:ext uri="{FF2B5EF4-FFF2-40B4-BE49-F238E27FC236}">
                  <a16:creationId xmlns:a16="http://schemas.microsoft.com/office/drawing/2014/main" id="{DD85FA97-46FF-4D56-38E5-3897D576837E}"/>
                </a:ext>
              </a:extLst>
            </p:cNvPr>
            <p:cNvSpPr/>
            <p:nvPr>
              <p:custDataLst>
                <p:tags r:id="rId43"/>
              </p:custDataLst>
            </p:nvPr>
          </p:nvSpPr>
          <p:spPr>
            <a:xfrm>
              <a:off x="5034326" y="8441765"/>
              <a:ext cx="136507" cy="136507"/>
            </a:xfrm>
            <a:prstGeom prst="rect">
              <a:avLst/>
            </a:prstGeom>
            <a:solidFill>
              <a:srgbClr val="1F9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aphicFrame>
        <p:nvGraphicFramePr>
          <p:cNvPr id="6" name="Chart 5" descr="SOURCE=[BULLET_AI_STRATEGY]&#10;HIDE-IF=AND([C_T1_1]=&quot;N/A&quot;,[T_T1_1]=&quot;N/A&quot;)&#10;">
            <a:extLst>
              <a:ext uri="{FF2B5EF4-FFF2-40B4-BE49-F238E27FC236}">
                <a16:creationId xmlns:a16="http://schemas.microsoft.com/office/drawing/2014/main" id="{C38CBAFE-8F92-BC4E-CB4C-9651C1B8A8DB}"/>
              </a:ext>
            </a:extLst>
          </p:cNvPr>
          <p:cNvGraphicFramePr>
            <a:graphicFrameLocks noDrilldown="1"/>
          </p:cNvGraphicFramePr>
          <p:nvPr>
            <p:custDataLst>
              <p:tags r:id="rId12"/>
            </p:custDataLst>
            <p:extLst>
              <p:ext uri="{D42A27DB-BD31-4B8C-83A1-F6EECF244321}">
                <p14:modId xmlns:p14="http://schemas.microsoft.com/office/powerpoint/2010/main" val="3921430788"/>
              </p:ext>
            </p:extLst>
          </p:nvPr>
        </p:nvGraphicFramePr>
        <p:xfrm>
          <a:off x="3274778" y="1116911"/>
          <a:ext cx="8153258" cy="1874842"/>
        </p:xfrm>
        <a:graphic>
          <a:graphicData uri="http://schemas.openxmlformats.org/drawingml/2006/chart">
            <c:chart xmlns:c="http://schemas.openxmlformats.org/drawingml/2006/chart" xmlns:r="http://schemas.openxmlformats.org/officeDocument/2006/relationships" r:id="rId46"/>
          </a:graphicData>
        </a:graphic>
      </p:graphicFrame>
      <p:graphicFrame>
        <p:nvGraphicFramePr>
          <p:cNvPr id="18" name="Chart 17" descr="SOURCE=[BULLET_AI_VALUE]&#10;HIDE-IF=AND([C_T1_2]=&quot;N/A&quot;,[T_T1_2]=&quot;N/A&quot;)&#10;">
            <a:extLst>
              <a:ext uri="{FF2B5EF4-FFF2-40B4-BE49-F238E27FC236}">
                <a16:creationId xmlns:a16="http://schemas.microsoft.com/office/drawing/2014/main" id="{760214AB-E205-5B18-00C8-EDEAD5F45DE3}"/>
              </a:ext>
            </a:extLst>
          </p:cNvPr>
          <p:cNvGraphicFramePr>
            <a:graphicFrameLocks noDrilldown="1"/>
          </p:cNvGraphicFramePr>
          <p:nvPr>
            <p:custDataLst>
              <p:tags r:id="rId13"/>
            </p:custDataLst>
            <p:extLst>
              <p:ext uri="{D42A27DB-BD31-4B8C-83A1-F6EECF244321}">
                <p14:modId xmlns:p14="http://schemas.microsoft.com/office/powerpoint/2010/main" val="3594447912"/>
              </p:ext>
            </p:extLst>
          </p:nvPr>
        </p:nvGraphicFramePr>
        <p:xfrm>
          <a:off x="3274778" y="2306652"/>
          <a:ext cx="8153258" cy="1874842"/>
        </p:xfrm>
        <a:graphic>
          <a:graphicData uri="http://schemas.openxmlformats.org/drawingml/2006/chart">
            <c:chart xmlns:c="http://schemas.openxmlformats.org/drawingml/2006/chart" xmlns:r="http://schemas.openxmlformats.org/officeDocument/2006/relationships" r:id="rId47"/>
          </a:graphicData>
        </a:graphic>
      </p:graphicFrame>
      <p:graphicFrame>
        <p:nvGraphicFramePr>
          <p:cNvPr id="19" name="Chart 18" descr="SOURCE=[BULLET_AI_ORG]&#10;HIDE-IF=AND([C_T1_3]=&quot;N/A&quot;,[T_T1_3]=&quot;N/A&quot;)&#10;">
            <a:extLst>
              <a:ext uri="{FF2B5EF4-FFF2-40B4-BE49-F238E27FC236}">
                <a16:creationId xmlns:a16="http://schemas.microsoft.com/office/drawing/2014/main" id="{D11FCA86-64EF-27E4-88D6-76EC3C2E4A6C}"/>
              </a:ext>
            </a:extLst>
          </p:cNvPr>
          <p:cNvGraphicFramePr>
            <a:graphicFrameLocks noDrilldown="1"/>
          </p:cNvGraphicFramePr>
          <p:nvPr>
            <p:custDataLst>
              <p:tags r:id="rId14"/>
            </p:custDataLst>
            <p:extLst>
              <p:ext uri="{D42A27DB-BD31-4B8C-83A1-F6EECF244321}">
                <p14:modId xmlns:p14="http://schemas.microsoft.com/office/powerpoint/2010/main" val="400729895"/>
              </p:ext>
            </p:extLst>
          </p:nvPr>
        </p:nvGraphicFramePr>
        <p:xfrm>
          <a:off x="3274778" y="3530939"/>
          <a:ext cx="8153258" cy="1874842"/>
        </p:xfrm>
        <a:graphic>
          <a:graphicData uri="http://schemas.openxmlformats.org/drawingml/2006/chart">
            <c:chart xmlns:c="http://schemas.openxmlformats.org/drawingml/2006/chart" xmlns:r="http://schemas.openxmlformats.org/officeDocument/2006/relationships" r:id="rId48"/>
          </a:graphicData>
        </a:graphic>
      </p:graphicFrame>
      <p:graphicFrame>
        <p:nvGraphicFramePr>
          <p:cNvPr id="20" name="Chart 19" descr="SOURCE=[BULLET_AI_PEOPLE_AND_CULTURE]&#10;HIDE-IF=AND([C_T1_4]=&quot;N/A&quot;,[T_T1_4]=&quot;N/A&quot;)&#10;">
            <a:extLst>
              <a:ext uri="{FF2B5EF4-FFF2-40B4-BE49-F238E27FC236}">
                <a16:creationId xmlns:a16="http://schemas.microsoft.com/office/drawing/2014/main" id="{317D225A-9BCF-7151-9436-C103EDDE6313}"/>
              </a:ext>
            </a:extLst>
          </p:cNvPr>
          <p:cNvGraphicFramePr>
            <a:graphicFrameLocks noDrilldown="1"/>
          </p:cNvGraphicFramePr>
          <p:nvPr>
            <p:custDataLst>
              <p:tags r:id="rId15"/>
            </p:custDataLst>
            <p:extLst>
              <p:ext uri="{D42A27DB-BD31-4B8C-83A1-F6EECF244321}">
                <p14:modId xmlns:p14="http://schemas.microsoft.com/office/powerpoint/2010/main" val="1041252086"/>
              </p:ext>
            </p:extLst>
          </p:nvPr>
        </p:nvGraphicFramePr>
        <p:xfrm>
          <a:off x="3274778" y="4740254"/>
          <a:ext cx="8153258" cy="1874842"/>
        </p:xfrm>
        <a:graphic>
          <a:graphicData uri="http://schemas.openxmlformats.org/drawingml/2006/chart">
            <c:chart xmlns:c="http://schemas.openxmlformats.org/drawingml/2006/chart" xmlns:r="http://schemas.openxmlformats.org/officeDocument/2006/relationships" r:id="rId49"/>
          </a:graphicData>
        </a:graphic>
      </p:graphicFrame>
      <p:sp>
        <p:nvSpPr>
          <p:cNvPr id="21" name="TextBox 20" descr="FILLCOLOR-IF=AND([C_T1_1]=&quot;N/A&quot;,[T_T1_1]=&quot;N/A&quot;),#FFFFF7&#10;FONTCOLOR-IF=AND([C_T1_1]=&quot;N/A&quot;,[T_T1_1]=&quot;N/A&quot;),#7F7F7F">
            <a:extLst>
              <a:ext uri="{FF2B5EF4-FFF2-40B4-BE49-F238E27FC236}">
                <a16:creationId xmlns:a16="http://schemas.microsoft.com/office/drawing/2014/main" id="{D9E82EB7-C307-C47F-82E9-F95BE72D265F}"/>
              </a:ext>
            </a:extLst>
          </p:cNvPr>
          <p:cNvSpPr txBox="1"/>
          <p:nvPr>
            <p:custDataLst>
              <p:tags r:id="rId16"/>
            </p:custDataLst>
          </p:nvPr>
        </p:nvSpPr>
        <p:spPr>
          <a:xfrm>
            <a:off x="808354" y="1817696"/>
            <a:ext cx="1800000" cy="307777"/>
          </a:xfrm>
          <a:prstGeom prst="rect">
            <a:avLst/>
          </a:prstGeom>
          <a:noFill/>
        </p:spPr>
        <p:txBody>
          <a:bodyPr wrap="square">
            <a:spAutoFit/>
          </a:bodyPr>
          <a:lstStyle/>
          <a:p>
            <a:r>
              <a:rPr lang="en-IN" sz="1400"/>
              <a:t>AI strategy</a:t>
            </a:r>
          </a:p>
        </p:txBody>
      </p:sp>
      <p:sp>
        <p:nvSpPr>
          <p:cNvPr id="22" name="TextBox 21" descr="FILLCOLOR-IF=AND([C_T1_2]=&quot;N/A&quot;,[T_T1_2]=&quot;N/A&quot;),#FFFFF7&#10;FONTCOLOR-IF=AND([C_T1_2]=&quot;N/A&quot;,[T_T1_2]=&quot;N/A&quot;),#7F7F7F">
            <a:extLst>
              <a:ext uri="{FF2B5EF4-FFF2-40B4-BE49-F238E27FC236}">
                <a16:creationId xmlns:a16="http://schemas.microsoft.com/office/drawing/2014/main" id="{47B932CB-A82E-0C4F-31ED-8B15EA93F4DF}"/>
              </a:ext>
            </a:extLst>
          </p:cNvPr>
          <p:cNvSpPr txBox="1"/>
          <p:nvPr>
            <p:custDataLst>
              <p:tags r:id="rId17"/>
            </p:custDataLst>
          </p:nvPr>
        </p:nvSpPr>
        <p:spPr>
          <a:xfrm>
            <a:off x="808354" y="3020084"/>
            <a:ext cx="1800000" cy="307777"/>
          </a:xfrm>
          <a:prstGeom prst="rect">
            <a:avLst/>
          </a:prstGeom>
          <a:noFill/>
        </p:spPr>
        <p:txBody>
          <a:bodyPr wrap="square">
            <a:spAutoFit/>
          </a:bodyPr>
          <a:lstStyle/>
          <a:p>
            <a:r>
              <a:rPr lang="en-IN" sz="1400"/>
              <a:t>AI value</a:t>
            </a:r>
          </a:p>
        </p:txBody>
      </p:sp>
      <p:sp>
        <p:nvSpPr>
          <p:cNvPr id="23" name="TextBox 22" descr="FILLCOLOR-IF=AND([C_T1_3]=&quot;N/A&quot;,[T_T1_3]=&quot;N/A&quot;),#FFFFF7&#10;FONTCOLOR-IF=AND([C_T1_3]=&quot;N/A&quot;,[T_T1_3]=&quot;N/A&quot;),#7F7F7F">
            <a:extLst>
              <a:ext uri="{FF2B5EF4-FFF2-40B4-BE49-F238E27FC236}">
                <a16:creationId xmlns:a16="http://schemas.microsoft.com/office/drawing/2014/main" id="{DF770FAB-F0EB-FB1B-F8FA-76801E5B4EAB}"/>
              </a:ext>
            </a:extLst>
          </p:cNvPr>
          <p:cNvSpPr txBox="1"/>
          <p:nvPr>
            <p:custDataLst>
              <p:tags r:id="rId18"/>
            </p:custDataLst>
          </p:nvPr>
        </p:nvSpPr>
        <p:spPr>
          <a:xfrm>
            <a:off x="810000" y="4223596"/>
            <a:ext cx="1800000" cy="307777"/>
          </a:xfrm>
          <a:prstGeom prst="rect">
            <a:avLst/>
          </a:prstGeom>
          <a:noFill/>
        </p:spPr>
        <p:txBody>
          <a:bodyPr wrap="square">
            <a:spAutoFit/>
          </a:bodyPr>
          <a:lstStyle/>
          <a:p>
            <a:r>
              <a:rPr lang="en-IN" sz="1400"/>
              <a:t>AI organization</a:t>
            </a:r>
          </a:p>
        </p:txBody>
      </p:sp>
      <p:sp>
        <p:nvSpPr>
          <p:cNvPr id="25" name="TextBox 24" descr="FILLCOLOR-IF=AND([C_T1_4]=&quot;N/A&quot;,[T_T1_4]=&quot;N/A&quot;),#FFFFF7&#10;FONTCOLOR-IF=AND([C_T1_4]=&quot;N/A&quot;,[T_T1_4]=&quot;N/A&quot;),#7F7F7F">
            <a:extLst>
              <a:ext uri="{FF2B5EF4-FFF2-40B4-BE49-F238E27FC236}">
                <a16:creationId xmlns:a16="http://schemas.microsoft.com/office/drawing/2014/main" id="{224E49B7-FD3D-F4EA-3944-51F15555E8ED}"/>
              </a:ext>
            </a:extLst>
          </p:cNvPr>
          <p:cNvSpPr txBox="1"/>
          <p:nvPr>
            <p:custDataLst>
              <p:tags r:id="rId19"/>
            </p:custDataLst>
          </p:nvPr>
        </p:nvSpPr>
        <p:spPr>
          <a:xfrm>
            <a:off x="810000" y="5415367"/>
            <a:ext cx="1879064" cy="307777"/>
          </a:xfrm>
          <a:prstGeom prst="rect">
            <a:avLst/>
          </a:prstGeom>
          <a:noFill/>
        </p:spPr>
        <p:txBody>
          <a:bodyPr wrap="square">
            <a:spAutoFit/>
          </a:bodyPr>
          <a:lstStyle/>
          <a:p>
            <a:r>
              <a:rPr lang="en-IN" sz="1400"/>
              <a:t>AI people and culture</a:t>
            </a:r>
          </a:p>
        </p:txBody>
      </p:sp>
      <p:sp>
        <p:nvSpPr>
          <p:cNvPr id="53" name="TextBox 59" descr="FILLCOLOR-IF=AND([C_T1_1]=&quot;N/A&quot;,[T_T1_1]=&quot;N/A&quot;),#FFFFF7&#10;FONTCOLOR-IF=AND([C_T1_1]=&quot;N/A&quot;,[T_T1_1]=&quot;N/A&quot;),#7F7F7F">
            <a:extLst>
              <a:ext uri="{FF2B5EF4-FFF2-40B4-BE49-F238E27FC236}">
                <a16:creationId xmlns:a16="http://schemas.microsoft.com/office/drawing/2014/main" id="{11B492EE-6B2B-3BC9-D104-71A6ED140C7D}"/>
              </a:ext>
            </a:extLst>
          </p:cNvPr>
          <p:cNvSpPr txBox="1"/>
          <p:nvPr>
            <p:custDataLst>
              <p:tags r:id="rId20"/>
            </p:custDataLst>
          </p:nvPr>
        </p:nvSpPr>
        <p:spPr>
          <a:xfrm>
            <a:off x="2332800" y="2130571"/>
            <a:ext cx="881192"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200">
                <a:cs typeface="Arial" panose="020B0604020202020204" pitchFamily="34" charset="0"/>
              </a:rPr>
              <a:t>Peers</a:t>
            </a:r>
          </a:p>
        </p:txBody>
      </p:sp>
      <p:sp>
        <p:nvSpPr>
          <p:cNvPr id="54" name="TextBox 59" descr="FILLCOLOR-IF=AND([C_T1_1]=&quot;N/A&quot;,[T_T1_1]=&quot;N/A&quot;),#FFFFF7&#10;FONTCOLOR-IF=AND([C_T1_1]=&quot;N/A&quot;,[T_T1_1]=&quot;N/A&quot;),#7F7F7F">
            <a:extLst>
              <a:ext uri="{FF2B5EF4-FFF2-40B4-BE49-F238E27FC236}">
                <a16:creationId xmlns:a16="http://schemas.microsoft.com/office/drawing/2014/main" id="{96A6603F-97B7-5A8A-CCD9-682425FD48F3}"/>
              </a:ext>
            </a:extLst>
          </p:cNvPr>
          <p:cNvSpPr txBox="1"/>
          <p:nvPr>
            <p:custDataLst>
              <p:tags r:id="rId21"/>
            </p:custDataLst>
          </p:nvPr>
        </p:nvSpPr>
        <p:spPr>
          <a:xfrm>
            <a:off x="2333871" y="1613559"/>
            <a:ext cx="881192"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200">
                <a:cs typeface="Arial" panose="020B0604020202020204" pitchFamily="34" charset="0"/>
              </a:rPr>
              <a:t>You</a:t>
            </a:r>
          </a:p>
        </p:txBody>
      </p:sp>
      <p:sp>
        <p:nvSpPr>
          <p:cNvPr id="56" name="TextBox 59" descr="FILLCOLOR-IF=AND([C_T1_2]=&quot;N/A&quot;,[T_T1_2]=&quot;N/A&quot;),#FFFFF7&#10;FONTCOLOR-IF=AND([C_T1_2]=&quot;N/A&quot;,[T_T1_2]=&quot;N/A&quot;),#7F7F7F">
            <a:extLst>
              <a:ext uri="{FF2B5EF4-FFF2-40B4-BE49-F238E27FC236}">
                <a16:creationId xmlns:a16="http://schemas.microsoft.com/office/drawing/2014/main" id="{03097224-8727-9FA6-F0FE-C39BE4449EDE}"/>
              </a:ext>
            </a:extLst>
          </p:cNvPr>
          <p:cNvSpPr txBox="1"/>
          <p:nvPr>
            <p:custDataLst>
              <p:tags r:id="rId22"/>
            </p:custDataLst>
          </p:nvPr>
        </p:nvSpPr>
        <p:spPr>
          <a:xfrm>
            <a:off x="2333871" y="3336156"/>
            <a:ext cx="881192"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200">
                <a:cs typeface="Arial" panose="020B0604020202020204" pitchFamily="34" charset="0"/>
              </a:rPr>
              <a:t>Peers</a:t>
            </a:r>
          </a:p>
        </p:txBody>
      </p:sp>
      <p:sp>
        <p:nvSpPr>
          <p:cNvPr id="57" name="TextBox 59" descr="FILLCOLOR-IF=AND([C_T1_2]=&quot;N/A&quot;,[T_T1_2]=&quot;N/A&quot;),#FFFFF7&#10;FONTCOLOR-IF=AND([C_T1_2]=&quot;N/A&quot;,[T_T1_2]=&quot;N/A&quot;),#7F7F7F">
            <a:extLst>
              <a:ext uri="{FF2B5EF4-FFF2-40B4-BE49-F238E27FC236}">
                <a16:creationId xmlns:a16="http://schemas.microsoft.com/office/drawing/2014/main" id="{55304505-FD75-046E-D792-C5AF6ADCC313}"/>
              </a:ext>
            </a:extLst>
          </p:cNvPr>
          <p:cNvSpPr txBox="1"/>
          <p:nvPr>
            <p:custDataLst>
              <p:tags r:id="rId23"/>
            </p:custDataLst>
          </p:nvPr>
        </p:nvSpPr>
        <p:spPr>
          <a:xfrm>
            <a:off x="2333871" y="2804402"/>
            <a:ext cx="881192"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200">
                <a:cs typeface="Arial" panose="020B0604020202020204" pitchFamily="34" charset="0"/>
              </a:rPr>
              <a:t>You</a:t>
            </a:r>
          </a:p>
        </p:txBody>
      </p:sp>
      <p:sp>
        <p:nvSpPr>
          <p:cNvPr id="58" name="TextBox 59" descr="FILLCOLOR-IF=AND([C_T1_3]=&quot;N/A&quot;,[T_T1_3]=&quot;N/A&quot;),#FFFFF7&#10;FONTCOLOR-IF=AND([C_T1_3]=&quot;N/A&quot;,[T_T1_3]=&quot;N/A&quot;),#7F7F7F">
            <a:extLst>
              <a:ext uri="{FF2B5EF4-FFF2-40B4-BE49-F238E27FC236}">
                <a16:creationId xmlns:a16="http://schemas.microsoft.com/office/drawing/2014/main" id="{1C44AA1E-4F45-A549-05D0-FE73F2817B3D}"/>
              </a:ext>
            </a:extLst>
          </p:cNvPr>
          <p:cNvSpPr txBox="1"/>
          <p:nvPr>
            <p:custDataLst>
              <p:tags r:id="rId24"/>
            </p:custDataLst>
          </p:nvPr>
        </p:nvSpPr>
        <p:spPr>
          <a:xfrm>
            <a:off x="2332800" y="4572389"/>
            <a:ext cx="881192"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200">
                <a:cs typeface="Arial" panose="020B0604020202020204" pitchFamily="34" charset="0"/>
              </a:rPr>
              <a:t>Peers</a:t>
            </a:r>
          </a:p>
        </p:txBody>
      </p:sp>
      <p:sp>
        <p:nvSpPr>
          <p:cNvPr id="59" name="TextBox 59" descr="FILLCOLOR-IF=AND([C_T1_3]=&quot;N/A&quot;,[T_T1_3]=&quot;N/A&quot;),#FFFFF7&#10;FONTCOLOR-IF=AND([C_T1_3]=&quot;N/A&quot;,[T_T1_3]=&quot;N/A&quot;),#7F7F7F">
            <a:extLst>
              <a:ext uri="{FF2B5EF4-FFF2-40B4-BE49-F238E27FC236}">
                <a16:creationId xmlns:a16="http://schemas.microsoft.com/office/drawing/2014/main" id="{654D55EA-A304-3145-9B48-3F1630D646F8}"/>
              </a:ext>
            </a:extLst>
          </p:cNvPr>
          <p:cNvSpPr txBox="1"/>
          <p:nvPr>
            <p:custDataLst>
              <p:tags r:id="rId25"/>
            </p:custDataLst>
          </p:nvPr>
        </p:nvSpPr>
        <p:spPr>
          <a:xfrm>
            <a:off x="2332800" y="4040635"/>
            <a:ext cx="881192"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200">
                <a:cs typeface="Arial" panose="020B0604020202020204" pitchFamily="34" charset="0"/>
              </a:rPr>
              <a:t>You</a:t>
            </a:r>
          </a:p>
        </p:txBody>
      </p:sp>
      <p:sp>
        <p:nvSpPr>
          <p:cNvPr id="60" name="TextBox 59" descr="FILLCOLOR-IF=AND([C_T1_4]=&quot;N/A&quot;,[T_T1_4]=&quot;N/A&quot;),#FFFFF7&#10;FONTCOLOR-IF=AND([C_T1_4]=&quot;N/A&quot;,[T_T1_4]=&quot;N/A&quot;),#7F7F7F">
            <a:extLst>
              <a:ext uri="{FF2B5EF4-FFF2-40B4-BE49-F238E27FC236}">
                <a16:creationId xmlns:a16="http://schemas.microsoft.com/office/drawing/2014/main" id="{C5DC8F09-3A8D-8D08-15FE-6389F4D58137}"/>
              </a:ext>
            </a:extLst>
          </p:cNvPr>
          <p:cNvSpPr txBox="1"/>
          <p:nvPr>
            <p:custDataLst>
              <p:tags r:id="rId26"/>
            </p:custDataLst>
          </p:nvPr>
        </p:nvSpPr>
        <p:spPr>
          <a:xfrm>
            <a:off x="2332800" y="5777974"/>
            <a:ext cx="881192"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200">
                <a:cs typeface="Arial" panose="020B0604020202020204" pitchFamily="34" charset="0"/>
              </a:rPr>
              <a:t>Peers</a:t>
            </a:r>
          </a:p>
        </p:txBody>
      </p:sp>
      <p:sp>
        <p:nvSpPr>
          <p:cNvPr id="61" name="TextBox 59" descr="FILLCOLOR-IF=AND([C_T1_4]=&quot;N/A&quot;,[T_T1_4]=&quot;N/A&quot;),#FFFFF7&#10;FONTCOLOR-IF=AND([C_T1_4]=&quot;N/A&quot;,[T_T1_4]=&quot;N/A&quot;),#7F7F7F">
            <a:extLst>
              <a:ext uri="{FF2B5EF4-FFF2-40B4-BE49-F238E27FC236}">
                <a16:creationId xmlns:a16="http://schemas.microsoft.com/office/drawing/2014/main" id="{67A99410-04F7-0F7D-6207-6C1FE9FD5250}"/>
              </a:ext>
            </a:extLst>
          </p:cNvPr>
          <p:cNvSpPr txBox="1"/>
          <p:nvPr>
            <p:custDataLst>
              <p:tags r:id="rId27"/>
            </p:custDataLst>
          </p:nvPr>
        </p:nvSpPr>
        <p:spPr>
          <a:xfrm>
            <a:off x="2333871" y="5276868"/>
            <a:ext cx="881192"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200">
                <a:cs typeface="Arial" panose="020B0604020202020204" pitchFamily="34" charset="0"/>
              </a:rPr>
              <a:t>You</a:t>
            </a:r>
          </a:p>
        </p:txBody>
      </p:sp>
      <p:sp>
        <p:nvSpPr>
          <p:cNvPr id="7" name="TextBox 6">
            <a:extLst>
              <a:ext uri="{FF2B5EF4-FFF2-40B4-BE49-F238E27FC236}">
                <a16:creationId xmlns:a16="http://schemas.microsoft.com/office/drawing/2014/main" id="{A4D0EE7F-4B04-F391-B01D-AFCC25464516}"/>
              </a:ext>
            </a:extLst>
          </p:cNvPr>
          <p:cNvSpPr txBox="1"/>
          <p:nvPr>
            <p:custDataLst>
              <p:tags r:id="rId28"/>
            </p:custDataLst>
          </p:nvPr>
        </p:nvSpPr>
        <p:spPr>
          <a:xfrm>
            <a:off x="631804" y="6200611"/>
            <a:ext cx="11298831" cy="153888"/>
          </a:xfrm>
          <a:prstGeom prst="rect">
            <a:avLst/>
          </a:prstGeom>
          <a:noFill/>
        </p:spPr>
        <p:txBody>
          <a:bodyPr wrap="square" lIns="0" tIns="0" rIns="0" bIns="0">
            <a:spAutoFit/>
          </a:bodyPr>
          <a:lstStyle/>
          <a:p>
            <a:r>
              <a:rPr lang="en-US" sz="1000" i="0" u="none" strike="noStrike">
                <a:solidFill>
                  <a:srgbClr val="000000"/>
                </a:solidFill>
                <a:effectLst/>
                <a:ea typeface="Roboto" panose="02000000000000000000" pitchFamily="2" charset="0"/>
                <a:cs typeface="Roboto" panose="02000000000000000000" pitchFamily="2" charset="0"/>
              </a:rPr>
              <a:t>Benchmark comparison group: </a:t>
            </a:r>
            <a:r>
              <a:rPr lang="en-US" sz="1000">
                <a:solidFill>
                  <a:srgbClr val="000000"/>
                </a:solidFill>
                <a:ea typeface="Roboto" panose="02000000000000000000" pitchFamily="2" charset="0"/>
                <a:cs typeface="Roboto" panose="02000000000000000000" pitchFamily="2" charset="0"/>
              </a:rPr>
              <a:t>All participating respondents</a:t>
            </a:r>
            <a:endParaRPr lang="en-US" sz="1000" i="0" u="none" strike="noStrike">
              <a:solidFill>
                <a:srgbClr val="000000"/>
              </a:solidFill>
              <a:effectLst/>
              <a:ea typeface="Roboto" panose="02000000000000000000" pitchFamily="2" charset="0"/>
              <a:cs typeface="Roboto" panose="02000000000000000000" pitchFamily="2" charset="0"/>
            </a:endParaRPr>
          </a:p>
        </p:txBody>
      </p:sp>
      <p:grpSp>
        <p:nvGrpSpPr>
          <p:cNvPr id="8" name="Group 7">
            <a:extLst>
              <a:ext uri="{FF2B5EF4-FFF2-40B4-BE49-F238E27FC236}">
                <a16:creationId xmlns:a16="http://schemas.microsoft.com/office/drawing/2014/main" id="{5676DA3E-026B-5E4A-3DF6-833D459654E7}"/>
              </a:ext>
            </a:extLst>
          </p:cNvPr>
          <p:cNvGrpSpPr/>
          <p:nvPr>
            <p:custDataLst>
              <p:tags r:id="rId29"/>
            </p:custDataLst>
          </p:nvPr>
        </p:nvGrpSpPr>
        <p:grpSpPr>
          <a:xfrm>
            <a:off x="3556682" y="1004314"/>
            <a:ext cx="7071369" cy="339713"/>
            <a:chOff x="2649838" y="857851"/>
            <a:chExt cx="5705934" cy="339713"/>
          </a:xfrm>
        </p:grpSpPr>
        <p:sp>
          <p:nvSpPr>
            <p:cNvPr id="16" name="TextBox 15">
              <a:extLst>
                <a:ext uri="{FF2B5EF4-FFF2-40B4-BE49-F238E27FC236}">
                  <a16:creationId xmlns:a16="http://schemas.microsoft.com/office/drawing/2014/main" id="{519D6E21-F096-7182-5B6B-DE5FCAC8C735}"/>
                </a:ext>
              </a:extLst>
            </p:cNvPr>
            <p:cNvSpPr txBox="1"/>
            <p:nvPr>
              <p:custDataLst>
                <p:tags r:id="rId35"/>
              </p:custDataLst>
            </p:nvPr>
          </p:nvSpPr>
          <p:spPr>
            <a:xfrm>
              <a:off x="2649838" y="857851"/>
              <a:ext cx="1103849"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 </a:t>
              </a:r>
              <a:r>
                <a:rPr lang="en-IN" sz="1000"/>
                <a:t>Planning</a:t>
              </a:r>
              <a:endParaRPr lang="en-IN" sz="900"/>
            </a:p>
          </p:txBody>
        </p:sp>
        <p:sp>
          <p:nvSpPr>
            <p:cNvPr id="17" name="TextBox 16">
              <a:extLst>
                <a:ext uri="{FF2B5EF4-FFF2-40B4-BE49-F238E27FC236}">
                  <a16:creationId xmlns:a16="http://schemas.microsoft.com/office/drawing/2014/main" id="{D7F95566-E8FA-3EDD-8F8A-6443A72C7DD1}"/>
                </a:ext>
              </a:extLst>
            </p:cNvPr>
            <p:cNvSpPr txBox="1"/>
            <p:nvPr>
              <p:custDataLst>
                <p:tags r:id="rId36"/>
              </p:custDataLst>
            </p:nvPr>
          </p:nvSpPr>
          <p:spPr>
            <a:xfrm>
              <a:off x="3873194" y="857851"/>
              <a:ext cx="1016703"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t>Experimenting</a:t>
              </a:r>
              <a:endParaRPr lang="en-IN" sz="900"/>
            </a:p>
          </p:txBody>
        </p:sp>
        <p:sp>
          <p:nvSpPr>
            <p:cNvPr id="24" name="TextBox 23">
              <a:extLst>
                <a:ext uri="{FF2B5EF4-FFF2-40B4-BE49-F238E27FC236}">
                  <a16:creationId xmlns:a16="http://schemas.microsoft.com/office/drawing/2014/main" id="{48F4B3E0-3B23-4E51-0413-0D911DB1C698}"/>
                </a:ext>
              </a:extLst>
            </p:cNvPr>
            <p:cNvSpPr txBox="1"/>
            <p:nvPr>
              <p:custDataLst>
                <p:tags r:id="rId37"/>
              </p:custDataLst>
            </p:nvPr>
          </p:nvSpPr>
          <p:spPr>
            <a:xfrm>
              <a:off x="5035524" y="859164"/>
              <a:ext cx="1016703" cy="338400"/>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 </a:t>
              </a:r>
              <a:r>
                <a:rPr lang="en-IN" sz="1000"/>
                <a:t>Stabilization</a:t>
              </a:r>
              <a:endParaRPr lang="en-IN" sz="900"/>
            </a:p>
          </p:txBody>
        </p:sp>
        <p:sp>
          <p:nvSpPr>
            <p:cNvPr id="26" name="TextBox 25">
              <a:extLst>
                <a:ext uri="{FF2B5EF4-FFF2-40B4-BE49-F238E27FC236}">
                  <a16:creationId xmlns:a16="http://schemas.microsoft.com/office/drawing/2014/main" id="{27FF67D3-7441-1C0F-A22B-3174817378D2}"/>
                </a:ext>
              </a:extLst>
            </p:cNvPr>
            <p:cNvSpPr txBox="1"/>
            <p:nvPr>
              <p:custDataLst>
                <p:tags r:id="rId38"/>
              </p:custDataLst>
            </p:nvPr>
          </p:nvSpPr>
          <p:spPr>
            <a:xfrm>
              <a:off x="6179485" y="857851"/>
              <a:ext cx="1016703"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t>Scaling</a:t>
              </a:r>
              <a:endParaRPr lang="en-IN" sz="900"/>
            </a:p>
          </p:txBody>
        </p:sp>
        <p:sp>
          <p:nvSpPr>
            <p:cNvPr id="27" name="TextBox 26">
              <a:extLst>
                <a:ext uri="{FF2B5EF4-FFF2-40B4-BE49-F238E27FC236}">
                  <a16:creationId xmlns:a16="http://schemas.microsoft.com/office/drawing/2014/main" id="{86AB860A-850E-8FA6-E5B3-E50C2D8DFCBA}"/>
                </a:ext>
              </a:extLst>
            </p:cNvPr>
            <p:cNvSpPr txBox="1"/>
            <p:nvPr>
              <p:custDataLst>
                <p:tags r:id="rId39"/>
              </p:custDataLst>
            </p:nvPr>
          </p:nvSpPr>
          <p:spPr>
            <a:xfrm>
              <a:off x="7339070" y="857851"/>
              <a:ext cx="1016702"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t>Leading</a:t>
              </a:r>
              <a:endParaRPr lang="en-IN" sz="900"/>
            </a:p>
          </p:txBody>
        </p:sp>
      </p:grpSp>
      <p:sp>
        <p:nvSpPr>
          <p:cNvPr id="28" name="Oval 27">
            <a:extLst>
              <a:ext uri="{FF2B5EF4-FFF2-40B4-BE49-F238E27FC236}">
                <a16:creationId xmlns:a16="http://schemas.microsoft.com/office/drawing/2014/main" id="{EF051E6A-65B6-34C0-DE74-86BBF50E3C96}"/>
              </a:ext>
            </a:extLst>
          </p:cNvPr>
          <p:cNvSpPr/>
          <p:nvPr>
            <p:custDataLst>
              <p:tags r:id="rId30"/>
            </p:custDataLst>
          </p:nvPr>
        </p:nvSpPr>
        <p:spPr>
          <a:xfrm>
            <a:off x="4884570" y="1068832"/>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1</a:t>
            </a:r>
          </a:p>
        </p:txBody>
      </p:sp>
      <p:sp>
        <p:nvSpPr>
          <p:cNvPr id="29" name="Oval 28">
            <a:extLst>
              <a:ext uri="{FF2B5EF4-FFF2-40B4-BE49-F238E27FC236}">
                <a16:creationId xmlns:a16="http://schemas.microsoft.com/office/drawing/2014/main" id="{37827BC3-1D76-5AEB-6E21-BCDA8DBC4199}"/>
              </a:ext>
            </a:extLst>
          </p:cNvPr>
          <p:cNvSpPr/>
          <p:nvPr>
            <p:custDataLst>
              <p:tags r:id="rId31"/>
            </p:custDataLst>
          </p:nvPr>
        </p:nvSpPr>
        <p:spPr>
          <a:xfrm>
            <a:off x="6309971" y="1059298"/>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2</a:t>
            </a:r>
          </a:p>
        </p:txBody>
      </p:sp>
      <p:sp>
        <p:nvSpPr>
          <p:cNvPr id="30" name="Oval 29">
            <a:extLst>
              <a:ext uri="{FF2B5EF4-FFF2-40B4-BE49-F238E27FC236}">
                <a16:creationId xmlns:a16="http://schemas.microsoft.com/office/drawing/2014/main" id="{9E1DD8D9-AEBA-2589-4D7B-001B00299E92}"/>
              </a:ext>
            </a:extLst>
          </p:cNvPr>
          <p:cNvSpPr/>
          <p:nvPr>
            <p:custDataLst>
              <p:tags r:id="rId32"/>
            </p:custDataLst>
          </p:nvPr>
        </p:nvSpPr>
        <p:spPr>
          <a:xfrm>
            <a:off x="7738110" y="1068745"/>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3</a:t>
            </a:r>
          </a:p>
        </p:txBody>
      </p:sp>
      <p:sp>
        <p:nvSpPr>
          <p:cNvPr id="31" name="Oval 30">
            <a:extLst>
              <a:ext uri="{FF2B5EF4-FFF2-40B4-BE49-F238E27FC236}">
                <a16:creationId xmlns:a16="http://schemas.microsoft.com/office/drawing/2014/main" id="{28968CBE-FC8C-2E00-E307-0096F9FA0138}"/>
              </a:ext>
            </a:extLst>
          </p:cNvPr>
          <p:cNvSpPr/>
          <p:nvPr>
            <p:custDataLst>
              <p:tags r:id="rId33"/>
            </p:custDataLst>
          </p:nvPr>
        </p:nvSpPr>
        <p:spPr>
          <a:xfrm>
            <a:off x="9166249" y="1068607"/>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4</a:t>
            </a:r>
          </a:p>
        </p:txBody>
      </p:sp>
      <p:sp>
        <p:nvSpPr>
          <p:cNvPr id="32" name="Oval 31">
            <a:extLst>
              <a:ext uri="{FF2B5EF4-FFF2-40B4-BE49-F238E27FC236}">
                <a16:creationId xmlns:a16="http://schemas.microsoft.com/office/drawing/2014/main" id="{AD5E4614-A300-92EC-8AB1-F42912754269}"/>
              </a:ext>
            </a:extLst>
          </p:cNvPr>
          <p:cNvSpPr/>
          <p:nvPr>
            <p:custDataLst>
              <p:tags r:id="rId34"/>
            </p:custDataLst>
          </p:nvPr>
        </p:nvSpPr>
        <p:spPr>
          <a:xfrm>
            <a:off x="10595199" y="1068607"/>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5</a:t>
            </a:r>
          </a:p>
        </p:txBody>
      </p:sp>
    </p:spTree>
    <p:extLst>
      <p:ext uri="{BB962C8B-B14F-4D97-AF65-F5344CB8AC3E}">
        <p14:creationId xmlns:p14="http://schemas.microsoft.com/office/powerpoint/2010/main" val="177996752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7D5C9-E7F8-6C34-84D3-80F4E9F10952}"/>
            </a:ext>
          </a:extLst>
        </p:cNvPr>
        <p:cNvGrpSpPr/>
        <p:nvPr/>
      </p:nvGrpSpPr>
      <p:grpSpPr>
        <a:xfrm>
          <a:off x="0" y="0"/>
          <a:ext cx="0" cy="0"/>
          <a:chOff x="0" y="0"/>
          <a:chExt cx="0" cy="0"/>
        </a:xfrm>
      </p:grpSpPr>
      <p:cxnSp>
        <p:nvCxnSpPr>
          <p:cNvPr id="17" name="Straight Connector 1">
            <a:extLst>
              <a:ext uri="{FF2B5EF4-FFF2-40B4-BE49-F238E27FC236}">
                <a16:creationId xmlns:a16="http://schemas.microsoft.com/office/drawing/2014/main" id="{27DE7028-99CC-8938-5FD5-EAE6A1F1DBCD}"/>
              </a:ext>
            </a:extLst>
          </p:cNvPr>
          <p:cNvCxnSpPr/>
          <p:nvPr>
            <p:custDataLst>
              <p:tags r:id="rId1"/>
            </p:custDataLst>
          </p:nvPr>
        </p:nvCxnSpPr>
        <p:spPr>
          <a:xfrm flipH="1" flipV="1">
            <a:off x="3556682" y="1744292"/>
            <a:ext cx="7308000" cy="3600"/>
          </a:xfrm>
          <a:prstGeom prst="line">
            <a:avLst/>
          </a:prstGeom>
          <a:noFill/>
          <a:ln w="12700" cap="flat" cmpd="sng">
            <a:solidFill>
              <a:srgbClr val="BBCAD3"/>
            </a:solidFill>
            <a:prstDash val="solid"/>
            <a:round/>
            <a:headEnd type="none" w="lg" len="med"/>
            <a:tailEnd type="none" w="lg" len="med"/>
          </a:ln>
        </p:spPr>
      </p:cxnSp>
      <p:cxnSp>
        <p:nvCxnSpPr>
          <p:cNvPr id="20" name="Straight Connector 1">
            <a:extLst>
              <a:ext uri="{FF2B5EF4-FFF2-40B4-BE49-F238E27FC236}">
                <a16:creationId xmlns:a16="http://schemas.microsoft.com/office/drawing/2014/main" id="{9029855A-C9D0-115D-52B3-20759213C7F8}"/>
              </a:ext>
            </a:extLst>
          </p:cNvPr>
          <p:cNvCxnSpPr/>
          <p:nvPr>
            <p:custDataLst>
              <p:tags r:id="rId2"/>
            </p:custDataLst>
          </p:nvPr>
        </p:nvCxnSpPr>
        <p:spPr>
          <a:xfrm flipH="1" flipV="1">
            <a:off x="3556682" y="2293743"/>
            <a:ext cx="7308000" cy="3600"/>
          </a:xfrm>
          <a:prstGeom prst="line">
            <a:avLst/>
          </a:prstGeom>
          <a:noFill/>
          <a:ln w="12700" cap="flat" cmpd="sng">
            <a:solidFill>
              <a:srgbClr val="BBCAD3"/>
            </a:solidFill>
            <a:prstDash val="solid"/>
            <a:round/>
            <a:headEnd type="none" w="lg" len="med"/>
            <a:tailEnd type="none" w="lg" len="med"/>
          </a:ln>
        </p:spPr>
      </p:cxnSp>
      <p:cxnSp>
        <p:nvCxnSpPr>
          <p:cNvPr id="24" name="Straight Connector 1">
            <a:extLst>
              <a:ext uri="{FF2B5EF4-FFF2-40B4-BE49-F238E27FC236}">
                <a16:creationId xmlns:a16="http://schemas.microsoft.com/office/drawing/2014/main" id="{483DB6D7-A0F4-FE53-E309-BE039AFE3C97}"/>
              </a:ext>
            </a:extLst>
          </p:cNvPr>
          <p:cNvCxnSpPr/>
          <p:nvPr>
            <p:custDataLst>
              <p:tags r:id="rId3"/>
            </p:custDataLst>
          </p:nvPr>
        </p:nvCxnSpPr>
        <p:spPr>
          <a:xfrm flipH="1" flipV="1">
            <a:off x="3556682" y="2925473"/>
            <a:ext cx="7308000" cy="3600"/>
          </a:xfrm>
          <a:prstGeom prst="line">
            <a:avLst/>
          </a:prstGeom>
          <a:noFill/>
          <a:ln w="12700" cap="flat" cmpd="sng">
            <a:solidFill>
              <a:srgbClr val="BBCAD3"/>
            </a:solidFill>
            <a:prstDash val="solid"/>
            <a:round/>
            <a:headEnd type="none" w="lg" len="med"/>
            <a:tailEnd type="none" w="lg" len="med"/>
          </a:ln>
        </p:spPr>
      </p:cxnSp>
      <p:cxnSp>
        <p:nvCxnSpPr>
          <p:cNvPr id="25" name="Straight Connector 1">
            <a:extLst>
              <a:ext uri="{FF2B5EF4-FFF2-40B4-BE49-F238E27FC236}">
                <a16:creationId xmlns:a16="http://schemas.microsoft.com/office/drawing/2014/main" id="{C77982FC-17B0-8668-EF28-E86E4B8E6499}"/>
              </a:ext>
            </a:extLst>
          </p:cNvPr>
          <p:cNvCxnSpPr/>
          <p:nvPr>
            <p:custDataLst>
              <p:tags r:id="rId4"/>
            </p:custDataLst>
          </p:nvPr>
        </p:nvCxnSpPr>
        <p:spPr>
          <a:xfrm flipH="1" flipV="1">
            <a:off x="3556682" y="3474924"/>
            <a:ext cx="7308000" cy="3600"/>
          </a:xfrm>
          <a:prstGeom prst="line">
            <a:avLst/>
          </a:prstGeom>
          <a:noFill/>
          <a:ln w="12700" cap="flat" cmpd="sng">
            <a:solidFill>
              <a:srgbClr val="BBCAD3"/>
            </a:solidFill>
            <a:prstDash val="solid"/>
            <a:round/>
            <a:headEnd type="none" w="lg" len="med"/>
            <a:tailEnd type="none" w="lg" len="med"/>
          </a:ln>
        </p:spPr>
      </p:cxnSp>
      <p:cxnSp>
        <p:nvCxnSpPr>
          <p:cNvPr id="26" name="Straight Connector 1">
            <a:extLst>
              <a:ext uri="{FF2B5EF4-FFF2-40B4-BE49-F238E27FC236}">
                <a16:creationId xmlns:a16="http://schemas.microsoft.com/office/drawing/2014/main" id="{270B1148-7E94-3B3D-2EC6-F3BB3DA26CB0}"/>
              </a:ext>
            </a:extLst>
          </p:cNvPr>
          <p:cNvCxnSpPr/>
          <p:nvPr>
            <p:custDataLst>
              <p:tags r:id="rId5"/>
            </p:custDataLst>
          </p:nvPr>
        </p:nvCxnSpPr>
        <p:spPr>
          <a:xfrm flipH="1" flipV="1">
            <a:off x="3556800" y="4153329"/>
            <a:ext cx="7308000" cy="3600"/>
          </a:xfrm>
          <a:prstGeom prst="line">
            <a:avLst/>
          </a:prstGeom>
          <a:noFill/>
          <a:ln w="12700" cap="flat" cmpd="sng">
            <a:solidFill>
              <a:srgbClr val="BBCAD3"/>
            </a:solidFill>
            <a:prstDash val="solid"/>
            <a:round/>
            <a:headEnd type="none" w="lg" len="med"/>
            <a:tailEnd type="none" w="lg" len="med"/>
          </a:ln>
        </p:spPr>
      </p:cxnSp>
      <p:cxnSp>
        <p:nvCxnSpPr>
          <p:cNvPr id="27" name="Straight Connector 1">
            <a:extLst>
              <a:ext uri="{FF2B5EF4-FFF2-40B4-BE49-F238E27FC236}">
                <a16:creationId xmlns:a16="http://schemas.microsoft.com/office/drawing/2014/main" id="{B1A1C257-5835-803C-6491-EE54CBC3D954}"/>
              </a:ext>
            </a:extLst>
          </p:cNvPr>
          <p:cNvCxnSpPr/>
          <p:nvPr>
            <p:custDataLst>
              <p:tags r:id="rId6"/>
            </p:custDataLst>
          </p:nvPr>
        </p:nvCxnSpPr>
        <p:spPr>
          <a:xfrm flipH="1" flipV="1">
            <a:off x="3556682" y="4682915"/>
            <a:ext cx="7308000" cy="3600"/>
          </a:xfrm>
          <a:prstGeom prst="line">
            <a:avLst/>
          </a:prstGeom>
          <a:noFill/>
          <a:ln w="12700" cap="flat" cmpd="sng">
            <a:solidFill>
              <a:srgbClr val="BBCAD3"/>
            </a:solidFill>
            <a:prstDash val="solid"/>
            <a:round/>
            <a:headEnd type="none" w="lg" len="med"/>
            <a:tailEnd type="none" w="lg" len="med"/>
          </a:ln>
        </p:spPr>
      </p:cxnSp>
      <p:sp>
        <p:nvSpPr>
          <p:cNvPr id="4" name="Title 1">
            <a:extLst>
              <a:ext uri="{FF2B5EF4-FFF2-40B4-BE49-F238E27FC236}">
                <a16:creationId xmlns:a16="http://schemas.microsoft.com/office/drawing/2014/main" id="{F1377DDE-C027-B09E-2ABD-DE11A3059D15}"/>
              </a:ext>
            </a:extLst>
          </p:cNvPr>
          <p:cNvSpPr>
            <a:spLocks noGrp="1"/>
          </p:cNvSpPr>
          <p:nvPr>
            <p:ph type="title"/>
            <p:custDataLst>
              <p:tags r:id="rId7"/>
            </p:custDataLst>
          </p:nvPr>
        </p:nvSpPr>
        <p:spPr bwMode="gray">
          <a:xfrm>
            <a:off x="536400" y="187200"/>
            <a:ext cx="11274552" cy="451231"/>
          </a:xfrm>
        </p:spPr>
        <p:txBody>
          <a:bodyPr vert="horz" lIns="0" tIns="0" rIns="0" bIns="0" rtlCol="0" anchor="t" anchorCtr="0">
            <a:noAutofit/>
          </a:bodyPr>
          <a:lstStyle/>
          <a:p>
            <a:r>
              <a:rPr lang="en-US" sz="2400" dirty="0">
                <a:solidFill>
                  <a:srgbClr val="002856"/>
                </a:solidFill>
                <a:latin typeface="+mn-lt"/>
                <a:ea typeface="+mn-ea"/>
                <a:cs typeface="+mn-cs"/>
              </a:rPr>
              <a:t>Your AI Maturity by Capability (cont’d)</a:t>
            </a:r>
          </a:p>
        </p:txBody>
      </p:sp>
      <p:sp>
        <p:nvSpPr>
          <p:cNvPr id="5" name="Title 1">
            <a:extLst>
              <a:ext uri="{FF2B5EF4-FFF2-40B4-BE49-F238E27FC236}">
                <a16:creationId xmlns:a16="http://schemas.microsoft.com/office/drawing/2014/main" id="{FD4BF188-A8F3-7796-3D43-63265854B09C}"/>
              </a:ext>
            </a:extLst>
          </p:cNvPr>
          <p:cNvSpPr txBox="1"/>
          <p:nvPr>
            <p:custDataLst>
              <p:tags r:id="rId8"/>
            </p:custDataLst>
          </p:nvPr>
        </p:nvSpPr>
        <p:spPr bwMode="gray">
          <a:xfrm>
            <a:off x="536400" y="612124"/>
            <a:ext cx="10875092" cy="303856"/>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spcAft>
                <a:spcPts val="1200"/>
              </a:spcAft>
              <a:buNone/>
              <a:defRPr sz="3200" kern="1200">
                <a:solidFill>
                  <a:schemeClr val="tx2"/>
                </a:solidFill>
                <a:latin typeface="+mj-lt"/>
                <a:ea typeface="+mj-ea"/>
                <a:cs typeface="+mj-cs"/>
              </a:defRPr>
            </a:lvl1pPr>
          </a:lstStyle>
          <a:p>
            <a:r>
              <a:rPr lang="en-US" sz="1400">
                <a:solidFill>
                  <a:schemeClr val="tx1"/>
                </a:solidFill>
                <a:latin typeface="+mn-lt"/>
                <a:ea typeface="+mn-ea"/>
                <a:cs typeface="+mn-cs"/>
              </a:rPr>
              <a:t>Use this chart to assess how far you sit from your target maturity level across seven capabilities.</a:t>
            </a:r>
          </a:p>
        </p:txBody>
      </p:sp>
      <p:grpSp>
        <p:nvGrpSpPr>
          <p:cNvPr id="2" name="Group 1">
            <a:extLst>
              <a:ext uri="{FF2B5EF4-FFF2-40B4-BE49-F238E27FC236}">
                <a16:creationId xmlns:a16="http://schemas.microsoft.com/office/drawing/2014/main" id="{93E84C00-6DB7-94D1-BBCC-5B10A1492F33}"/>
              </a:ext>
            </a:extLst>
          </p:cNvPr>
          <p:cNvGrpSpPr/>
          <p:nvPr>
            <p:custDataLst>
              <p:tags r:id="rId9"/>
            </p:custDataLst>
          </p:nvPr>
        </p:nvGrpSpPr>
        <p:grpSpPr>
          <a:xfrm>
            <a:off x="966503" y="1074475"/>
            <a:ext cx="2166003" cy="219236"/>
            <a:chOff x="3884227" y="8402296"/>
            <a:chExt cx="2166003" cy="219236"/>
          </a:xfrm>
        </p:grpSpPr>
        <p:sp>
          <p:nvSpPr>
            <p:cNvPr id="3" name="TextBox 58">
              <a:extLst>
                <a:ext uri="{FF2B5EF4-FFF2-40B4-BE49-F238E27FC236}">
                  <a16:creationId xmlns:a16="http://schemas.microsoft.com/office/drawing/2014/main" id="{F48E5077-867B-3ED7-968C-80712907F68B}"/>
                </a:ext>
              </a:extLst>
            </p:cNvPr>
            <p:cNvSpPr txBox="1"/>
            <p:nvPr>
              <p:custDataLst>
                <p:tags r:id="rId34"/>
              </p:custDataLst>
            </p:nvPr>
          </p:nvSpPr>
          <p:spPr>
            <a:xfrm>
              <a:off x="4029201" y="8406088"/>
              <a:ext cx="1005125" cy="21544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panose="020B0604020202020204" pitchFamily="34" charset="0"/>
                </a:rPr>
                <a:t>Current Maturity</a:t>
              </a:r>
            </a:p>
          </p:txBody>
        </p:sp>
        <p:sp>
          <p:nvSpPr>
            <p:cNvPr id="9" name="TextBox 59">
              <a:extLst>
                <a:ext uri="{FF2B5EF4-FFF2-40B4-BE49-F238E27FC236}">
                  <a16:creationId xmlns:a16="http://schemas.microsoft.com/office/drawing/2014/main" id="{3F0B3177-5D5E-1D40-500A-297C0DDF6690}"/>
                </a:ext>
              </a:extLst>
            </p:cNvPr>
            <p:cNvSpPr txBox="1"/>
            <p:nvPr>
              <p:custDataLst>
                <p:tags r:id="rId35"/>
              </p:custDataLst>
            </p:nvPr>
          </p:nvSpPr>
          <p:spPr>
            <a:xfrm>
              <a:off x="5169038" y="8402296"/>
              <a:ext cx="881192" cy="21544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panose="020B0604020202020204" pitchFamily="34" charset="0"/>
                </a:rPr>
                <a:t>Target Maturity</a:t>
              </a:r>
            </a:p>
          </p:txBody>
        </p:sp>
        <p:sp>
          <p:nvSpPr>
            <p:cNvPr id="10" name="Rectangle 9">
              <a:extLst>
                <a:ext uri="{FF2B5EF4-FFF2-40B4-BE49-F238E27FC236}">
                  <a16:creationId xmlns:a16="http://schemas.microsoft.com/office/drawing/2014/main" id="{CEC2DCE5-35BC-39EB-4BD7-38A741F529AD}"/>
                </a:ext>
              </a:extLst>
            </p:cNvPr>
            <p:cNvSpPr/>
            <p:nvPr>
              <p:custDataLst>
                <p:tags r:id="rId36"/>
              </p:custDataLst>
            </p:nvPr>
          </p:nvSpPr>
          <p:spPr>
            <a:xfrm>
              <a:off x="3884227" y="8444792"/>
              <a:ext cx="136507" cy="136507"/>
            </a:xfrm>
            <a:prstGeom prst="rect">
              <a:avLst/>
            </a:prstGeom>
            <a:solidFill>
              <a:srgbClr val="0028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 name="Rectangle 10">
              <a:extLst>
                <a:ext uri="{FF2B5EF4-FFF2-40B4-BE49-F238E27FC236}">
                  <a16:creationId xmlns:a16="http://schemas.microsoft.com/office/drawing/2014/main" id="{DCE32901-40D3-724E-7FAF-2394E89CDA16}"/>
                </a:ext>
              </a:extLst>
            </p:cNvPr>
            <p:cNvSpPr/>
            <p:nvPr>
              <p:custDataLst>
                <p:tags r:id="rId37"/>
              </p:custDataLst>
            </p:nvPr>
          </p:nvSpPr>
          <p:spPr>
            <a:xfrm>
              <a:off x="5034326" y="8441765"/>
              <a:ext cx="136507" cy="136507"/>
            </a:xfrm>
            <a:prstGeom prst="rect">
              <a:avLst/>
            </a:prstGeom>
            <a:solidFill>
              <a:srgbClr val="1F9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nvGrpSpPr>
          <p:cNvPr id="12" name="Group 11">
            <a:extLst>
              <a:ext uri="{FF2B5EF4-FFF2-40B4-BE49-F238E27FC236}">
                <a16:creationId xmlns:a16="http://schemas.microsoft.com/office/drawing/2014/main" id="{C54834AF-16BA-E80C-46EF-EDE8F23C9D5D}"/>
              </a:ext>
            </a:extLst>
          </p:cNvPr>
          <p:cNvGrpSpPr/>
          <p:nvPr>
            <p:custDataLst>
              <p:tags r:id="rId10"/>
            </p:custDataLst>
          </p:nvPr>
        </p:nvGrpSpPr>
        <p:grpSpPr>
          <a:xfrm>
            <a:off x="3556682" y="1004314"/>
            <a:ext cx="7071369" cy="339713"/>
            <a:chOff x="2649838" y="857851"/>
            <a:chExt cx="5705934" cy="339713"/>
          </a:xfrm>
        </p:grpSpPr>
        <p:sp>
          <p:nvSpPr>
            <p:cNvPr id="13" name="TextBox 12">
              <a:extLst>
                <a:ext uri="{FF2B5EF4-FFF2-40B4-BE49-F238E27FC236}">
                  <a16:creationId xmlns:a16="http://schemas.microsoft.com/office/drawing/2014/main" id="{BE42B932-813F-E6E8-4565-340D675FD233}"/>
                </a:ext>
              </a:extLst>
            </p:cNvPr>
            <p:cNvSpPr txBox="1"/>
            <p:nvPr>
              <p:custDataLst>
                <p:tags r:id="rId29"/>
              </p:custDataLst>
            </p:nvPr>
          </p:nvSpPr>
          <p:spPr>
            <a:xfrm>
              <a:off x="2649838" y="857851"/>
              <a:ext cx="1103849"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 </a:t>
              </a:r>
              <a:r>
                <a:rPr lang="en-IN" sz="1000"/>
                <a:t>Planning</a:t>
              </a:r>
              <a:endParaRPr lang="en-IN" sz="900"/>
            </a:p>
          </p:txBody>
        </p:sp>
        <p:sp>
          <p:nvSpPr>
            <p:cNvPr id="14" name="TextBox 13">
              <a:extLst>
                <a:ext uri="{FF2B5EF4-FFF2-40B4-BE49-F238E27FC236}">
                  <a16:creationId xmlns:a16="http://schemas.microsoft.com/office/drawing/2014/main" id="{D2B17752-F3F4-C00E-3BB0-35EB551134C6}"/>
                </a:ext>
              </a:extLst>
            </p:cNvPr>
            <p:cNvSpPr txBox="1"/>
            <p:nvPr>
              <p:custDataLst>
                <p:tags r:id="rId30"/>
              </p:custDataLst>
            </p:nvPr>
          </p:nvSpPr>
          <p:spPr>
            <a:xfrm>
              <a:off x="3873194" y="857851"/>
              <a:ext cx="1016703"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t>Experimenting</a:t>
              </a:r>
              <a:endParaRPr lang="en-IN" sz="900"/>
            </a:p>
          </p:txBody>
        </p:sp>
        <p:sp>
          <p:nvSpPr>
            <p:cNvPr id="15" name="TextBox 14">
              <a:extLst>
                <a:ext uri="{FF2B5EF4-FFF2-40B4-BE49-F238E27FC236}">
                  <a16:creationId xmlns:a16="http://schemas.microsoft.com/office/drawing/2014/main" id="{8A99E9EA-C234-4A67-FFBB-ED7D2844DFE7}"/>
                </a:ext>
              </a:extLst>
            </p:cNvPr>
            <p:cNvSpPr txBox="1"/>
            <p:nvPr>
              <p:custDataLst>
                <p:tags r:id="rId31"/>
              </p:custDataLst>
            </p:nvPr>
          </p:nvSpPr>
          <p:spPr>
            <a:xfrm>
              <a:off x="5035524" y="859164"/>
              <a:ext cx="1016703" cy="338400"/>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 </a:t>
              </a:r>
              <a:r>
                <a:rPr lang="en-IN" sz="1000"/>
                <a:t>Stabilization</a:t>
              </a:r>
              <a:endParaRPr lang="en-IN" sz="900"/>
            </a:p>
          </p:txBody>
        </p:sp>
        <p:sp>
          <p:nvSpPr>
            <p:cNvPr id="43" name="TextBox 42">
              <a:extLst>
                <a:ext uri="{FF2B5EF4-FFF2-40B4-BE49-F238E27FC236}">
                  <a16:creationId xmlns:a16="http://schemas.microsoft.com/office/drawing/2014/main" id="{57B2D517-6E35-47AF-4DE6-635EF652DE64}"/>
                </a:ext>
              </a:extLst>
            </p:cNvPr>
            <p:cNvSpPr txBox="1"/>
            <p:nvPr>
              <p:custDataLst>
                <p:tags r:id="rId32"/>
              </p:custDataLst>
            </p:nvPr>
          </p:nvSpPr>
          <p:spPr>
            <a:xfrm>
              <a:off x="6179485" y="857851"/>
              <a:ext cx="1016703"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t>Scaling</a:t>
              </a:r>
              <a:endParaRPr lang="en-IN" sz="900"/>
            </a:p>
          </p:txBody>
        </p:sp>
        <p:sp>
          <p:nvSpPr>
            <p:cNvPr id="44" name="TextBox 43">
              <a:extLst>
                <a:ext uri="{FF2B5EF4-FFF2-40B4-BE49-F238E27FC236}">
                  <a16:creationId xmlns:a16="http://schemas.microsoft.com/office/drawing/2014/main" id="{4BD1C66C-1CEB-8D91-9D95-3933BFB1BB56}"/>
                </a:ext>
              </a:extLst>
            </p:cNvPr>
            <p:cNvSpPr txBox="1"/>
            <p:nvPr>
              <p:custDataLst>
                <p:tags r:id="rId33"/>
              </p:custDataLst>
            </p:nvPr>
          </p:nvSpPr>
          <p:spPr>
            <a:xfrm>
              <a:off x="7339070" y="857851"/>
              <a:ext cx="1016702"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t>Leading</a:t>
              </a:r>
              <a:endParaRPr lang="en-IN" sz="900"/>
            </a:p>
          </p:txBody>
        </p:sp>
      </p:grpSp>
      <p:sp>
        <p:nvSpPr>
          <p:cNvPr id="45" name="Oval 44">
            <a:extLst>
              <a:ext uri="{FF2B5EF4-FFF2-40B4-BE49-F238E27FC236}">
                <a16:creationId xmlns:a16="http://schemas.microsoft.com/office/drawing/2014/main" id="{435992ED-E40F-5147-AB24-89592BC1C069}"/>
              </a:ext>
            </a:extLst>
          </p:cNvPr>
          <p:cNvSpPr/>
          <p:nvPr>
            <p:custDataLst>
              <p:tags r:id="rId11"/>
            </p:custDataLst>
          </p:nvPr>
        </p:nvSpPr>
        <p:spPr>
          <a:xfrm>
            <a:off x="4884570" y="1068832"/>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1</a:t>
            </a:r>
          </a:p>
        </p:txBody>
      </p:sp>
      <p:sp>
        <p:nvSpPr>
          <p:cNvPr id="46" name="Oval 45">
            <a:extLst>
              <a:ext uri="{FF2B5EF4-FFF2-40B4-BE49-F238E27FC236}">
                <a16:creationId xmlns:a16="http://schemas.microsoft.com/office/drawing/2014/main" id="{BA93B01E-C9C2-AB44-3B40-285950629400}"/>
              </a:ext>
            </a:extLst>
          </p:cNvPr>
          <p:cNvSpPr/>
          <p:nvPr>
            <p:custDataLst>
              <p:tags r:id="rId12"/>
            </p:custDataLst>
          </p:nvPr>
        </p:nvSpPr>
        <p:spPr>
          <a:xfrm>
            <a:off x="6309971" y="1059298"/>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2</a:t>
            </a:r>
          </a:p>
        </p:txBody>
      </p:sp>
      <p:sp>
        <p:nvSpPr>
          <p:cNvPr id="47" name="Oval 46">
            <a:extLst>
              <a:ext uri="{FF2B5EF4-FFF2-40B4-BE49-F238E27FC236}">
                <a16:creationId xmlns:a16="http://schemas.microsoft.com/office/drawing/2014/main" id="{D829547E-7DCA-8208-B466-B48FA8DBF296}"/>
              </a:ext>
            </a:extLst>
          </p:cNvPr>
          <p:cNvSpPr/>
          <p:nvPr>
            <p:custDataLst>
              <p:tags r:id="rId13"/>
            </p:custDataLst>
          </p:nvPr>
        </p:nvSpPr>
        <p:spPr>
          <a:xfrm>
            <a:off x="7738110" y="1068745"/>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3</a:t>
            </a:r>
          </a:p>
        </p:txBody>
      </p:sp>
      <p:sp>
        <p:nvSpPr>
          <p:cNvPr id="48" name="Oval 47">
            <a:extLst>
              <a:ext uri="{FF2B5EF4-FFF2-40B4-BE49-F238E27FC236}">
                <a16:creationId xmlns:a16="http://schemas.microsoft.com/office/drawing/2014/main" id="{FA8A8313-E214-0BEE-E835-C09079D65DF4}"/>
              </a:ext>
            </a:extLst>
          </p:cNvPr>
          <p:cNvSpPr/>
          <p:nvPr>
            <p:custDataLst>
              <p:tags r:id="rId14"/>
            </p:custDataLst>
          </p:nvPr>
        </p:nvSpPr>
        <p:spPr>
          <a:xfrm>
            <a:off x="9166249" y="1068607"/>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4</a:t>
            </a:r>
          </a:p>
        </p:txBody>
      </p:sp>
      <p:sp>
        <p:nvSpPr>
          <p:cNvPr id="49" name="Oval 48">
            <a:extLst>
              <a:ext uri="{FF2B5EF4-FFF2-40B4-BE49-F238E27FC236}">
                <a16:creationId xmlns:a16="http://schemas.microsoft.com/office/drawing/2014/main" id="{5E31DB58-F988-5AA6-EBDA-A83D3DA168E2}"/>
              </a:ext>
            </a:extLst>
          </p:cNvPr>
          <p:cNvSpPr/>
          <p:nvPr>
            <p:custDataLst>
              <p:tags r:id="rId15"/>
            </p:custDataLst>
          </p:nvPr>
        </p:nvSpPr>
        <p:spPr>
          <a:xfrm>
            <a:off x="10595199" y="1068607"/>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5</a:t>
            </a:r>
          </a:p>
        </p:txBody>
      </p:sp>
      <p:graphicFrame>
        <p:nvGraphicFramePr>
          <p:cNvPr id="6" name="Chart 5" descr="SOURCE=[BULLET_AI_GOVERNANCE]&#10;HIDE-IF=AND([C_T1_5]=&quot;N/A&quot;,[T_T1_5]=&quot;N/A&quot;)&#10;">
            <a:extLst>
              <a:ext uri="{FF2B5EF4-FFF2-40B4-BE49-F238E27FC236}">
                <a16:creationId xmlns:a16="http://schemas.microsoft.com/office/drawing/2014/main" id="{1E49BE16-9BBE-B1DF-10E2-6539F6D8F553}"/>
              </a:ext>
            </a:extLst>
          </p:cNvPr>
          <p:cNvGraphicFramePr>
            <a:graphicFrameLocks noDrilldown="1"/>
          </p:cNvGraphicFramePr>
          <p:nvPr>
            <p:custDataLst>
              <p:tags r:id="rId16"/>
            </p:custDataLst>
            <p:extLst>
              <p:ext uri="{D42A27DB-BD31-4B8C-83A1-F6EECF244321}">
                <p14:modId xmlns:p14="http://schemas.microsoft.com/office/powerpoint/2010/main" val="3749643607"/>
              </p:ext>
            </p:extLst>
          </p:nvPr>
        </p:nvGraphicFramePr>
        <p:xfrm>
          <a:off x="3257022" y="1108285"/>
          <a:ext cx="8153258" cy="1874842"/>
        </p:xfrm>
        <a:graphic>
          <a:graphicData uri="http://schemas.openxmlformats.org/drawingml/2006/chart">
            <c:chart xmlns:c="http://schemas.openxmlformats.org/drawingml/2006/chart" xmlns:r="http://schemas.openxmlformats.org/officeDocument/2006/relationships" r:id="rId40"/>
          </a:graphicData>
        </a:graphic>
      </p:graphicFrame>
      <p:graphicFrame>
        <p:nvGraphicFramePr>
          <p:cNvPr id="18" name="Chart 17" descr="SOURCE=[BULLET_AI_ENGINEERING]&#10;HIDE-IF=AND([C_T1_6]=&quot;N/A&quot;,[T_T1_6]=&quot;N/A&quot;)&#10;">
            <a:extLst>
              <a:ext uri="{FF2B5EF4-FFF2-40B4-BE49-F238E27FC236}">
                <a16:creationId xmlns:a16="http://schemas.microsoft.com/office/drawing/2014/main" id="{33EEDF13-D720-416A-2858-63B5AA423903}"/>
              </a:ext>
            </a:extLst>
          </p:cNvPr>
          <p:cNvGraphicFramePr>
            <a:graphicFrameLocks noDrilldown="1"/>
          </p:cNvGraphicFramePr>
          <p:nvPr>
            <p:custDataLst>
              <p:tags r:id="rId17"/>
            </p:custDataLst>
            <p:extLst>
              <p:ext uri="{D42A27DB-BD31-4B8C-83A1-F6EECF244321}">
                <p14:modId xmlns:p14="http://schemas.microsoft.com/office/powerpoint/2010/main" val="2819461321"/>
              </p:ext>
            </p:extLst>
          </p:nvPr>
        </p:nvGraphicFramePr>
        <p:xfrm>
          <a:off x="3257022" y="2298026"/>
          <a:ext cx="8153258" cy="1874842"/>
        </p:xfrm>
        <a:graphic>
          <a:graphicData uri="http://schemas.openxmlformats.org/drawingml/2006/chart">
            <c:chart xmlns:c="http://schemas.openxmlformats.org/drawingml/2006/chart" xmlns:r="http://schemas.openxmlformats.org/officeDocument/2006/relationships" r:id="rId41"/>
          </a:graphicData>
        </a:graphic>
      </p:graphicFrame>
      <p:graphicFrame>
        <p:nvGraphicFramePr>
          <p:cNvPr id="19" name="Chart 18" descr="SOURCE=[BULLET_AI_DATA]&#10;HIDE-IF=AND([C_T1_7]=&quot;N/A&quot;,[T_T1_7]=&quot;N/A&quot;)">
            <a:extLst>
              <a:ext uri="{FF2B5EF4-FFF2-40B4-BE49-F238E27FC236}">
                <a16:creationId xmlns:a16="http://schemas.microsoft.com/office/drawing/2014/main" id="{7BDD6645-53AA-1E82-80E3-2E42BD72D42D}"/>
              </a:ext>
            </a:extLst>
          </p:cNvPr>
          <p:cNvGraphicFramePr>
            <a:graphicFrameLocks noDrilldown="1"/>
          </p:cNvGraphicFramePr>
          <p:nvPr>
            <p:custDataLst>
              <p:tags r:id="rId18"/>
            </p:custDataLst>
            <p:extLst>
              <p:ext uri="{D42A27DB-BD31-4B8C-83A1-F6EECF244321}">
                <p14:modId xmlns:p14="http://schemas.microsoft.com/office/powerpoint/2010/main" val="771058605"/>
              </p:ext>
            </p:extLst>
          </p:nvPr>
        </p:nvGraphicFramePr>
        <p:xfrm>
          <a:off x="3257022" y="3522313"/>
          <a:ext cx="8153258" cy="1874842"/>
        </p:xfrm>
        <a:graphic>
          <a:graphicData uri="http://schemas.openxmlformats.org/drawingml/2006/chart">
            <c:chart xmlns:c="http://schemas.openxmlformats.org/drawingml/2006/chart" xmlns:r="http://schemas.openxmlformats.org/officeDocument/2006/relationships" r:id="rId42"/>
          </a:graphicData>
        </a:graphic>
      </p:graphicFrame>
      <p:sp>
        <p:nvSpPr>
          <p:cNvPr id="21" name="TextBox 20" descr="FILLCOLOR-IF=AND([C_T1_5]=&quot;N/A&quot;,[T_T1_5]=&quot;N/A&quot;),#FFFFF7&#10;FONTCOLOR-IF=AND([C_T1_5]=&quot;N/A&quot;,[T_T1_5]=&quot;N/A&quot;),#7F7F7F">
            <a:extLst>
              <a:ext uri="{FF2B5EF4-FFF2-40B4-BE49-F238E27FC236}">
                <a16:creationId xmlns:a16="http://schemas.microsoft.com/office/drawing/2014/main" id="{AC31C1B3-206A-211B-64B3-E6FD470BFC19}"/>
              </a:ext>
            </a:extLst>
          </p:cNvPr>
          <p:cNvSpPr txBox="1"/>
          <p:nvPr>
            <p:custDataLst>
              <p:tags r:id="rId19"/>
            </p:custDataLst>
          </p:nvPr>
        </p:nvSpPr>
        <p:spPr>
          <a:xfrm>
            <a:off x="808354" y="1809070"/>
            <a:ext cx="1800000" cy="307777"/>
          </a:xfrm>
          <a:prstGeom prst="rect">
            <a:avLst/>
          </a:prstGeom>
          <a:noFill/>
        </p:spPr>
        <p:txBody>
          <a:bodyPr wrap="square">
            <a:spAutoFit/>
          </a:bodyPr>
          <a:lstStyle/>
          <a:p>
            <a:r>
              <a:rPr lang="en-IN" sz="1400"/>
              <a:t>AI governance</a:t>
            </a:r>
          </a:p>
        </p:txBody>
      </p:sp>
      <p:sp>
        <p:nvSpPr>
          <p:cNvPr id="22" name="TextBox 21" descr="FILLCOLOR-IF=AND([C_T1_6]=&quot;N/A&quot;,[T_T1_6]=&quot;N/A&quot;),#FFFFF7&#10;FONTCOLOR-IF=AND([C_T1_6]=&quot;N/A&quot;,[T_T1_6]=&quot;N/A&quot;),#7F7F7F">
            <a:extLst>
              <a:ext uri="{FF2B5EF4-FFF2-40B4-BE49-F238E27FC236}">
                <a16:creationId xmlns:a16="http://schemas.microsoft.com/office/drawing/2014/main" id="{0938D7B1-1D1D-099A-DFD3-3070BBCBED1D}"/>
              </a:ext>
            </a:extLst>
          </p:cNvPr>
          <p:cNvSpPr txBox="1"/>
          <p:nvPr>
            <p:custDataLst>
              <p:tags r:id="rId20"/>
            </p:custDataLst>
          </p:nvPr>
        </p:nvSpPr>
        <p:spPr>
          <a:xfrm>
            <a:off x="808354" y="3011458"/>
            <a:ext cx="1800000" cy="307777"/>
          </a:xfrm>
          <a:prstGeom prst="rect">
            <a:avLst/>
          </a:prstGeom>
          <a:noFill/>
        </p:spPr>
        <p:txBody>
          <a:bodyPr wrap="square">
            <a:spAutoFit/>
          </a:bodyPr>
          <a:lstStyle/>
          <a:p>
            <a:r>
              <a:rPr lang="en-IN" sz="1400"/>
              <a:t>AI engineering</a:t>
            </a:r>
          </a:p>
        </p:txBody>
      </p:sp>
      <p:sp>
        <p:nvSpPr>
          <p:cNvPr id="23" name="TextBox 22" descr="FILLCOLOR-IF=AND([C_T1_7]=&quot;N/A&quot;,[T_T1_7]=&quot;N/A&quot;),#FFFFF7&#10;FONTCOLOR-IF=AND([C_T1_7]=&quot;N/A&quot;,[T_T1_7]=&quot;N/A&quot;),#7F7F7F">
            <a:extLst>
              <a:ext uri="{FF2B5EF4-FFF2-40B4-BE49-F238E27FC236}">
                <a16:creationId xmlns:a16="http://schemas.microsoft.com/office/drawing/2014/main" id="{C8FFEC0B-5728-DF2D-3711-65F6B1346B03}"/>
              </a:ext>
            </a:extLst>
          </p:cNvPr>
          <p:cNvSpPr txBox="1"/>
          <p:nvPr>
            <p:custDataLst>
              <p:tags r:id="rId21"/>
            </p:custDataLst>
          </p:nvPr>
        </p:nvSpPr>
        <p:spPr>
          <a:xfrm>
            <a:off x="810000" y="4214970"/>
            <a:ext cx="1800000" cy="307777"/>
          </a:xfrm>
          <a:prstGeom prst="rect">
            <a:avLst/>
          </a:prstGeom>
          <a:noFill/>
        </p:spPr>
        <p:txBody>
          <a:bodyPr wrap="square">
            <a:spAutoFit/>
          </a:bodyPr>
          <a:lstStyle/>
          <a:p>
            <a:r>
              <a:rPr lang="en-IN" sz="1400"/>
              <a:t>AI data</a:t>
            </a:r>
          </a:p>
        </p:txBody>
      </p:sp>
      <p:sp>
        <p:nvSpPr>
          <p:cNvPr id="53" name="TextBox 59" descr="FILLCOLOR-IF=AND([C_T1_5]=&quot;N/A&quot;,[T_T1_5]=&quot;N/A&quot;),#FFFFF7&#10;FONTCOLOR-IF=AND([C_T1_5]=&quot;N/A&quot;,[T_T1_5]=&quot;N/A&quot;),#7F7F7F">
            <a:extLst>
              <a:ext uri="{FF2B5EF4-FFF2-40B4-BE49-F238E27FC236}">
                <a16:creationId xmlns:a16="http://schemas.microsoft.com/office/drawing/2014/main" id="{D6942462-E588-CCEF-2FA0-E3B604AA46F6}"/>
              </a:ext>
            </a:extLst>
          </p:cNvPr>
          <p:cNvSpPr txBox="1"/>
          <p:nvPr>
            <p:custDataLst>
              <p:tags r:id="rId22"/>
            </p:custDataLst>
          </p:nvPr>
        </p:nvSpPr>
        <p:spPr>
          <a:xfrm>
            <a:off x="2332800" y="2121945"/>
            <a:ext cx="881192"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200">
                <a:cs typeface="Arial" panose="020B0604020202020204" pitchFamily="34" charset="0"/>
              </a:rPr>
              <a:t>Peers</a:t>
            </a:r>
          </a:p>
        </p:txBody>
      </p:sp>
      <p:sp>
        <p:nvSpPr>
          <p:cNvPr id="54" name="TextBox 59" descr="FILLCOLOR-IF=AND([C_T1_5]=&quot;N/A&quot;,[T_T1_5]=&quot;N/A&quot;),#FFFFF7&#10;FONTCOLOR-IF=AND([C_T1_5]=&quot;N/A&quot;,[T_T1_5]=&quot;N/A&quot;),#7F7F7F">
            <a:extLst>
              <a:ext uri="{FF2B5EF4-FFF2-40B4-BE49-F238E27FC236}">
                <a16:creationId xmlns:a16="http://schemas.microsoft.com/office/drawing/2014/main" id="{0AB4B2FB-AB6A-63FA-A23E-6787913DC8BF}"/>
              </a:ext>
            </a:extLst>
          </p:cNvPr>
          <p:cNvSpPr txBox="1"/>
          <p:nvPr>
            <p:custDataLst>
              <p:tags r:id="rId23"/>
            </p:custDataLst>
          </p:nvPr>
        </p:nvSpPr>
        <p:spPr>
          <a:xfrm>
            <a:off x="2333871" y="1604933"/>
            <a:ext cx="881192"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200">
                <a:cs typeface="Arial" panose="020B0604020202020204" pitchFamily="34" charset="0"/>
              </a:rPr>
              <a:t>You</a:t>
            </a:r>
          </a:p>
        </p:txBody>
      </p:sp>
      <p:sp>
        <p:nvSpPr>
          <p:cNvPr id="56" name="TextBox 59" descr="FILLCOLOR-IF=AND([C_T1_6]=&quot;N/A&quot;,[T_T1_6]=&quot;N/A&quot;),#FFFFF7&#10;FONTCOLOR-IF=AND([C_T1_6]=&quot;N/A&quot;,[T_T1_6]=&quot;N/A&quot;),#7F7F7F">
            <a:extLst>
              <a:ext uri="{FF2B5EF4-FFF2-40B4-BE49-F238E27FC236}">
                <a16:creationId xmlns:a16="http://schemas.microsoft.com/office/drawing/2014/main" id="{212FE490-DA91-3FCA-6572-7D6BF6817935}"/>
              </a:ext>
            </a:extLst>
          </p:cNvPr>
          <p:cNvSpPr txBox="1"/>
          <p:nvPr>
            <p:custDataLst>
              <p:tags r:id="rId24"/>
            </p:custDataLst>
          </p:nvPr>
        </p:nvSpPr>
        <p:spPr>
          <a:xfrm>
            <a:off x="2333871" y="3327530"/>
            <a:ext cx="881192"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200">
                <a:cs typeface="Arial" panose="020B0604020202020204" pitchFamily="34" charset="0"/>
              </a:rPr>
              <a:t>Peers</a:t>
            </a:r>
          </a:p>
        </p:txBody>
      </p:sp>
      <p:sp>
        <p:nvSpPr>
          <p:cNvPr id="57" name="TextBox 59" descr="FILLCOLOR-IF=AND([C_T1_6]=&quot;N/A&quot;,[T_T1_6]=&quot;N/A&quot;),#FFFFF7&#10;FONTCOLOR-IF=AND([C_T1_6]=&quot;N/A&quot;,[T_T1_6]=&quot;N/A&quot;),#7F7F7F">
            <a:extLst>
              <a:ext uri="{FF2B5EF4-FFF2-40B4-BE49-F238E27FC236}">
                <a16:creationId xmlns:a16="http://schemas.microsoft.com/office/drawing/2014/main" id="{77B8DCB3-CD4D-CD73-F211-9E67762D18C6}"/>
              </a:ext>
            </a:extLst>
          </p:cNvPr>
          <p:cNvSpPr txBox="1"/>
          <p:nvPr>
            <p:custDataLst>
              <p:tags r:id="rId25"/>
            </p:custDataLst>
          </p:nvPr>
        </p:nvSpPr>
        <p:spPr>
          <a:xfrm>
            <a:off x="2333871" y="2795776"/>
            <a:ext cx="881192"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200">
                <a:cs typeface="Arial" panose="020B0604020202020204" pitchFamily="34" charset="0"/>
              </a:rPr>
              <a:t>You</a:t>
            </a:r>
          </a:p>
        </p:txBody>
      </p:sp>
      <p:sp>
        <p:nvSpPr>
          <p:cNvPr id="58" name="TextBox 59" descr="FILLCOLOR-IF=AND([C_T1_7]=&quot;N/A&quot;,[T_T1_7]=&quot;N/A&quot;),#FFFFF7&#10;FONTCOLOR-IF=AND([C_T1_7]=&quot;N/A&quot;,[T_T1_7]=&quot;N/A&quot;),#7F7F7F">
            <a:extLst>
              <a:ext uri="{FF2B5EF4-FFF2-40B4-BE49-F238E27FC236}">
                <a16:creationId xmlns:a16="http://schemas.microsoft.com/office/drawing/2014/main" id="{F9F139A8-B3C5-824E-8CE6-F9093BA59719}"/>
              </a:ext>
            </a:extLst>
          </p:cNvPr>
          <p:cNvSpPr txBox="1"/>
          <p:nvPr>
            <p:custDataLst>
              <p:tags r:id="rId26"/>
            </p:custDataLst>
          </p:nvPr>
        </p:nvSpPr>
        <p:spPr>
          <a:xfrm>
            <a:off x="2332800" y="4563763"/>
            <a:ext cx="881192"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200">
                <a:cs typeface="Arial" panose="020B0604020202020204" pitchFamily="34" charset="0"/>
              </a:rPr>
              <a:t>Peers</a:t>
            </a:r>
          </a:p>
        </p:txBody>
      </p:sp>
      <p:sp>
        <p:nvSpPr>
          <p:cNvPr id="59" name="TextBox 59" descr="FILLCOLOR-IF=AND([C_T1_7]=&quot;N/A&quot;,[T_T1_7]=&quot;N/A&quot;),#FFFFF7&#10;FONTCOLOR-IF=AND([C_T1_7]=&quot;N/A&quot;,[T_T1_7]=&quot;N/A&quot;),#7F7F7F">
            <a:extLst>
              <a:ext uri="{FF2B5EF4-FFF2-40B4-BE49-F238E27FC236}">
                <a16:creationId xmlns:a16="http://schemas.microsoft.com/office/drawing/2014/main" id="{35CB01C3-6F19-50D5-BB4E-8D668DC4E190}"/>
              </a:ext>
            </a:extLst>
          </p:cNvPr>
          <p:cNvSpPr txBox="1"/>
          <p:nvPr>
            <p:custDataLst>
              <p:tags r:id="rId27"/>
            </p:custDataLst>
          </p:nvPr>
        </p:nvSpPr>
        <p:spPr>
          <a:xfrm>
            <a:off x="2332800" y="4032009"/>
            <a:ext cx="881192"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200">
                <a:cs typeface="Arial" panose="020B0604020202020204" pitchFamily="34" charset="0"/>
              </a:rPr>
              <a:t>You</a:t>
            </a:r>
          </a:p>
        </p:txBody>
      </p:sp>
      <p:sp>
        <p:nvSpPr>
          <p:cNvPr id="16" name="TextBox 15">
            <a:extLst>
              <a:ext uri="{FF2B5EF4-FFF2-40B4-BE49-F238E27FC236}">
                <a16:creationId xmlns:a16="http://schemas.microsoft.com/office/drawing/2014/main" id="{038B9DAD-A0B8-4558-4564-91CA0D23525A}"/>
              </a:ext>
            </a:extLst>
          </p:cNvPr>
          <p:cNvSpPr txBox="1"/>
          <p:nvPr>
            <p:custDataLst>
              <p:tags r:id="rId28"/>
            </p:custDataLst>
          </p:nvPr>
        </p:nvSpPr>
        <p:spPr>
          <a:xfrm>
            <a:off x="631804" y="6200611"/>
            <a:ext cx="11298831" cy="153888"/>
          </a:xfrm>
          <a:prstGeom prst="rect">
            <a:avLst/>
          </a:prstGeom>
          <a:noFill/>
        </p:spPr>
        <p:txBody>
          <a:bodyPr wrap="square" lIns="0" tIns="0" rIns="0" bIns="0">
            <a:spAutoFit/>
          </a:bodyPr>
          <a:lstStyle/>
          <a:p>
            <a:r>
              <a:rPr lang="en-US" sz="1000" i="0" u="none" strike="noStrike">
                <a:solidFill>
                  <a:srgbClr val="000000"/>
                </a:solidFill>
                <a:effectLst/>
                <a:latin typeface="Gartner Sans" panose="020B0504030402040204" pitchFamily="34" charset="0"/>
                <a:ea typeface="Roboto" panose="02000000000000000000" pitchFamily="2" charset="0"/>
                <a:cs typeface="Roboto" panose="02000000000000000000" pitchFamily="2" charset="0"/>
              </a:rPr>
              <a:t>Benchmark comparison group: </a:t>
            </a:r>
            <a:r>
              <a:rPr lang="en-US" sz="1000">
                <a:solidFill>
                  <a:srgbClr val="000000"/>
                </a:solidFill>
                <a:latin typeface="Gartner Sans" panose="020B0504030402040204" pitchFamily="34" charset="0"/>
                <a:ea typeface="Roboto" panose="02000000000000000000" pitchFamily="2" charset="0"/>
                <a:cs typeface="Roboto" panose="02000000000000000000" pitchFamily="2" charset="0"/>
              </a:rPr>
              <a:t>All participating respondents</a:t>
            </a:r>
            <a:endParaRPr lang="en-US" sz="1000" i="0" u="none" strike="noStrike">
              <a:solidFill>
                <a:srgbClr val="000000"/>
              </a:solidFill>
              <a:effectLst/>
              <a:latin typeface="Gartner Sans" panose="020B0504030402040204" pitchFamily="34"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49861562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F3151-1F68-4E8C-88CC-A726F1F7B62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0015831-1B7C-76C1-A36F-D5FF32903E8E}"/>
              </a:ext>
            </a:extLst>
          </p:cNvPr>
          <p:cNvSpPr/>
          <p:nvPr>
            <p:custDataLst>
              <p:tags r:id="rId1"/>
            </p:custDataLst>
          </p:nvPr>
        </p:nvSpPr>
        <p:spPr>
          <a:xfrm>
            <a:off x="8272821" y="778117"/>
            <a:ext cx="2291395" cy="4860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 name="Rectangle 5">
            <a:extLst>
              <a:ext uri="{FF2B5EF4-FFF2-40B4-BE49-F238E27FC236}">
                <a16:creationId xmlns:a16="http://schemas.microsoft.com/office/drawing/2014/main" id="{47945FF4-E3F2-F7E7-F824-68BA990AFB44}"/>
              </a:ext>
            </a:extLst>
          </p:cNvPr>
          <p:cNvSpPr/>
          <p:nvPr>
            <p:custDataLst>
              <p:tags r:id="rId2"/>
            </p:custDataLst>
          </p:nvPr>
        </p:nvSpPr>
        <p:spPr>
          <a:xfrm>
            <a:off x="5589870" y="790187"/>
            <a:ext cx="1423540" cy="4860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 name="Rectangle 6">
            <a:extLst>
              <a:ext uri="{FF2B5EF4-FFF2-40B4-BE49-F238E27FC236}">
                <a16:creationId xmlns:a16="http://schemas.microsoft.com/office/drawing/2014/main" id="{C3EE2708-D07B-C4F9-A52C-C422F8B85865}"/>
              </a:ext>
            </a:extLst>
          </p:cNvPr>
          <p:cNvSpPr/>
          <p:nvPr>
            <p:custDataLst>
              <p:tags r:id="rId3"/>
            </p:custDataLst>
          </p:nvPr>
        </p:nvSpPr>
        <p:spPr>
          <a:xfrm>
            <a:off x="2906918" y="778117"/>
            <a:ext cx="1423541" cy="4860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 name="Title 1">
            <a:extLst>
              <a:ext uri="{FF2B5EF4-FFF2-40B4-BE49-F238E27FC236}">
                <a16:creationId xmlns:a16="http://schemas.microsoft.com/office/drawing/2014/main" id="{D81F88B1-0E89-1F60-E5B0-131C29A02344}"/>
              </a:ext>
            </a:extLst>
          </p:cNvPr>
          <p:cNvSpPr>
            <a:spLocks noGrp="1"/>
          </p:cNvSpPr>
          <p:nvPr>
            <p:ph type="title"/>
            <p:custDataLst>
              <p:tags r:id="rId4"/>
            </p:custDataLst>
          </p:nvPr>
        </p:nvSpPr>
        <p:spPr>
          <a:xfrm>
            <a:off x="536400" y="187200"/>
            <a:ext cx="11276013" cy="332399"/>
          </a:xfrm>
          <a:noFill/>
        </p:spPr>
        <p:txBody>
          <a:bodyPr wrap="square" lIns="0" rIns="0" rtlCol="0">
            <a:spAutoFit/>
          </a:bodyPr>
          <a:lstStyle/>
          <a:p>
            <a:r>
              <a:rPr lang="en-US" sz="2400">
                <a:solidFill>
                  <a:srgbClr val="002856"/>
                </a:solidFill>
                <a:latin typeface="+mn-lt"/>
                <a:ea typeface="+mn-ea"/>
                <a:cs typeface="+mn-cs"/>
              </a:rPr>
              <a:t>Overview of Your Responses by Activity</a:t>
            </a:r>
          </a:p>
        </p:txBody>
      </p:sp>
      <p:sp>
        <p:nvSpPr>
          <p:cNvPr id="8" name="TextBox 7">
            <a:extLst>
              <a:ext uri="{FF2B5EF4-FFF2-40B4-BE49-F238E27FC236}">
                <a16:creationId xmlns:a16="http://schemas.microsoft.com/office/drawing/2014/main" id="{34FDC2CE-F801-3F7F-1281-4BA1381E9041}"/>
              </a:ext>
            </a:extLst>
          </p:cNvPr>
          <p:cNvSpPr txBox="1"/>
          <p:nvPr>
            <p:custDataLst>
              <p:tags r:id="rId5"/>
            </p:custDataLst>
          </p:nvPr>
        </p:nvSpPr>
        <p:spPr>
          <a:xfrm>
            <a:off x="2975809" y="882000"/>
            <a:ext cx="1296000" cy="441960"/>
          </a:xfrm>
          <a:prstGeom prst="rect">
            <a:avLst/>
          </a:prstGeom>
          <a:noFill/>
        </p:spPr>
        <p:txBody>
          <a:bodyPr wrap="square" lIns="0" rIns="0" rtlCol="0">
            <a:spAutoFit/>
          </a:bodyPr>
          <a:lstStyle/>
          <a:p>
            <a:pPr algn="ctr">
              <a:spcBef>
                <a:spcPts val="600"/>
              </a:spcBef>
            </a:pPr>
            <a:r>
              <a:rPr lang="en-US" sz="900" b="1"/>
              <a:t>AI value</a:t>
            </a:r>
          </a:p>
          <a:p>
            <a:pPr algn="ctr">
              <a:spcBef>
                <a:spcPts val="600"/>
              </a:spcBef>
            </a:pPr>
            <a:r>
              <a:rPr lang="en-US" sz="900" b="1"/>
              <a:t>Current Mat = 2.0</a:t>
            </a:r>
          </a:p>
        </p:txBody>
      </p:sp>
      <p:sp>
        <p:nvSpPr>
          <p:cNvPr id="9" name="TextBox 8">
            <a:extLst>
              <a:ext uri="{FF2B5EF4-FFF2-40B4-BE49-F238E27FC236}">
                <a16:creationId xmlns:a16="http://schemas.microsoft.com/office/drawing/2014/main" id="{D8BC5A2F-ED22-CC8E-CAA2-9540AA7FE835}"/>
              </a:ext>
            </a:extLst>
          </p:cNvPr>
          <p:cNvSpPr txBox="1"/>
          <p:nvPr>
            <p:custDataLst>
              <p:tags r:id="rId6"/>
            </p:custDataLst>
          </p:nvPr>
        </p:nvSpPr>
        <p:spPr>
          <a:xfrm>
            <a:off x="4420164" y="882000"/>
            <a:ext cx="1080000" cy="441960"/>
          </a:xfrm>
          <a:prstGeom prst="rect">
            <a:avLst/>
          </a:prstGeom>
          <a:noFill/>
        </p:spPr>
        <p:txBody>
          <a:bodyPr wrap="square" lIns="0" rIns="0" rtlCol="0">
            <a:spAutoFit/>
          </a:bodyPr>
          <a:lstStyle/>
          <a:p>
            <a:pPr algn="ctr">
              <a:spcBef>
                <a:spcPts val="600"/>
              </a:spcBef>
            </a:pPr>
            <a:r>
              <a:rPr lang="en-US" sz="900" b="1"/>
              <a:t>AI organization</a:t>
            </a:r>
          </a:p>
          <a:p>
            <a:pPr algn="ctr">
              <a:spcBef>
                <a:spcPts val="600"/>
              </a:spcBef>
            </a:pPr>
            <a:r>
              <a:rPr lang="en-US" sz="900" b="1"/>
              <a:t>Current Mat = 2.3</a:t>
            </a:r>
          </a:p>
        </p:txBody>
      </p:sp>
      <p:sp>
        <p:nvSpPr>
          <p:cNvPr id="10" name="TextBox 9">
            <a:extLst>
              <a:ext uri="{FF2B5EF4-FFF2-40B4-BE49-F238E27FC236}">
                <a16:creationId xmlns:a16="http://schemas.microsoft.com/office/drawing/2014/main" id="{08FD067C-C774-E572-973F-63AE03EDD723}"/>
              </a:ext>
            </a:extLst>
          </p:cNvPr>
          <p:cNvSpPr txBox="1"/>
          <p:nvPr>
            <p:custDataLst>
              <p:tags r:id="rId7"/>
            </p:custDataLst>
          </p:nvPr>
        </p:nvSpPr>
        <p:spPr>
          <a:xfrm>
            <a:off x="5707640" y="881998"/>
            <a:ext cx="1188000" cy="441960"/>
          </a:xfrm>
          <a:prstGeom prst="rect">
            <a:avLst/>
          </a:prstGeom>
          <a:noFill/>
        </p:spPr>
        <p:txBody>
          <a:bodyPr wrap="square" lIns="0" rIns="0" rtlCol="0">
            <a:spAutoFit/>
          </a:bodyPr>
          <a:lstStyle/>
          <a:p>
            <a:pPr algn="ctr">
              <a:spcBef>
                <a:spcPts val="600"/>
              </a:spcBef>
            </a:pPr>
            <a:r>
              <a:rPr lang="en-US" sz="900" b="1"/>
              <a:t>AI people and culture</a:t>
            </a:r>
          </a:p>
          <a:p>
            <a:pPr algn="ctr">
              <a:spcBef>
                <a:spcPts val="600"/>
              </a:spcBef>
            </a:pPr>
            <a:r>
              <a:rPr lang="en-US" sz="900" b="1"/>
              <a:t>Current Mat = 1.7</a:t>
            </a:r>
          </a:p>
        </p:txBody>
      </p:sp>
      <p:sp>
        <p:nvSpPr>
          <p:cNvPr id="11" name="TextBox 10">
            <a:extLst>
              <a:ext uri="{FF2B5EF4-FFF2-40B4-BE49-F238E27FC236}">
                <a16:creationId xmlns:a16="http://schemas.microsoft.com/office/drawing/2014/main" id="{6FE6A479-8184-8CF7-EA42-8C32C5D49BA7}"/>
              </a:ext>
            </a:extLst>
          </p:cNvPr>
          <p:cNvSpPr txBox="1"/>
          <p:nvPr>
            <p:custDataLst>
              <p:tags r:id="rId8"/>
            </p:custDataLst>
          </p:nvPr>
        </p:nvSpPr>
        <p:spPr>
          <a:xfrm>
            <a:off x="6833116" y="882000"/>
            <a:ext cx="1620000" cy="441960"/>
          </a:xfrm>
          <a:prstGeom prst="rect">
            <a:avLst/>
          </a:prstGeom>
          <a:noFill/>
        </p:spPr>
        <p:txBody>
          <a:bodyPr wrap="square" lIns="0" rIns="0" rtlCol="0">
            <a:spAutoFit/>
          </a:bodyPr>
          <a:lstStyle/>
          <a:p>
            <a:pPr algn="ctr">
              <a:spcBef>
                <a:spcPts val="600"/>
              </a:spcBef>
            </a:pPr>
            <a:r>
              <a:rPr lang="en-US" sz="900" b="1"/>
              <a:t>AI governance</a:t>
            </a:r>
          </a:p>
          <a:p>
            <a:pPr algn="ctr">
              <a:spcBef>
                <a:spcPts val="600"/>
              </a:spcBef>
            </a:pPr>
            <a:r>
              <a:rPr lang="en-US" sz="900" b="1"/>
              <a:t>Current Mat = 2.7</a:t>
            </a:r>
          </a:p>
        </p:txBody>
      </p:sp>
      <p:sp>
        <p:nvSpPr>
          <p:cNvPr id="12" name="TextBox 11">
            <a:extLst>
              <a:ext uri="{FF2B5EF4-FFF2-40B4-BE49-F238E27FC236}">
                <a16:creationId xmlns:a16="http://schemas.microsoft.com/office/drawing/2014/main" id="{ECE59407-B9A4-BA85-EFDD-95CCBF403D26}"/>
              </a:ext>
            </a:extLst>
          </p:cNvPr>
          <p:cNvSpPr txBox="1"/>
          <p:nvPr>
            <p:custDataLst>
              <p:tags r:id="rId9"/>
            </p:custDataLst>
          </p:nvPr>
        </p:nvSpPr>
        <p:spPr>
          <a:xfrm>
            <a:off x="1073765" y="882000"/>
            <a:ext cx="1440000" cy="441960"/>
          </a:xfrm>
          <a:prstGeom prst="rect">
            <a:avLst/>
          </a:prstGeom>
          <a:noFill/>
        </p:spPr>
        <p:txBody>
          <a:bodyPr wrap="square" lIns="0" rIns="0" rtlCol="0">
            <a:spAutoFit/>
          </a:bodyPr>
          <a:lstStyle/>
          <a:p>
            <a:pPr algn="ctr">
              <a:spcBef>
                <a:spcPts val="600"/>
              </a:spcBef>
            </a:pPr>
            <a:r>
              <a:rPr lang="en-US" sz="900" b="1"/>
              <a:t>AI strategy</a:t>
            </a:r>
          </a:p>
          <a:p>
            <a:pPr algn="ctr">
              <a:spcBef>
                <a:spcPts val="600"/>
              </a:spcBef>
            </a:pPr>
            <a:r>
              <a:rPr lang="en-US" sz="900" b="1"/>
              <a:t>Current Mat = 3.4</a:t>
            </a:r>
          </a:p>
        </p:txBody>
      </p:sp>
      <p:sp>
        <p:nvSpPr>
          <p:cNvPr id="13" name="TextBox 12">
            <a:extLst>
              <a:ext uri="{FF2B5EF4-FFF2-40B4-BE49-F238E27FC236}">
                <a16:creationId xmlns:a16="http://schemas.microsoft.com/office/drawing/2014/main" id="{DC88BBBD-CD26-92C9-02BA-26C13DD760F5}"/>
              </a:ext>
            </a:extLst>
          </p:cNvPr>
          <p:cNvSpPr txBox="1"/>
          <p:nvPr>
            <p:custDataLst>
              <p:tags r:id="rId10"/>
            </p:custDataLst>
          </p:nvPr>
        </p:nvSpPr>
        <p:spPr>
          <a:xfrm>
            <a:off x="8608518" y="882000"/>
            <a:ext cx="1620000" cy="441960"/>
          </a:xfrm>
          <a:prstGeom prst="rect">
            <a:avLst/>
          </a:prstGeom>
          <a:noFill/>
        </p:spPr>
        <p:txBody>
          <a:bodyPr wrap="square" lIns="0" rIns="0" rtlCol="0">
            <a:spAutoFit/>
          </a:bodyPr>
          <a:lstStyle/>
          <a:p>
            <a:pPr algn="ctr">
              <a:spcBef>
                <a:spcPts val="600"/>
              </a:spcBef>
            </a:pPr>
            <a:r>
              <a:rPr lang="en-US" sz="900" b="1"/>
              <a:t>AI engineering</a:t>
            </a:r>
          </a:p>
          <a:p>
            <a:pPr algn="ctr">
              <a:spcBef>
                <a:spcPts val="600"/>
              </a:spcBef>
            </a:pPr>
            <a:r>
              <a:rPr lang="en-US" sz="900" b="1"/>
              <a:t>Current Mat = 2.4</a:t>
            </a:r>
          </a:p>
        </p:txBody>
      </p:sp>
      <p:sp>
        <p:nvSpPr>
          <p:cNvPr id="14" name="TextBox 13">
            <a:extLst>
              <a:ext uri="{FF2B5EF4-FFF2-40B4-BE49-F238E27FC236}">
                <a16:creationId xmlns:a16="http://schemas.microsoft.com/office/drawing/2014/main" id="{C3E5C0F3-51C5-67BC-11EA-4CAEF89A52B2}"/>
              </a:ext>
            </a:extLst>
          </p:cNvPr>
          <p:cNvSpPr txBox="1"/>
          <p:nvPr>
            <p:custDataLst>
              <p:tags r:id="rId11"/>
            </p:custDataLst>
          </p:nvPr>
        </p:nvSpPr>
        <p:spPr>
          <a:xfrm>
            <a:off x="10677473" y="882000"/>
            <a:ext cx="1116000" cy="441960"/>
          </a:xfrm>
          <a:prstGeom prst="rect">
            <a:avLst/>
          </a:prstGeom>
          <a:noFill/>
        </p:spPr>
        <p:txBody>
          <a:bodyPr wrap="square" lIns="0" rIns="0" rtlCol="0">
            <a:spAutoFit/>
          </a:bodyPr>
          <a:lstStyle/>
          <a:p>
            <a:pPr algn="ctr">
              <a:spcBef>
                <a:spcPts val="600"/>
              </a:spcBef>
            </a:pPr>
            <a:r>
              <a:rPr lang="en-US" sz="900" b="1"/>
              <a:t>AI data</a:t>
            </a:r>
          </a:p>
          <a:p>
            <a:pPr algn="ctr">
              <a:spcBef>
                <a:spcPts val="600"/>
              </a:spcBef>
            </a:pPr>
            <a:r>
              <a:rPr lang="en-US" sz="900" b="1"/>
              <a:t>Current Mat = 1.7</a:t>
            </a:r>
          </a:p>
        </p:txBody>
      </p:sp>
      <p:graphicFrame>
        <p:nvGraphicFramePr>
          <p:cNvPr id="3" name="Chart 2" descr="Source=[TIER2_MAT_CHART]">
            <a:extLst>
              <a:ext uri="{FF2B5EF4-FFF2-40B4-BE49-F238E27FC236}">
                <a16:creationId xmlns:a16="http://schemas.microsoft.com/office/drawing/2014/main" id="{3EDDE029-F10A-4080-D337-C698F654C5BF}"/>
              </a:ext>
            </a:extLst>
          </p:cNvPr>
          <p:cNvGraphicFramePr>
            <a:graphicFrameLocks noDrilldown="1"/>
          </p:cNvGraphicFramePr>
          <p:nvPr>
            <p:custDataLst>
              <p:tags r:id="rId12"/>
            </p:custDataLst>
            <p:extLst>
              <p:ext uri="{D42A27DB-BD31-4B8C-83A1-F6EECF244321}">
                <p14:modId xmlns:p14="http://schemas.microsoft.com/office/powerpoint/2010/main" val="173616467"/>
              </p:ext>
            </p:extLst>
          </p:nvPr>
        </p:nvGraphicFramePr>
        <p:xfrm>
          <a:off x="471727" y="1329889"/>
          <a:ext cx="11435004" cy="4896234"/>
        </p:xfrm>
        <a:graphic>
          <a:graphicData uri="http://schemas.openxmlformats.org/drawingml/2006/chart">
            <c:chart xmlns:c="http://schemas.openxmlformats.org/drawingml/2006/chart" xmlns:r="http://schemas.openxmlformats.org/officeDocument/2006/relationships" r:id="rId15"/>
          </a:graphicData>
        </a:graphic>
      </p:graphicFrame>
    </p:spTree>
    <p:extLst>
      <p:ext uri="{BB962C8B-B14F-4D97-AF65-F5344CB8AC3E}">
        <p14:creationId xmlns:p14="http://schemas.microsoft.com/office/powerpoint/2010/main" val="299466054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F314C-E2B9-7665-EAB6-BB1B12CDCDD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BB559E9-6003-CB6E-1823-EE7E84CD16F4}"/>
              </a:ext>
            </a:extLst>
          </p:cNvPr>
          <p:cNvSpPr/>
          <p:nvPr>
            <p:custDataLst>
              <p:tags r:id="rId1"/>
            </p:custDataLst>
          </p:nvPr>
        </p:nvSpPr>
        <p:spPr>
          <a:xfrm>
            <a:off x="536400" y="986794"/>
            <a:ext cx="7700400" cy="1143000"/>
          </a:xfrm>
          <a:prstGeom prst="rect">
            <a:avLst/>
          </a:prstGeom>
          <a:solidFill>
            <a:srgbClr val="F2F2F2"/>
          </a:solidFill>
          <a:ln w="12700" cap="flat" cmpd="sng" algn="ctr">
            <a:noFill/>
            <a:prstDash val="solid"/>
            <a:miter lim="800000"/>
          </a:ln>
          <a:effectLst/>
        </p:spPr>
        <p:txBody>
          <a:bodyPr lIns="91440" tIns="45720" rIns="91440" bIns="45720" rtlCol="0" anchor="ctr"/>
          <a:lstStyle/>
          <a:p>
            <a:pPr defTabSz="457200">
              <a:spcAft>
                <a:spcPts val="600"/>
              </a:spcAft>
            </a:pPr>
            <a:r>
              <a:rPr lang="en-IN" sz="1600" b="1" kern="0">
                <a:solidFill>
                  <a:srgbClr val="002856"/>
                </a:solidFill>
              </a:rPr>
              <a:t>AI Strategy</a:t>
            </a:r>
          </a:p>
          <a:p>
            <a:pPr defTabSz="457200"/>
            <a:r>
              <a:rPr lang="en-US" sz="1200" kern="0"/>
              <a:t>Develop and implement an AI strategy that is aligned to the organization's business strategy and its AI ambition</a:t>
            </a:r>
            <a:endParaRPr lang="en-IN" sz="1200" kern="0"/>
          </a:p>
        </p:txBody>
      </p:sp>
      <p:sp>
        <p:nvSpPr>
          <p:cNvPr id="4" name="Rectangle 3">
            <a:extLst>
              <a:ext uri="{FF2B5EF4-FFF2-40B4-BE49-F238E27FC236}">
                <a16:creationId xmlns:a16="http://schemas.microsoft.com/office/drawing/2014/main" id="{346AB40C-8EC9-5157-B7C8-0955F14EC46F}"/>
              </a:ext>
            </a:extLst>
          </p:cNvPr>
          <p:cNvSpPr/>
          <p:nvPr>
            <p:custDataLst>
              <p:tags r:id="rId2"/>
            </p:custDataLst>
          </p:nvPr>
        </p:nvSpPr>
        <p:spPr>
          <a:xfrm>
            <a:off x="8302752" y="986794"/>
            <a:ext cx="1088136" cy="1133856"/>
          </a:xfrm>
          <a:prstGeom prst="rect">
            <a:avLst/>
          </a:prstGeom>
          <a:solidFill>
            <a:srgbClr val="002869"/>
          </a:solidFill>
          <a:ln w="12700" cap="flat" cmpd="sng" algn="ctr">
            <a:noFill/>
            <a:prstDash val="solid"/>
            <a:miter lim="800000"/>
          </a:ln>
          <a:effectLst/>
        </p:spPr>
        <p:txBody>
          <a:bodyPr lIns="91440" tIns="45720" rIns="91440" bIns="45720" rtlCol="0" anchor="ctr"/>
          <a:lstStyle/>
          <a:p>
            <a:pPr algn="ctr" defTabSz="457200">
              <a:spcAft>
                <a:spcPts val="600"/>
              </a:spcAft>
            </a:pPr>
            <a:r>
              <a:rPr lang="en-IN" sz="2400" b="1" kern="0">
                <a:solidFill>
                  <a:schemeClr val="bg1"/>
                </a:solidFill>
              </a:rPr>
              <a:t>3.4</a:t>
            </a:r>
          </a:p>
          <a:p>
            <a:pPr algn="ctr" defTabSz="457200">
              <a:spcAft>
                <a:spcPts val="600"/>
              </a:spcAft>
            </a:pPr>
            <a:r>
              <a:rPr lang="en-IN" sz="1400" kern="0">
                <a:solidFill>
                  <a:schemeClr val="bg1"/>
                </a:solidFill>
              </a:rPr>
              <a:t>Current</a:t>
            </a:r>
          </a:p>
        </p:txBody>
      </p:sp>
      <p:sp>
        <p:nvSpPr>
          <p:cNvPr id="6" name="Rectangle 5">
            <a:extLst>
              <a:ext uri="{FF2B5EF4-FFF2-40B4-BE49-F238E27FC236}">
                <a16:creationId xmlns:a16="http://schemas.microsoft.com/office/drawing/2014/main" id="{C7120032-28C4-A747-4656-84406C004AA7}"/>
              </a:ext>
            </a:extLst>
          </p:cNvPr>
          <p:cNvSpPr/>
          <p:nvPr>
            <p:custDataLst>
              <p:tags r:id="rId3"/>
            </p:custDataLst>
          </p:nvPr>
        </p:nvSpPr>
        <p:spPr>
          <a:xfrm>
            <a:off x="9464040" y="986794"/>
            <a:ext cx="1088136" cy="1133856"/>
          </a:xfrm>
          <a:prstGeom prst="rect">
            <a:avLst/>
          </a:prstGeom>
          <a:solidFill>
            <a:srgbClr val="AECDFF"/>
          </a:solidFill>
          <a:ln w="12700" cap="flat" cmpd="sng" algn="ctr">
            <a:noFill/>
            <a:prstDash val="solid"/>
            <a:miter lim="800000"/>
          </a:ln>
          <a:effectLst/>
        </p:spPr>
        <p:txBody>
          <a:bodyPr lIns="91440" tIns="45720" rIns="91440" bIns="45720" rtlCol="0" anchor="ctr"/>
          <a:lstStyle/>
          <a:p>
            <a:pPr algn="ctr" defTabSz="457200">
              <a:spcAft>
                <a:spcPts val="600"/>
              </a:spcAft>
            </a:pPr>
            <a:r>
              <a:rPr lang="en-IN" sz="2400" b="1" kern="0">
                <a:solidFill>
                  <a:srgbClr val="192D58"/>
                </a:solidFill>
              </a:rPr>
              <a:t>4.8</a:t>
            </a:r>
          </a:p>
          <a:p>
            <a:pPr algn="ctr" defTabSz="457200">
              <a:spcAft>
                <a:spcPts val="600"/>
              </a:spcAft>
            </a:pPr>
            <a:r>
              <a:rPr lang="en-IN" sz="1400" kern="0">
                <a:solidFill>
                  <a:srgbClr val="192D58"/>
                </a:solidFill>
              </a:rPr>
              <a:t>Target</a:t>
            </a:r>
          </a:p>
        </p:txBody>
      </p:sp>
      <p:sp>
        <p:nvSpPr>
          <p:cNvPr id="8" name="Rectangle 7">
            <a:extLst>
              <a:ext uri="{FF2B5EF4-FFF2-40B4-BE49-F238E27FC236}">
                <a16:creationId xmlns:a16="http://schemas.microsoft.com/office/drawing/2014/main" id="{0177697E-4466-C097-7ED2-3222DFF2D604}"/>
              </a:ext>
            </a:extLst>
          </p:cNvPr>
          <p:cNvSpPr/>
          <p:nvPr>
            <p:custDataLst>
              <p:tags r:id="rId4"/>
            </p:custDataLst>
          </p:nvPr>
        </p:nvSpPr>
        <p:spPr>
          <a:xfrm>
            <a:off x="10625328" y="986794"/>
            <a:ext cx="1088136" cy="1133856"/>
          </a:xfrm>
          <a:prstGeom prst="rect">
            <a:avLst/>
          </a:prstGeom>
          <a:solidFill>
            <a:srgbClr val="E36135">
              <a:alpha val="20000"/>
            </a:srgbClr>
          </a:solidFill>
          <a:ln w="12700" cap="flat" cmpd="sng" algn="ctr">
            <a:noFill/>
            <a:prstDash val="solid"/>
            <a:miter lim="800000"/>
          </a:ln>
          <a:effectLst/>
        </p:spPr>
        <p:txBody>
          <a:bodyPr lIns="91440" tIns="45720" rIns="91440" bIns="45720" rtlCol="0" anchor="ctr"/>
          <a:lstStyle/>
          <a:p>
            <a:pPr algn="ctr" defTabSz="457200">
              <a:spcAft>
                <a:spcPts val="600"/>
              </a:spcAft>
            </a:pPr>
            <a:r>
              <a:rPr lang="en-IN" sz="2400" b="1" kern="0">
                <a:solidFill>
                  <a:srgbClr val="E36135"/>
                </a:solidFill>
              </a:rPr>
              <a:t>1.4</a:t>
            </a:r>
          </a:p>
          <a:p>
            <a:pPr algn="ctr" defTabSz="457200">
              <a:spcAft>
                <a:spcPts val="600"/>
              </a:spcAft>
            </a:pPr>
            <a:r>
              <a:rPr lang="en-IN" sz="1400" kern="0">
                <a:solidFill>
                  <a:srgbClr val="E36135"/>
                </a:solidFill>
              </a:rPr>
              <a:t>Gap</a:t>
            </a:r>
          </a:p>
        </p:txBody>
      </p:sp>
      <p:sp>
        <p:nvSpPr>
          <p:cNvPr id="16" name="TextBox 15">
            <a:extLst>
              <a:ext uri="{FF2B5EF4-FFF2-40B4-BE49-F238E27FC236}">
                <a16:creationId xmlns:a16="http://schemas.microsoft.com/office/drawing/2014/main" id="{799DABD2-2EAB-4DB5-68D5-026749A65889}"/>
              </a:ext>
            </a:extLst>
          </p:cNvPr>
          <p:cNvSpPr txBox="1"/>
          <p:nvPr>
            <p:custDataLst>
              <p:tags r:id="rId5"/>
            </p:custDataLst>
          </p:nvPr>
        </p:nvSpPr>
        <p:spPr>
          <a:xfrm>
            <a:off x="537898" y="2379601"/>
            <a:ext cx="3128326" cy="323165"/>
          </a:xfrm>
          <a:prstGeom prst="rect">
            <a:avLst/>
          </a:prstGeom>
          <a:noFill/>
        </p:spPr>
        <p:txBody>
          <a:bodyPr wrap="square" lIns="0" rtlCol="0" anchor="ctr">
            <a:spAutoFit/>
          </a:bodyPr>
          <a:lstStyle/>
          <a:p>
            <a:pPr>
              <a:spcAft>
                <a:spcPts val="200"/>
              </a:spcAft>
            </a:pPr>
            <a:r>
              <a:rPr lang="en-US" sz="1500" b="1">
                <a:solidFill>
                  <a:srgbClr val="002856"/>
                </a:solidFill>
              </a:rPr>
              <a:t>Foundational Recommendations</a:t>
            </a:r>
          </a:p>
        </p:txBody>
      </p:sp>
      <p:sp>
        <p:nvSpPr>
          <p:cNvPr id="17" name="TextBox 16">
            <a:extLst>
              <a:ext uri="{FF2B5EF4-FFF2-40B4-BE49-F238E27FC236}">
                <a16:creationId xmlns:a16="http://schemas.microsoft.com/office/drawing/2014/main" id="{04EB6B47-1F34-A4AD-4E75-405CA4A983D2}"/>
              </a:ext>
            </a:extLst>
          </p:cNvPr>
          <p:cNvSpPr txBox="1"/>
          <p:nvPr>
            <p:custDataLst>
              <p:tags r:id="rId6"/>
            </p:custDataLst>
          </p:nvPr>
        </p:nvSpPr>
        <p:spPr>
          <a:xfrm>
            <a:off x="6418233" y="2379601"/>
            <a:ext cx="2990304" cy="323165"/>
          </a:xfrm>
          <a:prstGeom prst="rect">
            <a:avLst/>
          </a:prstGeom>
          <a:noFill/>
        </p:spPr>
        <p:txBody>
          <a:bodyPr wrap="square" lIns="0" rtlCol="0" anchor="ctr">
            <a:spAutoFit/>
          </a:bodyPr>
          <a:lstStyle>
            <a:defPPr>
              <a:defRPr lang="en-US"/>
            </a:defPPr>
            <a:lvl1pPr>
              <a:spcAft>
                <a:spcPts val="200"/>
              </a:spcAft>
              <a:defRPr sz="1500" b="1">
                <a:solidFill>
                  <a:srgbClr val="30405A"/>
                </a:solidFill>
              </a:defRPr>
            </a:lvl1pPr>
          </a:lstStyle>
          <a:p>
            <a:r>
              <a:rPr lang="en-US">
                <a:solidFill>
                  <a:srgbClr val="002856"/>
                </a:solidFill>
              </a:rPr>
              <a:t>Progressive Recommendations</a:t>
            </a:r>
          </a:p>
        </p:txBody>
      </p:sp>
      <p:sp>
        <p:nvSpPr>
          <p:cNvPr id="2" name="Title 1">
            <a:extLst>
              <a:ext uri="{FF2B5EF4-FFF2-40B4-BE49-F238E27FC236}">
                <a16:creationId xmlns:a16="http://schemas.microsoft.com/office/drawing/2014/main" id="{D06F4CA4-6B67-9FDD-99F4-292BA45C6C7F}"/>
              </a:ext>
            </a:extLst>
          </p:cNvPr>
          <p:cNvSpPr>
            <a:spLocks noGrp="1"/>
          </p:cNvSpPr>
          <p:nvPr>
            <p:ph type="title" hasCustomPrompt="1"/>
            <p:custDataLst>
              <p:tags r:id="rId7"/>
            </p:custDataLst>
          </p:nvPr>
        </p:nvSpPr>
        <p:spPr>
          <a:xfrm>
            <a:off x="536400" y="324697"/>
            <a:ext cx="11276013" cy="292366"/>
          </a:xfrm>
        </p:spPr>
        <p:txBody>
          <a:bodyPr vert="horz" lIns="0" tIns="0" rIns="0" bIns="0" rtlCol="0" anchor="t" anchorCtr="0">
            <a:noAutofit/>
          </a:bodyPr>
          <a:lstStyle/>
          <a:p>
            <a:r>
              <a:rPr lang="en-US" sz="2400">
                <a:latin typeface="Gartner Sans" panose="020B0504030402040204" pitchFamily="34" charset="0"/>
              </a:rPr>
              <a:t>Capability: AI Strategy</a:t>
            </a:r>
          </a:p>
        </p:txBody>
      </p:sp>
      <p:sp>
        <p:nvSpPr>
          <p:cNvPr id="7" name="TextBox 6">
            <a:extLst>
              <a:ext uri="{FF2B5EF4-FFF2-40B4-BE49-F238E27FC236}">
                <a16:creationId xmlns:a16="http://schemas.microsoft.com/office/drawing/2014/main" id="{59E95E77-DEFE-5E36-1CCF-7464FDA4FA61}"/>
              </a:ext>
            </a:extLst>
          </p:cNvPr>
          <p:cNvSpPr txBox="1"/>
          <p:nvPr>
            <p:custDataLst>
              <p:tags r:id="rId8"/>
            </p:custDataLst>
          </p:nvPr>
        </p:nvSpPr>
        <p:spPr>
          <a:xfrm>
            <a:off x="629913" y="2734056"/>
            <a:ext cx="5167039" cy="1128514"/>
          </a:xfrm>
          <a:prstGeom prst="rect">
            <a:avLst/>
          </a:prstGeom>
          <a:noFill/>
        </p:spPr>
        <p:txBody>
          <a:bodyPr wrap="square" lIns="0" rtlCol="0" anchor="t">
            <a:spAutoFit/>
          </a:bodyPr>
          <a:lstStyle/>
          <a:p>
            <a:pPr>
              <a:spcBef>
                <a:spcPts val="200"/>
              </a:spcBef>
              <a:spcAft>
                <a:spcPts val="200"/>
              </a:spcAft>
              <a:buSzTx/>
            </a:pPr>
            <a:r>
              <a:rPr lang="en-US" sz="1100" b="1"/>
              <a:t>Transition from Technical to Strategic Vision</a:t>
            </a:r>
          </a:p>
          <a:p>
            <a:pPr>
              <a:spcBef>
                <a:spcPts val="200"/>
              </a:spcBef>
              <a:spcAft>
                <a:spcPts val="200"/>
              </a:spcAft>
              <a:buSzTx/>
            </a:pPr>
            <a:r>
              <a:rPr lang="en-US" sz="1050" b="1">
                <a:solidFill>
                  <a:srgbClr val="1155CC"/>
                </a:solidFill>
                <a:hlinkClick r:id="rId12"/>
              </a:rPr>
              <a:t>How to Present to the Board on AI</a:t>
            </a:r>
            <a:endParaRPr lang="en-US" sz="1100"/>
          </a:p>
          <a:p>
            <a:pPr>
              <a:spcBef>
                <a:spcPts val="200"/>
              </a:spcBef>
              <a:spcAft>
                <a:spcPts val="200"/>
              </a:spcAft>
              <a:buSzTx/>
            </a:pPr>
            <a:endParaRPr lang="en-US" sz="1100"/>
          </a:p>
          <a:p>
            <a:pPr>
              <a:spcBef>
                <a:spcPts val="200"/>
              </a:spcBef>
              <a:spcAft>
                <a:spcPts val="200"/>
              </a:spcAft>
              <a:buSzTx/>
            </a:pPr>
            <a:r>
              <a:rPr lang="en-US" sz="1100" b="1"/>
              <a:t>Establish a Business-Aligned AI Strategy</a:t>
            </a:r>
          </a:p>
          <a:p>
            <a:pPr>
              <a:spcBef>
                <a:spcPts val="200"/>
              </a:spcBef>
              <a:spcAft>
                <a:spcPts val="200"/>
              </a:spcAft>
              <a:buSzTx/>
            </a:pPr>
            <a:r>
              <a:rPr lang="en-US" sz="1050" b="1">
                <a:solidFill>
                  <a:srgbClr val="1155CC"/>
                </a:solidFill>
                <a:hlinkClick r:id="rId13"/>
              </a:rPr>
              <a:t>The Pillars of a Successful Artificial Intelligence Strategy</a:t>
            </a:r>
            <a:endParaRPr lang="en-US" sz="1050" b="1">
              <a:solidFill>
                <a:srgbClr val="1155CC"/>
              </a:solidFill>
            </a:endParaRPr>
          </a:p>
        </p:txBody>
      </p:sp>
      <p:sp>
        <p:nvSpPr>
          <p:cNvPr id="9" name="TextBox 8">
            <a:extLst>
              <a:ext uri="{FF2B5EF4-FFF2-40B4-BE49-F238E27FC236}">
                <a16:creationId xmlns:a16="http://schemas.microsoft.com/office/drawing/2014/main" id="{F4111D2E-18FE-68A4-70FE-754BEED48C69}"/>
              </a:ext>
            </a:extLst>
          </p:cNvPr>
          <p:cNvSpPr txBox="1"/>
          <p:nvPr>
            <p:custDataLst>
              <p:tags r:id="rId9"/>
            </p:custDataLst>
          </p:nvPr>
        </p:nvSpPr>
        <p:spPr>
          <a:xfrm>
            <a:off x="6519672" y="2734056"/>
            <a:ext cx="5167039" cy="1143903"/>
          </a:xfrm>
          <a:prstGeom prst="rect">
            <a:avLst/>
          </a:prstGeom>
          <a:noFill/>
        </p:spPr>
        <p:txBody>
          <a:bodyPr wrap="square" lIns="0" rtlCol="0" anchor="t">
            <a:spAutoFit/>
          </a:bodyPr>
          <a:lstStyle/>
          <a:p>
            <a:pPr>
              <a:spcBef>
                <a:spcPts val="200"/>
              </a:spcBef>
              <a:spcAft>
                <a:spcPts val="200"/>
              </a:spcAft>
              <a:buSzTx/>
            </a:pPr>
            <a:r>
              <a:rPr lang="en-US" sz="1100" b="1"/>
              <a:t>Embed AI deeply into the organizational culture </a:t>
            </a:r>
          </a:p>
          <a:p>
            <a:pPr>
              <a:spcBef>
                <a:spcPts val="200"/>
              </a:spcBef>
              <a:spcAft>
                <a:spcPts val="200"/>
              </a:spcAft>
              <a:buSzTx/>
            </a:pPr>
            <a:r>
              <a:rPr lang="en-US" sz="1100" b="1">
                <a:hlinkClick r:id="rId14"/>
              </a:rPr>
              <a:t>How to Power up Innovation With AI First Culture</a:t>
            </a:r>
            <a:endParaRPr lang="en-US" sz="1050" b="1"/>
          </a:p>
          <a:p>
            <a:pPr>
              <a:spcBef>
                <a:spcPts val="200"/>
              </a:spcBef>
              <a:spcAft>
                <a:spcPts val="200"/>
              </a:spcAft>
              <a:buSzTx/>
            </a:pPr>
            <a:endParaRPr lang="en-US" sz="1100"/>
          </a:p>
          <a:p>
            <a:pPr>
              <a:spcBef>
                <a:spcPts val="200"/>
              </a:spcBef>
              <a:spcAft>
                <a:spcPts val="200"/>
              </a:spcAft>
              <a:buSzTx/>
            </a:pPr>
            <a:r>
              <a:rPr lang="en-US" sz="1100" b="1"/>
              <a:t>Develop an Adaptive AI Strategy</a:t>
            </a:r>
          </a:p>
          <a:p>
            <a:pPr>
              <a:spcBef>
                <a:spcPts val="200"/>
              </a:spcBef>
              <a:spcAft>
                <a:spcPts val="200"/>
              </a:spcAft>
              <a:buSzTx/>
            </a:pPr>
            <a:r>
              <a:rPr lang="en-US" sz="1100" b="1">
                <a:hlinkClick r:id="rId15"/>
              </a:rPr>
              <a:t>AI Leaders: Maturity Guide for AI Strategy</a:t>
            </a:r>
            <a:endParaRPr lang="en-US" sz="1100" b="1"/>
          </a:p>
        </p:txBody>
      </p:sp>
    </p:spTree>
    <p:extLst>
      <p:ext uri="{BB962C8B-B14F-4D97-AF65-F5344CB8AC3E}">
        <p14:creationId xmlns:p14="http://schemas.microsoft.com/office/powerpoint/2010/main" val="6341897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970A7-98CB-2BDF-E408-0F92BBC0E83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D464A48-15C0-CE0B-8D6C-55305AF5B66F}"/>
              </a:ext>
            </a:extLst>
          </p:cNvPr>
          <p:cNvSpPr/>
          <p:nvPr>
            <p:custDataLst>
              <p:tags r:id="rId1"/>
            </p:custDataLst>
          </p:nvPr>
        </p:nvSpPr>
        <p:spPr>
          <a:xfrm>
            <a:off x="536400" y="978168"/>
            <a:ext cx="7700400" cy="1143000"/>
          </a:xfrm>
          <a:prstGeom prst="rect">
            <a:avLst/>
          </a:prstGeom>
          <a:solidFill>
            <a:srgbClr val="F2F2F2"/>
          </a:solidFill>
          <a:ln w="12700" cap="flat" cmpd="sng" algn="ctr">
            <a:noFill/>
            <a:prstDash val="solid"/>
            <a:miter lim="800000"/>
          </a:ln>
          <a:effectLst/>
        </p:spPr>
        <p:txBody>
          <a:bodyPr lIns="91440" tIns="45720" rIns="91440" bIns="45720" rtlCol="0" anchor="ctr"/>
          <a:lstStyle/>
          <a:p>
            <a:pPr marL="0" marR="0" lvl="0" indent="0" algn="l" defTabSz="457200" rtl="0" eaLnBrk="1" fontAlgn="auto" latinLnBrk="0" hangingPunct="1">
              <a:lnSpc>
                <a:spcPct val="100000"/>
              </a:lnSpc>
              <a:spcBef>
                <a:spcPct val="0"/>
              </a:spcBef>
              <a:spcAft>
                <a:spcPts val="600"/>
              </a:spcAft>
              <a:buClrTx/>
              <a:buSzTx/>
              <a:buFontTx/>
              <a:buNone/>
              <a:defRPr/>
            </a:pPr>
            <a:r>
              <a:rPr kumimoji="0" lang="en-IN" sz="1600" b="1" i="0" u="none" strike="noStrike" kern="0" cap="none" spc="0" normalizeH="0" baseline="0" noProof="0">
                <a:ln>
                  <a:noFill/>
                </a:ln>
                <a:solidFill>
                  <a:srgbClr val="002856"/>
                </a:solidFill>
                <a:effectLst/>
                <a:uLnTx/>
                <a:uFillTx/>
                <a:cs typeface="Arial"/>
              </a:rPr>
              <a:t>AI Value</a:t>
            </a:r>
          </a:p>
          <a:p>
            <a:pPr marL="0" marR="0" lvl="0" indent="0" algn="l" defTabSz="457200" rtl="0" eaLnBrk="1" fontAlgn="auto" latinLnBrk="0" hangingPunct="1">
              <a:lnSpc>
                <a:spcPct val="100000"/>
              </a:lnSpc>
              <a:spcBef>
                <a:spcPct val="0"/>
              </a:spcBef>
              <a:spcAft>
                <a:spcPct val="0"/>
              </a:spcAft>
              <a:buClrTx/>
              <a:buSzTx/>
              <a:buFontTx/>
              <a:buNone/>
              <a:defRPr/>
            </a:pPr>
            <a:r>
              <a:rPr kumimoji="0" lang="en-US" sz="1200" b="0" i="0" u="none" strike="noStrike" kern="0" cap="none" spc="0" normalizeH="0" baseline="0" noProof="0">
                <a:ln>
                  <a:noFill/>
                </a:ln>
                <a:solidFill>
                  <a:srgbClr val="000000"/>
                </a:solidFill>
                <a:effectLst/>
                <a:uLnTx/>
                <a:uFillTx/>
                <a:cs typeface="Arial"/>
              </a:rPr>
              <a:t>Deliver AI business value by systematically identifying, prioritizing, and managing a portfolio of AI initiatives</a:t>
            </a:r>
            <a:endParaRPr kumimoji="0" lang="en-IN" sz="1200" b="0" i="0" u="none" strike="noStrike" kern="0" cap="none" spc="0" normalizeH="0" baseline="0" noProof="0">
              <a:ln>
                <a:noFill/>
              </a:ln>
              <a:solidFill>
                <a:srgbClr val="000000"/>
              </a:solidFill>
              <a:effectLst/>
              <a:uLnTx/>
              <a:uFillTx/>
              <a:cs typeface="Arial"/>
            </a:endParaRPr>
          </a:p>
        </p:txBody>
      </p:sp>
      <p:sp>
        <p:nvSpPr>
          <p:cNvPr id="4" name="Rectangle 3">
            <a:extLst>
              <a:ext uri="{FF2B5EF4-FFF2-40B4-BE49-F238E27FC236}">
                <a16:creationId xmlns:a16="http://schemas.microsoft.com/office/drawing/2014/main" id="{0A06B9BD-EF4E-F1FA-B369-FBCF238E8B33}"/>
              </a:ext>
            </a:extLst>
          </p:cNvPr>
          <p:cNvSpPr/>
          <p:nvPr>
            <p:custDataLst>
              <p:tags r:id="rId2"/>
            </p:custDataLst>
          </p:nvPr>
        </p:nvSpPr>
        <p:spPr>
          <a:xfrm>
            <a:off x="8302752" y="986794"/>
            <a:ext cx="1088136" cy="1133856"/>
          </a:xfrm>
          <a:prstGeom prst="rect">
            <a:avLst/>
          </a:prstGeom>
          <a:solidFill>
            <a:srgbClr val="002869"/>
          </a:solidFill>
          <a:ln w="12700" cap="flat" cmpd="sng" algn="ctr">
            <a:noFill/>
            <a:prstDash val="solid"/>
            <a:miter lim="800000"/>
          </a:ln>
          <a:effectLst/>
        </p:spPr>
        <p:txBody>
          <a:bodyPr lIns="91440" tIns="45720" rIns="91440" bIns="45720" rtlCol="0" anchor="ctr"/>
          <a:lstStyle/>
          <a:p>
            <a:pPr algn="ctr" defTabSz="457200">
              <a:spcAft>
                <a:spcPts val="600"/>
              </a:spcAft>
            </a:pPr>
            <a:r>
              <a:rPr lang="en-IN" sz="2400" b="1" kern="0">
                <a:solidFill>
                  <a:schemeClr val="bg1"/>
                </a:solidFill>
              </a:rPr>
              <a:t>2.0</a:t>
            </a:r>
          </a:p>
          <a:p>
            <a:pPr algn="ctr" defTabSz="457200">
              <a:spcAft>
                <a:spcPts val="600"/>
              </a:spcAft>
            </a:pPr>
            <a:r>
              <a:rPr lang="en-IN" sz="1400" kern="0">
                <a:solidFill>
                  <a:schemeClr val="bg1"/>
                </a:solidFill>
              </a:rPr>
              <a:t>Current</a:t>
            </a:r>
          </a:p>
        </p:txBody>
      </p:sp>
      <p:sp>
        <p:nvSpPr>
          <p:cNvPr id="6" name="Rectangle 5">
            <a:extLst>
              <a:ext uri="{FF2B5EF4-FFF2-40B4-BE49-F238E27FC236}">
                <a16:creationId xmlns:a16="http://schemas.microsoft.com/office/drawing/2014/main" id="{61E6203A-F388-1A0B-1F30-A64474C8503D}"/>
              </a:ext>
            </a:extLst>
          </p:cNvPr>
          <p:cNvSpPr/>
          <p:nvPr>
            <p:custDataLst>
              <p:tags r:id="rId3"/>
            </p:custDataLst>
          </p:nvPr>
        </p:nvSpPr>
        <p:spPr>
          <a:xfrm>
            <a:off x="9464040" y="986794"/>
            <a:ext cx="1088136" cy="1133856"/>
          </a:xfrm>
          <a:prstGeom prst="rect">
            <a:avLst/>
          </a:prstGeom>
          <a:solidFill>
            <a:srgbClr val="AECDFF"/>
          </a:solidFill>
          <a:ln w="12700" cap="flat" cmpd="sng" algn="ctr">
            <a:noFill/>
            <a:prstDash val="solid"/>
            <a:miter lim="800000"/>
          </a:ln>
          <a:effectLst/>
        </p:spPr>
        <p:txBody>
          <a:bodyPr lIns="91440" tIns="45720" rIns="91440" bIns="45720" rtlCol="0" anchor="ctr"/>
          <a:lstStyle/>
          <a:p>
            <a:pPr algn="ctr" defTabSz="457200">
              <a:spcAft>
                <a:spcPts val="600"/>
              </a:spcAft>
            </a:pPr>
            <a:r>
              <a:rPr lang="en-IN" sz="2400" b="1" kern="0">
                <a:solidFill>
                  <a:srgbClr val="192D58"/>
                </a:solidFill>
              </a:rPr>
              <a:t>3.3</a:t>
            </a:r>
          </a:p>
          <a:p>
            <a:pPr algn="ctr" defTabSz="457200">
              <a:spcAft>
                <a:spcPts val="600"/>
              </a:spcAft>
            </a:pPr>
            <a:r>
              <a:rPr lang="en-IN" sz="1400" kern="0">
                <a:solidFill>
                  <a:srgbClr val="192D58"/>
                </a:solidFill>
              </a:rPr>
              <a:t>Target</a:t>
            </a:r>
          </a:p>
        </p:txBody>
      </p:sp>
      <p:sp>
        <p:nvSpPr>
          <p:cNvPr id="8" name="Rectangle 7">
            <a:extLst>
              <a:ext uri="{FF2B5EF4-FFF2-40B4-BE49-F238E27FC236}">
                <a16:creationId xmlns:a16="http://schemas.microsoft.com/office/drawing/2014/main" id="{9095A778-AC0C-3FD0-76DF-F0BB50E34A31}"/>
              </a:ext>
            </a:extLst>
          </p:cNvPr>
          <p:cNvSpPr/>
          <p:nvPr>
            <p:custDataLst>
              <p:tags r:id="rId4"/>
            </p:custDataLst>
          </p:nvPr>
        </p:nvSpPr>
        <p:spPr>
          <a:xfrm>
            <a:off x="10625328" y="986794"/>
            <a:ext cx="1088136" cy="1133856"/>
          </a:xfrm>
          <a:prstGeom prst="rect">
            <a:avLst/>
          </a:prstGeom>
          <a:solidFill>
            <a:srgbClr val="E36135">
              <a:alpha val="20000"/>
            </a:srgbClr>
          </a:solidFill>
          <a:ln w="12700" cap="flat" cmpd="sng" algn="ctr">
            <a:noFill/>
            <a:prstDash val="solid"/>
            <a:miter lim="800000"/>
          </a:ln>
          <a:effectLst/>
        </p:spPr>
        <p:txBody>
          <a:bodyPr lIns="91440" tIns="45720" rIns="91440" bIns="45720" rtlCol="0" anchor="ctr"/>
          <a:lstStyle/>
          <a:p>
            <a:pPr algn="ctr" defTabSz="457200">
              <a:spcAft>
                <a:spcPts val="600"/>
              </a:spcAft>
            </a:pPr>
            <a:r>
              <a:rPr lang="en-IN" sz="2400" b="1" kern="0">
                <a:solidFill>
                  <a:srgbClr val="E36135"/>
                </a:solidFill>
              </a:rPr>
              <a:t>1.3</a:t>
            </a:r>
          </a:p>
          <a:p>
            <a:pPr algn="ctr" defTabSz="457200">
              <a:spcAft>
                <a:spcPts val="600"/>
              </a:spcAft>
            </a:pPr>
            <a:r>
              <a:rPr lang="en-IN" sz="1400" kern="0">
                <a:solidFill>
                  <a:srgbClr val="E36135"/>
                </a:solidFill>
              </a:rPr>
              <a:t>Gap</a:t>
            </a:r>
          </a:p>
        </p:txBody>
      </p:sp>
      <p:sp>
        <p:nvSpPr>
          <p:cNvPr id="16" name="TextBox 15">
            <a:extLst>
              <a:ext uri="{FF2B5EF4-FFF2-40B4-BE49-F238E27FC236}">
                <a16:creationId xmlns:a16="http://schemas.microsoft.com/office/drawing/2014/main" id="{D3167F88-92D9-6CC5-5911-8332BF870CF4}"/>
              </a:ext>
            </a:extLst>
          </p:cNvPr>
          <p:cNvSpPr txBox="1"/>
          <p:nvPr>
            <p:custDataLst>
              <p:tags r:id="rId5"/>
            </p:custDataLst>
          </p:nvPr>
        </p:nvSpPr>
        <p:spPr>
          <a:xfrm>
            <a:off x="537898" y="2379601"/>
            <a:ext cx="3128326" cy="323165"/>
          </a:xfrm>
          <a:prstGeom prst="rect">
            <a:avLst/>
          </a:prstGeom>
          <a:noFill/>
        </p:spPr>
        <p:txBody>
          <a:bodyPr wrap="square" lIns="0" rtlCol="0" anchor="ctr">
            <a:spAutoFit/>
          </a:bodyPr>
          <a:lstStyle/>
          <a:p>
            <a:pPr>
              <a:spcAft>
                <a:spcPts val="200"/>
              </a:spcAft>
            </a:pPr>
            <a:r>
              <a:rPr lang="en-US" sz="1500" b="1">
                <a:solidFill>
                  <a:srgbClr val="002856"/>
                </a:solidFill>
              </a:rPr>
              <a:t>Foundational Recommendations</a:t>
            </a:r>
          </a:p>
        </p:txBody>
      </p:sp>
      <p:sp>
        <p:nvSpPr>
          <p:cNvPr id="17" name="TextBox 16">
            <a:extLst>
              <a:ext uri="{FF2B5EF4-FFF2-40B4-BE49-F238E27FC236}">
                <a16:creationId xmlns:a16="http://schemas.microsoft.com/office/drawing/2014/main" id="{A0CAEC6D-F616-3A1E-8363-4B10077D8113}"/>
              </a:ext>
            </a:extLst>
          </p:cNvPr>
          <p:cNvSpPr txBox="1"/>
          <p:nvPr>
            <p:custDataLst>
              <p:tags r:id="rId6"/>
            </p:custDataLst>
          </p:nvPr>
        </p:nvSpPr>
        <p:spPr>
          <a:xfrm>
            <a:off x="6418233" y="2379601"/>
            <a:ext cx="2990304" cy="323165"/>
          </a:xfrm>
          <a:prstGeom prst="rect">
            <a:avLst/>
          </a:prstGeom>
          <a:noFill/>
        </p:spPr>
        <p:txBody>
          <a:bodyPr wrap="square" lIns="0" rtlCol="0" anchor="ctr">
            <a:spAutoFit/>
          </a:bodyPr>
          <a:lstStyle>
            <a:defPPr>
              <a:defRPr lang="en-US"/>
            </a:defPPr>
            <a:lvl1pPr>
              <a:spcAft>
                <a:spcPts val="200"/>
              </a:spcAft>
              <a:defRPr sz="1500" b="1">
                <a:solidFill>
                  <a:srgbClr val="30405A"/>
                </a:solidFill>
              </a:defRPr>
            </a:lvl1pPr>
          </a:lstStyle>
          <a:p>
            <a:r>
              <a:rPr lang="en-US">
                <a:solidFill>
                  <a:srgbClr val="002856"/>
                </a:solidFill>
              </a:rPr>
              <a:t>Progressive Recommendations</a:t>
            </a:r>
          </a:p>
        </p:txBody>
      </p:sp>
      <p:sp>
        <p:nvSpPr>
          <p:cNvPr id="2" name="Title 1">
            <a:extLst>
              <a:ext uri="{FF2B5EF4-FFF2-40B4-BE49-F238E27FC236}">
                <a16:creationId xmlns:a16="http://schemas.microsoft.com/office/drawing/2014/main" id="{965FEA0C-833E-9C1B-CE4C-BA250A374EAD}"/>
              </a:ext>
            </a:extLst>
          </p:cNvPr>
          <p:cNvSpPr>
            <a:spLocks noGrp="1"/>
          </p:cNvSpPr>
          <p:nvPr>
            <p:ph type="title" hasCustomPrompt="1"/>
            <p:custDataLst>
              <p:tags r:id="rId7"/>
            </p:custDataLst>
          </p:nvPr>
        </p:nvSpPr>
        <p:spPr>
          <a:xfrm>
            <a:off x="536400" y="324697"/>
            <a:ext cx="11276013" cy="292366"/>
          </a:xfrm>
        </p:spPr>
        <p:txBody>
          <a:bodyPr vert="horz" lIns="0" tIns="0" rIns="0" bIns="0" rtlCol="0" anchor="t" anchorCtr="0">
            <a:noAutofit/>
          </a:bodyPr>
          <a:lstStyle/>
          <a:p>
            <a:r>
              <a:rPr lang="en-US" sz="2400">
                <a:latin typeface="Gartner Sans" panose="020B0504030402040204" pitchFamily="34" charset="0"/>
              </a:rPr>
              <a:t>Capability: AI Value</a:t>
            </a:r>
          </a:p>
        </p:txBody>
      </p:sp>
      <p:sp>
        <p:nvSpPr>
          <p:cNvPr id="7" name="TextBox 6">
            <a:extLst>
              <a:ext uri="{FF2B5EF4-FFF2-40B4-BE49-F238E27FC236}">
                <a16:creationId xmlns:a16="http://schemas.microsoft.com/office/drawing/2014/main" id="{3D7B3433-79B6-529D-EA5A-01537C18A551}"/>
              </a:ext>
            </a:extLst>
          </p:cNvPr>
          <p:cNvSpPr txBox="1"/>
          <p:nvPr>
            <p:custDataLst>
              <p:tags r:id="rId8"/>
            </p:custDataLst>
          </p:nvPr>
        </p:nvSpPr>
        <p:spPr>
          <a:xfrm>
            <a:off x="629913" y="2734056"/>
            <a:ext cx="5167039" cy="1364476"/>
          </a:xfrm>
          <a:prstGeom prst="rect">
            <a:avLst/>
          </a:prstGeom>
          <a:noFill/>
        </p:spPr>
        <p:txBody>
          <a:bodyPr wrap="square" lIns="0" rtlCol="0" anchor="t">
            <a:spAutoFit/>
          </a:bodyPr>
          <a:lstStyle/>
          <a:p>
            <a:pPr>
              <a:spcBef>
                <a:spcPts val="200"/>
              </a:spcBef>
              <a:spcAft>
                <a:spcPts val="200"/>
              </a:spcAft>
              <a:buSzTx/>
            </a:pPr>
            <a:r>
              <a:rPr lang="en-US" sz="1100" b="1"/>
              <a:t>Establish an AI use case prioritization framework</a:t>
            </a:r>
          </a:p>
          <a:p>
            <a:pPr>
              <a:spcBef>
                <a:spcPts val="200"/>
              </a:spcBef>
              <a:spcAft>
                <a:spcPts val="200"/>
              </a:spcAft>
              <a:buSzTx/>
            </a:pPr>
            <a:r>
              <a:rPr lang="en-US" sz="1100" b="1">
                <a:hlinkClick r:id="rId12"/>
              </a:rPr>
              <a:t>Planning Leaders’ Guide for Evaluating and Prioritizing AI Rollout</a:t>
            </a:r>
            <a:endParaRPr lang="en-US" sz="1100" b="1"/>
          </a:p>
          <a:p>
            <a:pPr>
              <a:spcBef>
                <a:spcPts val="200"/>
              </a:spcBef>
              <a:spcAft>
                <a:spcPts val="200"/>
              </a:spcAft>
              <a:buSzTx/>
            </a:pPr>
            <a:endParaRPr lang="en-US" sz="1100" b="1"/>
          </a:p>
          <a:p>
            <a:pPr>
              <a:spcBef>
                <a:spcPts val="200"/>
              </a:spcBef>
              <a:spcAft>
                <a:spcPts val="200"/>
              </a:spcAft>
              <a:buSzTx/>
            </a:pPr>
            <a:r>
              <a:rPr lang="en-US" sz="1100" b="1"/>
              <a:t>Develop an AI Portfolio aligned with Business Strategy</a:t>
            </a:r>
          </a:p>
          <a:p>
            <a:pPr>
              <a:spcBef>
                <a:spcPts val="200"/>
              </a:spcBef>
              <a:spcAft>
                <a:spcPts val="200"/>
              </a:spcAft>
              <a:buSzTx/>
            </a:pPr>
            <a:r>
              <a:rPr lang="en-US" sz="1100" b="1">
                <a:hlinkClick r:id="rId13"/>
              </a:rPr>
              <a:t>Tool: AI Portfolio Design Slide Set</a:t>
            </a:r>
            <a:endParaRPr lang="en-US" sz="1100" b="1"/>
          </a:p>
          <a:p>
            <a:pPr>
              <a:spcBef>
                <a:spcPts val="200"/>
              </a:spcBef>
              <a:spcAft>
                <a:spcPts val="200"/>
              </a:spcAft>
              <a:buSzTx/>
            </a:pPr>
            <a:endParaRPr lang="en-US" sz="1100"/>
          </a:p>
        </p:txBody>
      </p:sp>
      <p:sp>
        <p:nvSpPr>
          <p:cNvPr id="9" name="TextBox 8">
            <a:extLst>
              <a:ext uri="{FF2B5EF4-FFF2-40B4-BE49-F238E27FC236}">
                <a16:creationId xmlns:a16="http://schemas.microsoft.com/office/drawing/2014/main" id="{64CF3A86-5AAF-3F70-6A96-6865924FDD49}"/>
              </a:ext>
            </a:extLst>
          </p:cNvPr>
          <p:cNvSpPr txBox="1"/>
          <p:nvPr>
            <p:custDataLst>
              <p:tags r:id="rId9"/>
            </p:custDataLst>
          </p:nvPr>
        </p:nvSpPr>
        <p:spPr>
          <a:xfrm>
            <a:off x="6519672" y="2734056"/>
            <a:ext cx="5167039" cy="1136208"/>
          </a:xfrm>
          <a:prstGeom prst="rect">
            <a:avLst/>
          </a:prstGeom>
          <a:noFill/>
        </p:spPr>
        <p:txBody>
          <a:bodyPr wrap="square" lIns="0" rtlCol="0" anchor="t">
            <a:spAutoFit/>
          </a:bodyPr>
          <a:lstStyle/>
          <a:p>
            <a:pPr algn="just">
              <a:spcBef>
                <a:spcPts val="200"/>
              </a:spcBef>
              <a:spcAft>
                <a:spcPts val="200"/>
              </a:spcAft>
              <a:buSzTx/>
            </a:pPr>
            <a:r>
              <a:rPr lang="en-US" sz="1100" b="1"/>
              <a:t>Implement a Systematic and Agile AI Portfolio</a:t>
            </a:r>
            <a:endParaRPr lang="en-US" sz="1100"/>
          </a:p>
          <a:p>
            <a:pPr algn="just">
              <a:spcBef>
                <a:spcPts val="200"/>
              </a:spcBef>
              <a:spcAft>
                <a:spcPts val="200"/>
              </a:spcAft>
              <a:buSzTx/>
            </a:pPr>
            <a:r>
              <a:rPr lang="en-US" sz="1050" b="1">
                <a:hlinkClick r:id="rId14"/>
              </a:rPr>
              <a:t>Beyond Productivity: How to Cut Costs With Generative AI</a:t>
            </a:r>
            <a:endParaRPr lang="en-US" sz="1050" b="1"/>
          </a:p>
          <a:p>
            <a:pPr algn="just">
              <a:spcBef>
                <a:spcPts val="200"/>
              </a:spcBef>
              <a:spcAft>
                <a:spcPts val="200"/>
              </a:spcAft>
              <a:buSzTx/>
            </a:pPr>
            <a:endParaRPr lang="en-US" sz="1100"/>
          </a:p>
          <a:p>
            <a:pPr algn="just">
              <a:spcBef>
                <a:spcPts val="200"/>
              </a:spcBef>
              <a:spcAft>
                <a:spcPts val="200"/>
              </a:spcAft>
              <a:buSzTx/>
            </a:pPr>
            <a:r>
              <a:rPr lang="en-US" sz="1100" b="1"/>
              <a:t>Establish an AI Product Management practice</a:t>
            </a:r>
          </a:p>
          <a:p>
            <a:pPr algn="just">
              <a:spcBef>
                <a:spcPts val="200"/>
              </a:spcBef>
              <a:spcAft>
                <a:spcPts val="200"/>
              </a:spcAft>
              <a:buSzTx/>
            </a:pPr>
            <a:r>
              <a:rPr lang="en-US" sz="1100" b="1">
                <a:hlinkClick r:id="rId15"/>
              </a:rPr>
              <a:t>How to Successfully Lead Teams in Building Agentic AI Solutions</a:t>
            </a:r>
            <a:endParaRPr lang="en-US" sz="1100" b="1"/>
          </a:p>
        </p:txBody>
      </p:sp>
    </p:spTree>
    <p:extLst>
      <p:ext uri="{BB962C8B-B14F-4D97-AF65-F5344CB8AC3E}">
        <p14:creationId xmlns:p14="http://schemas.microsoft.com/office/powerpoint/2010/main" val="1100664959"/>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07ADA-55A0-F639-41FE-2C9C4B960A0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7EDD35D-7106-712B-3B27-C7C151E17E57}"/>
              </a:ext>
            </a:extLst>
          </p:cNvPr>
          <p:cNvSpPr/>
          <p:nvPr>
            <p:custDataLst>
              <p:tags r:id="rId1"/>
            </p:custDataLst>
          </p:nvPr>
        </p:nvSpPr>
        <p:spPr>
          <a:xfrm>
            <a:off x="536400" y="986794"/>
            <a:ext cx="7700400" cy="1143000"/>
          </a:xfrm>
          <a:prstGeom prst="rect">
            <a:avLst/>
          </a:prstGeom>
          <a:solidFill>
            <a:srgbClr val="F2F2F2"/>
          </a:solidFill>
          <a:ln w="12700" cap="flat" cmpd="sng" algn="ctr">
            <a:noFill/>
            <a:prstDash val="solid"/>
            <a:miter lim="800000"/>
          </a:ln>
          <a:effectLst/>
        </p:spPr>
        <p:txBody>
          <a:bodyPr lIns="91440" tIns="45720" rIns="91440" bIns="45720" rtlCol="0" anchor="ctr"/>
          <a:lstStyle/>
          <a:p>
            <a:pPr marL="0" marR="0" lvl="0" indent="0" algn="l" defTabSz="457200" rtl="0" eaLnBrk="1" fontAlgn="auto" latinLnBrk="0" hangingPunct="1">
              <a:lnSpc>
                <a:spcPct val="100000"/>
              </a:lnSpc>
              <a:spcBef>
                <a:spcPct val="0"/>
              </a:spcBef>
              <a:spcAft>
                <a:spcPts val="600"/>
              </a:spcAft>
              <a:buClrTx/>
              <a:buSzTx/>
              <a:buFontTx/>
              <a:buNone/>
              <a:defRPr/>
            </a:pPr>
            <a:r>
              <a:rPr kumimoji="0" lang="en-IN" sz="1600" b="1" i="0" u="none" strike="noStrike" kern="0" cap="none" spc="0" normalizeH="0" baseline="0" noProof="0">
                <a:ln>
                  <a:noFill/>
                </a:ln>
                <a:solidFill>
                  <a:srgbClr val="002856"/>
                </a:solidFill>
                <a:effectLst/>
                <a:uLnTx/>
                <a:uFillTx/>
                <a:cs typeface="Arial"/>
              </a:rPr>
              <a:t>AI Organization</a:t>
            </a:r>
          </a:p>
          <a:p>
            <a:pPr marL="0" marR="0" lvl="0" indent="0" algn="l" defTabSz="457200" rtl="0" eaLnBrk="1" fontAlgn="auto" latinLnBrk="0" hangingPunct="1">
              <a:lnSpc>
                <a:spcPct val="100000"/>
              </a:lnSpc>
              <a:spcBef>
                <a:spcPct val="0"/>
              </a:spcBef>
              <a:spcAft>
                <a:spcPct val="0"/>
              </a:spcAft>
              <a:buClrTx/>
              <a:buSzTx/>
              <a:buFontTx/>
              <a:buNone/>
              <a:defRPr/>
            </a:pPr>
            <a:r>
              <a:rPr kumimoji="0" lang="en-US" sz="1200" b="0" i="0" u="none" strike="noStrike" kern="0" cap="none" spc="0" normalizeH="0" baseline="0" noProof="0">
                <a:ln>
                  <a:noFill/>
                </a:ln>
                <a:solidFill>
                  <a:srgbClr val="000000"/>
                </a:solidFill>
                <a:effectLst/>
                <a:uLnTx/>
                <a:uFillTx/>
                <a:cs typeface="Arial"/>
              </a:rPr>
              <a:t>Evolve your AI operating models by developing internal AI teams, and collaboration networks both inside and outside of the organization</a:t>
            </a:r>
            <a:endParaRPr kumimoji="0" lang="en-IN" sz="1200" b="0" i="0" u="none" strike="noStrike" kern="0" cap="none" spc="0" normalizeH="0" baseline="0" noProof="0">
              <a:ln>
                <a:noFill/>
              </a:ln>
              <a:solidFill>
                <a:srgbClr val="000000"/>
              </a:solidFill>
              <a:effectLst/>
              <a:uLnTx/>
              <a:uFillTx/>
              <a:cs typeface="Arial"/>
            </a:endParaRPr>
          </a:p>
        </p:txBody>
      </p:sp>
      <p:sp>
        <p:nvSpPr>
          <p:cNvPr id="4" name="Rectangle 3">
            <a:extLst>
              <a:ext uri="{FF2B5EF4-FFF2-40B4-BE49-F238E27FC236}">
                <a16:creationId xmlns:a16="http://schemas.microsoft.com/office/drawing/2014/main" id="{F1A55FD6-B931-DC77-AA69-766AED073D49}"/>
              </a:ext>
            </a:extLst>
          </p:cNvPr>
          <p:cNvSpPr/>
          <p:nvPr>
            <p:custDataLst>
              <p:tags r:id="rId2"/>
            </p:custDataLst>
          </p:nvPr>
        </p:nvSpPr>
        <p:spPr>
          <a:xfrm>
            <a:off x="8302752" y="986794"/>
            <a:ext cx="1088136" cy="1133856"/>
          </a:xfrm>
          <a:prstGeom prst="rect">
            <a:avLst/>
          </a:prstGeom>
          <a:solidFill>
            <a:srgbClr val="002869"/>
          </a:solidFill>
          <a:ln w="12700" cap="flat" cmpd="sng" algn="ctr">
            <a:noFill/>
            <a:prstDash val="solid"/>
            <a:miter lim="800000"/>
          </a:ln>
          <a:effectLst/>
        </p:spPr>
        <p:txBody>
          <a:bodyPr lIns="91440" tIns="45720" rIns="91440" bIns="45720" rtlCol="0" anchor="ctr"/>
          <a:lstStyle/>
          <a:p>
            <a:pPr algn="ctr" defTabSz="457200">
              <a:spcAft>
                <a:spcPts val="600"/>
              </a:spcAft>
            </a:pPr>
            <a:r>
              <a:rPr lang="en-IN" sz="2400" b="1" kern="0">
                <a:solidFill>
                  <a:schemeClr val="bg1"/>
                </a:solidFill>
              </a:rPr>
              <a:t>2.3</a:t>
            </a:r>
          </a:p>
          <a:p>
            <a:pPr algn="ctr" defTabSz="457200">
              <a:spcAft>
                <a:spcPts val="600"/>
              </a:spcAft>
            </a:pPr>
            <a:r>
              <a:rPr lang="en-IN" sz="1400" kern="0">
                <a:solidFill>
                  <a:schemeClr val="bg1"/>
                </a:solidFill>
              </a:rPr>
              <a:t>Current</a:t>
            </a:r>
          </a:p>
        </p:txBody>
      </p:sp>
      <p:sp>
        <p:nvSpPr>
          <p:cNvPr id="6" name="Rectangle 5">
            <a:extLst>
              <a:ext uri="{FF2B5EF4-FFF2-40B4-BE49-F238E27FC236}">
                <a16:creationId xmlns:a16="http://schemas.microsoft.com/office/drawing/2014/main" id="{E8F8037C-7DD4-97DA-9076-0D7C3409297B}"/>
              </a:ext>
            </a:extLst>
          </p:cNvPr>
          <p:cNvSpPr/>
          <p:nvPr>
            <p:custDataLst>
              <p:tags r:id="rId3"/>
            </p:custDataLst>
          </p:nvPr>
        </p:nvSpPr>
        <p:spPr>
          <a:xfrm>
            <a:off x="9464040" y="986794"/>
            <a:ext cx="1088136" cy="1133856"/>
          </a:xfrm>
          <a:prstGeom prst="rect">
            <a:avLst/>
          </a:prstGeom>
          <a:solidFill>
            <a:srgbClr val="AECDFF"/>
          </a:solidFill>
          <a:ln w="12700" cap="flat" cmpd="sng" algn="ctr">
            <a:noFill/>
            <a:prstDash val="solid"/>
            <a:miter lim="800000"/>
          </a:ln>
          <a:effectLst/>
        </p:spPr>
        <p:txBody>
          <a:bodyPr lIns="91440" tIns="45720" rIns="91440" bIns="45720" rtlCol="0" anchor="ctr"/>
          <a:lstStyle/>
          <a:p>
            <a:pPr algn="ctr" defTabSz="457200">
              <a:spcAft>
                <a:spcPts val="600"/>
              </a:spcAft>
            </a:pPr>
            <a:r>
              <a:rPr lang="en-IN" sz="2400" b="1" kern="0">
                <a:solidFill>
                  <a:srgbClr val="192D58"/>
                </a:solidFill>
              </a:rPr>
              <a:t>4.0</a:t>
            </a:r>
          </a:p>
          <a:p>
            <a:pPr algn="ctr" defTabSz="457200">
              <a:spcAft>
                <a:spcPts val="600"/>
              </a:spcAft>
            </a:pPr>
            <a:r>
              <a:rPr lang="en-IN" sz="1400" kern="0">
                <a:solidFill>
                  <a:srgbClr val="192D58"/>
                </a:solidFill>
              </a:rPr>
              <a:t>Target</a:t>
            </a:r>
          </a:p>
        </p:txBody>
      </p:sp>
      <p:sp>
        <p:nvSpPr>
          <p:cNvPr id="8" name="Rectangle 7">
            <a:extLst>
              <a:ext uri="{FF2B5EF4-FFF2-40B4-BE49-F238E27FC236}">
                <a16:creationId xmlns:a16="http://schemas.microsoft.com/office/drawing/2014/main" id="{A02004CB-5574-1B9D-62C3-E9EDE9976914}"/>
              </a:ext>
            </a:extLst>
          </p:cNvPr>
          <p:cNvSpPr/>
          <p:nvPr>
            <p:custDataLst>
              <p:tags r:id="rId4"/>
            </p:custDataLst>
          </p:nvPr>
        </p:nvSpPr>
        <p:spPr>
          <a:xfrm>
            <a:off x="10625328" y="986794"/>
            <a:ext cx="1088136" cy="1133856"/>
          </a:xfrm>
          <a:prstGeom prst="rect">
            <a:avLst/>
          </a:prstGeom>
          <a:solidFill>
            <a:srgbClr val="E36135">
              <a:alpha val="20000"/>
            </a:srgbClr>
          </a:solidFill>
          <a:ln w="12700" cap="flat" cmpd="sng" algn="ctr">
            <a:noFill/>
            <a:prstDash val="solid"/>
            <a:miter lim="800000"/>
          </a:ln>
          <a:effectLst/>
        </p:spPr>
        <p:txBody>
          <a:bodyPr lIns="91440" tIns="45720" rIns="91440" bIns="45720" rtlCol="0" anchor="ctr"/>
          <a:lstStyle/>
          <a:p>
            <a:pPr algn="ctr" defTabSz="457200">
              <a:spcAft>
                <a:spcPts val="600"/>
              </a:spcAft>
            </a:pPr>
            <a:r>
              <a:rPr lang="en-IN" sz="2400" b="1" kern="0">
                <a:solidFill>
                  <a:srgbClr val="E36135"/>
                </a:solidFill>
              </a:rPr>
              <a:t>1.7</a:t>
            </a:r>
          </a:p>
          <a:p>
            <a:pPr algn="ctr" defTabSz="457200">
              <a:spcAft>
                <a:spcPts val="600"/>
              </a:spcAft>
            </a:pPr>
            <a:r>
              <a:rPr lang="en-IN" sz="1400" kern="0">
                <a:solidFill>
                  <a:srgbClr val="E36135"/>
                </a:solidFill>
              </a:rPr>
              <a:t>Gap</a:t>
            </a:r>
          </a:p>
        </p:txBody>
      </p:sp>
      <p:sp>
        <p:nvSpPr>
          <p:cNvPr id="16" name="TextBox 15">
            <a:extLst>
              <a:ext uri="{FF2B5EF4-FFF2-40B4-BE49-F238E27FC236}">
                <a16:creationId xmlns:a16="http://schemas.microsoft.com/office/drawing/2014/main" id="{2225DC7B-8861-A5D3-FBC1-29E28640D28E}"/>
              </a:ext>
            </a:extLst>
          </p:cNvPr>
          <p:cNvSpPr txBox="1"/>
          <p:nvPr>
            <p:custDataLst>
              <p:tags r:id="rId5"/>
            </p:custDataLst>
          </p:nvPr>
        </p:nvSpPr>
        <p:spPr>
          <a:xfrm>
            <a:off x="537898" y="2379601"/>
            <a:ext cx="3128326" cy="323165"/>
          </a:xfrm>
          <a:prstGeom prst="rect">
            <a:avLst/>
          </a:prstGeom>
          <a:noFill/>
        </p:spPr>
        <p:txBody>
          <a:bodyPr wrap="square" lIns="0" rtlCol="0" anchor="ctr">
            <a:spAutoFit/>
          </a:bodyPr>
          <a:lstStyle/>
          <a:p>
            <a:pPr>
              <a:spcAft>
                <a:spcPts val="200"/>
              </a:spcAft>
            </a:pPr>
            <a:r>
              <a:rPr lang="en-US" sz="1500" b="1">
                <a:solidFill>
                  <a:srgbClr val="002856"/>
                </a:solidFill>
              </a:rPr>
              <a:t>Foundational Recommendations</a:t>
            </a:r>
          </a:p>
        </p:txBody>
      </p:sp>
      <p:sp>
        <p:nvSpPr>
          <p:cNvPr id="17" name="TextBox 16">
            <a:extLst>
              <a:ext uri="{FF2B5EF4-FFF2-40B4-BE49-F238E27FC236}">
                <a16:creationId xmlns:a16="http://schemas.microsoft.com/office/drawing/2014/main" id="{7A059783-3E36-5338-AFA4-CE449612BEA0}"/>
              </a:ext>
            </a:extLst>
          </p:cNvPr>
          <p:cNvSpPr txBox="1"/>
          <p:nvPr>
            <p:custDataLst>
              <p:tags r:id="rId6"/>
            </p:custDataLst>
          </p:nvPr>
        </p:nvSpPr>
        <p:spPr>
          <a:xfrm>
            <a:off x="6418233" y="2379601"/>
            <a:ext cx="2990304" cy="323165"/>
          </a:xfrm>
          <a:prstGeom prst="rect">
            <a:avLst/>
          </a:prstGeom>
          <a:noFill/>
        </p:spPr>
        <p:txBody>
          <a:bodyPr wrap="square" lIns="0" rtlCol="0" anchor="ctr">
            <a:spAutoFit/>
          </a:bodyPr>
          <a:lstStyle>
            <a:defPPr>
              <a:defRPr lang="en-US"/>
            </a:defPPr>
            <a:lvl1pPr>
              <a:spcAft>
                <a:spcPts val="200"/>
              </a:spcAft>
              <a:defRPr sz="1500" b="1">
                <a:solidFill>
                  <a:srgbClr val="30405A"/>
                </a:solidFill>
              </a:defRPr>
            </a:lvl1pPr>
          </a:lstStyle>
          <a:p>
            <a:r>
              <a:rPr lang="en-US">
                <a:solidFill>
                  <a:srgbClr val="002856"/>
                </a:solidFill>
              </a:rPr>
              <a:t>Progressive Recommendations</a:t>
            </a:r>
          </a:p>
        </p:txBody>
      </p:sp>
      <p:sp>
        <p:nvSpPr>
          <p:cNvPr id="2" name="Title 1">
            <a:extLst>
              <a:ext uri="{FF2B5EF4-FFF2-40B4-BE49-F238E27FC236}">
                <a16:creationId xmlns:a16="http://schemas.microsoft.com/office/drawing/2014/main" id="{81123E12-17B4-D8F1-4FCD-5EAE6025AACA}"/>
              </a:ext>
            </a:extLst>
          </p:cNvPr>
          <p:cNvSpPr>
            <a:spLocks noGrp="1"/>
          </p:cNvSpPr>
          <p:nvPr>
            <p:ph type="title" hasCustomPrompt="1"/>
            <p:custDataLst>
              <p:tags r:id="rId7"/>
            </p:custDataLst>
          </p:nvPr>
        </p:nvSpPr>
        <p:spPr>
          <a:xfrm>
            <a:off x="536400" y="324697"/>
            <a:ext cx="11276013" cy="292366"/>
          </a:xfrm>
        </p:spPr>
        <p:txBody>
          <a:bodyPr vert="horz" lIns="0" tIns="0" rIns="0" bIns="0" rtlCol="0" anchor="t" anchorCtr="0">
            <a:noAutofit/>
          </a:bodyPr>
          <a:lstStyle/>
          <a:p>
            <a:r>
              <a:rPr lang="en-US" sz="2400">
                <a:latin typeface="Gartner Sans" panose="020B0504030402040204" pitchFamily="34" charset="0"/>
              </a:rPr>
              <a:t>Capability: AI Organization</a:t>
            </a:r>
          </a:p>
        </p:txBody>
      </p:sp>
      <p:sp>
        <p:nvSpPr>
          <p:cNvPr id="7" name="TextBox 6">
            <a:extLst>
              <a:ext uri="{FF2B5EF4-FFF2-40B4-BE49-F238E27FC236}">
                <a16:creationId xmlns:a16="http://schemas.microsoft.com/office/drawing/2014/main" id="{1BA5D75B-2871-66BD-0ED4-5BB364095419}"/>
              </a:ext>
            </a:extLst>
          </p:cNvPr>
          <p:cNvSpPr txBox="1"/>
          <p:nvPr>
            <p:custDataLst>
              <p:tags r:id="rId8"/>
            </p:custDataLst>
          </p:nvPr>
        </p:nvSpPr>
        <p:spPr>
          <a:xfrm>
            <a:off x="629913" y="2734056"/>
            <a:ext cx="5167039" cy="1143903"/>
          </a:xfrm>
          <a:prstGeom prst="rect">
            <a:avLst/>
          </a:prstGeom>
          <a:noFill/>
        </p:spPr>
        <p:txBody>
          <a:bodyPr wrap="square" lIns="0" rtlCol="0" anchor="t">
            <a:spAutoFit/>
          </a:bodyPr>
          <a:lstStyle/>
          <a:p>
            <a:pPr algn="just">
              <a:spcBef>
                <a:spcPts val="200"/>
              </a:spcBef>
              <a:spcAft>
                <a:spcPts val="200"/>
              </a:spcAft>
              <a:buSzTx/>
            </a:pPr>
            <a:r>
              <a:rPr lang="en-US" sz="1100" b="1"/>
              <a:t>Establish Structured Internal AI Teams</a:t>
            </a:r>
          </a:p>
          <a:p>
            <a:pPr algn="just">
              <a:spcBef>
                <a:spcPts val="200"/>
              </a:spcBef>
              <a:spcAft>
                <a:spcPts val="200"/>
              </a:spcAft>
              <a:buSzTx/>
            </a:pPr>
            <a:r>
              <a:rPr lang="en-US" sz="1100" b="1">
                <a:hlinkClick r:id="rId12"/>
              </a:rPr>
              <a:t>AI Leader Job Description</a:t>
            </a:r>
            <a:endParaRPr lang="en-US" sz="1100" b="1"/>
          </a:p>
          <a:p>
            <a:pPr algn="just">
              <a:spcBef>
                <a:spcPts val="200"/>
              </a:spcBef>
              <a:spcAft>
                <a:spcPts val="200"/>
              </a:spcAft>
              <a:buSzTx/>
            </a:pPr>
            <a:endParaRPr lang="en-US" sz="1100"/>
          </a:p>
          <a:p>
            <a:pPr algn="just">
              <a:spcBef>
                <a:spcPts val="200"/>
              </a:spcBef>
              <a:spcAft>
                <a:spcPts val="200"/>
              </a:spcAft>
              <a:buSzTx/>
            </a:pPr>
            <a:r>
              <a:rPr lang="en-US" sz="1100" b="1"/>
              <a:t>Develop and Manage Strategic Partnerships</a:t>
            </a:r>
          </a:p>
          <a:p>
            <a:pPr algn="just">
              <a:spcBef>
                <a:spcPts val="200"/>
              </a:spcBef>
              <a:spcAft>
                <a:spcPts val="200"/>
              </a:spcAft>
              <a:buSzTx/>
            </a:pPr>
            <a:r>
              <a:rPr lang="en-US" sz="1100" b="1">
                <a:hlinkClick r:id="rId13"/>
              </a:rPr>
              <a:t>Prioritize Partnership When Selecting Vendors for Service and Support</a:t>
            </a:r>
            <a:endParaRPr lang="en-US" sz="1100" b="1"/>
          </a:p>
        </p:txBody>
      </p:sp>
      <p:sp>
        <p:nvSpPr>
          <p:cNvPr id="9" name="TextBox 8">
            <a:extLst>
              <a:ext uri="{FF2B5EF4-FFF2-40B4-BE49-F238E27FC236}">
                <a16:creationId xmlns:a16="http://schemas.microsoft.com/office/drawing/2014/main" id="{E6C92B04-1698-8548-C8A7-362A0AC3D4B7}"/>
              </a:ext>
            </a:extLst>
          </p:cNvPr>
          <p:cNvSpPr txBox="1"/>
          <p:nvPr>
            <p:custDataLst>
              <p:tags r:id="rId9"/>
            </p:custDataLst>
          </p:nvPr>
        </p:nvSpPr>
        <p:spPr>
          <a:xfrm>
            <a:off x="6519672" y="2734056"/>
            <a:ext cx="5167039" cy="1143903"/>
          </a:xfrm>
          <a:prstGeom prst="rect">
            <a:avLst/>
          </a:prstGeom>
          <a:noFill/>
        </p:spPr>
        <p:txBody>
          <a:bodyPr wrap="square" lIns="0" rtlCol="0" anchor="t">
            <a:spAutoFit/>
          </a:bodyPr>
          <a:lstStyle/>
          <a:p>
            <a:pPr>
              <a:spcBef>
                <a:spcPts val="200"/>
              </a:spcBef>
              <a:spcAft>
                <a:spcPts val="200"/>
              </a:spcAft>
              <a:buSzTx/>
            </a:pPr>
            <a:r>
              <a:rPr lang="en-US" sz="1100" b="1"/>
              <a:t>Establish an AI target operating model </a:t>
            </a:r>
          </a:p>
          <a:p>
            <a:pPr>
              <a:spcBef>
                <a:spcPts val="200"/>
              </a:spcBef>
              <a:spcAft>
                <a:spcPts val="200"/>
              </a:spcAft>
              <a:buSzTx/>
            </a:pPr>
            <a:r>
              <a:rPr lang="en-US" sz="1100" b="1">
                <a:hlinkClick r:id="rId14"/>
              </a:rPr>
              <a:t>Want AI at Enterprise Scale? Start With a Robust AI Operating Model</a:t>
            </a:r>
            <a:endParaRPr lang="en-US" sz="1100" b="1"/>
          </a:p>
          <a:p>
            <a:pPr>
              <a:spcBef>
                <a:spcPts val="200"/>
              </a:spcBef>
              <a:spcAft>
                <a:spcPts val="200"/>
              </a:spcAft>
              <a:buSzTx/>
            </a:pPr>
            <a:endParaRPr lang="en-US" sz="1100" b="1"/>
          </a:p>
          <a:p>
            <a:pPr>
              <a:spcBef>
                <a:spcPts val="200"/>
              </a:spcBef>
              <a:spcAft>
                <a:spcPts val="200"/>
              </a:spcAft>
              <a:buSzTx/>
            </a:pPr>
            <a:r>
              <a:rPr lang="en-US" sz="1100" b="1"/>
              <a:t>Cultivate an Adaptive AI Ecosystem of Internal and External Partnerships</a:t>
            </a:r>
          </a:p>
          <a:p>
            <a:pPr>
              <a:spcBef>
                <a:spcPts val="200"/>
              </a:spcBef>
              <a:spcAft>
                <a:spcPts val="200"/>
              </a:spcAft>
              <a:buSzTx/>
            </a:pPr>
            <a:r>
              <a:rPr lang="en-US" sz="1100" b="1">
                <a:hlinkClick r:id="rId15"/>
              </a:rPr>
              <a:t>100 AI Mini-Challenges to Kickstart Workforce AI Readiness</a:t>
            </a:r>
            <a:endParaRPr lang="en-US" sz="1050" b="1"/>
          </a:p>
        </p:txBody>
      </p:sp>
    </p:spTree>
    <p:extLst>
      <p:ext uri="{BB962C8B-B14F-4D97-AF65-F5344CB8AC3E}">
        <p14:creationId xmlns:p14="http://schemas.microsoft.com/office/powerpoint/2010/main" val="107850488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AF70F-E86B-4A00-D71D-CEF1685D848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B20F402-4D4C-B674-0224-39727B1E758A}"/>
              </a:ext>
            </a:extLst>
          </p:cNvPr>
          <p:cNvSpPr/>
          <p:nvPr>
            <p:custDataLst>
              <p:tags r:id="rId1"/>
            </p:custDataLst>
          </p:nvPr>
        </p:nvSpPr>
        <p:spPr>
          <a:xfrm>
            <a:off x="536400" y="986794"/>
            <a:ext cx="7700400" cy="1143000"/>
          </a:xfrm>
          <a:prstGeom prst="rect">
            <a:avLst/>
          </a:prstGeom>
          <a:solidFill>
            <a:srgbClr val="F2F2F2"/>
          </a:solidFill>
          <a:ln w="12700" cap="flat" cmpd="sng" algn="ctr">
            <a:noFill/>
            <a:prstDash val="solid"/>
            <a:miter lim="800000"/>
          </a:ln>
          <a:effectLst/>
        </p:spPr>
        <p:txBody>
          <a:bodyPr lIns="91440" tIns="45720" rIns="91440" bIns="45720" rtlCol="0" anchor="ctr"/>
          <a:lstStyle/>
          <a:p>
            <a:pPr marL="0" marR="0" lvl="0" indent="0" algn="l" defTabSz="457200" rtl="0" eaLnBrk="1" fontAlgn="auto" latinLnBrk="0" hangingPunct="1">
              <a:lnSpc>
                <a:spcPct val="100000"/>
              </a:lnSpc>
              <a:spcBef>
                <a:spcPct val="0"/>
              </a:spcBef>
              <a:spcAft>
                <a:spcPts val="600"/>
              </a:spcAft>
              <a:buClrTx/>
              <a:buSzTx/>
              <a:buFontTx/>
              <a:buNone/>
              <a:defRPr/>
            </a:pPr>
            <a:r>
              <a:rPr kumimoji="0" lang="en-IN" sz="1600" b="1" i="0" u="none" strike="noStrike" kern="0" cap="none" spc="0" normalizeH="0" baseline="0" noProof="0">
                <a:ln>
                  <a:noFill/>
                </a:ln>
                <a:solidFill>
                  <a:srgbClr val="002856"/>
                </a:solidFill>
                <a:effectLst/>
                <a:uLnTx/>
                <a:uFillTx/>
                <a:cs typeface="Arial"/>
              </a:rPr>
              <a:t>AI People and Culture</a:t>
            </a:r>
          </a:p>
          <a:p>
            <a:pPr marL="0" marR="0" lvl="0" indent="0" algn="l" defTabSz="457200" rtl="0" eaLnBrk="1" fontAlgn="auto" latinLnBrk="0" hangingPunct="1">
              <a:lnSpc>
                <a:spcPct val="100000"/>
              </a:lnSpc>
              <a:spcBef>
                <a:spcPct val="0"/>
              </a:spcBef>
              <a:spcAft>
                <a:spcPct val="0"/>
              </a:spcAft>
              <a:buClrTx/>
              <a:buSzTx/>
              <a:buFontTx/>
              <a:buNone/>
              <a:defRPr/>
            </a:pPr>
            <a:r>
              <a:rPr kumimoji="0" lang="en-US" sz="1200" b="0" i="0" u="none" strike="noStrike" kern="0" cap="none" spc="0" normalizeH="0" baseline="0" noProof="0">
                <a:ln>
                  <a:noFill/>
                </a:ln>
                <a:solidFill>
                  <a:srgbClr val="000000"/>
                </a:solidFill>
                <a:effectLst/>
                <a:uLnTx/>
                <a:uFillTx/>
                <a:cs typeface="Arial"/>
              </a:rPr>
              <a:t>Foster AI knowledge and culture by committing to AI literacy, change management, and a culture of innovation</a:t>
            </a:r>
            <a:endParaRPr kumimoji="0" lang="en-IN" sz="1200" b="0" i="0" u="none" strike="noStrike" kern="0" cap="none" spc="0" normalizeH="0" baseline="0" noProof="0">
              <a:ln>
                <a:noFill/>
              </a:ln>
              <a:solidFill>
                <a:srgbClr val="000000"/>
              </a:solidFill>
              <a:effectLst/>
              <a:uLnTx/>
              <a:uFillTx/>
              <a:cs typeface="Arial"/>
            </a:endParaRPr>
          </a:p>
        </p:txBody>
      </p:sp>
      <p:sp>
        <p:nvSpPr>
          <p:cNvPr id="4" name="Rectangle 3">
            <a:extLst>
              <a:ext uri="{FF2B5EF4-FFF2-40B4-BE49-F238E27FC236}">
                <a16:creationId xmlns:a16="http://schemas.microsoft.com/office/drawing/2014/main" id="{AAF5351F-5D9E-EDAE-D883-8E42BFE6391E}"/>
              </a:ext>
            </a:extLst>
          </p:cNvPr>
          <p:cNvSpPr/>
          <p:nvPr>
            <p:custDataLst>
              <p:tags r:id="rId2"/>
            </p:custDataLst>
          </p:nvPr>
        </p:nvSpPr>
        <p:spPr>
          <a:xfrm>
            <a:off x="8302752" y="986794"/>
            <a:ext cx="1088136" cy="1133856"/>
          </a:xfrm>
          <a:prstGeom prst="rect">
            <a:avLst/>
          </a:prstGeom>
          <a:solidFill>
            <a:srgbClr val="002869"/>
          </a:solidFill>
          <a:ln w="12700" cap="flat" cmpd="sng" algn="ctr">
            <a:noFill/>
            <a:prstDash val="solid"/>
            <a:miter lim="800000"/>
          </a:ln>
          <a:effectLst/>
        </p:spPr>
        <p:txBody>
          <a:bodyPr lIns="91440" tIns="45720" rIns="91440" bIns="45720" rtlCol="0" anchor="ctr"/>
          <a:lstStyle/>
          <a:p>
            <a:pPr algn="ctr" defTabSz="457200">
              <a:spcAft>
                <a:spcPts val="600"/>
              </a:spcAft>
            </a:pPr>
            <a:r>
              <a:rPr lang="en-IN" sz="2400" b="1" kern="0">
                <a:solidFill>
                  <a:schemeClr val="bg1"/>
                </a:solidFill>
              </a:rPr>
              <a:t>1.7</a:t>
            </a:r>
          </a:p>
          <a:p>
            <a:pPr algn="ctr" defTabSz="457200">
              <a:spcAft>
                <a:spcPts val="600"/>
              </a:spcAft>
            </a:pPr>
            <a:r>
              <a:rPr lang="en-IN" sz="1400" kern="0">
                <a:solidFill>
                  <a:schemeClr val="bg1"/>
                </a:solidFill>
              </a:rPr>
              <a:t>Current</a:t>
            </a:r>
          </a:p>
        </p:txBody>
      </p:sp>
      <p:sp>
        <p:nvSpPr>
          <p:cNvPr id="6" name="Rectangle 5">
            <a:extLst>
              <a:ext uri="{FF2B5EF4-FFF2-40B4-BE49-F238E27FC236}">
                <a16:creationId xmlns:a16="http://schemas.microsoft.com/office/drawing/2014/main" id="{819AE229-77E8-5B14-9160-D45EA098529B}"/>
              </a:ext>
            </a:extLst>
          </p:cNvPr>
          <p:cNvSpPr/>
          <p:nvPr>
            <p:custDataLst>
              <p:tags r:id="rId3"/>
            </p:custDataLst>
          </p:nvPr>
        </p:nvSpPr>
        <p:spPr>
          <a:xfrm>
            <a:off x="9464040" y="986794"/>
            <a:ext cx="1088136" cy="1133856"/>
          </a:xfrm>
          <a:prstGeom prst="rect">
            <a:avLst/>
          </a:prstGeom>
          <a:solidFill>
            <a:srgbClr val="AECDFF"/>
          </a:solidFill>
          <a:ln w="12700" cap="flat" cmpd="sng" algn="ctr">
            <a:noFill/>
            <a:prstDash val="solid"/>
            <a:miter lim="800000"/>
          </a:ln>
          <a:effectLst/>
        </p:spPr>
        <p:txBody>
          <a:bodyPr lIns="91440" tIns="45720" rIns="91440" bIns="45720" rtlCol="0" anchor="ctr"/>
          <a:lstStyle/>
          <a:p>
            <a:pPr algn="ctr" defTabSz="457200">
              <a:spcAft>
                <a:spcPts val="600"/>
              </a:spcAft>
            </a:pPr>
            <a:r>
              <a:rPr lang="en-IN" sz="2400" b="1" kern="0">
                <a:solidFill>
                  <a:srgbClr val="192D58"/>
                </a:solidFill>
              </a:rPr>
              <a:t>2.7</a:t>
            </a:r>
          </a:p>
          <a:p>
            <a:pPr algn="ctr" defTabSz="457200">
              <a:spcAft>
                <a:spcPts val="600"/>
              </a:spcAft>
            </a:pPr>
            <a:r>
              <a:rPr lang="en-IN" sz="1400" kern="0">
                <a:solidFill>
                  <a:srgbClr val="192D58"/>
                </a:solidFill>
              </a:rPr>
              <a:t>Target</a:t>
            </a:r>
          </a:p>
        </p:txBody>
      </p:sp>
      <p:sp>
        <p:nvSpPr>
          <p:cNvPr id="8" name="Rectangle 7">
            <a:extLst>
              <a:ext uri="{FF2B5EF4-FFF2-40B4-BE49-F238E27FC236}">
                <a16:creationId xmlns:a16="http://schemas.microsoft.com/office/drawing/2014/main" id="{7FF3BA4D-2194-0BD6-8A21-ED68E77D8C0A}"/>
              </a:ext>
            </a:extLst>
          </p:cNvPr>
          <p:cNvSpPr/>
          <p:nvPr>
            <p:custDataLst>
              <p:tags r:id="rId4"/>
            </p:custDataLst>
          </p:nvPr>
        </p:nvSpPr>
        <p:spPr>
          <a:xfrm>
            <a:off x="10625328" y="986794"/>
            <a:ext cx="1088136" cy="1133856"/>
          </a:xfrm>
          <a:prstGeom prst="rect">
            <a:avLst/>
          </a:prstGeom>
          <a:solidFill>
            <a:srgbClr val="E36135">
              <a:alpha val="20000"/>
            </a:srgbClr>
          </a:solidFill>
          <a:ln w="12700" cap="flat" cmpd="sng" algn="ctr">
            <a:noFill/>
            <a:prstDash val="solid"/>
            <a:miter lim="800000"/>
          </a:ln>
          <a:effectLst/>
        </p:spPr>
        <p:txBody>
          <a:bodyPr lIns="91440" tIns="45720" rIns="91440" bIns="45720" rtlCol="0" anchor="ctr"/>
          <a:lstStyle/>
          <a:p>
            <a:pPr algn="ctr" defTabSz="457200">
              <a:spcAft>
                <a:spcPts val="600"/>
              </a:spcAft>
            </a:pPr>
            <a:r>
              <a:rPr lang="en-IN" sz="2400" b="1" kern="0">
                <a:solidFill>
                  <a:srgbClr val="E36135"/>
                </a:solidFill>
              </a:rPr>
              <a:t>1.0</a:t>
            </a:r>
          </a:p>
          <a:p>
            <a:pPr algn="ctr" defTabSz="457200">
              <a:spcAft>
                <a:spcPts val="600"/>
              </a:spcAft>
            </a:pPr>
            <a:r>
              <a:rPr lang="en-IN" sz="1400" kern="0">
                <a:solidFill>
                  <a:srgbClr val="E36135"/>
                </a:solidFill>
              </a:rPr>
              <a:t>Gap</a:t>
            </a:r>
          </a:p>
        </p:txBody>
      </p:sp>
      <p:sp>
        <p:nvSpPr>
          <p:cNvPr id="16" name="TextBox 15">
            <a:extLst>
              <a:ext uri="{FF2B5EF4-FFF2-40B4-BE49-F238E27FC236}">
                <a16:creationId xmlns:a16="http://schemas.microsoft.com/office/drawing/2014/main" id="{CABD5294-A0D9-B25B-8DC3-F455B3508684}"/>
              </a:ext>
            </a:extLst>
          </p:cNvPr>
          <p:cNvSpPr txBox="1"/>
          <p:nvPr>
            <p:custDataLst>
              <p:tags r:id="rId5"/>
            </p:custDataLst>
          </p:nvPr>
        </p:nvSpPr>
        <p:spPr>
          <a:xfrm>
            <a:off x="537898" y="2379601"/>
            <a:ext cx="3128326" cy="323165"/>
          </a:xfrm>
          <a:prstGeom prst="rect">
            <a:avLst/>
          </a:prstGeom>
          <a:noFill/>
        </p:spPr>
        <p:txBody>
          <a:bodyPr wrap="square" lIns="0" rtlCol="0" anchor="ctr">
            <a:spAutoFit/>
          </a:bodyPr>
          <a:lstStyle/>
          <a:p>
            <a:pPr>
              <a:spcAft>
                <a:spcPts val="200"/>
              </a:spcAft>
            </a:pPr>
            <a:r>
              <a:rPr lang="en-US" sz="1500" b="1">
                <a:solidFill>
                  <a:srgbClr val="002856"/>
                </a:solidFill>
              </a:rPr>
              <a:t>Foundational Recommendations</a:t>
            </a:r>
          </a:p>
        </p:txBody>
      </p:sp>
      <p:sp>
        <p:nvSpPr>
          <p:cNvPr id="17" name="TextBox 16">
            <a:extLst>
              <a:ext uri="{FF2B5EF4-FFF2-40B4-BE49-F238E27FC236}">
                <a16:creationId xmlns:a16="http://schemas.microsoft.com/office/drawing/2014/main" id="{415F9FC2-1C98-D251-3DED-2BDE4DA405D7}"/>
              </a:ext>
            </a:extLst>
          </p:cNvPr>
          <p:cNvSpPr txBox="1"/>
          <p:nvPr>
            <p:custDataLst>
              <p:tags r:id="rId6"/>
            </p:custDataLst>
          </p:nvPr>
        </p:nvSpPr>
        <p:spPr>
          <a:xfrm>
            <a:off x="6418233" y="2379601"/>
            <a:ext cx="2990304" cy="323165"/>
          </a:xfrm>
          <a:prstGeom prst="rect">
            <a:avLst/>
          </a:prstGeom>
          <a:noFill/>
        </p:spPr>
        <p:txBody>
          <a:bodyPr wrap="square" lIns="0" rtlCol="0" anchor="ctr">
            <a:spAutoFit/>
          </a:bodyPr>
          <a:lstStyle>
            <a:defPPr>
              <a:defRPr lang="en-US"/>
            </a:defPPr>
            <a:lvl1pPr>
              <a:spcAft>
                <a:spcPts val="200"/>
              </a:spcAft>
              <a:defRPr sz="1500" b="1">
                <a:solidFill>
                  <a:srgbClr val="30405A"/>
                </a:solidFill>
              </a:defRPr>
            </a:lvl1pPr>
          </a:lstStyle>
          <a:p>
            <a:r>
              <a:rPr lang="en-US">
                <a:solidFill>
                  <a:srgbClr val="002856"/>
                </a:solidFill>
              </a:rPr>
              <a:t>Progressive Recommendations</a:t>
            </a:r>
          </a:p>
        </p:txBody>
      </p:sp>
      <p:sp>
        <p:nvSpPr>
          <p:cNvPr id="2" name="Title 1">
            <a:extLst>
              <a:ext uri="{FF2B5EF4-FFF2-40B4-BE49-F238E27FC236}">
                <a16:creationId xmlns:a16="http://schemas.microsoft.com/office/drawing/2014/main" id="{2510ECC9-3863-0D8B-F8AA-AD46059DEC65}"/>
              </a:ext>
            </a:extLst>
          </p:cNvPr>
          <p:cNvSpPr>
            <a:spLocks noGrp="1"/>
          </p:cNvSpPr>
          <p:nvPr>
            <p:ph type="title" hasCustomPrompt="1"/>
            <p:custDataLst>
              <p:tags r:id="rId7"/>
            </p:custDataLst>
          </p:nvPr>
        </p:nvSpPr>
        <p:spPr>
          <a:xfrm>
            <a:off x="536400" y="324697"/>
            <a:ext cx="11276013" cy="292366"/>
          </a:xfrm>
        </p:spPr>
        <p:txBody>
          <a:bodyPr vert="horz" lIns="0" tIns="0" rIns="0" bIns="0" rtlCol="0" anchor="t" anchorCtr="0">
            <a:noAutofit/>
          </a:bodyPr>
          <a:lstStyle/>
          <a:p>
            <a:r>
              <a:rPr lang="en-US" sz="2400">
                <a:latin typeface="Gartner Sans" panose="020B0504030402040204" pitchFamily="34" charset="0"/>
              </a:rPr>
              <a:t>Capability: AI </a:t>
            </a:r>
            <a:r>
              <a:rPr lang="en-IN" sz="2400">
                <a:latin typeface="Gartner Sans" panose="020B0504030402040204" pitchFamily="34" charset="0"/>
              </a:rPr>
              <a:t>People and Culture</a:t>
            </a:r>
            <a:br>
              <a:rPr lang="en-IN" sz="2400">
                <a:latin typeface="Gartner Sans" panose="020B0504030402040204" pitchFamily="34" charset="0"/>
              </a:rPr>
            </a:br>
            <a:endParaRPr lang="en-US" sz="2400">
              <a:latin typeface="Gartner Sans" panose="020B0504030402040204" pitchFamily="34" charset="0"/>
            </a:endParaRPr>
          </a:p>
        </p:txBody>
      </p:sp>
      <p:sp>
        <p:nvSpPr>
          <p:cNvPr id="7" name="TextBox 6">
            <a:extLst>
              <a:ext uri="{FF2B5EF4-FFF2-40B4-BE49-F238E27FC236}">
                <a16:creationId xmlns:a16="http://schemas.microsoft.com/office/drawing/2014/main" id="{850AA4F8-54DB-666C-1752-749DD4D098D4}"/>
              </a:ext>
            </a:extLst>
          </p:cNvPr>
          <p:cNvSpPr txBox="1"/>
          <p:nvPr>
            <p:custDataLst>
              <p:tags r:id="rId8"/>
            </p:custDataLst>
          </p:nvPr>
        </p:nvSpPr>
        <p:spPr>
          <a:xfrm>
            <a:off x="629913" y="2736000"/>
            <a:ext cx="5167039" cy="1349087"/>
          </a:xfrm>
          <a:prstGeom prst="rect">
            <a:avLst/>
          </a:prstGeom>
          <a:noFill/>
        </p:spPr>
        <p:txBody>
          <a:bodyPr wrap="square" lIns="0" rtlCol="0" anchor="t">
            <a:spAutoFit/>
          </a:bodyPr>
          <a:lstStyle/>
          <a:p>
            <a:pPr algn="just">
              <a:spcBef>
                <a:spcPts val="200"/>
              </a:spcBef>
              <a:spcAft>
                <a:spcPts val="200"/>
              </a:spcAft>
              <a:buSzTx/>
            </a:pPr>
            <a:r>
              <a:rPr lang="en-US" sz="1100" b="1"/>
              <a:t>Launch AI Literacy Programs </a:t>
            </a:r>
          </a:p>
          <a:p>
            <a:pPr algn="just">
              <a:spcBef>
                <a:spcPts val="200"/>
              </a:spcBef>
              <a:spcAft>
                <a:spcPts val="200"/>
              </a:spcAft>
              <a:buSzTx/>
            </a:pPr>
            <a:r>
              <a:rPr lang="en-US" sz="1100" b="1">
                <a:hlinkClick r:id="rId12"/>
              </a:rPr>
              <a:t>AI Literacy Programs: Key Decisions That Define Success</a:t>
            </a:r>
            <a:endParaRPr lang="en-US" sz="1100" b="1"/>
          </a:p>
          <a:p>
            <a:pPr algn="just">
              <a:spcBef>
                <a:spcPts val="200"/>
              </a:spcBef>
              <a:spcAft>
                <a:spcPts val="200"/>
              </a:spcAft>
              <a:buSzTx/>
            </a:pPr>
            <a:endParaRPr lang="en-US" sz="1100"/>
          </a:p>
          <a:p>
            <a:pPr algn="just">
              <a:spcBef>
                <a:spcPts val="200"/>
              </a:spcBef>
              <a:spcAft>
                <a:spcPts val="200"/>
              </a:spcAft>
              <a:buSzTx/>
            </a:pPr>
            <a:r>
              <a:rPr lang="en-US" sz="1100" b="1"/>
              <a:t>Create an AI change management plan</a:t>
            </a:r>
          </a:p>
          <a:p>
            <a:pPr algn="just">
              <a:spcBef>
                <a:spcPts val="200"/>
              </a:spcBef>
              <a:spcAft>
                <a:spcPts val="200"/>
              </a:spcAft>
              <a:buSzTx/>
            </a:pPr>
            <a:r>
              <a:rPr lang="fr-FR" sz="1050" b="1">
                <a:hlinkClick r:id="rId13"/>
              </a:rPr>
              <a:t>Essential KPIs for AI Change Management</a:t>
            </a:r>
            <a:endParaRPr lang="fr-FR" sz="1050" b="1"/>
          </a:p>
          <a:p>
            <a:pPr algn="just">
              <a:spcBef>
                <a:spcPts val="200"/>
              </a:spcBef>
              <a:spcAft>
                <a:spcPts val="200"/>
              </a:spcAft>
              <a:buSzTx/>
            </a:pPr>
            <a:endParaRPr lang="en-US" sz="1050" b="1"/>
          </a:p>
        </p:txBody>
      </p:sp>
      <p:sp>
        <p:nvSpPr>
          <p:cNvPr id="9" name="TextBox 8">
            <a:extLst>
              <a:ext uri="{FF2B5EF4-FFF2-40B4-BE49-F238E27FC236}">
                <a16:creationId xmlns:a16="http://schemas.microsoft.com/office/drawing/2014/main" id="{83DCCCA4-3812-E834-A6EC-3EF1323173D1}"/>
              </a:ext>
            </a:extLst>
          </p:cNvPr>
          <p:cNvSpPr txBox="1"/>
          <p:nvPr>
            <p:custDataLst>
              <p:tags r:id="rId9"/>
            </p:custDataLst>
          </p:nvPr>
        </p:nvSpPr>
        <p:spPr>
          <a:xfrm>
            <a:off x="6519672" y="2736000"/>
            <a:ext cx="5167039" cy="1143903"/>
          </a:xfrm>
          <a:prstGeom prst="rect">
            <a:avLst/>
          </a:prstGeom>
          <a:noFill/>
        </p:spPr>
        <p:txBody>
          <a:bodyPr wrap="square" lIns="0" rtlCol="0" anchor="t">
            <a:spAutoFit/>
          </a:bodyPr>
          <a:lstStyle/>
          <a:p>
            <a:pPr algn="just">
              <a:spcBef>
                <a:spcPts val="200"/>
              </a:spcBef>
              <a:spcAft>
                <a:spcPts val="200"/>
              </a:spcAft>
              <a:buSzTx/>
            </a:pPr>
            <a:r>
              <a:rPr lang="en-US" sz="1100" b="1" dirty="0"/>
              <a:t>Cultivate an AI-Integrated and Learning-Oriented Culture</a:t>
            </a:r>
          </a:p>
          <a:p>
            <a:pPr algn="just">
              <a:spcBef>
                <a:spcPts val="200"/>
              </a:spcBef>
              <a:spcAft>
                <a:spcPts val="200"/>
              </a:spcAft>
              <a:buSzTx/>
            </a:pPr>
            <a:r>
              <a:rPr lang="en-US" sz="1100" b="1" dirty="0">
                <a:hlinkClick r:id="rId14"/>
              </a:rPr>
              <a:t>Drive AI Literacy With “Social-Media” Style Marketing</a:t>
            </a:r>
            <a:endParaRPr lang="en-US" sz="1100" b="1" dirty="0"/>
          </a:p>
          <a:p>
            <a:pPr algn="just">
              <a:spcBef>
                <a:spcPts val="200"/>
              </a:spcBef>
              <a:spcAft>
                <a:spcPts val="200"/>
              </a:spcAft>
              <a:buSzTx/>
            </a:pPr>
            <a:endParaRPr lang="en-US" sz="1100" b="1" dirty="0"/>
          </a:p>
          <a:p>
            <a:pPr algn="just">
              <a:spcBef>
                <a:spcPts val="200"/>
              </a:spcBef>
              <a:spcAft>
                <a:spcPts val="200"/>
              </a:spcAft>
              <a:buSzTx/>
            </a:pPr>
            <a:r>
              <a:rPr lang="en-US" sz="1100" b="1" dirty="0"/>
              <a:t>Plan for AI's impact on the broader workforce</a:t>
            </a:r>
          </a:p>
          <a:p>
            <a:pPr algn="just">
              <a:spcBef>
                <a:spcPts val="200"/>
              </a:spcBef>
              <a:spcAft>
                <a:spcPts val="200"/>
              </a:spcAft>
              <a:buSzTx/>
            </a:pPr>
            <a:r>
              <a:rPr lang="en-US" sz="1100" b="1" dirty="0">
                <a:hlinkClick r:id="rId15"/>
              </a:rPr>
              <a:t>Build an AI-First Workforce</a:t>
            </a:r>
            <a:endParaRPr lang="en-US" sz="1050" b="1" dirty="0"/>
          </a:p>
        </p:txBody>
      </p:sp>
    </p:spTree>
    <p:extLst>
      <p:ext uri="{BB962C8B-B14F-4D97-AF65-F5344CB8AC3E}">
        <p14:creationId xmlns:p14="http://schemas.microsoft.com/office/powerpoint/2010/main" val="223520642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CB2516-5329-E8E1-6154-8CFC139E95B3}"/>
              </a:ext>
            </a:extLst>
          </p:cNvPr>
          <p:cNvSpPr/>
          <p:nvPr>
            <p:custDataLst>
              <p:tags r:id="rId1"/>
            </p:custDataLst>
          </p:nvPr>
        </p:nvSpPr>
        <p:spPr>
          <a:xfrm>
            <a:off x="536400" y="986794"/>
            <a:ext cx="7700400" cy="1143000"/>
          </a:xfrm>
          <a:prstGeom prst="rect">
            <a:avLst/>
          </a:prstGeom>
          <a:solidFill>
            <a:srgbClr val="F2F2F2"/>
          </a:solidFill>
          <a:ln w="12700" cap="flat" cmpd="sng" algn="ctr">
            <a:noFill/>
            <a:prstDash val="solid"/>
            <a:miter lim="800000"/>
          </a:ln>
          <a:effectLst/>
        </p:spPr>
        <p:txBody>
          <a:bodyPr lIns="91440" tIns="45720" rIns="91440" bIns="45720" rtlCol="0" anchor="ctr"/>
          <a:lstStyle/>
          <a:p>
            <a:pPr marL="0" marR="0" lvl="0" indent="0" algn="l" defTabSz="457200" rtl="0" eaLnBrk="1" fontAlgn="auto" latinLnBrk="0" hangingPunct="1">
              <a:lnSpc>
                <a:spcPct val="100000"/>
              </a:lnSpc>
              <a:spcBef>
                <a:spcPct val="0"/>
              </a:spcBef>
              <a:spcAft>
                <a:spcPts val="600"/>
              </a:spcAft>
              <a:buClrTx/>
              <a:buSzTx/>
              <a:buFontTx/>
              <a:buNone/>
              <a:defRPr/>
            </a:pPr>
            <a:r>
              <a:rPr kumimoji="0" lang="en-IN" sz="1600" b="1" i="0" u="none" strike="noStrike" kern="0" cap="none" spc="0" normalizeH="0" baseline="0" noProof="0">
                <a:ln>
                  <a:noFill/>
                </a:ln>
                <a:solidFill>
                  <a:srgbClr val="002856"/>
                </a:solidFill>
                <a:effectLst/>
                <a:uLnTx/>
                <a:uFillTx/>
                <a:cs typeface="Arial"/>
              </a:rPr>
              <a:t>AI Governance</a:t>
            </a:r>
          </a:p>
          <a:p>
            <a:pPr marL="0" marR="0" lvl="0" indent="0" algn="l" defTabSz="457200" rtl="0" eaLnBrk="1" fontAlgn="auto" latinLnBrk="0" hangingPunct="1">
              <a:lnSpc>
                <a:spcPct val="100000"/>
              </a:lnSpc>
              <a:spcBef>
                <a:spcPct val="0"/>
              </a:spcBef>
              <a:spcAft>
                <a:spcPct val="0"/>
              </a:spcAft>
              <a:buClrTx/>
              <a:buSzTx/>
              <a:buFontTx/>
              <a:buNone/>
              <a:defRPr/>
            </a:pPr>
            <a:r>
              <a:rPr kumimoji="0" lang="en-US" sz="1200" b="0" i="0" u="none" strike="noStrike" kern="0" cap="none" spc="0" normalizeH="0" baseline="0" noProof="0">
                <a:ln>
                  <a:noFill/>
                </a:ln>
                <a:solidFill>
                  <a:srgbClr val="000000"/>
                </a:solidFill>
                <a:effectLst/>
                <a:uLnTx/>
                <a:uFillTx/>
                <a:cs typeface="Arial"/>
              </a:rPr>
              <a:t>Govern AI and manage risks through the establishment and enforcement of governance policies and standards for ethical and compliant AI practices</a:t>
            </a:r>
            <a:endParaRPr kumimoji="0" lang="en-IN" sz="1200" b="0" i="0" u="none" strike="noStrike" kern="0" cap="none" spc="0" normalizeH="0" baseline="0" noProof="0">
              <a:ln>
                <a:noFill/>
              </a:ln>
              <a:solidFill>
                <a:srgbClr val="000000"/>
              </a:solidFill>
              <a:effectLst/>
              <a:uLnTx/>
              <a:uFillTx/>
              <a:cs typeface="Arial"/>
            </a:endParaRPr>
          </a:p>
        </p:txBody>
      </p:sp>
      <p:sp>
        <p:nvSpPr>
          <p:cNvPr id="4" name="Rectangle 3">
            <a:extLst>
              <a:ext uri="{FF2B5EF4-FFF2-40B4-BE49-F238E27FC236}">
                <a16:creationId xmlns:a16="http://schemas.microsoft.com/office/drawing/2014/main" id="{E87848CC-8443-6BC9-F04C-5877837B5E33}"/>
              </a:ext>
            </a:extLst>
          </p:cNvPr>
          <p:cNvSpPr/>
          <p:nvPr>
            <p:custDataLst>
              <p:tags r:id="rId2"/>
            </p:custDataLst>
          </p:nvPr>
        </p:nvSpPr>
        <p:spPr>
          <a:xfrm>
            <a:off x="8302752" y="986794"/>
            <a:ext cx="1088136" cy="1133856"/>
          </a:xfrm>
          <a:prstGeom prst="rect">
            <a:avLst/>
          </a:prstGeom>
          <a:solidFill>
            <a:srgbClr val="002869"/>
          </a:solidFill>
          <a:ln w="12700" cap="flat" cmpd="sng" algn="ctr">
            <a:noFill/>
            <a:prstDash val="solid"/>
            <a:miter lim="800000"/>
          </a:ln>
          <a:effectLst/>
        </p:spPr>
        <p:txBody>
          <a:bodyPr lIns="91440" tIns="45720" rIns="91440" bIns="45720" rtlCol="0" anchor="ctr"/>
          <a:lstStyle/>
          <a:p>
            <a:pPr algn="ctr" defTabSz="457200">
              <a:spcAft>
                <a:spcPts val="600"/>
              </a:spcAft>
            </a:pPr>
            <a:r>
              <a:rPr lang="en-IN" sz="2400" b="1" kern="0">
                <a:solidFill>
                  <a:schemeClr val="bg1"/>
                </a:solidFill>
              </a:rPr>
              <a:t>2.7</a:t>
            </a:r>
          </a:p>
          <a:p>
            <a:pPr algn="ctr" defTabSz="457200">
              <a:spcAft>
                <a:spcPts val="600"/>
              </a:spcAft>
            </a:pPr>
            <a:r>
              <a:rPr lang="en-IN" sz="1400" kern="0">
                <a:solidFill>
                  <a:schemeClr val="bg1"/>
                </a:solidFill>
              </a:rPr>
              <a:t>Current</a:t>
            </a:r>
          </a:p>
        </p:txBody>
      </p:sp>
      <p:sp>
        <p:nvSpPr>
          <p:cNvPr id="6" name="Rectangle 5">
            <a:extLst>
              <a:ext uri="{FF2B5EF4-FFF2-40B4-BE49-F238E27FC236}">
                <a16:creationId xmlns:a16="http://schemas.microsoft.com/office/drawing/2014/main" id="{6336A3D7-AF86-C788-1E1E-5D45E9ADAB9A}"/>
              </a:ext>
            </a:extLst>
          </p:cNvPr>
          <p:cNvSpPr/>
          <p:nvPr>
            <p:custDataLst>
              <p:tags r:id="rId3"/>
            </p:custDataLst>
          </p:nvPr>
        </p:nvSpPr>
        <p:spPr>
          <a:xfrm>
            <a:off x="9464040" y="986794"/>
            <a:ext cx="1088136" cy="1133856"/>
          </a:xfrm>
          <a:prstGeom prst="rect">
            <a:avLst/>
          </a:prstGeom>
          <a:solidFill>
            <a:srgbClr val="AECDFF"/>
          </a:solidFill>
          <a:ln w="12700" cap="flat" cmpd="sng" algn="ctr">
            <a:noFill/>
            <a:prstDash val="solid"/>
            <a:miter lim="800000"/>
          </a:ln>
          <a:effectLst/>
        </p:spPr>
        <p:txBody>
          <a:bodyPr lIns="91440" tIns="45720" rIns="91440" bIns="45720" rtlCol="0" anchor="ctr"/>
          <a:lstStyle/>
          <a:p>
            <a:pPr algn="ctr" defTabSz="457200">
              <a:spcAft>
                <a:spcPts val="600"/>
              </a:spcAft>
            </a:pPr>
            <a:r>
              <a:rPr lang="en-IN" sz="2400" b="1" kern="0">
                <a:solidFill>
                  <a:srgbClr val="192D58"/>
                </a:solidFill>
              </a:rPr>
              <a:t>3.0</a:t>
            </a:r>
          </a:p>
          <a:p>
            <a:pPr algn="ctr" defTabSz="457200">
              <a:spcAft>
                <a:spcPts val="600"/>
              </a:spcAft>
            </a:pPr>
            <a:r>
              <a:rPr lang="en-IN" sz="1400" kern="0">
                <a:solidFill>
                  <a:srgbClr val="192D58"/>
                </a:solidFill>
              </a:rPr>
              <a:t>Target</a:t>
            </a:r>
          </a:p>
        </p:txBody>
      </p:sp>
      <p:sp>
        <p:nvSpPr>
          <p:cNvPr id="8" name="Rectangle 7">
            <a:extLst>
              <a:ext uri="{FF2B5EF4-FFF2-40B4-BE49-F238E27FC236}">
                <a16:creationId xmlns:a16="http://schemas.microsoft.com/office/drawing/2014/main" id="{2B09059E-D2EF-A04D-63B7-894809B3698B}"/>
              </a:ext>
            </a:extLst>
          </p:cNvPr>
          <p:cNvSpPr/>
          <p:nvPr>
            <p:custDataLst>
              <p:tags r:id="rId4"/>
            </p:custDataLst>
          </p:nvPr>
        </p:nvSpPr>
        <p:spPr>
          <a:xfrm>
            <a:off x="10625328" y="986794"/>
            <a:ext cx="1088136" cy="1133856"/>
          </a:xfrm>
          <a:prstGeom prst="rect">
            <a:avLst/>
          </a:prstGeom>
          <a:solidFill>
            <a:srgbClr val="E36135">
              <a:alpha val="20000"/>
            </a:srgbClr>
          </a:solidFill>
          <a:ln w="12700" cap="flat" cmpd="sng" algn="ctr">
            <a:noFill/>
            <a:prstDash val="solid"/>
            <a:miter lim="800000"/>
          </a:ln>
          <a:effectLst/>
        </p:spPr>
        <p:txBody>
          <a:bodyPr lIns="91440" tIns="45720" rIns="91440" bIns="45720" rtlCol="0" anchor="ctr"/>
          <a:lstStyle/>
          <a:p>
            <a:pPr algn="ctr" defTabSz="457200">
              <a:spcAft>
                <a:spcPts val="600"/>
              </a:spcAft>
            </a:pPr>
            <a:r>
              <a:rPr lang="en-IN" sz="2400" b="1" kern="0">
                <a:solidFill>
                  <a:srgbClr val="E36135"/>
                </a:solidFill>
              </a:rPr>
              <a:t>0.3</a:t>
            </a:r>
          </a:p>
          <a:p>
            <a:pPr algn="ctr" defTabSz="457200">
              <a:spcAft>
                <a:spcPts val="600"/>
              </a:spcAft>
            </a:pPr>
            <a:r>
              <a:rPr lang="en-IN" sz="1400" kern="0">
                <a:solidFill>
                  <a:srgbClr val="E36135"/>
                </a:solidFill>
              </a:rPr>
              <a:t>Gap</a:t>
            </a:r>
          </a:p>
        </p:txBody>
      </p:sp>
      <p:sp>
        <p:nvSpPr>
          <p:cNvPr id="16" name="TextBox 15">
            <a:extLst>
              <a:ext uri="{FF2B5EF4-FFF2-40B4-BE49-F238E27FC236}">
                <a16:creationId xmlns:a16="http://schemas.microsoft.com/office/drawing/2014/main" id="{9169FCC4-BF17-5329-2A23-47E263FBB523}"/>
              </a:ext>
            </a:extLst>
          </p:cNvPr>
          <p:cNvSpPr txBox="1"/>
          <p:nvPr>
            <p:custDataLst>
              <p:tags r:id="rId5"/>
            </p:custDataLst>
          </p:nvPr>
        </p:nvSpPr>
        <p:spPr>
          <a:xfrm>
            <a:off x="537898" y="2379601"/>
            <a:ext cx="3128326" cy="323165"/>
          </a:xfrm>
          <a:prstGeom prst="rect">
            <a:avLst/>
          </a:prstGeom>
          <a:noFill/>
        </p:spPr>
        <p:txBody>
          <a:bodyPr wrap="square" lIns="0" rtlCol="0" anchor="ctr">
            <a:spAutoFit/>
          </a:bodyPr>
          <a:lstStyle/>
          <a:p>
            <a:pPr>
              <a:spcAft>
                <a:spcPts val="200"/>
              </a:spcAft>
            </a:pPr>
            <a:r>
              <a:rPr lang="en-US" sz="1500" b="1">
                <a:solidFill>
                  <a:srgbClr val="002856"/>
                </a:solidFill>
              </a:rPr>
              <a:t>Foundational Recommendations</a:t>
            </a:r>
          </a:p>
        </p:txBody>
      </p:sp>
      <p:sp>
        <p:nvSpPr>
          <p:cNvPr id="17" name="TextBox 16">
            <a:extLst>
              <a:ext uri="{FF2B5EF4-FFF2-40B4-BE49-F238E27FC236}">
                <a16:creationId xmlns:a16="http://schemas.microsoft.com/office/drawing/2014/main" id="{1EB7524C-4E58-FAB8-6B68-75C69234AB7C}"/>
              </a:ext>
            </a:extLst>
          </p:cNvPr>
          <p:cNvSpPr txBox="1"/>
          <p:nvPr>
            <p:custDataLst>
              <p:tags r:id="rId6"/>
            </p:custDataLst>
          </p:nvPr>
        </p:nvSpPr>
        <p:spPr>
          <a:xfrm>
            <a:off x="6418233" y="2379601"/>
            <a:ext cx="2990304" cy="323165"/>
          </a:xfrm>
          <a:prstGeom prst="rect">
            <a:avLst/>
          </a:prstGeom>
          <a:noFill/>
        </p:spPr>
        <p:txBody>
          <a:bodyPr wrap="square" lIns="0" rtlCol="0" anchor="ctr">
            <a:spAutoFit/>
          </a:bodyPr>
          <a:lstStyle>
            <a:defPPr>
              <a:defRPr lang="en-US"/>
            </a:defPPr>
            <a:lvl1pPr>
              <a:spcAft>
                <a:spcPts val="200"/>
              </a:spcAft>
              <a:defRPr sz="1500" b="1">
                <a:solidFill>
                  <a:srgbClr val="30405A"/>
                </a:solidFill>
              </a:defRPr>
            </a:lvl1pPr>
          </a:lstStyle>
          <a:p>
            <a:r>
              <a:rPr lang="en-US">
                <a:solidFill>
                  <a:srgbClr val="002856"/>
                </a:solidFill>
              </a:rPr>
              <a:t>Progressive Recommendations</a:t>
            </a:r>
          </a:p>
        </p:txBody>
      </p:sp>
      <p:sp>
        <p:nvSpPr>
          <p:cNvPr id="2" name="Title 1">
            <a:extLst>
              <a:ext uri="{FF2B5EF4-FFF2-40B4-BE49-F238E27FC236}">
                <a16:creationId xmlns:a16="http://schemas.microsoft.com/office/drawing/2014/main" id="{85DAC886-EF5A-D6F3-C619-E56335F704AE}"/>
              </a:ext>
            </a:extLst>
          </p:cNvPr>
          <p:cNvSpPr>
            <a:spLocks noGrp="1"/>
          </p:cNvSpPr>
          <p:nvPr>
            <p:ph type="title" hasCustomPrompt="1"/>
            <p:custDataLst>
              <p:tags r:id="rId7"/>
            </p:custDataLst>
          </p:nvPr>
        </p:nvSpPr>
        <p:spPr>
          <a:xfrm>
            <a:off x="536400" y="324697"/>
            <a:ext cx="11276013" cy="292366"/>
          </a:xfrm>
        </p:spPr>
        <p:txBody>
          <a:bodyPr vert="horz" lIns="0" tIns="0" rIns="0" bIns="0" rtlCol="0" anchor="t" anchorCtr="0">
            <a:noAutofit/>
          </a:bodyPr>
          <a:lstStyle/>
          <a:p>
            <a:r>
              <a:rPr lang="en-US" sz="2400">
                <a:latin typeface="Gartner Sans" panose="020B0504030402040204" pitchFamily="34" charset="0"/>
              </a:rPr>
              <a:t>Capability: AI Governance</a:t>
            </a:r>
          </a:p>
        </p:txBody>
      </p:sp>
      <p:sp>
        <p:nvSpPr>
          <p:cNvPr id="7" name="TextBox 6">
            <a:extLst>
              <a:ext uri="{FF2B5EF4-FFF2-40B4-BE49-F238E27FC236}">
                <a16:creationId xmlns:a16="http://schemas.microsoft.com/office/drawing/2014/main" id="{29633812-BAD7-119F-DDF7-4EFE9C18D756}"/>
              </a:ext>
            </a:extLst>
          </p:cNvPr>
          <p:cNvSpPr txBox="1"/>
          <p:nvPr>
            <p:custDataLst>
              <p:tags r:id="rId8"/>
            </p:custDataLst>
          </p:nvPr>
        </p:nvSpPr>
        <p:spPr>
          <a:xfrm>
            <a:off x="629913" y="2734056"/>
            <a:ext cx="5167039" cy="1174681"/>
          </a:xfrm>
          <a:prstGeom prst="rect">
            <a:avLst/>
          </a:prstGeom>
          <a:noFill/>
        </p:spPr>
        <p:txBody>
          <a:bodyPr wrap="square" lIns="0" rtlCol="0" anchor="t">
            <a:spAutoFit/>
          </a:bodyPr>
          <a:lstStyle/>
          <a:p>
            <a:pPr>
              <a:spcBef>
                <a:spcPts val="200"/>
              </a:spcBef>
              <a:spcAft>
                <a:spcPts val="200"/>
              </a:spcAft>
              <a:buSzTx/>
            </a:pPr>
            <a:r>
              <a:rPr lang="en-US" sz="1200" b="1"/>
              <a:t>Establish AI Policies and Governance Structures</a:t>
            </a:r>
          </a:p>
          <a:p>
            <a:pPr>
              <a:spcBef>
                <a:spcPts val="200"/>
              </a:spcBef>
              <a:spcAft>
                <a:spcPts val="200"/>
              </a:spcAft>
              <a:buSzTx/>
            </a:pPr>
            <a:r>
              <a:rPr lang="en-US" sz="1050" b="1">
                <a:hlinkClick r:id="rId12"/>
              </a:rPr>
              <a:t>How to Build a Lightweight Organizational Structure for AI Governance</a:t>
            </a:r>
            <a:endParaRPr lang="en-US" sz="1050" b="1"/>
          </a:p>
          <a:p>
            <a:pPr>
              <a:spcBef>
                <a:spcPts val="200"/>
              </a:spcBef>
              <a:spcAft>
                <a:spcPts val="200"/>
              </a:spcAft>
              <a:buSzTx/>
            </a:pPr>
            <a:endParaRPr lang="en-US" sz="1200"/>
          </a:p>
          <a:p>
            <a:pPr>
              <a:spcBef>
                <a:spcPts val="200"/>
              </a:spcBef>
              <a:spcAft>
                <a:spcPts val="200"/>
              </a:spcAft>
              <a:buSzTx/>
            </a:pPr>
            <a:r>
              <a:rPr lang="en-US" sz="1200" b="1"/>
              <a:t>Enhance Awareness and Adherence to AI Governance Policies</a:t>
            </a:r>
          </a:p>
          <a:p>
            <a:pPr>
              <a:spcBef>
                <a:spcPts val="200"/>
              </a:spcBef>
              <a:spcAft>
                <a:spcPts val="200"/>
              </a:spcAft>
              <a:buSzTx/>
            </a:pPr>
            <a:r>
              <a:rPr lang="en-US" sz="1050" b="1">
                <a:hlinkClick r:id="rId13"/>
              </a:rPr>
              <a:t>From AI Assistance to AI Agents: How CSCOs Should Govern Decision Models</a:t>
            </a:r>
            <a:endParaRPr lang="en-US" sz="1050" b="1"/>
          </a:p>
        </p:txBody>
      </p:sp>
      <p:sp>
        <p:nvSpPr>
          <p:cNvPr id="9" name="TextBox 8">
            <a:extLst>
              <a:ext uri="{FF2B5EF4-FFF2-40B4-BE49-F238E27FC236}">
                <a16:creationId xmlns:a16="http://schemas.microsoft.com/office/drawing/2014/main" id="{18A8D372-5967-4550-468C-BDC1D805B229}"/>
              </a:ext>
            </a:extLst>
          </p:cNvPr>
          <p:cNvSpPr txBox="1"/>
          <p:nvPr>
            <p:custDataLst>
              <p:tags r:id="rId9"/>
            </p:custDataLst>
          </p:nvPr>
        </p:nvSpPr>
        <p:spPr>
          <a:xfrm>
            <a:off x="6519672" y="2734056"/>
            <a:ext cx="5167039" cy="1502976"/>
          </a:xfrm>
          <a:prstGeom prst="rect">
            <a:avLst/>
          </a:prstGeom>
          <a:noFill/>
        </p:spPr>
        <p:txBody>
          <a:bodyPr wrap="square" lIns="0" rtlCol="0" anchor="t">
            <a:spAutoFit/>
          </a:bodyPr>
          <a:lstStyle/>
          <a:p>
            <a:pPr>
              <a:spcBef>
                <a:spcPts val="200"/>
              </a:spcBef>
              <a:spcAft>
                <a:spcPts val="200"/>
              </a:spcAft>
              <a:buSzTx/>
            </a:pPr>
            <a:r>
              <a:rPr lang="en-US" sz="1100" b="1" dirty="0"/>
              <a:t>Comprehensive Governance for Scaling AI </a:t>
            </a:r>
          </a:p>
          <a:p>
            <a:pPr>
              <a:spcBef>
                <a:spcPts val="200"/>
              </a:spcBef>
              <a:spcAft>
                <a:spcPts val="200"/>
              </a:spcAft>
              <a:buSzTx/>
            </a:pPr>
            <a:r>
              <a:rPr lang="en-US" sz="1050" b="1" dirty="0">
                <a:hlinkClick r:id="rId14"/>
              </a:rPr>
              <a:t>Governing AI With Guardrails From Executive Intent to Technical Controls</a:t>
            </a:r>
            <a:endParaRPr lang="en-US" sz="1050" b="1" dirty="0"/>
          </a:p>
          <a:p>
            <a:pPr>
              <a:spcBef>
                <a:spcPts val="200"/>
              </a:spcBef>
              <a:spcAft>
                <a:spcPts val="200"/>
              </a:spcAft>
              <a:buSzTx/>
            </a:pPr>
            <a:endParaRPr lang="en-US" sz="1100" dirty="0"/>
          </a:p>
          <a:p>
            <a:pPr>
              <a:spcBef>
                <a:spcPts val="200"/>
              </a:spcBef>
              <a:spcAft>
                <a:spcPts val="200"/>
              </a:spcAft>
              <a:buSzTx/>
            </a:pPr>
            <a:r>
              <a:rPr lang="en-US" sz="1100" b="1" dirty="0"/>
              <a:t>Develop an Adaptive and Dynamic Governance Framework</a:t>
            </a:r>
          </a:p>
          <a:p>
            <a:pPr>
              <a:spcBef>
                <a:spcPts val="200"/>
              </a:spcBef>
              <a:spcAft>
                <a:spcPts val="200"/>
              </a:spcAft>
              <a:buSzTx/>
            </a:pPr>
            <a:r>
              <a:rPr lang="en-US" sz="1050" b="1" dirty="0">
                <a:hlinkClick r:id="rId15"/>
              </a:rPr>
              <a:t>Design Modular AI Governance Policies to Drive Progress Rather Than Stifle Adoption</a:t>
            </a:r>
            <a:endParaRPr lang="en-US" sz="1050" b="1" dirty="0"/>
          </a:p>
          <a:p>
            <a:pPr>
              <a:spcBef>
                <a:spcPts val="200"/>
              </a:spcBef>
              <a:spcAft>
                <a:spcPts val="200"/>
              </a:spcAft>
              <a:buSzTx/>
            </a:pPr>
            <a:endParaRPr lang="en-US" sz="1050" b="1" dirty="0"/>
          </a:p>
        </p:txBody>
      </p:sp>
    </p:spTree>
    <p:extLst>
      <p:ext uri="{BB962C8B-B14F-4D97-AF65-F5344CB8AC3E}">
        <p14:creationId xmlns:p14="http://schemas.microsoft.com/office/powerpoint/2010/main" val="231120830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A8608-6603-8E1E-663F-208D548F4C9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BBFAC33-A9FA-DD3A-0E4B-C1442BF48FCF}"/>
              </a:ext>
            </a:extLst>
          </p:cNvPr>
          <p:cNvSpPr/>
          <p:nvPr>
            <p:custDataLst>
              <p:tags r:id="rId1"/>
            </p:custDataLst>
          </p:nvPr>
        </p:nvSpPr>
        <p:spPr>
          <a:xfrm>
            <a:off x="536400" y="986794"/>
            <a:ext cx="7700400" cy="1143000"/>
          </a:xfrm>
          <a:prstGeom prst="rect">
            <a:avLst/>
          </a:prstGeom>
          <a:solidFill>
            <a:srgbClr val="F2F2F2"/>
          </a:solidFill>
          <a:ln w="12700" cap="flat" cmpd="sng" algn="ctr">
            <a:noFill/>
            <a:prstDash val="solid"/>
            <a:miter lim="800000"/>
          </a:ln>
          <a:effectLst/>
        </p:spPr>
        <p:txBody>
          <a:bodyPr lIns="91440" tIns="45720" rIns="91440" bIns="45720" rtlCol="0" anchor="ctr"/>
          <a:lstStyle/>
          <a:p>
            <a:pPr marL="0" marR="0" lvl="0" indent="0" algn="l" defTabSz="457200" rtl="0" eaLnBrk="1" fontAlgn="auto" latinLnBrk="0" hangingPunct="1">
              <a:lnSpc>
                <a:spcPct val="100000"/>
              </a:lnSpc>
              <a:spcBef>
                <a:spcPct val="0"/>
              </a:spcBef>
              <a:spcAft>
                <a:spcPts val="600"/>
              </a:spcAft>
              <a:buClrTx/>
              <a:buSzTx/>
              <a:buFontTx/>
              <a:buNone/>
              <a:defRPr/>
            </a:pPr>
            <a:r>
              <a:rPr kumimoji="0" lang="en-IN" sz="1600" b="1" i="0" u="none" strike="noStrike" kern="0" cap="none" spc="0" normalizeH="0" baseline="0" noProof="0">
                <a:ln>
                  <a:noFill/>
                </a:ln>
                <a:solidFill>
                  <a:srgbClr val="002856"/>
                </a:solidFill>
                <a:effectLst/>
                <a:uLnTx/>
                <a:uFillTx/>
                <a:cs typeface="Arial"/>
              </a:rPr>
              <a:t>AI Engineering</a:t>
            </a:r>
          </a:p>
          <a:p>
            <a:pPr marL="0" marR="0" lvl="0" indent="0" algn="l" defTabSz="457200" rtl="0" eaLnBrk="1" fontAlgn="auto" latinLnBrk="0" hangingPunct="1">
              <a:lnSpc>
                <a:spcPct val="100000"/>
              </a:lnSpc>
              <a:spcBef>
                <a:spcPct val="0"/>
              </a:spcBef>
              <a:spcAft>
                <a:spcPct val="0"/>
              </a:spcAft>
              <a:buClrTx/>
              <a:buSzTx/>
              <a:buFontTx/>
              <a:buNone/>
              <a:defRPr/>
            </a:pPr>
            <a:r>
              <a:rPr kumimoji="0" lang="en-US" sz="1200" b="0" i="0" u="none" strike="noStrike" kern="0" cap="none" spc="0" normalizeH="0" baseline="0" noProof="0">
                <a:ln>
                  <a:noFill/>
                </a:ln>
                <a:solidFill>
                  <a:srgbClr val="000000"/>
                </a:solidFill>
                <a:effectLst/>
                <a:uLnTx/>
                <a:uFillTx/>
                <a:cs typeface="Arial"/>
              </a:rPr>
              <a:t>Develop AI Engineering capabilities to ensure robust and effective design, implementation, deployment, operations and use of AI systems</a:t>
            </a:r>
            <a:endParaRPr kumimoji="0" lang="en-IN" sz="1200" b="0" i="0" u="none" strike="noStrike" kern="0" cap="none" spc="0" normalizeH="0" baseline="0" noProof="0">
              <a:ln>
                <a:noFill/>
              </a:ln>
              <a:solidFill>
                <a:srgbClr val="000000"/>
              </a:solidFill>
              <a:effectLst/>
              <a:uLnTx/>
              <a:uFillTx/>
              <a:cs typeface="Arial"/>
            </a:endParaRPr>
          </a:p>
        </p:txBody>
      </p:sp>
      <p:sp>
        <p:nvSpPr>
          <p:cNvPr id="4" name="Rectangle 3">
            <a:extLst>
              <a:ext uri="{FF2B5EF4-FFF2-40B4-BE49-F238E27FC236}">
                <a16:creationId xmlns:a16="http://schemas.microsoft.com/office/drawing/2014/main" id="{0E9B8EA0-EBBC-03CD-CACE-65CFCC68A6A5}"/>
              </a:ext>
            </a:extLst>
          </p:cNvPr>
          <p:cNvSpPr/>
          <p:nvPr>
            <p:custDataLst>
              <p:tags r:id="rId2"/>
            </p:custDataLst>
          </p:nvPr>
        </p:nvSpPr>
        <p:spPr>
          <a:xfrm>
            <a:off x="8302752" y="986794"/>
            <a:ext cx="1088136" cy="1133856"/>
          </a:xfrm>
          <a:prstGeom prst="rect">
            <a:avLst/>
          </a:prstGeom>
          <a:solidFill>
            <a:srgbClr val="002869"/>
          </a:solidFill>
          <a:ln w="12700" cap="flat" cmpd="sng" algn="ctr">
            <a:noFill/>
            <a:prstDash val="solid"/>
            <a:miter lim="800000"/>
          </a:ln>
          <a:effectLst/>
        </p:spPr>
        <p:txBody>
          <a:bodyPr lIns="91440" tIns="45720" rIns="91440" bIns="45720" rtlCol="0" anchor="ctr"/>
          <a:lstStyle/>
          <a:p>
            <a:pPr algn="ctr" defTabSz="457200">
              <a:spcAft>
                <a:spcPts val="600"/>
              </a:spcAft>
            </a:pPr>
            <a:r>
              <a:rPr lang="en-IN" sz="2400" b="1" kern="0">
                <a:solidFill>
                  <a:schemeClr val="bg1"/>
                </a:solidFill>
              </a:rPr>
              <a:t>2.4</a:t>
            </a:r>
          </a:p>
          <a:p>
            <a:pPr algn="ctr" defTabSz="457200">
              <a:spcAft>
                <a:spcPts val="600"/>
              </a:spcAft>
            </a:pPr>
            <a:r>
              <a:rPr lang="en-IN" sz="1400" kern="0">
                <a:solidFill>
                  <a:schemeClr val="bg1"/>
                </a:solidFill>
              </a:rPr>
              <a:t>Current</a:t>
            </a:r>
          </a:p>
        </p:txBody>
      </p:sp>
      <p:sp>
        <p:nvSpPr>
          <p:cNvPr id="6" name="Rectangle 5">
            <a:extLst>
              <a:ext uri="{FF2B5EF4-FFF2-40B4-BE49-F238E27FC236}">
                <a16:creationId xmlns:a16="http://schemas.microsoft.com/office/drawing/2014/main" id="{6E12CBCA-E8A4-E4D4-BB0F-FE3A81A5C181}"/>
              </a:ext>
            </a:extLst>
          </p:cNvPr>
          <p:cNvSpPr/>
          <p:nvPr>
            <p:custDataLst>
              <p:tags r:id="rId3"/>
            </p:custDataLst>
          </p:nvPr>
        </p:nvSpPr>
        <p:spPr>
          <a:xfrm>
            <a:off x="9464040" y="986794"/>
            <a:ext cx="1088136" cy="1133856"/>
          </a:xfrm>
          <a:prstGeom prst="rect">
            <a:avLst/>
          </a:prstGeom>
          <a:solidFill>
            <a:srgbClr val="AECDFF"/>
          </a:solidFill>
          <a:ln w="12700" cap="flat" cmpd="sng" algn="ctr">
            <a:noFill/>
            <a:prstDash val="solid"/>
            <a:miter lim="800000"/>
          </a:ln>
          <a:effectLst/>
        </p:spPr>
        <p:txBody>
          <a:bodyPr lIns="91440" tIns="45720" rIns="91440" bIns="45720" rtlCol="0" anchor="ctr"/>
          <a:lstStyle/>
          <a:p>
            <a:pPr algn="ctr" defTabSz="457200">
              <a:spcAft>
                <a:spcPts val="600"/>
              </a:spcAft>
            </a:pPr>
            <a:r>
              <a:rPr lang="en-IN" sz="2400" b="1" kern="0">
                <a:solidFill>
                  <a:srgbClr val="192D58"/>
                </a:solidFill>
              </a:rPr>
              <a:t>3.2</a:t>
            </a:r>
          </a:p>
          <a:p>
            <a:pPr algn="ctr" defTabSz="457200">
              <a:spcAft>
                <a:spcPts val="600"/>
              </a:spcAft>
            </a:pPr>
            <a:r>
              <a:rPr lang="en-IN" sz="1400" kern="0">
                <a:solidFill>
                  <a:srgbClr val="192D58"/>
                </a:solidFill>
              </a:rPr>
              <a:t>Target</a:t>
            </a:r>
          </a:p>
        </p:txBody>
      </p:sp>
      <p:sp>
        <p:nvSpPr>
          <p:cNvPr id="8" name="Rectangle 7">
            <a:extLst>
              <a:ext uri="{FF2B5EF4-FFF2-40B4-BE49-F238E27FC236}">
                <a16:creationId xmlns:a16="http://schemas.microsoft.com/office/drawing/2014/main" id="{8E827B99-72B1-3632-DE86-15DCA623E5E0}"/>
              </a:ext>
            </a:extLst>
          </p:cNvPr>
          <p:cNvSpPr/>
          <p:nvPr>
            <p:custDataLst>
              <p:tags r:id="rId4"/>
            </p:custDataLst>
          </p:nvPr>
        </p:nvSpPr>
        <p:spPr>
          <a:xfrm>
            <a:off x="10625328" y="986794"/>
            <a:ext cx="1088136" cy="1133856"/>
          </a:xfrm>
          <a:prstGeom prst="rect">
            <a:avLst/>
          </a:prstGeom>
          <a:solidFill>
            <a:srgbClr val="E36135">
              <a:alpha val="20000"/>
            </a:srgbClr>
          </a:solidFill>
          <a:ln w="12700" cap="flat" cmpd="sng" algn="ctr">
            <a:noFill/>
            <a:prstDash val="solid"/>
            <a:miter lim="800000"/>
          </a:ln>
          <a:effectLst/>
        </p:spPr>
        <p:txBody>
          <a:bodyPr lIns="91440" tIns="45720" rIns="91440" bIns="45720" rtlCol="0" anchor="ctr"/>
          <a:lstStyle/>
          <a:p>
            <a:pPr algn="ctr" defTabSz="457200">
              <a:spcAft>
                <a:spcPts val="600"/>
              </a:spcAft>
            </a:pPr>
            <a:r>
              <a:rPr lang="en-IN" sz="2400" b="1" kern="0">
                <a:solidFill>
                  <a:srgbClr val="E36135"/>
                </a:solidFill>
              </a:rPr>
              <a:t>0.8</a:t>
            </a:r>
          </a:p>
          <a:p>
            <a:pPr algn="ctr" defTabSz="457200">
              <a:spcAft>
                <a:spcPts val="600"/>
              </a:spcAft>
            </a:pPr>
            <a:r>
              <a:rPr lang="en-IN" sz="1400" kern="0">
                <a:solidFill>
                  <a:srgbClr val="E36135"/>
                </a:solidFill>
              </a:rPr>
              <a:t>Gap</a:t>
            </a:r>
          </a:p>
        </p:txBody>
      </p:sp>
      <p:sp>
        <p:nvSpPr>
          <p:cNvPr id="16" name="TextBox 15">
            <a:extLst>
              <a:ext uri="{FF2B5EF4-FFF2-40B4-BE49-F238E27FC236}">
                <a16:creationId xmlns:a16="http://schemas.microsoft.com/office/drawing/2014/main" id="{7ABFC67C-BAEE-190B-54D4-79606D5998B6}"/>
              </a:ext>
            </a:extLst>
          </p:cNvPr>
          <p:cNvSpPr txBox="1"/>
          <p:nvPr>
            <p:custDataLst>
              <p:tags r:id="rId5"/>
            </p:custDataLst>
          </p:nvPr>
        </p:nvSpPr>
        <p:spPr>
          <a:xfrm>
            <a:off x="537898" y="2379601"/>
            <a:ext cx="3128326" cy="323165"/>
          </a:xfrm>
          <a:prstGeom prst="rect">
            <a:avLst/>
          </a:prstGeom>
          <a:noFill/>
        </p:spPr>
        <p:txBody>
          <a:bodyPr wrap="square" lIns="0" rtlCol="0" anchor="ctr">
            <a:spAutoFit/>
          </a:bodyPr>
          <a:lstStyle/>
          <a:p>
            <a:pPr>
              <a:spcAft>
                <a:spcPts val="200"/>
              </a:spcAft>
            </a:pPr>
            <a:r>
              <a:rPr lang="en-US" sz="1500" b="1">
                <a:solidFill>
                  <a:srgbClr val="002856"/>
                </a:solidFill>
              </a:rPr>
              <a:t>Foundational Recommendations</a:t>
            </a:r>
          </a:p>
        </p:txBody>
      </p:sp>
      <p:sp>
        <p:nvSpPr>
          <p:cNvPr id="17" name="TextBox 16">
            <a:extLst>
              <a:ext uri="{FF2B5EF4-FFF2-40B4-BE49-F238E27FC236}">
                <a16:creationId xmlns:a16="http://schemas.microsoft.com/office/drawing/2014/main" id="{8C2568C3-42E7-2806-9EC8-9B2EB589DD91}"/>
              </a:ext>
            </a:extLst>
          </p:cNvPr>
          <p:cNvSpPr txBox="1"/>
          <p:nvPr>
            <p:custDataLst>
              <p:tags r:id="rId6"/>
            </p:custDataLst>
          </p:nvPr>
        </p:nvSpPr>
        <p:spPr>
          <a:xfrm>
            <a:off x="6418233" y="2379601"/>
            <a:ext cx="2990304" cy="323165"/>
          </a:xfrm>
          <a:prstGeom prst="rect">
            <a:avLst/>
          </a:prstGeom>
          <a:noFill/>
        </p:spPr>
        <p:txBody>
          <a:bodyPr wrap="square" lIns="0" rtlCol="0" anchor="ctr">
            <a:spAutoFit/>
          </a:bodyPr>
          <a:lstStyle>
            <a:defPPr>
              <a:defRPr lang="en-US"/>
            </a:defPPr>
            <a:lvl1pPr>
              <a:spcAft>
                <a:spcPts val="200"/>
              </a:spcAft>
              <a:defRPr sz="1500" b="1">
                <a:solidFill>
                  <a:srgbClr val="30405A"/>
                </a:solidFill>
              </a:defRPr>
            </a:lvl1pPr>
          </a:lstStyle>
          <a:p>
            <a:r>
              <a:rPr lang="en-US">
                <a:solidFill>
                  <a:srgbClr val="002856"/>
                </a:solidFill>
              </a:rPr>
              <a:t>Progressive Recommendations</a:t>
            </a:r>
          </a:p>
        </p:txBody>
      </p:sp>
      <p:sp>
        <p:nvSpPr>
          <p:cNvPr id="2" name="Title 1">
            <a:extLst>
              <a:ext uri="{FF2B5EF4-FFF2-40B4-BE49-F238E27FC236}">
                <a16:creationId xmlns:a16="http://schemas.microsoft.com/office/drawing/2014/main" id="{1B02D6BF-4771-D939-0B9E-E8149FAF38CA}"/>
              </a:ext>
            </a:extLst>
          </p:cNvPr>
          <p:cNvSpPr>
            <a:spLocks noGrp="1"/>
          </p:cNvSpPr>
          <p:nvPr>
            <p:ph type="title" hasCustomPrompt="1"/>
            <p:custDataLst>
              <p:tags r:id="rId7"/>
            </p:custDataLst>
          </p:nvPr>
        </p:nvSpPr>
        <p:spPr>
          <a:xfrm>
            <a:off x="536400" y="324697"/>
            <a:ext cx="11276013" cy="292366"/>
          </a:xfrm>
        </p:spPr>
        <p:txBody>
          <a:bodyPr vert="horz" lIns="0" tIns="0" rIns="0" bIns="0" rtlCol="0" anchor="t" anchorCtr="0">
            <a:noAutofit/>
          </a:bodyPr>
          <a:lstStyle/>
          <a:p>
            <a:r>
              <a:rPr lang="en-US" sz="2400">
                <a:latin typeface="Gartner Sans" panose="020B0504030402040204" pitchFamily="34" charset="0"/>
              </a:rPr>
              <a:t>Capability: AI Engineering</a:t>
            </a:r>
          </a:p>
        </p:txBody>
      </p:sp>
      <p:sp>
        <p:nvSpPr>
          <p:cNvPr id="7" name="TextBox 6">
            <a:extLst>
              <a:ext uri="{FF2B5EF4-FFF2-40B4-BE49-F238E27FC236}">
                <a16:creationId xmlns:a16="http://schemas.microsoft.com/office/drawing/2014/main" id="{0515659E-AA53-DBD1-619F-75B234BC6A36}"/>
              </a:ext>
            </a:extLst>
          </p:cNvPr>
          <p:cNvSpPr txBox="1"/>
          <p:nvPr>
            <p:custDataLst>
              <p:tags r:id="rId8"/>
            </p:custDataLst>
          </p:nvPr>
        </p:nvSpPr>
        <p:spPr>
          <a:xfrm>
            <a:off x="629913" y="2734056"/>
            <a:ext cx="5167039" cy="1136208"/>
          </a:xfrm>
          <a:prstGeom prst="rect">
            <a:avLst/>
          </a:prstGeom>
          <a:noFill/>
        </p:spPr>
        <p:txBody>
          <a:bodyPr wrap="square" lIns="0" rtlCol="0" anchor="t">
            <a:spAutoFit/>
          </a:bodyPr>
          <a:lstStyle/>
          <a:p>
            <a:pPr>
              <a:spcBef>
                <a:spcPts val="200"/>
              </a:spcBef>
              <a:spcAft>
                <a:spcPts val="200"/>
              </a:spcAft>
              <a:buSzTx/>
            </a:pPr>
            <a:r>
              <a:rPr lang="en-US" sz="1100" b="1"/>
              <a:t>Establish AI Engineering Practices</a:t>
            </a:r>
          </a:p>
          <a:p>
            <a:pPr>
              <a:spcBef>
                <a:spcPts val="200"/>
              </a:spcBef>
              <a:spcAft>
                <a:spcPts val="200"/>
              </a:spcAft>
              <a:buSzTx/>
            </a:pPr>
            <a:r>
              <a:rPr lang="en-US" sz="1100" b="1">
                <a:hlinkClick r:id="rId12"/>
              </a:rPr>
              <a:t>AI Engineering Playbook for Software Engineering</a:t>
            </a:r>
            <a:endParaRPr lang="en-US" sz="1100" b="1"/>
          </a:p>
          <a:p>
            <a:pPr>
              <a:spcBef>
                <a:spcPts val="200"/>
              </a:spcBef>
              <a:spcAft>
                <a:spcPts val="200"/>
              </a:spcAft>
              <a:buSzTx/>
            </a:pPr>
            <a:endParaRPr lang="en-US" sz="1100" b="1"/>
          </a:p>
          <a:p>
            <a:pPr>
              <a:spcBef>
                <a:spcPts val="200"/>
              </a:spcBef>
              <a:spcAft>
                <a:spcPts val="200"/>
              </a:spcAft>
              <a:buSzTx/>
            </a:pPr>
            <a:r>
              <a:rPr lang="en-US" sz="1100" b="1"/>
              <a:t>Invest in Skill Development and Collaborative Frameworks</a:t>
            </a:r>
          </a:p>
          <a:p>
            <a:pPr>
              <a:spcBef>
                <a:spcPts val="200"/>
              </a:spcBef>
              <a:spcAft>
                <a:spcPts val="200"/>
              </a:spcAft>
              <a:buSzTx/>
            </a:pPr>
            <a:r>
              <a:rPr lang="en-US" sz="1050" b="1">
                <a:hlinkClick r:id="rId13"/>
              </a:rPr>
              <a:t>Accelerator for Building AI Engineering Skills</a:t>
            </a:r>
            <a:endParaRPr lang="en-US" sz="1050" b="1"/>
          </a:p>
        </p:txBody>
      </p:sp>
      <p:sp>
        <p:nvSpPr>
          <p:cNvPr id="9" name="TextBox 8">
            <a:extLst>
              <a:ext uri="{FF2B5EF4-FFF2-40B4-BE49-F238E27FC236}">
                <a16:creationId xmlns:a16="http://schemas.microsoft.com/office/drawing/2014/main" id="{D8E93D02-CC2E-0857-99FD-FFD12BA292B2}"/>
              </a:ext>
            </a:extLst>
          </p:cNvPr>
          <p:cNvSpPr txBox="1"/>
          <p:nvPr>
            <p:custDataLst>
              <p:tags r:id="rId9"/>
            </p:custDataLst>
          </p:nvPr>
        </p:nvSpPr>
        <p:spPr>
          <a:xfrm>
            <a:off x="6519672" y="2734056"/>
            <a:ext cx="5167039" cy="1313180"/>
          </a:xfrm>
          <a:prstGeom prst="rect">
            <a:avLst/>
          </a:prstGeom>
          <a:noFill/>
        </p:spPr>
        <p:txBody>
          <a:bodyPr wrap="square" lIns="0" rtlCol="0" anchor="t">
            <a:spAutoFit/>
          </a:bodyPr>
          <a:lstStyle/>
          <a:p>
            <a:pPr>
              <a:spcBef>
                <a:spcPts val="200"/>
              </a:spcBef>
              <a:spcAft>
                <a:spcPts val="200"/>
              </a:spcAft>
              <a:buSzTx/>
            </a:pPr>
            <a:r>
              <a:rPr lang="en-US" sz="1100" b="1"/>
              <a:t>Apply and Manage AI Platforms for Efficiency and Scalability</a:t>
            </a:r>
          </a:p>
          <a:p>
            <a:pPr>
              <a:spcBef>
                <a:spcPts val="200"/>
              </a:spcBef>
              <a:spcAft>
                <a:spcPts val="200"/>
              </a:spcAft>
              <a:buSzTx/>
            </a:pPr>
            <a:r>
              <a:rPr lang="en-US" sz="1100" b="1">
                <a:hlinkClick r:id="rId14"/>
              </a:rPr>
              <a:t>2026 AI Leaders Priority: Strengthen AI Engineering Foundations to Mitigate Risk and Unlock Innovation</a:t>
            </a:r>
            <a:endParaRPr lang="en-US" sz="1100" b="1"/>
          </a:p>
          <a:p>
            <a:pPr>
              <a:spcBef>
                <a:spcPts val="200"/>
              </a:spcBef>
              <a:spcAft>
                <a:spcPts val="200"/>
              </a:spcAft>
              <a:buSzTx/>
            </a:pPr>
            <a:endParaRPr lang="en-US" sz="1100" b="1"/>
          </a:p>
          <a:p>
            <a:pPr>
              <a:spcBef>
                <a:spcPts val="200"/>
              </a:spcBef>
              <a:spcAft>
                <a:spcPts val="200"/>
              </a:spcAft>
              <a:buSzTx/>
            </a:pPr>
            <a:r>
              <a:rPr lang="en-US" sz="1100" b="1"/>
              <a:t>Foster Adaptive and Innovative AI Engineering Practices</a:t>
            </a:r>
          </a:p>
          <a:p>
            <a:pPr>
              <a:spcBef>
                <a:spcPts val="200"/>
              </a:spcBef>
              <a:spcAft>
                <a:spcPts val="200"/>
              </a:spcAft>
              <a:buSzTx/>
            </a:pPr>
            <a:r>
              <a:rPr lang="en-US" sz="1100" b="1">
                <a:hlinkClick r:id="rId15"/>
              </a:rPr>
              <a:t>Innovation Insight for AI Engineering</a:t>
            </a:r>
            <a:endParaRPr lang="en-US" sz="1050" b="1"/>
          </a:p>
        </p:txBody>
      </p:sp>
    </p:spTree>
    <p:extLst>
      <p:ext uri="{BB962C8B-B14F-4D97-AF65-F5344CB8AC3E}">
        <p14:creationId xmlns:p14="http://schemas.microsoft.com/office/powerpoint/2010/main" val="217950530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FE878-A03E-A34E-E03E-3F9969D04FE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125FA63-28FF-A333-E7B2-D1BD362C7AC9}"/>
              </a:ext>
            </a:extLst>
          </p:cNvPr>
          <p:cNvSpPr/>
          <p:nvPr>
            <p:custDataLst>
              <p:tags r:id="rId1"/>
            </p:custDataLst>
          </p:nvPr>
        </p:nvSpPr>
        <p:spPr>
          <a:xfrm>
            <a:off x="536400" y="986794"/>
            <a:ext cx="7700400" cy="1143000"/>
          </a:xfrm>
          <a:prstGeom prst="rect">
            <a:avLst/>
          </a:prstGeom>
          <a:solidFill>
            <a:srgbClr val="F2F2F2"/>
          </a:solidFill>
          <a:ln w="12700" cap="flat" cmpd="sng" algn="ctr">
            <a:noFill/>
            <a:prstDash val="solid"/>
            <a:miter lim="800000"/>
          </a:ln>
          <a:effectLst/>
        </p:spPr>
        <p:txBody>
          <a:bodyPr lIns="91440" tIns="45720" rIns="91440" bIns="45720" rtlCol="0" anchor="ctr"/>
          <a:lstStyle/>
          <a:p>
            <a:pPr marL="0" marR="0" lvl="0" indent="0" algn="l" defTabSz="457200" rtl="0" eaLnBrk="1" fontAlgn="auto" latinLnBrk="0" hangingPunct="1">
              <a:lnSpc>
                <a:spcPct val="100000"/>
              </a:lnSpc>
              <a:spcBef>
                <a:spcPct val="0"/>
              </a:spcBef>
              <a:spcAft>
                <a:spcPts val="600"/>
              </a:spcAft>
              <a:buClrTx/>
              <a:buSzTx/>
              <a:buFontTx/>
              <a:buNone/>
              <a:defRPr/>
            </a:pPr>
            <a:r>
              <a:rPr kumimoji="0" lang="en-IN" sz="1600" b="1" i="0" u="none" strike="noStrike" kern="0" cap="none" spc="0" normalizeH="0" baseline="0" noProof="0">
                <a:ln>
                  <a:noFill/>
                </a:ln>
                <a:solidFill>
                  <a:srgbClr val="002856"/>
                </a:solidFill>
                <a:effectLst/>
                <a:uLnTx/>
                <a:uFillTx/>
                <a:cs typeface="Arial"/>
              </a:rPr>
              <a:t>AI Data</a:t>
            </a:r>
          </a:p>
          <a:p>
            <a:pPr marL="0" marR="0" lvl="0" indent="0" algn="l" defTabSz="457200" rtl="0" eaLnBrk="1" fontAlgn="auto" latinLnBrk="0" hangingPunct="1">
              <a:lnSpc>
                <a:spcPct val="100000"/>
              </a:lnSpc>
              <a:spcBef>
                <a:spcPct val="0"/>
              </a:spcBef>
              <a:spcAft>
                <a:spcPct val="0"/>
              </a:spcAft>
              <a:buClrTx/>
              <a:buSzTx/>
              <a:buFontTx/>
              <a:buNone/>
              <a:defRPr/>
            </a:pPr>
            <a:r>
              <a:rPr kumimoji="0" lang="en-US" sz="1200" b="0" i="0" u="none" strike="noStrike" kern="0" cap="none" spc="0" normalizeH="0" baseline="0" noProof="0">
                <a:ln>
                  <a:noFill/>
                </a:ln>
                <a:solidFill>
                  <a:srgbClr val="000000"/>
                </a:solidFill>
                <a:effectLst/>
                <a:uLnTx/>
                <a:uFillTx/>
                <a:cs typeface="Arial"/>
              </a:rPr>
              <a:t>Prepare and manage data quality, accessibility, and utilization for AI</a:t>
            </a:r>
            <a:endParaRPr kumimoji="0" lang="en-IN" sz="1200" b="0" i="0" u="none" strike="noStrike" kern="0" cap="none" spc="0" normalizeH="0" baseline="0" noProof="0">
              <a:ln>
                <a:noFill/>
              </a:ln>
              <a:solidFill>
                <a:srgbClr val="000000"/>
              </a:solidFill>
              <a:effectLst/>
              <a:uLnTx/>
              <a:uFillTx/>
              <a:cs typeface="Arial"/>
            </a:endParaRPr>
          </a:p>
        </p:txBody>
      </p:sp>
      <p:sp>
        <p:nvSpPr>
          <p:cNvPr id="4" name="Rectangle 3">
            <a:extLst>
              <a:ext uri="{FF2B5EF4-FFF2-40B4-BE49-F238E27FC236}">
                <a16:creationId xmlns:a16="http://schemas.microsoft.com/office/drawing/2014/main" id="{9B82052B-F8D9-AE55-5161-F6D105D41C69}"/>
              </a:ext>
            </a:extLst>
          </p:cNvPr>
          <p:cNvSpPr/>
          <p:nvPr>
            <p:custDataLst>
              <p:tags r:id="rId2"/>
            </p:custDataLst>
          </p:nvPr>
        </p:nvSpPr>
        <p:spPr>
          <a:xfrm>
            <a:off x="8302752" y="986794"/>
            <a:ext cx="1088136" cy="1133856"/>
          </a:xfrm>
          <a:prstGeom prst="rect">
            <a:avLst/>
          </a:prstGeom>
          <a:solidFill>
            <a:srgbClr val="002869"/>
          </a:solidFill>
          <a:ln w="12700" cap="flat" cmpd="sng" algn="ctr">
            <a:noFill/>
            <a:prstDash val="solid"/>
            <a:miter lim="800000"/>
          </a:ln>
          <a:effectLst/>
        </p:spPr>
        <p:txBody>
          <a:bodyPr lIns="91440" tIns="45720" rIns="91440" bIns="45720" rtlCol="0" anchor="ctr"/>
          <a:lstStyle/>
          <a:p>
            <a:pPr algn="ctr" defTabSz="457200">
              <a:spcAft>
                <a:spcPts val="600"/>
              </a:spcAft>
            </a:pPr>
            <a:r>
              <a:rPr lang="en-IN" sz="2400" b="1" kern="0">
                <a:solidFill>
                  <a:schemeClr val="bg1"/>
                </a:solidFill>
              </a:rPr>
              <a:t>1.7</a:t>
            </a:r>
          </a:p>
          <a:p>
            <a:pPr algn="ctr" defTabSz="457200">
              <a:spcAft>
                <a:spcPts val="600"/>
              </a:spcAft>
            </a:pPr>
            <a:r>
              <a:rPr lang="en-IN" sz="1400" kern="0">
                <a:solidFill>
                  <a:schemeClr val="bg1"/>
                </a:solidFill>
              </a:rPr>
              <a:t>Current</a:t>
            </a:r>
          </a:p>
        </p:txBody>
      </p:sp>
      <p:sp>
        <p:nvSpPr>
          <p:cNvPr id="6" name="Rectangle 5">
            <a:extLst>
              <a:ext uri="{FF2B5EF4-FFF2-40B4-BE49-F238E27FC236}">
                <a16:creationId xmlns:a16="http://schemas.microsoft.com/office/drawing/2014/main" id="{8A0B406A-31EA-A37E-BC4D-264A83A09B13}"/>
              </a:ext>
            </a:extLst>
          </p:cNvPr>
          <p:cNvSpPr/>
          <p:nvPr>
            <p:custDataLst>
              <p:tags r:id="rId3"/>
            </p:custDataLst>
          </p:nvPr>
        </p:nvSpPr>
        <p:spPr>
          <a:xfrm>
            <a:off x="9464040" y="986794"/>
            <a:ext cx="1088136" cy="1133856"/>
          </a:xfrm>
          <a:prstGeom prst="rect">
            <a:avLst/>
          </a:prstGeom>
          <a:solidFill>
            <a:srgbClr val="AECDFF"/>
          </a:solidFill>
          <a:ln w="12700" cap="flat" cmpd="sng" algn="ctr">
            <a:noFill/>
            <a:prstDash val="solid"/>
            <a:miter lim="800000"/>
          </a:ln>
          <a:effectLst/>
        </p:spPr>
        <p:txBody>
          <a:bodyPr lIns="91440" tIns="45720" rIns="91440" bIns="45720" rtlCol="0" anchor="ctr"/>
          <a:lstStyle/>
          <a:p>
            <a:pPr algn="ctr" defTabSz="457200">
              <a:spcAft>
                <a:spcPts val="600"/>
              </a:spcAft>
            </a:pPr>
            <a:r>
              <a:rPr lang="en-IN" sz="2400" b="1" kern="0">
                <a:solidFill>
                  <a:srgbClr val="192D58"/>
                </a:solidFill>
              </a:rPr>
              <a:t>3.0</a:t>
            </a:r>
          </a:p>
          <a:p>
            <a:pPr algn="ctr" defTabSz="457200">
              <a:spcAft>
                <a:spcPts val="600"/>
              </a:spcAft>
            </a:pPr>
            <a:r>
              <a:rPr lang="en-IN" sz="1400" kern="0">
                <a:solidFill>
                  <a:srgbClr val="192D58"/>
                </a:solidFill>
              </a:rPr>
              <a:t>Target</a:t>
            </a:r>
          </a:p>
        </p:txBody>
      </p:sp>
      <p:sp>
        <p:nvSpPr>
          <p:cNvPr id="8" name="Rectangle 7">
            <a:extLst>
              <a:ext uri="{FF2B5EF4-FFF2-40B4-BE49-F238E27FC236}">
                <a16:creationId xmlns:a16="http://schemas.microsoft.com/office/drawing/2014/main" id="{B17F96F1-273D-000E-3F56-A389360D53EA}"/>
              </a:ext>
            </a:extLst>
          </p:cNvPr>
          <p:cNvSpPr/>
          <p:nvPr>
            <p:custDataLst>
              <p:tags r:id="rId4"/>
            </p:custDataLst>
          </p:nvPr>
        </p:nvSpPr>
        <p:spPr>
          <a:xfrm>
            <a:off x="10625328" y="986794"/>
            <a:ext cx="1088136" cy="1133856"/>
          </a:xfrm>
          <a:prstGeom prst="rect">
            <a:avLst/>
          </a:prstGeom>
          <a:solidFill>
            <a:srgbClr val="E36135">
              <a:alpha val="20000"/>
            </a:srgbClr>
          </a:solidFill>
          <a:ln w="12700" cap="flat" cmpd="sng" algn="ctr">
            <a:noFill/>
            <a:prstDash val="solid"/>
            <a:miter lim="800000"/>
          </a:ln>
          <a:effectLst/>
        </p:spPr>
        <p:txBody>
          <a:bodyPr lIns="91440" tIns="45720" rIns="91440" bIns="45720" rtlCol="0" anchor="ctr"/>
          <a:lstStyle/>
          <a:p>
            <a:pPr algn="ctr" defTabSz="457200">
              <a:spcAft>
                <a:spcPts val="600"/>
              </a:spcAft>
            </a:pPr>
            <a:r>
              <a:rPr lang="en-IN" sz="2400" b="1" kern="0">
                <a:solidFill>
                  <a:srgbClr val="E36135"/>
                </a:solidFill>
              </a:rPr>
              <a:t>1.3</a:t>
            </a:r>
          </a:p>
          <a:p>
            <a:pPr algn="ctr" defTabSz="457200">
              <a:spcAft>
                <a:spcPts val="600"/>
              </a:spcAft>
            </a:pPr>
            <a:r>
              <a:rPr lang="en-IN" sz="1400" kern="0">
                <a:solidFill>
                  <a:srgbClr val="E36135"/>
                </a:solidFill>
              </a:rPr>
              <a:t>Gap</a:t>
            </a:r>
          </a:p>
        </p:txBody>
      </p:sp>
      <p:sp>
        <p:nvSpPr>
          <p:cNvPr id="16" name="TextBox 15">
            <a:extLst>
              <a:ext uri="{FF2B5EF4-FFF2-40B4-BE49-F238E27FC236}">
                <a16:creationId xmlns:a16="http://schemas.microsoft.com/office/drawing/2014/main" id="{E472DD57-842B-E7D4-0E17-727D27F74E12}"/>
              </a:ext>
            </a:extLst>
          </p:cNvPr>
          <p:cNvSpPr txBox="1"/>
          <p:nvPr>
            <p:custDataLst>
              <p:tags r:id="rId5"/>
            </p:custDataLst>
          </p:nvPr>
        </p:nvSpPr>
        <p:spPr>
          <a:xfrm>
            <a:off x="537898" y="2379601"/>
            <a:ext cx="3128326" cy="323165"/>
          </a:xfrm>
          <a:prstGeom prst="rect">
            <a:avLst/>
          </a:prstGeom>
          <a:noFill/>
        </p:spPr>
        <p:txBody>
          <a:bodyPr wrap="square" lIns="0" rtlCol="0" anchor="ctr">
            <a:spAutoFit/>
          </a:bodyPr>
          <a:lstStyle/>
          <a:p>
            <a:pPr>
              <a:spcAft>
                <a:spcPts val="200"/>
              </a:spcAft>
            </a:pPr>
            <a:r>
              <a:rPr lang="en-US" sz="1500" b="1">
                <a:solidFill>
                  <a:srgbClr val="002856"/>
                </a:solidFill>
              </a:rPr>
              <a:t>Foundational Recommendations</a:t>
            </a:r>
          </a:p>
        </p:txBody>
      </p:sp>
      <p:sp>
        <p:nvSpPr>
          <p:cNvPr id="17" name="TextBox 16">
            <a:extLst>
              <a:ext uri="{FF2B5EF4-FFF2-40B4-BE49-F238E27FC236}">
                <a16:creationId xmlns:a16="http://schemas.microsoft.com/office/drawing/2014/main" id="{E94516A1-0A9A-AC96-402F-C0AAE9901B23}"/>
              </a:ext>
            </a:extLst>
          </p:cNvPr>
          <p:cNvSpPr txBox="1"/>
          <p:nvPr>
            <p:custDataLst>
              <p:tags r:id="rId6"/>
            </p:custDataLst>
          </p:nvPr>
        </p:nvSpPr>
        <p:spPr>
          <a:xfrm>
            <a:off x="6418233" y="2379601"/>
            <a:ext cx="2990304" cy="323165"/>
          </a:xfrm>
          <a:prstGeom prst="rect">
            <a:avLst/>
          </a:prstGeom>
          <a:noFill/>
        </p:spPr>
        <p:txBody>
          <a:bodyPr wrap="square" lIns="0" rtlCol="0" anchor="ctr">
            <a:spAutoFit/>
          </a:bodyPr>
          <a:lstStyle>
            <a:defPPr>
              <a:defRPr lang="en-US"/>
            </a:defPPr>
            <a:lvl1pPr>
              <a:spcAft>
                <a:spcPts val="200"/>
              </a:spcAft>
              <a:defRPr sz="1500" b="1">
                <a:solidFill>
                  <a:srgbClr val="30405A"/>
                </a:solidFill>
              </a:defRPr>
            </a:lvl1pPr>
          </a:lstStyle>
          <a:p>
            <a:r>
              <a:rPr lang="en-US">
                <a:solidFill>
                  <a:srgbClr val="002856"/>
                </a:solidFill>
              </a:rPr>
              <a:t>Progressive Recommendations</a:t>
            </a:r>
          </a:p>
        </p:txBody>
      </p:sp>
      <p:sp>
        <p:nvSpPr>
          <p:cNvPr id="2" name="Title 1">
            <a:extLst>
              <a:ext uri="{FF2B5EF4-FFF2-40B4-BE49-F238E27FC236}">
                <a16:creationId xmlns:a16="http://schemas.microsoft.com/office/drawing/2014/main" id="{CA01AB9C-C287-571D-3FF1-5953B9E80FE7}"/>
              </a:ext>
            </a:extLst>
          </p:cNvPr>
          <p:cNvSpPr>
            <a:spLocks noGrp="1"/>
          </p:cNvSpPr>
          <p:nvPr>
            <p:ph type="title" hasCustomPrompt="1"/>
            <p:custDataLst>
              <p:tags r:id="rId7"/>
            </p:custDataLst>
          </p:nvPr>
        </p:nvSpPr>
        <p:spPr>
          <a:xfrm>
            <a:off x="536400" y="324697"/>
            <a:ext cx="11276013" cy="292366"/>
          </a:xfrm>
        </p:spPr>
        <p:txBody>
          <a:bodyPr vert="horz" lIns="0" tIns="0" rIns="0" bIns="0" rtlCol="0" anchor="t" anchorCtr="0">
            <a:noAutofit/>
          </a:bodyPr>
          <a:lstStyle/>
          <a:p>
            <a:r>
              <a:rPr lang="en-US" sz="2400">
                <a:latin typeface="Gartner Sans" panose="020B0504030402040204" pitchFamily="34" charset="0"/>
              </a:rPr>
              <a:t>Capability: AI Data</a:t>
            </a:r>
          </a:p>
        </p:txBody>
      </p:sp>
      <p:sp>
        <p:nvSpPr>
          <p:cNvPr id="7" name="TextBox 6">
            <a:extLst>
              <a:ext uri="{FF2B5EF4-FFF2-40B4-BE49-F238E27FC236}">
                <a16:creationId xmlns:a16="http://schemas.microsoft.com/office/drawing/2014/main" id="{CB89738F-5E8E-5A93-A873-3DDA5DCB7717}"/>
              </a:ext>
            </a:extLst>
          </p:cNvPr>
          <p:cNvSpPr txBox="1"/>
          <p:nvPr>
            <p:custDataLst>
              <p:tags r:id="rId8"/>
            </p:custDataLst>
          </p:nvPr>
        </p:nvSpPr>
        <p:spPr>
          <a:xfrm>
            <a:off x="629913" y="2734056"/>
            <a:ext cx="5167039" cy="1364476"/>
          </a:xfrm>
          <a:prstGeom prst="rect">
            <a:avLst/>
          </a:prstGeom>
          <a:noFill/>
        </p:spPr>
        <p:txBody>
          <a:bodyPr wrap="square" lIns="0" rtlCol="0" anchor="t">
            <a:spAutoFit/>
          </a:bodyPr>
          <a:lstStyle/>
          <a:p>
            <a:pPr>
              <a:spcBef>
                <a:spcPts val="200"/>
              </a:spcBef>
              <a:spcAft>
                <a:spcPts val="200"/>
              </a:spcAft>
              <a:buSzTx/>
            </a:pPr>
            <a:r>
              <a:rPr lang="en-US" sz="1100" b="1"/>
              <a:t>Establish Data Management for AI </a:t>
            </a:r>
          </a:p>
          <a:p>
            <a:pPr>
              <a:spcBef>
                <a:spcPts val="200"/>
              </a:spcBef>
              <a:spcAft>
                <a:spcPts val="200"/>
              </a:spcAft>
              <a:buSzTx/>
            </a:pPr>
            <a:r>
              <a:rPr lang="en-US" sz="1100" b="1">
                <a:hlinkClick r:id="rId12"/>
              </a:rPr>
              <a:t>Quick Answer: What Makes Data AI-Ready?</a:t>
            </a:r>
            <a:endParaRPr lang="en-US" sz="1100" b="1"/>
          </a:p>
          <a:p>
            <a:pPr>
              <a:spcBef>
                <a:spcPts val="200"/>
              </a:spcBef>
              <a:spcAft>
                <a:spcPts val="200"/>
              </a:spcAft>
              <a:buSzTx/>
            </a:pPr>
            <a:endParaRPr lang="en-US" sz="1100"/>
          </a:p>
          <a:p>
            <a:pPr>
              <a:spcBef>
                <a:spcPts val="200"/>
              </a:spcBef>
              <a:spcAft>
                <a:spcPts val="200"/>
              </a:spcAft>
              <a:buSzTx/>
            </a:pPr>
            <a:r>
              <a:rPr lang="en-US" sz="1100" b="1"/>
              <a:t>Extend Data Governance for AI </a:t>
            </a:r>
          </a:p>
          <a:p>
            <a:pPr>
              <a:spcBef>
                <a:spcPts val="200"/>
              </a:spcBef>
              <a:spcAft>
                <a:spcPts val="200"/>
              </a:spcAft>
              <a:buSzTx/>
            </a:pPr>
            <a:r>
              <a:rPr lang="en-US" sz="1100" b="1">
                <a:hlinkClick r:id="rId13"/>
              </a:rPr>
              <a:t>Build an AI-Ready Data Management Practice to Reap AI Benefits</a:t>
            </a:r>
            <a:endParaRPr lang="en-US" sz="1100" b="1"/>
          </a:p>
          <a:p>
            <a:pPr>
              <a:spcBef>
                <a:spcPts val="200"/>
              </a:spcBef>
              <a:spcAft>
                <a:spcPts val="200"/>
              </a:spcAft>
              <a:buSzTx/>
            </a:pPr>
            <a:endParaRPr lang="en-US" sz="1100" b="1"/>
          </a:p>
        </p:txBody>
      </p:sp>
      <p:sp>
        <p:nvSpPr>
          <p:cNvPr id="9" name="TextBox 8">
            <a:extLst>
              <a:ext uri="{FF2B5EF4-FFF2-40B4-BE49-F238E27FC236}">
                <a16:creationId xmlns:a16="http://schemas.microsoft.com/office/drawing/2014/main" id="{0F59B801-36D7-2B8E-ECED-DDD51DD47848}"/>
              </a:ext>
            </a:extLst>
          </p:cNvPr>
          <p:cNvSpPr txBox="1"/>
          <p:nvPr>
            <p:custDataLst>
              <p:tags r:id="rId9"/>
            </p:custDataLst>
          </p:nvPr>
        </p:nvSpPr>
        <p:spPr>
          <a:xfrm>
            <a:off x="6519672" y="2734056"/>
            <a:ext cx="5167039" cy="1143903"/>
          </a:xfrm>
          <a:prstGeom prst="rect">
            <a:avLst/>
          </a:prstGeom>
          <a:noFill/>
        </p:spPr>
        <p:txBody>
          <a:bodyPr wrap="square" lIns="0" rtlCol="0" anchor="t">
            <a:spAutoFit/>
          </a:bodyPr>
          <a:lstStyle/>
          <a:p>
            <a:pPr algn="just">
              <a:spcBef>
                <a:spcPts val="200"/>
              </a:spcBef>
              <a:spcAft>
                <a:spcPts val="200"/>
              </a:spcAft>
              <a:buSzTx/>
            </a:pPr>
            <a:r>
              <a:rPr lang="en-US" sz="1100" b="1"/>
              <a:t>Develop a Robust and Secure Data Platform Infrastructure</a:t>
            </a:r>
          </a:p>
          <a:p>
            <a:pPr algn="just">
              <a:spcBef>
                <a:spcPts val="200"/>
              </a:spcBef>
              <a:spcAft>
                <a:spcPts val="200"/>
              </a:spcAft>
              <a:buSzTx/>
            </a:pPr>
            <a:r>
              <a:rPr lang="en-US" sz="1100" b="1">
                <a:hlinkClick r:id="rId14"/>
              </a:rPr>
              <a:t>Magic Quadrant for Cloud Database Management Systems</a:t>
            </a:r>
            <a:endParaRPr lang="en-US" sz="1100" b="1"/>
          </a:p>
          <a:p>
            <a:pPr algn="just">
              <a:spcBef>
                <a:spcPts val="200"/>
              </a:spcBef>
              <a:spcAft>
                <a:spcPts val="200"/>
              </a:spcAft>
              <a:buSzTx/>
            </a:pPr>
            <a:endParaRPr lang="en-US" sz="1100"/>
          </a:p>
          <a:p>
            <a:pPr algn="just">
              <a:spcBef>
                <a:spcPts val="200"/>
              </a:spcBef>
              <a:spcAft>
                <a:spcPts val="200"/>
              </a:spcAft>
              <a:buSzTx/>
            </a:pPr>
            <a:r>
              <a:rPr lang="en-US" sz="1100" b="1"/>
              <a:t>Cultivate a Dynamic and Adaptive Data Ecosystem</a:t>
            </a:r>
          </a:p>
          <a:p>
            <a:pPr algn="just">
              <a:spcBef>
                <a:spcPts val="200"/>
              </a:spcBef>
              <a:spcAft>
                <a:spcPts val="200"/>
              </a:spcAft>
              <a:buSzTx/>
            </a:pPr>
            <a:r>
              <a:rPr lang="en-US" sz="1100" b="1">
                <a:hlinkClick r:id="rId15"/>
              </a:rPr>
              <a:t>How Data Architects Should Participate in Designing Ecosystems</a:t>
            </a:r>
            <a:endParaRPr lang="en-US" sz="1100" b="1"/>
          </a:p>
        </p:txBody>
      </p:sp>
    </p:spTree>
    <p:extLst>
      <p:ext uri="{BB962C8B-B14F-4D97-AF65-F5344CB8AC3E}">
        <p14:creationId xmlns:p14="http://schemas.microsoft.com/office/powerpoint/2010/main" val="312435632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4FEEB-7ED5-82A8-4F3E-14D18CF46BFF}"/>
            </a:ext>
          </a:extLst>
        </p:cNvPr>
        <p:cNvGrpSpPr/>
        <p:nvPr/>
      </p:nvGrpSpPr>
      <p:grpSpPr>
        <a:xfrm>
          <a:off x="0" y="0"/>
          <a:ext cx="0" cy="0"/>
          <a:chOff x="0" y="0"/>
          <a:chExt cx="0" cy="0"/>
        </a:xfrm>
      </p:grpSpPr>
      <p:cxnSp>
        <p:nvCxnSpPr>
          <p:cNvPr id="54" name="Straight Connector 1">
            <a:extLst>
              <a:ext uri="{FF2B5EF4-FFF2-40B4-BE49-F238E27FC236}">
                <a16:creationId xmlns:a16="http://schemas.microsoft.com/office/drawing/2014/main" id="{44E242B6-6818-EE32-B991-95FD0CB57257}"/>
              </a:ext>
            </a:extLst>
          </p:cNvPr>
          <p:cNvCxnSpPr/>
          <p:nvPr>
            <p:custDataLst>
              <p:tags r:id="rId1"/>
            </p:custDataLst>
          </p:nvPr>
        </p:nvCxnSpPr>
        <p:spPr>
          <a:xfrm flipH="1" flipV="1">
            <a:off x="4285004" y="2031603"/>
            <a:ext cx="6444000" cy="3600"/>
          </a:xfrm>
          <a:prstGeom prst="line">
            <a:avLst/>
          </a:prstGeom>
          <a:noFill/>
          <a:ln w="12700" cap="flat" cmpd="sng">
            <a:solidFill>
              <a:srgbClr val="D9D9D9"/>
            </a:solidFill>
            <a:prstDash val="solid"/>
            <a:round/>
            <a:headEnd type="none" w="lg" len="med"/>
            <a:tailEnd type="none" w="lg" len="med"/>
          </a:ln>
        </p:spPr>
      </p:cxnSp>
      <p:graphicFrame>
        <p:nvGraphicFramePr>
          <p:cNvPr id="8" name="Chart 7" descr="SOURCE=[BULLET_MONITOR_AND_INTERPRET_AI_TRENDS]&#10;HIDE-IF=AND([C_T2_1]=&quot;N/A&quot;,[T_T2_1]=&quot;N/A&quot;)">
            <a:extLst>
              <a:ext uri="{FF2B5EF4-FFF2-40B4-BE49-F238E27FC236}">
                <a16:creationId xmlns:a16="http://schemas.microsoft.com/office/drawing/2014/main" id="{3D0C18C3-8FD3-07EC-6CFB-532E46A55FE6}"/>
              </a:ext>
            </a:extLst>
          </p:cNvPr>
          <p:cNvGraphicFramePr>
            <a:graphicFrameLocks noDrilldown="1"/>
          </p:cNvGraphicFramePr>
          <p:nvPr>
            <p:custDataLst>
              <p:tags r:id="rId2"/>
            </p:custDataLst>
            <p:extLst>
              <p:ext uri="{D42A27DB-BD31-4B8C-83A1-F6EECF244321}">
                <p14:modId xmlns:p14="http://schemas.microsoft.com/office/powerpoint/2010/main" val="805718323"/>
              </p:ext>
            </p:extLst>
          </p:nvPr>
        </p:nvGraphicFramePr>
        <p:xfrm>
          <a:off x="4179688" y="1476933"/>
          <a:ext cx="6872206" cy="900000"/>
        </p:xfrm>
        <a:graphic>
          <a:graphicData uri="http://schemas.openxmlformats.org/drawingml/2006/chart">
            <c:chart xmlns:c="http://schemas.openxmlformats.org/drawingml/2006/chart" xmlns:r="http://schemas.openxmlformats.org/officeDocument/2006/relationships" r:id="rId35"/>
          </a:graphicData>
        </a:graphic>
      </p:graphicFrame>
      <p:sp>
        <p:nvSpPr>
          <p:cNvPr id="4" name="Title 1">
            <a:extLst>
              <a:ext uri="{FF2B5EF4-FFF2-40B4-BE49-F238E27FC236}">
                <a16:creationId xmlns:a16="http://schemas.microsoft.com/office/drawing/2014/main" id="{85DDC2DD-1A43-C187-DCDD-56455C07E5F8}"/>
              </a:ext>
            </a:extLst>
          </p:cNvPr>
          <p:cNvSpPr>
            <a:spLocks noGrp="1"/>
          </p:cNvSpPr>
          <p:nvPr>
            <p:ph type="title"/>
            <p:custDataLst>
              <p:tags r:id="rId3"/>
            </p:custDataLst>
          </p:nvPr>
        </p:nvSpPr>
        <p:spPr bwMode="gray">
          <a:xfrm>
            <a:off x="536400" y="324000"/>
            <a:ext cx="11274552" cy="451231"/>
          </a:xfrm>
        </p:spPr>
        <p:txBody>
          <a:bodyPr vert="horz"/>
          <a:lstStyle/>
          <a:p>
            <a:r>
              <a:rPr lang="en-US" sz="2400">
                <a:solidFill>
                  <a:srgbClr val="002856"/>
                </a:solidFill>
                <a:latin typeface="+mn-lt"/>
              </a:rPr>
              <a:t>Your Responses: AI Strategy</a:t>
            </a:r>
          </a:p>
        </p:txBody>
      </p:sp>
      <p:cxnSp>
        <p:nvCxnSpPr>
          <p:cNvPr id="6" name="Straight Connector 1">
            <a:extLst>
              <a:ext uri="{FF2B5EF4-FFF2-40B4-BE49-F238E27FC236}">
                <a16:creationId xmlns:a16="http://schemas.microsoft.com/office/drawing/2014/main" id="{C365642A-D1CC-3A9A-AD27-F499146C9697}"/>
              </a:ext>
            </a:extLst>
          </p:cNvPr>
          <p:cNvCxnSpPr/>
          <p:nvPr>
            <p:custDataLst>
              <p:tags r:id="rId4"/>
            </p:custDataLst>
          </p:nvPr>
        </p:nvCxnSpPr>
        <p:spPr>
          <a:xfrm flipH="1" flipV="1">
            <a:off x="4285004" y="2658970"/>
            <a:ext cx="6444000" cy="3600"/>
          </a:xfrm>
          <a:prstGeom prst="line">
            <a:avLst/>
          </a:prstGeom>
          <a:noFill/>
          <a:ln w="12700" cap="flat" cmpd="sng">
            <a:solidFill>
              <a:srgbClr val="D9D9D9"/>
            </a:solidFill>
            <a:prstDash val="solid"/>
            <a:round/>
            <a:headEnd type="none" w="lg" len="med"/>
            <a:tailEnd type="none" w="lg" len="med"/>
          </a:ln>
        </p:spPr>
      </p:cxnSp>
      <p:graphicFrame>
        <p:nvGraphicFramePr>
          <p:cNvPr id="7" name="Chart 6" descr="SOURCE=[BULLET_SET_VISION]&#10;HIDE-IF=AND([C_T2_2]=&quot;N/A&quot;,[T_T2_2]=&quot;N/A&quot;)">
            <a:extLst>
              <a:ext uri="{FF2B5EF4-FFF2-40B4-BE49-F238E27FC236}">
                <a16:creationId xmlns:a16="http://schemas.microsoft.com/office/drawing/2014/main" id="{FAAF1782-E736-2990-CEE3-34C69D7DB8B9}"/>
              </a:ext>
            </a:extLst>
          </p:cNvPr>
          <p:cNvGraphicFramePr>
            <a:graphicFrameLocks noDrilldown="1"/>
          </p:cNvGraphicFramePr>
          <p:nvPr>
            <p:custDataLst>
              <p:tags r:id="rId5"/>
            </p:custDataLst>
            <p:extLst>
              <p:ext uri="{D42A27DB-BD31-4B8C-83A1-F6EECF244321}">
                <p14:modId xmlns:p14="http://schemas.microsoft.com/office/powerpoint/2010/main" val="2011889419"/>
              </p:ext>
            </p:extLst>
          </p:nvPr>
        </p:nvGraphicFramePr>
        <p:xfrm>
          <a:off x="4179600" y="2075740"/>
          <a:ext cx="6872400" cy="900000"/>
        </p:xfrm>
        <a:graphic>
          <a:graphicData uri="http://schemas.openxmlformats.org/drawingml/2006/chart">
            <c:chart xmlns:c="http://schemas.openxmlformats.org/drawingml/2006/chart" xmlns:r="http://schemas.openxmlformats.org/officeDocument/2006/relationships" r:id="rId36"/>
          </a:graphicData>
        </a:graphic>
      </p:graphicFrame>
      <p:cxnSp>
        <p:nvCxnSpPr>
          <p:cNvPr id="16" name="Straight Connector 1">
            <a:extLst>
              <a:ext uri="{FF2B5EF4-FFF2-40B4-BE49-F238E27FC236}">
                <a16:creationId xmlns:a16="http://schemas.microsoft.com/office/drawing/2014/main" id="{366EA220-A0BA-80B0-E485-3FC88D025BE6}"/>
              </a:ext>
            </a:extLst>
          </p:cNvPr>
          <p:cNvCxnSpPr/>
          <p:nvPr>
            <p:custDataLst>
              <p:tags r:id="rId6"/>
            </p:custDataLst>
          </p:nvPr>
        </p:nvCxnSpPr>
        <p:spPr>
          <a:xfrm flipH="1" flipV="1">
            <a:off x="4285004" y="3290072"/>
            <a:ext cx="6444000" cy="3600"/>
          </a:xfrm>
          <a:prstGeom prst="line">
            <a:avLst/>
          </a:prstGeom>
          <a:noFill/>
          <a:ln w="12700" cap="flat" cmpd="sng">
            <a:solidFill>
              <a:srgbClr val="D9D9D9"/>
            </a:solidFill>
            <a:prstDash val="solid"/>
            <a:round/>
            <a:headEnd type="none" w="lg" len="med"/>
            <a:tailEnd type="none" w="lg" len="med"/>
          </a:ln>
        </p:spPr>
      </p:cxnSp>
      <p:cxnSp>
        <p:nvCxnSpPr>
          <p:cNvPr id="28" name="Straight Connector 1">
            <a:extLst>
              <a:ext uri="{FF2B5EF4-FFF2-40B4-BE49-F238E27FC236}">
                <a16:creationId xmlns:a16="http://schemas.microsoft.com/office/drawing/2014/main" id="{75C60240-EAEE-DD6C-DE55-43ABE1B35B23}"/>
              </a:ext>
            </a:extLst>
          </p:cNvPr>
          <p:cNvCxnSpPr/>
          <p:nvPr>
            <p:custDataLst>
              <p:tags r:id="rId7"/>
            </p:custDataLst>
          </p:nvPr>
        </p:nvCxnSpPr>
        <p:spPr>
          <a:xfrm flipH="1" flipV="1">
            <a:off x="4285004" y="3923484"/>
            <a:ext cx="6444000" cy="3600"/>
          </a:xfrm>
          <a:prstGeom prst="line">
            <a:avLst/>
          </a:prstGeom>
          <a:noFill/>
          <a:ln w="12700" cap="flat" cmpd="sng">
            <a:solidFill>
              <a:srgbClr val="D9D9D9"/>
            </a:solidFill>
            <a:prstDash val="solid"/>
            <a:round/>
            <a:headEnd type="none" w="lg" len="med"/>
            <a:tailEnd type="none" w="lg" len="med"/>
          </a:ln>
        </p:spPr>
      </p:cxnSp>
      <p:graphicFrame>
        <p:nvGraphicFramePr>
          <p:cNvPr id="29" name="Chart 28" descr="SOURCE=[BULLET_DEVELOP_AND_COORDINATE_AI_STRATEGIC_ROADMAP]&#10;HIDE-IF=AND([C_T2_6]=&quot;N/A&quot;,[T_T2_6]=&quot;N/A&quot;)">
            <a:extLst>
              <a:ext uri="{FF2B5EF4-FFF2-40B4-BE49-F238E27FC236}">
                <a16:creationId xmlns:a16="http://schemas.microsoft.com/office/drawing/2014/main" id="{AA171057-8E87-3495-5028-49C7170C8AF0}"/>
              </a:ext>
            </a:extLst>
          </p:cNvPr>
          <p:cNvGraphicFramePr>
            <a:graphicFrameLocks noDrilldown="1"/>
          </p:cNvGraphicFramePr>
          <p:nvPr>
            <p:custDataLst>
              <p:tags r:id="rId8"/>
            </p:custDataLst>
            <p:extLst>
              <p:ext uri="{D42A27DB-BD31-4B8C-83A1-F6EECF244321}">
                <p14:modId xmlns:p14="http://schemas.microsoft.com/office/powerpoint/2010/main" val="2234214933"/>
              </p:ext>
            </p:extLst>
          </p:nvPr>
        </p:nvGraphicFramePr>
        <p:xfrm>
          <a:off x="4179600" y="3357032"/>
          <a:ext cx="6872400" cy="900000"/>
        </p:xfrm>
        <a:graphic>
          <a:graphicData uri="http://schemas.openxmlformats.org/drawingml/2006/chart">
            <c:chart xmlns:c="http://schemas.openxmlformats.org/drawingml/2006/chart" xmlns:r="http://schemas.openxmlformats.org/officeDocument/2006/relationships" r:id="rId37"/>
          </a:graphicData>
        </a:graphic>
      </p:graphicFrame>
      <p:cxnSp>
        <p:nvCxnSpPr>
          <p:cNvPr id="30" name="Straight Connector 1">
            <a:extLst>
              <a:ext uri="{FF2B5EF4-FFF2-40B4-BE49-F238E27FC236}">
                <a16:creationId xmlns:a16="http://schemas.microsoft.com/office/drawing/2014/main" id="{C4B7C867-021F-90CD-8CB1-74C096DE858A}"/>
              </a:ext>
            </a:extLst>
          </p:cNvPr>
          <p:cNvCxnSpPr/>
          <p:nvPr>
            <p:custDataLst>
              <p:tags r:id="rId9"/>
            </p:custDataLst>
          </p:nvPr>
        </p:nvCxnSpPr>
        <p:spPr>
          <a:xfrm flipH="1" flipV="1">
            <a:off x="4285004" y="4552297"/>
            <a:ext cx="6444000" cy="3600"/>
          </a:xfrm>
          <a:prstGeom prst="line">
            <a:avLst/>
          </a:prstGeom>
          <a:noFill/>
          <a:ln w="12700" cap="flat" cmpd="sng">
            <a:solidFill>
              <a:srgbClr val="D9D9D9"/>
            </a:solidFill>
            <a:prstDash val="solid"/>
            <a:round/>
            <a:headEnd type="none" w="lg" len="med"/>
            <a:tailEnd type="none" w="lg" len="med"/>
          </a:ln>
        </p:spPr>
      </p:cxnSp>
      <p:graphicFrame>
        <p:nvGraphicFramePr>
          <p:cNvPr id="31" name="Chart 30" descr="SOURCE=[BULLET_INNOVATE_INCUBATE_AI]&#10;HIDE-IF=AND([C_T2_7]=&quot;N/A&quot;,[T_T2_7]=&quot;N/A&quot;)">
            <a:extLst>
              <a:ext uri="{FF2B5EF4-FFF2-40B4-BE49-F238E27FC236}">
                <a16:creationId xmlns:a16="http://schemas.microsoft.com/office/drawing/2014/main" id="{348F81CC-2A61-DB70-B04C-E615B1929458}"/>
              </a:ext>
            </a:extLst>
          </p:cNvPr>
          <p:cNvGraphicFramePr>
            <a:graphicFrameLocks noDrilldown="1"/>
          </p:cNvGraphicFramePr>
          <p:nvPr>
            <p:custDataLst>
              <p:tags r:id="rId10"/>
            </p:custDataLst>
            <p:extLst>
              <p:ext uri="{D42A27DB-BD31-4B8C-83A1-F6EECF244321}">
                <p14:modId xmlns:p14="http://schemas.microsoft.com/office/powerpoint/2010/main" val="1899117600"/>
              </p:ext>
            </p:extLst>
          </p:nvPr>
        </p:nvGraphicFramePr>
        <p:xfrm>
          <a:off x="4179600" y="3985845"/>
          <a:ext cx="6872400" cy="900000"/>
        </p:xfrm>
        <a:graphic>
          <a:graphicData uri="http://schemas.openxmlformats.org/drawingml/2006/chart">
            <c:chart xmlns:c="http://schemas.openxmlformats.org/drawingml/2006/chart" xmlns:r="http://schemas.openxmlformats.org/officeDocument/2006/relationships" r:id="rId38"/>
          </a:graphicData>
        </a:graphic>
      </p:graphicFrame>
      <p:sp>
        <p:nvSpPr>
          <p:cNvPr id="36" name="TextBox 35" descr="FILLCOLOR-IF=AND([C_T2_1]=&quot;N/A&quot;,[T_T2_1]=&quot;N/A&quot;),#FFFFF7&#10;FONTCOLOR-IF=AND([C_T2_1]=&quot;N/A&quot;,[T_T2_1]=&quot;N/A&quot;),#7F7F7F">
            <a:extLst>
              <a:ext uri="{FF2B5EF4-FFF2-40B4-BE49-F238E27FC236}">
                <a16:creationId xmlns:a16="http://schemas.microsoft.com/office/drawing/2014/main" id="{588BC091-972C-2C68-B840-E3DC4B448BDD}"/>
              </a:ext>
            </a:extLst>
          </p:cNvPr>
          <p:cNvSpPr txBox="1"/>
          <p:nvPr>
            <p:custDataLst>
              <p:tags r:id="rId11"/>
            </p:custDataLst>
          </p:nvPr>
        </p:nvSpPr>
        <p:spPr>
          <a:xfrm>
            <a:off x="644660" y="1884431"/>
            <a:ext cx="3348000" cy="276999"/>
          </a:xfrm>
          <a:prstGeom prst="rect">
            <a:avLst/>
          </a:prstGeom>
          <a:noFill/>
        </p:spPr>
        <p:txBody>
          <a:bodyPr wrap="square">
            <a:spAutoFit/>
          </a:bodyPr>
          <a:lstStyle/>
          <a:p>
            <a:pPr algn="r"/>
            <a:r>
              <a:rPr lang="it-IT" sz="1200"/>
              <a:t>Monitor &amp; interpret AI trends</a:t>
            </a:r>
          </a:p>
        </p:txBody>
      </p:sp>
      <p:sp>
        <p:nvSpPr>
          <p:cNvPr id="37" name="TextBox 36" descr="FILLCOLOR-IF=AND([C_T2_2]=&quot;N/A&quot;,[T_T2_2]=&quot;N/A&quot;),#FFFFF7&#10;FONTCOLOR-IF=AND([C_T2_2]=&quot;N/A&quot;,[T_T2_2]=&quot;N/A&quot;),#7F7F7F">
            <a:extLst>
              <a:ext uri="{FF2B5EF4-FFF2-40B4-BE49-F238E27FC236}">
                <a16:creationId xmlns:a16="http://schemas.microsoft.com/office/drawing/2014/main" id="{8CE9B9FC-0FBC-889B-1565-C14DA85BB113}"/>
              </a:ext>
            </a:extLst>
          </p:cNvPr>
          <p:cNvSpPr txBox="1"/>
          <p:nvPr>
            <p:custDataLst>
              <p:tags r:id="rId12"/>
            </p:custDataLst>
          </p:nvPr>
        </p:nvSpPr>
        <p:spPr>
          <a:xfrm>
            <a:off x="644660" y="2532512"/>
            <a:ext cx="3348000" cy="276999"/>
          </a:xfrm>
          <a:prstGeom prst="rect">
            <a:avLst/>
          </a:prstGeom>
          <a:noFill/>
        </p:spPr>
        <p:txBody>
          <a:bodyPr wrap="square">
            <a:spAutoFit/>
          </a:bodyPr>
          <a:lstStyle/>
          <a:p>
            <a:pPr algn="r"/>
            <a:r>
              <a:rPr lang="en-US" sz="1200"/>
              <a:t>Develop &amp; rationalize the AI vision</a:t>
            </a:r>
            <a:endParaRPr lang="en-IN" sz="1200"/>
          </a:p>
        </p:txBody>
      </p:sp>
      <p:sp>
        <p:nvSpPr>
          <p:cNvPr id="38" name="TextBox 37" descr="FILLCOLOR-IF=AND([C_T2_4]=&quot;N/A&quot;,[T_T2_4]=&quot;N/A&quot;),#FFFFF7&#10;FONTCOLOR-IF=AND([C_T2_4]=&quot;N/A&quot;,[T_T2_4]=&quot;N/A&quot;),#7F7F7F">
            <a:extLst>
              <a:ext uri="{FF2B5EF4-FFF2-40B4-BE49-F238E27FC236}">
                <a16:creationId xmlns:a16="http://schemas.microsoft.com/office/drawing/2014/main" id="{D85FC3D5-472D-9AC8-A84A-67152F3B953B}"/>
              </a:ext>
            </a:extLst>
          </p:cNvPr>
          <p:cNvSpPr txBox="1"/>
          <p:nvPr>
            <p:custDataLst>
              <p:tags r:id="rId13"/>
            </p:custDataLst>
          </p:nvPr>
        </p:nvSpPr>
        <p:spPr>
          <a:xfrm>
            <a:off x="644660" y="3163281"/>
            <a:ext cx="3348000" cy="276999"/>
          </a:xfrm>
          <a:prstGeom prst="rect">
            <a:avLst/>
          </a:prstGeom>
          <a:noFill/>
        </p:spPr>
        <p:txBody>
          <a:bodyPr wrap="square">
            <a:spAutoFit/>
          </a:bodyPr>
          <a:lstStyle/>
          <a:p>
            <a:pPr algn="r"/>
            <a:r>
              <a:rPr lang="en-US" sz="1200"/>
              <a:t>Develop &amp; refine the AI strategy</a:t>
            </a:r>
          </a:p>
        </p:txBody>
      </p:sp>
      <p:sp>
        <p:nvSpPr>
          <p:cNvPr id="39" name="TextBox 38" descr="FILLCOLOR-IF=AND([C_T2_6]=&quot;N/A&quot;,[T_T2_6]=&quot;N/A&quot;),#FFFFF7&#10;FONTCOLOR-IF=AND([C_T2_6]=&quot;N/A&quot;,[T_T2_6]=&quot;N/A&quot;),#7F7F7F">
            <a:extLst>
              <a:ext uri="{FF2B5EF4-FFF2-40B4-BE49-F238E27FC236}">
                <a16:creationId xmlns:a16="http://schemas.microsoft.com/office/drawing/2014/main" id="{C4686F7E-9E55-A90E-57A2-19619A9626AA}"/>
              </a:ext>
            </a:extLst>
          </p:cNvPr>
          <p:cNvSpPr txBox="1"/>
          <p:nvPr>
            <p:custDataLst>
              <p:tags r:id="rId14"/>
            </p:custDataLst>
          </p:nvPr>
        </p:nvSpPr>
        <p:spPr>
          <a:xfrm>
            <a:off x="644660" y="3786710"/>
            <a:ext cx="3348000" cy="276999"/>
          </a:xfrm>
          <a:prstGeom prst="rect">
            <a:avLst/>
          </a:prstGeom>
          <a:noFill/>
        </p:spPr>
        <p:txBody>
          <a:bodyPr wrap="square">
            <a:spAutoFit/>
          </a:bodyPr>
          <a:lstStyle/>
          <a:p>
            <a:pPr algn="r"/>
            <a:r>
              <a:rPr lang="en-US" sz="1200"/>
              <a:t>Develop &amp; coordinate the AI roadmap</a:t>
            </a:r>
            <a:endParaRPr lang="en-IN" sz="1200"/>
          </a:p>
        </p:txBody>
      </p:sp>
      <p:sp>
        <p:nvSpPr>
          <p:cNvPr id="40" name="TextBox 39" descr="FILLCOLOR-IF=AND([C_T2_7]=&quot;N/A&quot;,[T_T2_7]=&quot;N/A&quot;),#FFFFF7&#10;FONTCOLOR-IF=AND([C_T2_7]=&quot;N/A&quot;,[T_T2_7]=&quot;N/A&quot;),#7F7F7F">
            <a:extLst>
              <a:ext uri="{FF2B5EF4-FFF2-40B4-BE49-F238E27FC236}">
                <a16:creationId xmlns:a16="http://schemas.microsoft.com/office/drawing/2014/main" id="{9C3A77F3-AF9F-9B3D-B1C2-A30E28B80818}"/>
              </a:ext>
            </a:extLst>
          </p:cNvPr>
          <p:cNvSpPr txBox="1"/>
          <p:nvPr>
            <p:custDataLst>
              <p:tags r:id="rId15"/>
            </p:custDataLst>
          </p:nvPr>
        </p:nvSpPr>
        <p:spPr>
          <a:xfrm>
            <a:off x="644660" y="4405103"/>
            <a:ext cx="3348000" cy="276999"/>
          </a:xfrm>
          <a:prstGeom prst="rect">
            <a:avLst/>
          </a:prstGeom>
          <a:noFill/>
        </p:spPr>
        <p:txBody>
          <a:bodyPr wrap="square">
            <a:spAutoFit/>
          </a:bodyPr>
          <a:lstStyle/>
          <a:p>
            <a:pPr algn="r"/>
            <a:r>
              <a:rPr lang="en-IN" sz="1200"/>
              <a:t>Promote AI-driven innovation</a:t>
            </a:r>
          </a:p>
        </p:txBody>
      </p:sp>
      <p:grpSp>
        <p:nvGrpSpPr>
          <p:cNvPr id="2" name="Group 1">
            <a:extLst>
              <a:ext uri="{FF2B5EF4-FFF2-40B4-BE49-F238E27FC236}">
                <a16:creationId xmlns:a16="http://schemas.microsoft.com/office/drawing/2014/main" id="{99AB5951-237D-AAFD-7020-2A1E4ECE8BC8}"/>
              </a:ext>
            </a:extLst>
          </p:cNvPr>
          <p:cNvGrpSpPr/>
          <p:nvPr>
            <p:custDataLst>
              <p:tags r:id="rId16"/>
            </p:custDataLst>
          </p:nvPr>
        </p:nvGrpSpPr>
        <p:grpSpPr>
          <a:xfrm>
            <a:off x="4293132" y="1011935"/>
            <a:ext cx="6358279" cy="338554"/>
            <a:chOff x="2649839" y="857851"/>
            <a:chExt cx="5601782" cy="338554"/>
          </a:xfrm>
        </p:grpSpPr>
        <p:sp>
          <p:nvSpPr>
            <p:cNvPr id="3" name="TextBox 2">
              <a:extLst>
                <a:ext uri="{FF2B5EF4-FFF2-40B4-BE49-F238E27FC236}">
                  <a16:creationId xmlns:a16="http://schemas.microsoft.com/office/drawing/2014/main" id="{DE826F6F-F028-25FD-1BA4-C845B91C6E1B}"/>
                </a:ext>
              </a:extLst>
            </p:cNvPr>
            <p:cNvSpPr txBox="1"/>
            <p:nvPr>
              <p:custDataLst>
                <p:tags r:id="rId28"/>
              </p:custDataLst>
            </p:nvPr>
          </p:nvSpPr>
          <p:spPr>
            <a:xfrm>
              <a:off x="2649839" y="857851"/>
              <a:ext cx="1052903"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 None</a:t>
              </a:r>
            </a:p>
          </p:txBody>
        </p:sp>
        <p:sp>
          <p:nvSpPr>
            <p:cNvPr id="5" name="TextBox 4">
              <a:extLst>
                <a:ext uri="{FF2B5EF4-FFF2-40B4-BE49-F238E27FC236}">
                  <a16:creationId xmlns:a16="http://schemas.microsoft.com/office/drawing/2014/main" id="{69D1EEA0-FA03-83B1-7637-75179F02AD19}"/>
                </a:ext>
              </a:extLst>
            </p:cNvPr>
            <p:cNvSpPr txBox="1"/>
            <p:nvPr>
              <p:custDataLst>
                <p:tags r:id="rId29"/>
              </p:custDataLst>
            </p:nvPr>
          </p:nvSpPr>
          <p:spPr>
            <a:xfrm>
              <a:off x="3862802" y="857851"/>
              <a:ext cx="983220"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Partial</a:t>
              </a:r>
            </a:p>
          </p:txBody>
        </p:sp>
        <p:sp>
          <p:nvSpPr>
            <p:cNvPr id="9" name="TextBox 8">
              <a:extLst>
                <a:ext uri="{FF2B5EF4-FFF2-40B4-BE49-F238E27FC236}">
                  <a16:creationId xmlns:a16="http://schemas.microsoft.com/office/drawing/2014/main" id="{F985B2F5-FD79-9BCE-5110-833DA4131556}"/>
                </a:ext>
              </a:extLst>
            </p:cNvPr>
            <p:cNvSpPr txBox="1"/>
            <p:nvPr>
              <p:custDataLst>
                <p:tags r:id="rId30"/>
              </p:custDataLst>
            </p:nvPr>
          </p:nvSpPr>
          <p:spPr>
            <a:xfrm>
              <a:off x="4998563" y="857851"/>
              <a:ext cx="983220"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 Full</a:t>
              </a:r>
            </a:p>
          </p:txBody>
        </p:sp>
        <p:sp>
          <p:nvSpPr>
            <p:cNvPr id="10" name="TextBox 9">
              <a:extLst>
                <a:ext uri="{FF2B5EF4-FFF2-40B4-BE49-F238E27FC236}">
                  <a16:creationId xmlns:a16="http://schemas.microsoft.com/office/drawing/2014/main" id="{EBA40056-522C-D4C2-24F5-0CC656017569}"/>
                </a:ext>
              </a:extLst>
            </p:cNvPr>
            <p:cNvSpPr txBox="1"/>
            <p:nvPr>
              <p:custDataLst>
                <p:tags r:id="rId31"/>
              </p:custDataLst>
            </p:nvPr>
          </p:nvSpPr>
          <p:spPr>
            <a:xfrm>
              <a:off x="6127606" y="857851"/>
              <a:ext cx="983220"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Optimized</a:t>
              </a:r>
            </a:p>
          </p:txBody>
        </p:sp>
        <p:sp>
          <p:nvSpPr>
            <p:cNvPr id="11" name="TextBox 10">
              <a:extLst>
                <a:ext uri="{FF2B5EF4-FFF2-40B4-BE49-F238E27FC236}">
                  <a16:creationId xmlns:a16="http://schemas.microsoft.com/office/drawing/2014/main" id="{208427A2-16E9-41B1-3122-6E3EF54DB093}"/>
                </a:ext>
              </a:extLst>
            </p:cNvPr>
            <p:cNvSpPr txBox="1"/>
            <p:nvPr>
              <p:custDataLst>
                <p:tags r:id="rId32"/>
              </p:custDataLst>
            </p:nvPr>
          </p:nvSpPr>
          <p:spPr>
            <a:xfrm>
              <a:off x="7268401" y="857851"/>
              <a:ext cx="983220"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Adaptive</a:t>
              </a:r>
            </a:p>
          </p:txBody>
        </p:sp>
      </p:grpSp>
      <p:sp>
        <p:nvSpPr>
          <p:cNvPr id="12" name="Oval 11">
            <a:extLst>
              <a:ext uri="{FF2B5EF4-FFF2-40B4-BE49-F238E27FC236}">
                <a16:creationId xmlns:a16="http://schemas.microsoft.com/office/drawing/2014/main" id="{122D8BE1-361D-46D1-646B-DB50E8E2FE5F}"/>
              </a:ext>
            </a:extLst>
          </p:cNvPr>
          <p:cNvSpPr/>
          <p:nvPr>
            <p:custDataLst>
              <p:tags r:id="rId17"/>
            </p:custDataLst>
          </p:nvPr>
        </p:nvSpPr>
        <p:spPr>
          <a:xfrm>
            <a:off x="5465570" y="1075831"/>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1</a:t>
            </a:r>
          </a:p>
        </p:txBody>
      </p:sp>
      <p:sp>
        <p:nvSpPr>
          <p:cNvPr id="13" name="Oval 12">
            <a:extLst>
              <a:ext uri="{FF2B5EF4-FFF2-40B4-BE49-F238E27FC236}">
                <a16:creationId xmlns:a16="http://schemas.microsoft.com/office/drawing/2014/main" id="{6FB40E17-E322-A621-A67B-40FF7BB51C4E}"/>
              </a:ext>
            </a:extLst>
          </p:cNvPr>
          <p:cNvSpPr/>
          <p:nvPr>
            <p:custDataLst>
              <p:tags r:id="rId18"/>
            </p:custDataLst>
          </p:nvPr>
        </p:nvSpPr>
        <p:spPr>
          <a:xfrm>
            <a:off x="6756827" y="1085606"/>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2</a:t>
            </a:r>
          </a:p>
        </p:txBody>
      </p:sp>
      <p:sp>
        <p:nvSpPr>
          <p:cNvPr id="14" name="Oval 13">
            <a:extLst>
              <a:ext uri="{FF2B5EF4-FFF2-40B4-BE49-F238E27FC236}">
                <a16:creationId xmlns:a16="http://schemas.microsoft.com/office/drawing/2014/main" id="{90B51498-FBF1-C6B1-5DC1-3956D1EFDBC6}"/>
              </a:ext>
            </a:extLst>
          </p:cNvPr>
          <p:cNvSpPr/>
          <p:nvPr>
            <p:custDataLst>
              <p:tags r:id="rId19"/>
            </p:custDataLst>
          </p:nvPr>
        </p:nvSpPr>
        <p:spPr>
          <a:xfrm>
            <a:off x="8045383" y="1085605"/>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3</a:t>
            </a:r>
          </a:p>
        </p:txBody>
      </p:sp>
      <p:sp>
        <p:nvSpPr>
          <p:cNvPr id="15" name="Oval 14">
            <a:extLst>
              <a:ext uri="{FF2B5EF4-FFF2-40B4-BE49-F238E27FC236}">
                <a16:creationId xmlns:a16="http://schemas.microsoft.com/office/drawing/2014/main" id="{05E5B262-35E8-57F0-48B0-A7334D3CEB6F}"/>
              </a:ext>
            </a:extLst>
          </p:cNvPr>
          <p:cNvSpPr/>
          <p:nvPr>
            <p:custDataLst>
              <p:tags r:id="rId20"/>
            </p:custDataLst>
          </p:nvPr>
        </p:nvSpPr>
        <p:spPr>
          <a:xfrm>
            <a:off x="9334590" y="1094884"/>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4</a:t>
            </a:r>
          </a:p>
        </p:txBody>
      </p:sp>
      <p:sp>
        <p:nvSpPr>
          <p:cNvPr id="43" name="Oval 42">
            <a:extLst>
              <a:ext uri="{FF2B5EF4-FFF2-40B4-BE49-F238E27FC236}">
                <a16:creationId xmlns:a16="http://schemas.microsoft.com/office/drawing/2014/main" id="{8BB5D88C-9FF6-AEAC-8B50-3AD98ADD7F31}"/>
              </a:ext>
            </a:extLst>
          </p:cNvPr>
          <p:cNvSpPr/>
          <p:nvPr>
            <p:custDataLst>
              <p:tags r:id="rId21"/>
            </p:custDataLst>
          </p:nvPr>
        </p:nvSpPr>
        <p:spPr>
          <a:xfrm>
            <a:off x="10620471" y="1085604"/>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5</a:t>
            </a:r>
          </a:p>
        </p:txBody>
      </p:sp>
      <p:grpSp>
        <p:nvGrpSpPr>
          <p:cNvPr id="44" name="Group 43">
            <a:extLst>
              <a:ext uri="{FF2B5EF4-FFF2-40B4-BE49-F238E27FC236}">
                <a16:creationId xmlns:a16="http://schemas.microsoft.com/office/drawing/2014/main" id="{1D3B2828-D3DD-2FEE-7A28-3710D3978C0B}"/>
              </a:ext>
            </a:extLst>
          </p:cNvPr>
          <p:cNvGrpSpPr/>
          <p:nvPr>
            <p:custDataLst>
              <p:tags r:id="rId22"/>
            </p:custDataLst>
          </p:nvPr>
        </p:nvGrpSpPr>
        <p:grpSpPr>
          <a:xfrm>
            <a:off x="1842218" y="1074475"/>
            <a:ext cx="2166003" cy="219236"/>
            <a:chOff x="3884227" y="8402296"/>
            <a:chExt cx="2166003" cy="219236"/>
          </a:xfrm>
        </p:grpSpPr>
        <p:sp>
          <p:nvSpPr>
            <p:cNvPr id="45" name="TextBox 58">
              <a:extLst>
                <a:ext uri="{FF2B5EF4-FFF2-40B4-BE49-F238E27FC236}">
                  <a16:creationId xmlns:a16="http://schemas.microsoft.com/office/drawing/2014/main" id="{1ED99726-77F9-EFE4-7A8E-F16468899275}"/>
                </a:ext>
              </a:extLst>
            </p:cNvPr>
            <p:cNvSpPr txBox="1"/>
            <p:nvPr>
              <p:custDataLst>
                <p:tags r:id="rId24"/>
              </p:custDataLst>
            </p:nvPr>
          </p:nvSpPr>
          <p:spPr>
            <a:xfrm>
              <a:off x="4029201" y="8406088"/>
              <a:ext cx="1005125" cy="21544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panose="020B0604020202020204" pitchFamily="34" charset="0"/>
                </a:rPr>
                <a:t>Current Maturity</a:t>
              </a:r>
            </a:p>
          </p:txBody>
        </p:sp>
        <p:sp>
          <p:nvSpPr>
            <p:cNvPr id="46" name="TextBox 59">
              <a:extLst>
                <a:ext uri="{FF2B5EF4-FFF2-40B4-BE49-F238E27FC236}">
                  <a16:creationId xmlns:a16="http://schemas.microsoft.com/office/drawing/2014/main" id="{9CE37A2E-2E71-A16B-6645-3FEF82132867}"/>
                </a:ext>
              </a:extLst>
            </p:cNvPr>
            <p:cNvSpPr txBox="1"/>
            <p:nvPr>
              <p:custDataLst>
                <p:tags r:id="rId25"/>
              </p:custDataLst>
            </p:nvPr>
          </p:nvSpPr>
          <p:spPr>
            <a:xfrm>
              <a:off x="5169038" y="8402296"/>
              <a:ext cx="881192" cy="21544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panose="020B0604020202020204" pitchFamily="34" charset="0"/>
                </a:rPr>
                <a:t>Target Maturity</a:t>
              </a:r>
            </a:p>
          </p:txBody>
        </p:sp>
        <p:sp>
          <p:nvSpPr>
            <p:cNvPr id="47" name="Rectangle 46">
              <a:extLst>
                <a:ext uri="{FF2B5EF4-FFF2-40B4-BE49-F238E27FC236}">
                  <a16:creationId xmlns:a16="http://schemas.microsoft.com/office/drawing/2014/main" id="{3ED8F2FA-0CA1-2D60-FB14-A899585CE828}"/>
                </a:ext>
              </a:extLst>
            </p:cNvPr>
            <p:cNvSpPr/>
            <p:nvPr>
              <p:custDataLst>
                <p:tags r:id="rId26"/>
              </p:custDataLst>
            </p:nvPr>
          </p:nvSpPr>
          <p:spPr>
            <a:xfrm>
              <a:off x="3884227" y="8444792"/>
              <a:ext cx="136507" cy="136507"/>
            </a:xfrm>
            <a:prstGeom prst="rect">
              <a:avLst/>
            </a:prstGeom>
            <a:solidFill>
              <a:srgbClr val="0028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8" name="Rectangle 47">
              <a:extLst>
                <a:ext uri="{FF2B5EF4-FFF2-40B4-BE49-F238E27FC236}">
                  <a16:creationId xmlns:a16="http://schemas.microsoft.com/office/drawing/2014/main" id="{ED81EEAF-DD9E-8C21-7B25-41A5DBF4C193}"/>
                </a:ext>
              </a:extLst>
            </p:cNvPr>
            <p:cNvSpPr/>
            <p:nvPr>
              <p:custDataLst>
                <p:tags r:id="rId27"/>
              </p:custDataLst>
            </p:nvPr>
          </p:nvSpPr>
          <p:spPr>
            <a:xfrm>
              <a:off x="5034326" y="8441765"/>
              <a:ext cx="136507" cy="136507"/>
            </a:xfrm>
            <a:prstGeom prst="rect">
              <a:avLst/>
            </a:prstGeom>
            <a:solidFill>
              <a:srgbClr val="1F9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aphicFrame>
        <p:nvGraphicFramePr>
          <p:cNvPr id="27" name="Chart 26" descr="SOURCE=[BULLET_AUTHOR_STRATEGY_DOCUMENT]&#10;HIDE-IF=AND([C_T2_4]=&quot;N/A&quot;,[T_T2_4]=&quot;N/A&quot;)">
            <a:extLst>
              <a:ext uri="{FF2B5EF4-FFF2-40B4-BE49-F238E27FC236}">
                <a16:creationId xmlns:a16="http://schemas.microsoft.com/office/drawing/2014/main" id="{FBF64D89-DC13-FE5E-67B1-362AAB3CFC72}"/>
              </a:ext>
            </a:extLst>
          </p:cNvPr>
          <p:cNvGraphicFramePr>
            <a:graphicFrameLocks noDrilldown="1"/>
          </p:cNvGraphicFramePr>
          <p:nvPr>
            <p:custDataLst>
              <p:tags r:id="rId23"/>
            </p:custDataLst>
            <p:extLst>
              <p:ext uri="{D42A27DB-BD31-4B8C-83A1-F6EECF244321}">
                <p14:modId xmlns:p14="http://schemas.microsoft.com/office/powerpoint/2010/main" val="2175911474"/>
              </p:ext>
            </p:extLst>
          </p:nvPr>
        </p:nvGraphicFramePr>
        <p:xfrm>
          <a:off x="4179600" y="2723620"/>
          <a:ext cx="6872400" cy="900000"/>
        </p:xfrm>
        <a:graphic>
          <a:graphicData uri="http://schemas.openxmlformats.org/drawingml/2006/chart">
            <c:chart xmlns:c="http://schemas.openxmlformats.org/drawingml/2006/chart" xmlns:r="http://schemas.openxmlformats.org/officeDocument/2006/relationships" r:id="rId39"/>
          </a:graphicData>
        </a:graphic>
      </p:graphicFrame>
    </p:spTree>
    <p:extLst>
      <p:ext uri="{BB962C8B-B14F-4D97-AF65-F5344CB8AC3E}">
        <p14:creationId xmlns:p14="http://schemas.microsoft.com/office/powerpoint/2010/main" val="365443698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E4DA7-D179-09CF-416B-3ABC18F0659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B74E6D0-E830-9119-7F74-EEC99630EE4A}"/>
              </a:ext>
            </a:extLst>
          </p:cNvPr>
          <p:cNvSpPr>
            <a:spLocks noGrp="1"/>
          </p:cNvSpPr>
          <p:nvPr>
            <p:ph type="title"/>
            <p:custDataLst>
              <p:tags r:id="rId1"/>
            </p:custDataLst>
          </p:nvPr>
        </p:nvSpPr>
        <p:spPr bwMode="gray">
          <a:xfrm>
            <a:off x="536400" y="324000"/>
            <a:ext cx="11274552" cy="451231"/>
          </a:xfrm>
        </p:spPr>
        <p:txBody>
          <a:bodyPr vert="horz"/>
          <a:lstStyle/>
          <a:p>
            <a:r>
              <a:rPr lang="en-US" sz="2400">
                <a:solidFill>
                  <a:srgbClr val="002856"/>
                </a:solidFill>
                <a:latin typeface="+mn-lt"/>
              </a:rPr>
              <a:t>Your Responses: AI Value</a:t>
            </a:r>
          </a:p>
        </p:txBody>
      </p:sp>
      <p:sp>
        <p:nvSpPr>
          <p:cNvPr id="36" name="TextBox 35" descr="FILLCOLOR-IF=AND([C_T2_8]=&quot;N/A&quot;,[T_T2_8]=&quot;N/A&quot;),#FFFFF7&#10;FONTCOLOR-IF=AND([C_T2_8]=&quot;N/A&quot;,[T_T2_8]=&quot;N/A&quot;),#7F7F7F">
            <a:extLst>
              <a:ext uri="{FF2B5EF4-FFF2-40B4-BE49-F238E27FC236}">
                <a16:creationId xmlns:a16="http://schemas.microsoft.com/office/drawing/2014/main" id="{3AFA6FE2-96EF-DA5E-7C58-76B505FF2638}"/>
              </a:ext>
            </a:extLst>
          </p:cNvPr>
          <p:cNvSpPr txBox="1"/>
          <p:nvPr>
            <p:custDataLst>
              <p:tags r:id="rId2"/>
            </p:custDataLst>
          </p:nvPr>
        </p:nvSpPr>
        <p:spPr>
          <a:xfrm>
            <a:off x="644660" y="1884431"/>
            <a:ext cx="3348000" cy="276999"/>
          </a:xfrm>
          <a:prstGeom prst="rect">
            <a:avLst/>
          </a:prstGeom>
          <a:noFill/>
        </p:spPr>
        <p:txBody>
          <a:bodyPr wrap="square">
            <a:spAutoFit/>
          </a:bodyPr>
          <a:lstStyle/>
          <a:p>
            <a:pPr algn="r"/>
            <a:r>
              <a:rPr lang="en-US" sz="1200">
                <a:ea typeface="Calibri" panose="020F0502020204030204" pitchFamily="34" charset="0"/>
                <a:cs typeface="Calibri" panose="020F0502020204030204" pitchFamily="34" charset="0"/>
              </a:rPr>
              <a:t>Manage the AI use-case portfolio</a:t>
            </a:r>
            <a:endParaRPr lang="en-IN" sz="1200" b="0">
              <a:latin typeface="+mn-lt"/>
              <a:ea typeface="Calibri" panose="020F0502020204030204" pitchFamily="34" charset="0"/>
              <a:cs typeface="Calibri" panose="020F0502020204030204" pitchFamily="34" charset="0"/>
            </a:endParaRPr>
          </a:p>
        </p:txBody>
      </p:sp>
      <p:sp>
        <p:nvSpPr>
          <p:cNvPr id="37" name="TextBox 36" descr="FILLCOLOR-IF=AND([C_T2_9]=&quot;N/A&quot;,[T_T2_9]=&quot;N/A&quot;),#FFFFF7&#10;FONTCOLOR-IF=AND([C_T2_9]=&quot;N/A&quot;,[T_T2_9]=&quot;N/A&quot;),#7F7F7F">
            <a:extLst>
              <a:ext uri="{FF2B5EF4-FFF2-40B4-BE49-F238E27FC236}">
                <a16:creationId xmlns:a16="http://schemas.microsoft.com/office/drawing/2014/main" id="{A06DBA95-7603-3618-831F-D8D1C541243A}"/>
              </a:ext>
            </a:extLst>
          </p:cNvPr>
          <p:cNvSpPr txBox="1"/>
          <p:nvPr>
            <p:custDataLst>
              <p:tags r:id="rId3"/>
            </p:custDataLst>
          </p:nvPr>
        </p:nvSpPr>
        <p:spPr>
          <a:xfrm>
            <a:off x="644660" y="2532512"/>
            <a:ext cx="3348000" cy="276999"/>
          </a:xfrm>
          <a:prstGeom prst="rect">
            <a:avLst/>
          </a:prstGeom>
          <a:noFill/>
        </p:spPr>
        <p:txBody>
          <a:bodyPr wrap="square">
            <a:spAutoFit/>
          </a:bodyPr>
          <a:lstStyle/>
          <a:p>
            <a:pPr lvl="0" algn="r">
              <a:spcBef>
                <a:spcPct val="0"/>
              </a:spcBef>
              <a:spcAft>
                <a:spcPct val="0"/>
              </a:spcAft>
              <a:defRPr/>
            </a:pPr>
            <a:r>
              <a:rPr lang="en-IN" sz="1200">
                <a:ea typeface="Calibri" panose="020F0502020204030204" pitchFamily="34" charset="0"/>
                <a:cs typeface="Calibri" panose="020F0502020204030204" pitchFamily="34" charset="0"/>
              </a:rPr>
              <a:t>Manage AI value propositions</a:t>
            </a:r>
          </a:p>
        </p:txBody>
      </p:sp>
      <p:sp>
        <p:nvSpPr>
          <p:cNvPr id="38" name="TextBox 37" descr="FILLCOLOR-IF=AND([C_T2_12]=&quot;N/A&quot;,[T_T2_12]=&quot;N/A&quot;),#FFFFF7&#10;FONTCOLOR-IF=AND([C_T2_12]=&quot;N/A&quot;,[T_T2_12]=&quot;N/A&quot;),#7F7F7F">
            <a:extLst>
              <a:ext uri="{FF2B5EF4-FFF2-40B4-BE49-F238E27FC236}">
                <a16:creationId xmlns:a16="http://schemas.microsoft.com/office/drawing/2014/main" id="{3199B4FD-DB35-2165-3A56-1E7A1FBC85E9}"/>
              </a:ext>
            </a:extLst>
          </p:cNvPr>
          <p:cNvSpPr txBox="1"/>
          <p:nvPr>
            <p:custDataLst>
              <p:tags r:id="rId4"/>
            </p:custDataLst>
          </p:nvPr>
        </p:nvSpPr>
        <p:spPr>
          <a:xfrm>
            <a:off x="644660" y="3163281"/>
            <a:ext cx="3348000" cy="276999"/>
          </a:xfrm>
          <a:prstGeom prst="rect">
            <a:avLst/>
          </a:prstGeom>
          <a:noFill/>
        </p:spPr>
        <p:txBody>
          <a:bodyPr wrap="square">
            <a:spAutoFit/>
          </a:bodyPr>
          <a:lstStyle/>
          <a:p>
            <a:pPr lvl="0" algn="r">
              <a:spcBef>
                <a:spcPct val="0"/>
              </a:spcBef>
              <a:spcAft>
                <a:spcPct val="0"/>
              </a:spcAft>
              <a:defRPr/>
            </a:pPr>
            <a:r>
              <a:rPr lang="en-IN" sz="1200">
                <a:ea typeface="Calibri" panose="020F0502020204030204" pitchFamily="34" charset="0"/>
                <a:cs typeface="Calibri" panose="020F0502020204030204" pitchFamily="34" charset="0"/>
              </a:rPr>
              <a:t>Develop the AI product portfolio</a:t>
            </a:r>
          </a:p>
        </p:txBody>
      </p:sp>
      <p:cxnSp>
        <p:nvCxnSpPr>
          <p:cNvPr id="17" name="Straight Connector 1">
            <a:extLst>
              <a:ext uri="{FF2B5EF4-FFF2-40B4-BE49-F238E27FC236}">
                <a16:creationId xmlns:a16="http://schemas.microsoft.com/office/drawing/2014/main" id="{0928038E-EF1B-769D-67DD-347778D861F2}"/>
              </a:ext>
            </a:extLst>
          </p:cNvPr>
          <p:cNvCxnSpPr/>
          <p:nvPr>
            <p:custDataLst>
              <p:tags r:id="rId5"/>
            </p:custDataLst>
          </p:nvPr>
        </p:nvCxnSpPr>
        <p:spPr>
          <a:xfrm flipH="1" flipV="1">
            <a:off x="4285004" y="2031603"/>
            <a:ext cx="6444000" cy="3600"/>
          </a:xfrm>
          <a:prstGeom prst="line">
            <a:avLst/>
          </a:prstGeom>
          <a:noFill/>
          <a:ln w="12700" cap="flat" cmpd="sng">
            <a:solidFill>
              <a:srgbClr val="D9D9D9"/>
            </a:solidFill>
            <a:prstDash val="solid"/>
            <a:round/>
            <a:headEnd type="none" w="lg" len="med"/>
            <a:tailEnd type="none" w="lg" len="med"/>
          </a:ln>
        </p:spPr>
      </p:cxnSp>
      <p:graphicFrame>
        <p:nvGraphicFramePr>
          <p:cNvPr id="18" name="Chart 17" descr="SOURCE=[BULLET_ASSESS_AND_PRIORITIZE_AI_USE_CASES]&#10;HIDE-IF=AND([C_T2_8]=&quot;N/A&quot;,[T_T2_8]=&quot;N/A&quot;)">
            <a:extLst>
              <a:ext uri="{FF2B5EF4-FFF2-40B4-BE49-F238E27FC236}">
                <a16:creationId xmlns:a16="http://schemas.microsoft.com/office/drawing/2014/main" id="{0B16F221-F692-742C-3D48-2B3B9CC6A411}"/>
              </a:ext>
            </a:extLst>
          </p:cNvPr>
          <p:cNvGraphicFramePr>
            <a:graphicFrameLocks noDrilldown="1"/>
          </p:cNvGraphicFramePr>
          <p:nvPr>
            <p:custDataLst>
              <p:tags r:id="rId6"/>
            </p:custDataLst>
            <p:extLst>
              <p:ext uri="{D42A27DB-BD31-4B8C-83A1-F6EECF244321}">
                <p14:modId xmlns:p14="http://schemas.microsoft.com/office/powerpoint/2010/main" val="3459534837"/>
              </p:ext>
            </p:extLst>
          </p:nvPr>
        </p:nvGraphicFramePr>
        <p:xfrm>
          <a:off x="4179688" y="1476933"/>
          <a:ext cx="6872206" cy="900000"/>
        </p:xfrm>
        <a:graphic>
          <a:graphicData uri="http://schemas.openxmlformats.org/drawingml/2006/chart">
            <c:chart xmlns:c="http://schemas.openxmlformats.org/drawingml/2006/chart" xmlns:r="http://schemas.openxmlformats.org/officeDocument/2006/relationships" r:id="rId29"/>
          </a:graphicData>
        </a:graphic>
      </p:graphicFrame>
      <p:cxnSp>
        <p:nvCxnSpPr>
          <p:cNvPr id="19" name="Straight Connector 1">
            <a:extLst>
              <a:ext uri="{FF2B5EF4-FFF2-40B4-BE49-F238E27FC236}">
                <a16:creationId xmlns:a16="http://schemas.microsoft.com/office/drawing/2014/main" id="{DD3C7445-BEDF-3707-5A12-E9CAD832F23F}"/>
              </a:ext>
            </a:extLst>
          </p:cNvPr>
          <p:cNvCxnSpPr/>
          <p:nvPr>
            <p:custDataLst>
              <p:tags r:id="rId7"/>
            </p:custDataLst>
          </p:nvPr>
        </p:nvCxnSpPr>
        <p:spPr>
          <a:xfrm flipH="1" flipV="1">
            <a:off x="4285004" y="2658970"/>
            <a:ext cx="6444000" cy="3600"/>
          </a:xfrm>
          <a:prstGeom prst="line">
            <a:avLst/>
          </a:prstGeom>
          <a:noFill/>
          <a:ln w="12700" cap="flat" cmpd="sng">
            <a:solidFill>
              <a:srgbClr val="D9D9D9"/>
            </a:solidFill>
            <a:prstDash val="solid"/>
            <a:round/>
            <a:headEnd type="none" w="lg" len="med"/>
            <a:tailEnd type="none" w="lg" len="med"/>
          </a:ln>
        </p:spPr>
      </p:cxnSp>
      <p:graphicFrame>
        <p:nvGraphicFramePr>
          <p:cNvPr id="20" name="Chart 19" descr="SOURCE=[BULLET_DEVELOP_AI_BUSINESS_CASES]&#10;HIDE-IF=AND([C_T2_9]=&quot;N/A&quot;,[T_T2_9]=&quot;N/A&quot;)">
            <a:extLst>
              <a:ext uri="{FF2B5EF4-FFF2-40B4-BE49-F238E27FC236}">
                <a16:creationId xmlns:a16="http://schemas.microsoft.com/office/drawing/2014/main" id="{13BAC019-5191-0A8F-E01C-5A600D7074C4}"/>
              </a:ext>
            </a:extLst>
          </p:cNvPr>
          <p:cNvGraphicFramePr>
            <a:graphicFrameLocks noDrilldown="1"/>
          </p:cNvGraphicFramePr>
          <p:nvPr>
            <p:custDataLst>
              <p:tags r:id="rId8"/>
            </p:custDataLst>
            <p:extLst>
              <p:ext uri="{D42A27DB-BD31-4B8C-83A1-F6EECF244321}">
                <p14:modId xmlns:p14="http://schemas.microsoft.com/office/powerpoint/2010/main" val="2679856238"/>
              </p:ext>
            </p:extLst>
          </p:nvPr>
        </p:nvGraphicFramePr>
        <p:xfrm>
          <a:off x="4179600" y="2075740"/>
          <a:ext cx="6872400" cy="900000"/>
        </p:xfrm>
        <a:graphic>
          <a:graphicData uri="http://schemas.openxmlformats.org/drawingml/2006/chart">
            <c:chart xmlns:c="http://schemas.openxmlformats.org/drawingml/2006/chart" xmlns:r="http://schemas.openxmlformats.org/officeDocument/2006/relationships" r:id="rId30"/>
          </a:graphicData>
        </a:graphic>
      </p:graphicFrame>
      <p:cxnSp>
        <p:nvCxnSpPr>
          <p:cNvPr id="21" name="Straight Connector 1">
            <a:extLst>
              <a:ext uri="{FF2B5EF4-FFF2-40B4-BE49-F238E27FC236}">
                <a16:creationId xmlns:a16="http://schemas.microsoft.com/office/drawing/2014/main" id="{915A18D1-47A6-BFC5-0A9B-997B8D66B7C4}"/>
              </a:ext>
            </a:extLst>
          </p:cNvPr>
          <p:cNvCxnSpPr/>
          <p:nvPr>
            <p:custDataLst>
              <p:tags r:id="rId9"/>
            </p:custDataLst>
          </p:nvPr>
        </p:nvCxnSpPr>
        <p:spPr>
          <a:xfrm flipH="1" flipV="1">
            <a:off x="4285004" y="3290072"/>
            <a:ext cx="6444000" cy="3600"/>
          </a:xfrm>
          <a:prstGeom prst="line">
            <a:avLst/>
          </a:prstGeom>
          <a:noFill/>
          <a:ln w="12700" cap="flat" cmpd="sng">
            <a:solidFill>
              <a:srgbClr val="D9D9D9"/>
            </a:solidFill>
            <a:prstDash val="solid"/>
            <a:round/>
            <a:headEnd type="none" w="lg" len="med"/>
            <a:tailEnd type="none" w="lg" len="med"/>
          </a:ln>
        </p:spPr>
      </p:cxnSp>
      <p:graphicFrame>
        <p:nvGraphicFramePr>
          <p:cNvPr id="61" name="Chart 60" descr="SOURCE=[BULLET_MANAGE_AI_PRODUCT_AND_STAKEHOLDER_ENGAGEMENT]&#10;HIDE-IF=AND([C_T2_12]=&quot;N/A&quot;,[T_T2_12]=&quot;N/A&quot;)">
            <a:extLst>
              <a:ext uri="{FF2B5EF4-FFF2-40B4-BE49-F238E27FC236}">
                <a16:creationId xmlns:a16="http://schemas.microsoft.com/office/drawing/2014/main" id="{7F395366-D488-61C0-5452-69C6D4F6ABEF}"/>
              </a:ext>
            </a:extLst>
          </p:cNvPr>
          <p:cNvGraphicFramePr>
            <a:graphicFrameLocks noDrilldown="1"/>
          </p:cNvGraphicFramePr>
          <p:nvPr>
            <p:custDataLst>
              <p:tags r:id="rId10"/>
            </p:custDataLst>
            <p:extLst>
              <p:ext uri="{D42A27DB-BD31-4B8C-83A1-F6EECF244321}">
                <p14:modId xmlns:p14="http://schemas.microsoft.com/office/powerpoint/2010/main" val="3127666208"/>
              </p:ext>
            </p:extLst>
          </p:nvPr>
        </p:nvGraphicFramePr>
        <p:xfrm>
          <a:off x="4179600" y="2723620"/>
          <a:ext cx="6872400" cy="900000"/>
        </p:xfrm>
        <a:graphic>
          <a:graphicData uri="http://schemas.openxmlformats.org/drawingml/2006/chart">
            <c:chart xmlns:c="http://schemas.openxmlformats.org/drawingml/2006/chart" xmlns:r="http://schemas.openxmlformats.org/officeDocument/2006/relationships" r:id="rId31"/>
          </a:graphicData>
        </a:graphic>
      </p:graphicFrame>
      <p:grpSp>
        <p:nvGrpSpPr>
          <p:cNvPr id="2" name="Group 1">
            <a:extLst>
              <a:ext uri="{FF2B5EF4-FFF2-40B4-BE49-F238E27FC236}">
                <a16:creationId xmlns:a16="http://schemas.microsoft.com/office/drawing/2014/main" id="{AC0EBC09-22C3-9D98-ED1C-72A29BF64E74}"/>
              </a:ext>
            </a:extLst>
          </p:cNvPr>
          <p:cNvGrpSpPr/>
          <p:nvPr>
            <p:custDataLst>
              <p:tags r:id="rId11"/>
            </p:custDataLst>
          </p:nvPr>
        </p:nvGrpSpPr>
        <p:grpSpPr>
          <a:xfrm>
            <a:off x="4293132" y="1011935"/>
            <a:ext cx="6358279" cy="338554"/>
            <a:chOff x="2649839" y="857851"/>
            <a:chExt cx="5601782" cy="338554"/>
          </a:xfrm>
        </p:grpSpPr>
        <p:sp>
          <p:nvSpPr>
            <p:cNvPr id="3" name="TextBox 2">
              <a:extLst>
                <a:ext uri="{FF2B5EF4-FFF2-40B4-BE49-F238E27FC236}">
                  <a16:creationId xmlns:a16="http://schemas.microsoft.com/office/drawing/2014/main" id="{21ECBC54-692B-74F1-AC40-C7CB7CB27C98}"/>
                </a:ext>
              </a:extLst>
            </p:cNvPr>
            <p:cNvSpPr txBox="1"/>
            <p:nvPr>
              <p:custDataLst>
                <p:tags r:id="rId22"/>
              </p:custDataLst>
            </p:nvPr>
          </p:nvSpPr>
          <p:spPr>
            <a:xfrm>
              <a:off x="2649839" y="857851"/>
              <a:ext cx="1052903"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 None</a:t>
              </a:r>
            </a:p>
          </p:txBody>
        </p:sp>
        <p:sp>
          <p:nvSpPr>
            <p:cNvPr id="5" name="TextBox 4">
              <a:extLst>
                <a:ext uri="{FF2B5EF4-FFF2-40B4-BE49-F238E27FC236}">
                  <a16:creationId xmlns:a16="http://schemas.microsoft.com/office/drawing/2014/main" id="{116411A1-A343-3CD9-A5AB-DAC678BB170B}"/>
                </a:ext>
              </a:extLst>
            </p:cNvPr>
            <p:cNvSpPr txBox="1"/>
            <p:nvPr>
              <p:custDataLst>
                <p:tags r:id="rId23"/>
              </p:custDataLst>
            </p:nvPr>
          </p:nvSpPr>
          <p:spPr>
            <a:xfrm>
              <a:off x="3862802" y="857851"/>
              <a:ext cx="983220"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Partial</a:t>
              </a:r>
            </a:p>
          </p:txBody>
        </p:sp>
        <p:sp>
          <p:nvSpPr>
            <p:cNvPr id="6" name="TextBox 5">
              <a:extLst>
                <a:ext uri="{FF2B5EF4-FFF2-40B4-BE49-F238E27FC236}">
                  <a16:creationId xmlns:a16="http://schemas.microsoft.com/office/drawing/2014/main" id="{6DE08B03-2189-4161-E300-07113BECE0F2}"/>
                </a:ext>
              </a:extLst>
            </p:cNvPr>
            <p:cNvSpPr txBox="1"/>
            <p:nvPr>
              <p:custDataLst>
                <p:tags r:id="rId24"/>
              </p:custDataLst>
            </p:nvPr>
          </p:nvSpPr>
          <p:spPr>
            <a:xfrm>
              <a:off x="4998563" y="857851"/>
              <a:ext cx="983220"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 Full</a:t>
              </a:r>
            </a:p>
          </p:txBody>
        </p:sp>
        <p:sp>
          <p:nvSpPr>
            <p:cNvPr id="7" name="TextBox 6">
              <a:extLst>
                <a:ext uri="{FF2B5EF4-FFF2-40B4-BE49-F238E27FC236}">
                  <a16:creationId xmlns:a16="http://schemas.microsoft.com/office/drawing/2014/main" id="{62E15793-B85E-2CBA-D493-48E028453E57}"/>
                </a:ext>
              </a:extLst>
            </p:cNvPr>
            <p:cNvSpPr txBox="1"/>
            <p:nvPr>
              <p:custDataLst>
                <p:tags r:id="rId25"/>
              </p:custDataLst>
            </p:nvPr>
          </p:nvSpPr>
          <p:spPr>
            <a:xfrm>
              <a:off x="6127606" y="857851"/>
              <a:ext cx="983220"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Optimized</a:t>
              </a:r>
            </a:p>
          </p:txBody>
        </p:sp>
        <p:sp>
          <p:nvSpPr>
            <p:cNvPr id="8" name="TextBox 7">
              <a:extLst>
                <a:ext uri="{FF2B5EF4-FFF2-40B4-BE49-F238E27FC236}">
                  <a16:creationId xmlns:a16="http://schemas.microsoft.com/office/drawing/2014/main" id="{E47D93CE-6683-5B15-8680-305A290E6EE1}"/>
                </a:ext>
              </a:extLst>
            </p:cNvPr>
            <p:cNvSpPr txBox="1"/>
            <p:nvPr>
              <p:custDataLst>
                <p:tags r:id="rId26"/>
              </p:custDataLst>
            </p:nvPr>
          </p:nvSpPr>
          <p:spPr>
            <a:xfrm>
              <a:off x="7268401" y="857851"/>
              <a:ext cx="983220"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Adaptive</a:t>
              </a:r>
            </a:p>
          </p:txBody>
        </p:sp>
      </p:grpSp>
      <p:sp>
        <p:nvSpPr>
          <p:cNvPr id="9" name="Oval 8">
            <a:extLst>
              <a:ext uri="{FF2B5EF4-FFF2-40B4-BE49-F238E27FC236}">
                <a16:creationId xmlns:a16="http://schemas.microsoft.com/office/drawing/2014/main" id="{03959A43-5BF7-8788-7FFC-83821FF4FE86}"/>
              </a:ext>
            </a:extLst>
          </p:cNvPr>
          <p:cNvSpPr/>
          <p:nvPr>
            <p:custDataLst>
              <p:tags r:id="rId12"/>
            </p:custDataLst>
          </p:nvPr>
        </p:nvSpPr>
        <p:spPr>
          <a:xfrm>
            <a:off x="5465570" y="1075831"/>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1</a:t>
            </a:r>
          </a:p>
        </p:txBody>
      </p:sp>
      <p:sp>
        <p:nvSpPr>
          <p:cNvPr id="10" name="Oval 9">
            <a:extLst>
              <a:ext uri="{FF2B5EF4-FFF2-40B4-BE49-F238E27FC236}">
                <a16:creationId xmlns:a16="http://schemas.microsoft.com/office/drawing/2014/main" id="{36F315AC-072E-6C21-E022-150A93DA1E34}"/>
              </a:ext>
            </a:extLst>
          </p:cNvPr>
          <p:cNvSpPr/>
          <p:nvPr>
            <p:custDataLst>
              <p:tags r:id="rId13"/>
            </p:custDataLst>
          </p:nvPr>
        </p:nvSpPr>
        <p:spPr>
          <a:xfrm>
            <a:off x="6756827" y="1085606"/>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2</a:t>
            </a:r>
          </a:p>
        </p:txBody>
      </p:sp>
      <p:sp>
        <p:nvSpPr>
          <p:cNvPr id="11" name="Oval 10">
            <a:extLst>
              <a:ext uri="{FF2B5EF4-FFF2-40B4-BE49-F238E27FC236}">
                <a16:creationId xmlns:a16="http://schemas.microsoft.com/office/drawing/2014/main" id="{5B771B6B-1548-2D88-1D89-428E0402EFCC}"/>
              </a:ext>
            </a:extLst>
          </p:cNvPr>
          <p:cNvSpPr/>
          <p:nvPr>
            <p:custDataLst>
              <p:tags r:id="rId14"/>
            </p:custDataLst>
          </p:nvPr>
        </p:nvSpPr>
        <p:spPr>
          <a:xfrm>
            <a:off x="8045383" y="1085605"/>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3</a:t>
            </a:r>
          </a:p>
        </p:txBody>
      </p:sp>
      <p:sp>
        <p:nvSpPr>
          <p:cNvPr id="12" name="Oval 11">
            <a:extLst>
              <a:ext uri="{FF2B5EF4-FFF2-40B4-BE49-F238E27FC236}">
                <a16:creationId xmlns:a16="http://schemas.microsoft.com/office/drawing/2014/main" id="{ED383B90-0F7F-2D0F-2382-A4BF94B3C16B}"/>
              </a:ext>
            </a:extLst>
          </p:cNvPr>
          <p:cNvSpPr/>
          <p:nvPr>
            <p:custDataLst>
              <p:tags r:id="rId15"/>
            </p:custDataLst>
          </p:nvPr>
        </p:nvSpPr>
        <p:spPr>
          <a:xfrm>
            <a:off x="9334590" y="1094884"/>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4</a:t>
            </a:r>
          </a:p>
        </p:txBody>
      </p:sp>
      <p:sp>
        <p:nvSpPr>
          <p:cNvPr id="13" name="Oval 12">
            <a:extLst>
              <a:ext uri="{FF2B5EF4-FFF2-40B4-BE49-F238E27FC236}">
                <a16:creationId xmlns:a16="http://schemas.microsoft.com/office/drawing/2014/main" id="{3C6FD8A4-7313-B163-7DD1-54F3FEA528E2}"/>
              </a:ext>
            </a:extLst>
          </p:cNvPr>
          <p:cNvSpPr/>
          <p:nvPr>
            <p:custDataLst>
              <p:tags r:id="rId16"/>
            </p:custDataLst>
          </p:nvPr>
        </p:nvSpPr>
        <p:spPr>
          <a:xfrm>
            <a:off x="10620471" y="1085604"/>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5</a:t>
            </a:r>
          </a:p>
        </p:txBody>
      </p:sp>
      <p:grpSp>
        <p:nvGrpSpPr>
          <p:cNvPr id="14" name="Group 13">
            <a:extLst>
              <a:ext uri="{FF2B5EF4-FFF2-40B4-BE49-F238E27FC236}">
                <a16:creationId xmlns:a16="http://schemas.microsoft.com/office/drawing/2014/main" id="{EDCB9E6C-DC9E-4545-3D07-A80323737F9B}"/>
              </a:ext>
            </a:extLst>
          </p:cNvPr>
          <p:cNvGrpSpPr/>
          <p:nvPr>
            <p:custDataLst>
              <p:tags r:id="rId17"/>
            </p:custDataLst>
          </p:nvPr>
        </p:nvGrpSpPr>
        <p:grpSpPr>
          <a:xfrm>
            <a:off x="1842218" y="1074475"/>
            <a:ext cx="2166003" cy="219236"/>
            <a:chOff x="3884227" y="8402296"/>
            <a:chExt cx="2166003" cy="219236"/>
          </a:xfrm>
        </p:grpSpPr>
        <p:sp>
          <p:nvSpPr>
            <p:cNvPr id="15" name="TextBox 58">
              <a:extLst>
                <a:ext uri="{FF2B5EF4-FFF2-40B4-BE49-F238E27FC236}">
                  <a16:creationId xmlns:a16="http://schemas.microsoft.com/office/drawing/2014/main" id="{75154267-238F-91F0-7815-C28FA68FB56D}"/>
                </a:ext>
              </a:extLst>
            </p:cNvPr>
            <p:cNvSpPr txBox="1"/>
            <p:nvPr>
              <p:custDataLst>
                <p:tags r:id="rId18"/>
              </p:custDataLst>
            </p:nvPr>
          </p:nvSpPr>
          <p:spPr>
            <a:xfrm>
              <a:off x="4029201" y="8406088"/>
              <a:ext cx="1005125" cy="21544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panose="020B0604020202020204" pitchFamily="34" charset="0"/>
                </a:rPr>
                <a:t>Current Maturity</a:t>
              </a:r>
            </a:p>
          </p:txBody>
        </p:sp>
        <p:sp>
          <p:nvSpPr>
            <p:cNvPr id="16" name="TextBox 59">
              <a:extLst>
                <a:ext uri="{FF2B5EF4-FFF2-40B4-BE49-F238E27FC236}">
                  <a16:creationId xmlns:a16="http://schemas.microsoft.com/office/drawing/2014/main" id="{35FF1201-DFCF-1C29-3D3E-9B5D6F4B2AFC}"/>
                </a:ext>
              </a:extLst>
            </p:cNvPr>
            <p:cNvSpPr txBox="1"/>
            <p:nvPr>
              <p:custDataLst>
                <p:tags r:id="rId19"/>
              </p:custDataLst>
            </p:nvPr>
          </p:nvSpPr>
          <p:spPr>
            <a:xfrm>
              <a:off x="5169038" y="8402296"/>
              <a:ext cx="881192" cy="21544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panose="020B0604020202020204" pitchFamily="34" charset="0"/>
                </a:rPr>
                <a:t>Target Maturity</a:t>
              </a:r>
            </a:p>
          </p:txBody>
        </p:sp>
        <p:sp>
          <p:nvSpPr>
            <p:cNvPr id="22" name="Rectangle 21">
              <a:extLst>
                <a:ext uri="{FF2B5EF4-FFF2-40B4-BE49-F238E27FC236}">
                  <a16:creationId xmlns:a16="http://schemas.microsoft.com/office/drawing/2014/main" id="{752C89AF-BA9F-C452-0B53-FB3EA2505EDB}"/>
                </a:ext>
              </a:extLst>
            </p:cNvPr>
            <p:cNvSpPr/>
            <p:nvPr>
              <p:custDataLst>
                <p:tags r:id="rId20"/>
              </p:custDataLst>
            </p:nvPr>
          </p:nvSpPr>
          <p:spPr>
            <a:xfrm>
              <a:off x="3884227" y="8444792"/>
              <a:ext cx="136507" cy="136507"/>
            </a:xfrm>
            <a:prstGeom prst="rect">
              <a:avLst/>
            </a:prstGeom>
            <a:solidFill>
              <a:srgbClr val="0028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 name="Rectangle 22">
              <a:extLst>
                <a:ext uri="{FF2B5EF4-FFF2-40B4-BE49-F238E27FC236}">
                  <a16:creationId xmlns:a16="http://schemas.microsoft.com/office/drawing/2014/main" id="{0D821886-1115-FEDB-D007-1518789077A4}"/>
                </a:ext>
              </a:extLst>
            </p:cNvPr>
            <p:cNvSpPr/>
            <p:nvPr>
              <p:custDataLst>
                <p:tags r:id="rId21"/>
              </p:custDataLst>
            </p:nvPr>
          </p:nvSpPr>
          <p:spPr>
            <a:xfrm>
              <a:off x="5034326" y="8441765"/>
              <a:ext cx="136507" cy="136507"/>
            </a:xfrm>
            <a:prstGeom prst="rect">
              <a:avLst/>
            </a:prstGeom>
            <a:solidFill>
              <a:srgbClr val="1F9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Tree>
    <p:extLst>
      <p:ext uri="{BB962C8B-B14F-4D97-AF65-F5344CB8AC3E}">
        <p14:creationId xmlns:p14="http://schemas.microsoft.com/office/powerpoint/2010/main" val="1700158131"/>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97AD3-5775-08AD-36DF-CDA4931F508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11B8C98-2B7C-E9CF-4FAD-B3789C683F62}"/>
              </a:ext>
            </a:extLst>
          </p:cNvPr>
          <p:cNvSpPr>
            <a:spLocks noGrp="1"/>
          </p:cNvSpPr>
          <p:nvPr>
            <p:ph type="title"/>
            <p:custDataLst>
              <p:tags r:id="rId1"/>
            </p:custDataLst>
          </p:nvPr>
        </p:nvSpPr>
        <p:spPr bwMode="gray">
          <a:xfrm>
            <a:off x="536400" y="324000"/>
            <a:ext cx="11274552" cy="451231"/>
          </a:xfrm>
        </p:spPr>
        <p:txBody>
          <a:bodyPr vert="horz"/>
          <a:lstStyle/>
          <a:p>
            <a:r>
              <a:rPr lang="en-US" sz="2400">
                <a:solidFill>
                  <a:srgbClr val="002856"/>
                </a:solidFill>
                <a:latin typeface="+mn-lt"/>
              </a:rPr>
              <a:t>Your Responses: AI Organization</a:t>
            </a:r>
          </a:p>
        </p:txBody>
      </p:sp>
      <p:sp>
        <p:nvSpPr>
          <p:cNvPr id="36" name="TextBox 35" descr="FILLCOLOR-IF=AND([C_T2_14]=&quot;N/A&quot;,[T_T2_14]=&quot;N/A&quot;),#FFFFF7&#10;FONTCOLOR-IF=AND([C_T2_14]=&quot;N/A&quot;,[T_T2_14]=&quot;N/A&quot;),#7F7F7F">
            <a:extLst>
              <a:ext uri="{FF2B5EF4-FFF2-40B4-BE49-F238E27FC236}">
                <a16:creationId xmlns:a16="http://schemas.microsoft.com/office/drawing/2014/main" id="{E4D4FF22-DC9E-BABA-8D87-C6844332DB75}"/>
              </a:ext>
            </a:extLst>
          </p:cNvPr>
          <p:cNvSpPr txBox="1"/>
          <p:nvPr>
            <p:custDataLst>
              <p:tags r:id="rId2"/>
            </p:custDataLst>
          </p:nvPr>
        </p:nvSpPr>
        <p:spPr>
          <a:xfrm>
            <a:off x="644660" y="1884431"/>
            <a:ext cx="3348000" cy="276999"/>
          </a:xfrm>
          <a:prstGeom prst="rect">
            <a:avLst/>
          </a:prstGeom>
          <a:noFill/>
        </p:spPr>
        <p:txBody>
          <a:bodyPr wrap="square">
            <a:spAutoFit/>
          </a:bodyPr>
          <a:lstStyle/>
          <a:p>
            <a:pPr algn="r"/>
            <a:r>
              <a:rPr lang="en-US" sz="1200">
                <a:ea typeface="Calibri" panose="020F0502020204030204" pitchFamily="34" charset="0"/>
                <a:cs typeface="Calibri" panose="020F0502020204030204" pitchFamily="34" charset="0"/>
              </a:rPr>
              <a:t>Develop external AI partnerships</a:t>
            </a:r>
            <a:endParaRPr lang="en-IN" sz="1200" b="0">
              <a:latin typeface="+mn-lt"/>
              <a:ea typeface="Calibri" panose="020F0502020204030204" pitchFamily="34" charset="0"/>
              <a:cs typeface="Calibri" panose="020F0502020204030204" pitchFamily="34" charset="0"/>
            </a:endParaRPr>
          </a:p>
        </p:txBody>
      </p:sp>
      <p:sp>
        <p:nvSpPr>
          <p:cNvPr id="37" name="TextBox 36" descr="FILLCOLOR-IF=AND([C_T2_15]=&quot;N/A&quot;,[T_T2_15]=&quot;N/A&quot;),#FFFFF7&#10;FONTCOLOR-IF=AND([C_T2_15]=&quot;N/A&quot;,[T_T2_15]=&quot;N/A&quot;),#7F7F7F">
            <a:extLst>
              <a:ext uri="{FF2B5EF4-FFF2-40B4-BE49-F238E27FC236}">
                <a16:creationId xmlns:a16="http://schemas.microsoft.com/office/drawing/2014/main" id="{A339CEF6-C3C2-CB5B-FEAD-A914251EFA04}"/>
              </a:ext>
            </a:extLst>
          </p:cNvPr>
          <p:cNvSpPr txBox="1"/>
          <p:nvPr>
            <p:custDataLst>
              <p:tags r:id="rId3"/>
            </p:custDataLst>
          </p:nvPr>
        </p:nvSpPr>
        <p:spPr>
          <a:xfrm>
            <a:off x="644660" y="2532512"/>
            <a:ext cx="3348000" cy="276999"/>
          </a:xfrm>
          <a:prstGeom prst="rect">
            <a:avLst/>
          </a:prstGeom>
          <a:noFill/>
        </p:spPr>
        <p:txBody>
          <a:bodyPr wrap="square">
            <a:spAutoFit/>
          </a:bodyPr>
          <a:lstStyle/>
          <a:p>
            <a:pPr lvl="0" algn="r">
              <a:spcBef>
                <a:spcPct val="0"/>
              </a:spcBef>
              <a:spcAft>
                <a:spcPct val="0"/>
              </a:spcAft>
              <a:defRPr/>
            </a:pPr>
            <a:r>
              <a:rPr lang="en-US" sz="1200">
                <a:ea typeface="Calibri" panose="020F0502020204030204" pitchFamily="34" charset="0"/>
                <a:cs typeface="Calibri" panose="020F0502020204030204" pitchFamily="34" charset="0"/>
              </a:rPr>
              <a:t>Manage the AI ecosystem</a:t>
            </a:r>
            <a:endParaRPr lang="en-IN" sz="1200">
              <a:ea typeface="Calibri" panose="020F0502020204030204" pitchFamily="34" charset="0"/>
              <a:cs typeface="Calibri" panose="020F0502020204030204" pitchFamily="34" charset="0"/>
            </a:endParaRPr>
          </a:p>
        </p:txBody>
      </p:sp>
      <p:sp>
        <p:nvSpPr>
          <p:cNvPr id="38" name="TextBox 37" descr="FILLCOLOR-IF=AND([C_T2_16]=&quot;N/A&quot;,[T_T2_16]=&quot;N/A&quot;),#FFFFF7&#10;FONTCOLOR-IF=AND([C_T2_16]=&quot;N/A&quot;,[T_T2_16]=&quot;N/A&quot;),#7F7F7F">
            <a:extLst>
              <a:ext uri="{FF2B5EF4-FFF2-40B4-BE49-F238E27FC236}">
                <a16:creationId xmlns:a16="http://schemas.microsoft.com/office/drawing/2014/main" id="{A219986D-F8FC-20C0-071F-754607678FA8}"/>
              </a:ext>
            </a:extLst>
          </p:cNvPr>
          <p:cNvSpPr txBox="1"/>
          <p:nvPr>
            <p:custDataLst>
              <p:tags r:id="rId4"/>
            </p:custDataLst>
          </p:nvPr>
        </p:nvSpPr>
        <p:spPr>
          <a:xfrm>
            <a:off x="644660" y="3163281"/>
            <a:ext cx="3348000" cy="276999"/>
          </a:xfrm>
          <a:prstGeom prst="rect">
            <a:avLst/>
          </a:prstGeom>
          <a:noFill/>
        </p:spPr>
        <p:txBody>
          <a:bodyPr wrap="square">
            <a:spAutoFit/>
          </a:bodyPr>
          <a:lstStyle/>
          <a:p>
            <a:pPr lvl="0" algn="r">
              <a:spcBef>
                <a:spcPct val="0"/>
              </a:spcBef>
              <a:spcAft>
                <a:spcPct val="0"/>
              </a:spcAft>
              <a:defRPr/>
            </a:pPr>
            <a:r>
              <a:rPr lang="en-US" sz="1200">
                <a:ea typeface="Calibri" panose="020F0502020204030204" pitchFamily="34" charset="0"/>
                <a:cs typeface="Calibri" panose="020F0502020204030204" pitchFamily="34" charset="0"/>
              </a:rPr>
              <a:t>Evolve the internal operating model</a:t>
            </a:r>
            <a:endParaRPr lang="en-IN" sz="1200">
              <a:ea typeface="Calibri" panose="020F0502020204030204" pitchFamily="34" charset="0"/>
              <a:cs typeface="Calibri" panose="020F0502020204030204" pitchFamily="34" charset="0"/>
            </a:endParaRPr>
          </a:p>
        </p:txBody>
      </p:sp>
      <p:cxnSp>
        <p:nvCxnSpPr>
          <p:cNvPr id="17" name="Straight Connector 1">
            <a:extLst>
              <a:ext uri="{FF2B5EF4-FFF2-40B4-BE49-F238E27FC236}">
                <a16:creationId xmlns:a16="http://schemas.microsoft.com/office/drawing/2014/main" id="{DD095729-5273-53EE-6350-02D61E90355A}"/>
              </a:ext>
            </a:extLst>
          </p:cNvPr>
          <p:cNvCxnSpPr/>
          <p:nvPr>
            <p:custDataLst>
              <p:tags r:id="rId5"/>
            </p:custDataLst>
          </p:nvPr>
        </p:nvCxnSpPr>
        <p:spPr>
          <a:xfrm flipH="1" flipV="1">
            <a:off x="4285004" y="2031603"/>
            <a:ext cx="6444000" cy="3600"/>
          </a:xfrm>
          <a:prstGeom prst="line">
            <a:avLst/>
          </a:prstGeom>
          <a:noFill/>
          <a:ln w="12700" cap="flat" cmpd="sng">
            <a:solidFill>
              <a:srgbClr val="D9D9D9"/>
            </a:solidFill>
            <a:prstDash val="solid"/>
            <a:round/>
            <a:headEnd type="none" w="lg" len="med"/>
            <a:tailEnd type="none" w="lg" len="med"/>
          </a:ln>
        </p:spPr>
      </p:cxnSp>
      <p:graphicFrame>
        <p:nvGraphicFramePr>
          <p:cNvPr id="18" name="Chart 17" descr="SOURCE=[BULLET_DEVELOP_EXTERNAL_PARTNERSHIPS_AND_ALLIANCES_FOR_AI]&#10;HIDE-IF=AND([C_T2_14]=&quot;N/A&quot;,[T_T2_14]=&quot;N/A&quot;)">
            <a:extLst>
              <a:ext uri="{FF2B5EF4-FFF2-40B4-BE49-F238E27FC236}">
                <a16:creationId xmlns:a16="http://schemas.microsoft.com/office/drawing/2014/main" id="{AEFF5918-81CB-9886-FDA6-DC36A04FDE62}"/>
              </a:ext>
            </a:extLst>
          </p:cNvPr>
          <p:cNvGraphicFramePr>
            <a:graphicFrameLocks noDrilldown="1"/>
          </p:cNvGraphicFramePr>
          <p:nvPr>
            <p:custDataLst>
              <p:tags r:id="rId6"/>
            </p:custDataLst>
            <p:extLst>
              <p:ext uri="{D42A27DB-BD31-4B8C-83A1-F6EECF244321}">
                <p14:modId xmlns:p14="http://schemas.microsoft.com/office/powerpoint/2010/main" val="61144740"/>
              </p:ext>
            </p:extLst>
          </p:nvPr>
        </p:nvGraphicFramePr>
        <p:xfrm>
          <a:off x="4179688" y="1476933"/>
          <a:ext cx="6872206" cy="900000"/>
        </p:xfrm>
        <a:graphic>
          <a:graphicData uri="http://schemas.openxmlformats.org/drawingml/2006/chart">
            <c:chart xmlns:c="http://schemas.openxmlformats.org/drawingml/2006/chart" xmlns:r="http://schemas.openxmlformats.org/officeDocument/2006/relationships" r:id="rId29"/>
          </a:graphicData>
        </a:graphic>
      </p:graphicFrame>
      <p:cxnSp>
        <p:nvCxnSpPr>
          <p:cNvPr id="19" name="Straight Connector 1">
            <a:extLst>
              <a:ext uri="{FF2B5EF4-FFF2-40B4-BE49-F238E27FC236}">
                <a16:creationId xmlns:a16="http://schemas.microsoft.com/office/drawing/2014/main" id="{41464ED5-4145-2A59-9386-D1BC497ED038}"/>
              </a:ext>
            </a:extLst>
          </p:cNvPr>
          <p:cNvCxnSpPr/>
          <p:nvPr>
            <p:custDataLst>
              <p:tags r:id="rId7"/>
            </p:custDataLst>
          </p:nvPr>
        </p:nvCxnSpPr>
        <p:spPr>
          <a:xfrm flipH="1" flipV="1">
            <a:off x="4285004" y="2658970"/>
            <a:ext cx="6444000" cy="3600"/>
          </a:xfrm>
          <a:prstGeom prst="line">
            <a:avLst/>
          </a:prstGeom>
          <a:noFill/>
          <a:ln w="12700" cap="flat" cmpd="sng">
            <a:solidFill>
              <a:srgbClr val="D9D9D9"/>
            </a:solidFill>
            <a:prstDash val="solid"/>
            <a:round/>
            <a:headEnd type="none" w="lg" len="med"/>
            <a:tailEnd type="none" w="lg" len="med"/>
          </a:ln>
        </p:spPr>
      </p:cxnSp>
      <p:graphicFrame>
        <p:nvGraphicFramePr>
          <p:cNvPr id="20" name="Chart 19" descr="SOURCE=[BULLET_STRATEGIZE_AND_BALANCE_INSOURCING_AND_OUTSOURCING_FOR_AI_CAPABILITIES]&#10;HIDE-IF=AND([C_T2_15]=&quot;N/A&quot;,[T_T2_15]=&quot;N/A&quot;)">
            <a:extLst>
              <a:ext uri="{FF2B5EF4-FFF2-40B4-BE49-F238E27FC236}">
                <a16:creationId xmlns:a16="http://schemas.microsoft.com/office/drawing/2014/main" id="{0F081723-987B-097B-4DE8-3EB6ED66E01B}"/>
              </a:ext>
            </a:extLst>
          </p:cNvPr>
          <p:cNvGraphicFramePr>
            <a:graphicFrameLocks noDrilldown="1"/>
          </p:cNvGraphicFramePr>
          <p:nvPr>
            <p:custDataLst>
              <p:tags r:id="rId8"/>
            </p:custDataLst>
            <p:extLst>
              <p:ext uri="{D42A27DB-BD31-4B8C-83A1-F6EECF244321}">
                <p14:modId xmlns:p14="http://schemas.microsoft.com/office/powerpoint/2010/main" val="3342827335"/>
              </p:ext>
            </p:extLst>
          </p:nvPr>
        </p:nvGraphicFramePr>
        <p:xfrm>
          <a:off x="4179600" y="2075740"/>
          <a:ext cx="6872400" cy="900000"/>
        </p:xfrm>
        <a:graphic>
          <a:graphicData uri="http://schemas.openxmlformats.org/drawingml/2006/chart">
            <c:chart xmlns:c="http://schemas.openxmlformats.org/drawingml/2006/chart" xmlns:r="http://schemas.openxmlformats.org/officeDocument/2006/relationships" r:id="rId30"/>
          </a:graphicData>
        </a:graphic>
      </p:graphicFrame>
      <p:cxnSp>
        <p:nvCxnSpPr>
          <p:cNvPr id="21" name="Straight Connector 1">
            <a:extLst>
              <a:ext uri="{FF2B5EF4-FFF2-40B4-BE49-F238E27FC236}">
                <a16:creationId xmlns:a16="http://schemas.microsoft.com/office/drawing/2014/main" id="{A4056109-29E7-FA05-61B6-5C1816DF8AF2}"/>
              </a:ext>
            </a:extLst>
          </p:cNvPr>
          <p:cNvCxnSpPr/>
          <p:nvPr>
            <p:custDataLst>
              <p:tags r:id="rId9"/>
            </p:custDataLst>
          </p:nvPr>
        </p:nvCxnSpPr>
        <p:spPr>
          <a:xfrm flipH="1" flipV="1">
            <a:off x="4285004" y="3290072"/>
            <a:ext cx="6444000" cy="3600"/>
          </a:xfrm>
          <a:prstGeom prst="line">
            <a:avLst/>
          </a:prstGeom>
          <a:noFill/>
          <a:ln w="12700" cap="flat" cmpd="sng">
            <a:solidFill>
              <a:srgbClr val="D9D9D9"/>
            </a:solidFill>
            <a:prstDash val="solid"/>
            <a:round/>
            <a:headEnd type="none" w="lg" len="med"/>
            <a:tailEnd type="none" w="lg" len="med"/>
          </a:ln>
        </p:spPr>
      </p:cxnSp>
      <p:graphicFrame>
        <p:nvGraphicFramePr>
          <p:cNvPr id="58" name="Chart 57" descr="SOURCE=[BULLET_AUDIT_EXISTING_INTERNAL_OPERATING_MODEL_AND_INFORMAL_INTERNAL_NETWORKS]&#10;HIDE-IF=AND([C_T2_16]=&quot;N/A&quot;,[T_T2_16]=&quot;N/A&quot;)">
            <a:extLst>
              <a:ext uri="{FF2B5EF4-FFF2-40B4-BE49-F238E27FC236}">
                <a16:creationId xmlns:a16="http://schemas.microsoft.com/office/drawing/2014/main" id="{350A7581-9D30-D851-A797-2CB161F5D19A}"/>
              </a:ext>
            </a:extLst>
          </p:cNvPr>
          <p:cNvGraphicFramePr>
            <a:graphicFrameLocks noDrilldown="1"/>
          </p:cNvGraphicFramePr>
          <p:nvPr>
            <p:custDataLst>
              <p:tags r:id="rId10"/>
            </p:custDataLst>
            <p:extLst>
              <p:ext uri="{D42A27DB-BD31-4B8C-83A1-F6EECF244321}">
                <p14:modId xmlns:p14="http://schemas.microsoft.com/office/powerpoint/2010/main" val="3373229672"/>
              </p:ext>
            </p:extLst>
          </p:nvPr>
        </p:nvGraphicFramePr>
        <p:xfrm>
          <a:off x="4179600" y="2723620"/>
          <a:ext cx="6872400" cy="900000"/>
        </p:xfrm>
        <a:graphic>
          <a:graphicData uri="http://schemas.openxmlformats.org/drawingml/2006/chart">
            <c:chart xmlns:c="http://schemas.openxmlformats.org/drawingml/2006/chart" xmlns:r="http://schemas.openxmlformats.org/officeDocument/2006/relationships" r:id="rId31"/>
          </a:graphicData>
        </a:graphic>
      </p:graphicFrame>
      <p:grpSp>
        <p:nvGrpSpPr>
          <p:cNvPr id="2" name="Group 1">
            <a:extLst>
              <a:ext uri="{FF2B5EF4-FFF2-40B4-BE49-F238E27FC236}">
                <a16:creationId xmlns:a16="http://schemas.microsoft.com/office/drawing/2014/main" id="{4C98F2E2-4639-8D58-0FAC-28E84BB35922}"/>
              </a:ext>
            </a:extLst>
          </p:cNvPr>
          <p:cNvGrpSpPr/>
          <p:nvPr>
            <p:custDataLst>
              <p:tags r:id="rId11"/>
            </p:custDataLst>
          </p:nvPr>
        </p:nvGrpSpPr>
        <p:grpSpPr>
          <a:xfrm>
            <a:off x="4293132" y="1011935"/>
            <a:ext cx="6358279" cy="338554"/>
            <a:chOff x="2649839" y="857851"/>
            <a:chExt cx="5601782" cy="338554"/>
          </a:xfrm>
        </p:grpSpPr>
        <p:sp>
          <p:nvSpPr>
            <p:cNvPr id="3" name="TextBox 2">
              <a:extLst>
                <a:ext uri="{FF2B5EF4-FFF2-40B4-BE49-F238E27FC236}">
                  <a16:creationId xmlns:a16="http://schemas.microsoft.com/office/drawing/2014/main" id="{2D9643B0-4C29-6044-81AE-29F47FE4B5FA}"/>
                </a:ext>
              </a:extLst>
            </p:cNvPr>
            <p:cNvSpPr txBox="1"/>
            <p:nvPr>
              <p:custDataLst>
                <p:tags r:id="rId22"/>
              </p:custDataLst>
            </p:nvPr>
          </p:nvSpPr>
          <p:spPr>
            <a:xfrm>
              <a:off x="2649839" y="857851"/>
              <a:ext cx="1052903"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 None</a:t>
              </a:r>
            </a:p>
          </p:txBody>
        </p:sp>
        <p:sp>
          <p:nvSpPr>
            <p:cNvPr id="5" name="TextBox 4">
              <a:extLst>
                <a:ext uri="{FF2B5EF4-FFF2-40B4-BE49-F238E27FC236}">
                  <a16:creationId xmlns:a16="http://schemas.microsoft.com/office/drawing/2014/main" id="{85EDA4B3-4D13-182D-DDB6-C9DA7A1C094E}"/>
                </a:ext>
              </a:extLst>
            </p:cNvPr>
            <p:cNvSpPr txBox="1"/>
            <p:nvPr>
              <p:custDataLst>
                <p:tags r:id="rId23"/>
              </p:custDataLst>
            </p:nvPr>
          </p:nvSpPr>
          <p:spPr>
            <a:xfrm>
              <a:off x="3862802" y="857851"/>
              <a:ext cx="983220"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Partial</a:t>
              </a:r>
            </a:p>
          </p:txBody>
        </p:sp>
        <p:sp>
          <p:nvSpPr>
            <p:cNvPr id="6" name="TextBox 5">
              <a:extLst>
                <a:ext uri="{FF2B5EF4-FFF2-40B4-BE49-F238E27FC236}">
                  <a16:creationId xmlns:a16="http://schemas.microsoft.com/office/drawing/2014/main" id="{2EB1EDC1-B9FF-8BBF-9360-663D3F6E0BF1}"/>
                </a:ext>
              </a:extLst>
            </p:cNvPr>
            <p:cNvSpPr txBox="1"/>
            <p:nvPr>
              <p:custDataLst>
                <p:tags r:id="rId24"/>
              </p:custDataLst>
            </p:nvPr>
          </p:nvSpPr>
          <p:spPr>
            <a:xfrm>
              <a:off x="4998563" y="857851"/>
              <a:ext cx="983220"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 Full</a:t>
              </a:r>
            </a:p>
          </p:txBody>
        </p:sp>
        <p:sp>
          <p:nvSpPr>
            <p:cNvPr id="7" name="TextBox 6">
              <a:extLst>
                <a:ext uri="{FF2B5EF4-FFF2-40B4-BE49-F238E27FC236}">
                  <a16:creationId xmlns:a16="http://schemas.microsoft.com/office/drawing/2014/main" id="{0A2B9CF5-F713-9ED6-09B6-5D3FBCA1D923}"/>
                </a:ext>
              </a:extLst>
            </p:cNvPr>
            <p:cNvSpPr txBox="1"/>
            <p:nvPr>
              <p:custDataLst>
                <p:tags r:id="rId25"/>
              </p:custDataLst>
            </p:nvPr>
          </p:nvSpPr>
          <p:spPr>
            <a:xfrm>
              <a:off x="6127606" y="857851"/>
              <a:ext cx="983220"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Optimized</a:t>
              </a:r>
            </a:p>
          </p:txBody>
        </p:sp>
        <p:sp>
          <p:nvSpPr>
            <p:cNvPr id="8" name="TextBox 7">
              <a:extLst>
                <a:ext uri="{FF2B5EF4-FFF2-40B4-BE49-F238E27FC236}">
                  <a16:creationId xmlns:a16="http://schemas.microsoft.com/office/drawing/2014/main" id="{675E1855-9079-AADD-2B5E-8F6A93EE4912}"/>
                </a:ext>
              </a:extLst>
            </p:cNvPr>
            <p:cNvSpPr txBox="1"/>
            <p:nvPr>
              <p:custDataLst>
                <p:tags r:id="rId26"/>
              </p:custDataLst>
            </p:nvPr>
          </p:nvSpPr>
          <p:spPr>
            <a:xfrm>
              <a:off x="7268401" y="857851"/>
              <a:ext cx="983220"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Adaptive</a:t>
              </a:r>
            </a:p>
          </p:txBody>
        </p:sp>
      </p:grpSp>
      <p:sp>
        <p:nvSpPr>
          <p:cNvPr id="9" name="Oval 8">
            <a:extLst>
              <a:ext uri="{FF2B5EF4-FFF2-40B4-BE49-F238E27FC236}">
                <a16:creationId xmlns:a16="http://schemas.microsoft.com/office/drawing/2014/main" id="{749CC20E-8757-F9BD-0BC7-D0BD11386B00}"/>
              </a:ext>
            </a:extLst>
          </p:cNvPr>
          <p:cNvSpPr/>
          <p:nvPr>
            <p:custDataLst>
              <p:tags r:id="rId12"/>
            </p:custDataLst>
          </p:nvPr>
        </p:nvSpPr>
        <p:spPr>
          <a:xfrm>
            <a:off x="5465570" y="1075831"/>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1</a:t>
            </a:r>
          </a:p>
        </p:txBody>
      </p:sp>
      <p:sp>
        <p:nvSpPr>
          <p:cNvPr id="10" name="Oval 9">
            <a:extLst>
              <a:ext uri="{FF2B5EF4-FFF2-40B4-BE49-F238E27FC236}">
                <a16:creationId xmlns:a16="http://schemas.microsoft.com/office/drawing/2014/main" id="{7C2A8736-7268-3925-91E4-AE295C09717D}"/>
              </a:ext>
            </a:extLst>
          </p:cNvPr>
          <p:cNvSpPr/>
          <p:nvPr>
            <p:custDataLst>
              <p:tags r:id="rId13"/>
            </p:custDataLst>
          </p:nvPr>
        </p:nvSpPr>
        <p:spPr>
          <a:xfrm>
            <a:off x="6756827" y="1085606"/>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2</a:t>
            </a:r>
          </a:p>
        </p:txBody>
      </p:sp>
      <p:sp>
        <p:nvSpPr>
          <p:cNvPr id="11" name="Oval 10">
            <a:extLst>
              <a:ext uri="{FF2B5EF4-FFF2-40B4-BE49-F238E27FC236}">
                <a16:creationId xmlns:a16="http://schemas.microsoft.com/office/drawing/2014/main" id="{61DE479B-9595-8D95-69DB-88236F55A33A}"/>
              </a:ext>
            </a:extLst>
          </p:cNvPr>
          <p:cNvSpPr/>
          <p:nvPr>
            <p:custDataLst>
              <p:tags r:id="rId14"/>
            </p:custDataLst>
          </p:nvPr>
        </p:nvSpPr>
        <p:spPr>
          <a:xfrm>
            <a:off x="8045383" y="1085605"/>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3</a:t>
            </a:r>
          </a:p>
        </p:txBody>
      </p:sp>
      <p:sp>
        <p:nvSpPr>
          <p:cNvPr id="12" name="Oval 11">
            <a:extLst>
              <a:ext uri="{FF2B5EF4-FFF2-40B4-BE49-F238E27FC236}">
                <a16:creationId xmlns:a16="http://schemas.microsoft.com/office/drawing/2014/main" id="{B882E4BC-A328-EE8F-AF84-002286CD86C3}"/>
              </a:ext>
            </a:extLst>
          </p:cNvPr>
          <p:cNvSpPr/>
          <p:nvPr>
            <p:custDataLst>
              <p:tags r:id="rId15"/>
            </p:custDataLst>
          </p:nvPr>
        </p:nvSpPr>
        <p:spPr>
          <a:xfrm>
            <a:off x="9334590" y="1094884"/>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4</a:t>
            </a:r>
          </a:p>
        </p:txBody>
      </p:sp>
      <p:sp>
        <p:nvSpPr>
          <p:cNvPr id="13" name="Oval 12">
            <a:extLst>
              <a:ext uri="{FF2B5EF4-FFF2-40B4-BE49-F238E27FC236}">
                <a16:creationId xmlns:a16="http://schemas.microsoft.com/office/drawing/2014/main" id="{4BBA839B-E0F0-A1F4-AA0A-89C319706596}"/>
              </a:ext>
            </a:extLst>
          </p:cNvPr>
          <p:cNvSpPr/>
          <p:nvPr>
            <p:custDataLst>
              <p:tags r:id="rId16"/>
            </p:custDataLst>
          </p:nvPr>
        </p:nvSpPr>
        <p:spPr>
          <a:xfrm>
            <a:off x="10620471" y="1085604"/>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5</a:t>
            </a:r>
          </a:p>
        </p:txBody>
      </p:sp>
      <p:grpSp>
        <p:nvGrpSpPr>
          <p:cNvPr id="14" name="Group 13">
            <a:extLst>
              <a:ext uri="{FF2B5EF4-FFF2-40B4-BE49-F238E27FC236}">
                <a16:creationId xmlns:a16="http://schemas.microsoft.com/office/drawing/2014/main" id="{3FC315C7-73BD-B6D2-9721-3DBFC77759FC}"/>
              </a:ext>
            </a:extLst>
          </p:cNvPr>
          <p:cNvGrpSpPr/>
          <p:nvPr>
            <p:custDataLst>
              <p:tags r:id="rId17"/>
            </p:custDataLst>
          </p:nvPr>
        </p:nvGrpSpPr>
        <p:grpSpPr>
          <a:xfrm>
            <a:off x="1842218" y="1074475"/>
            <a:ext cx="2166003" cy="219236"/>
            <a:chOff x="3884227" y="8402296"/>
            <a:chExt cx="2166003" cy="219236"/>
          </a:xfrm>
        </p:grpSpPr>
        <p:sp>
          <p:nvSpPr>
            <p:cNvPr id="15" name="TextBox 58">
              <a:extLst>
                <a:ext uri="{FF2B5EF4-FFF2-40B4-BE49-F238E27FC236}">
                  <a16:creationId xmlns:a16="http://schemas.microsoft.com/office/drawing/2014/main" id="{8E6BC1DC-9946-9062-CBFB-A1C57A141579}"/>
                </a:ext>
              </a:extLst>
            </p:cNvPr>
            <p:cNvSpPr txBox="1"/>
            <p:nvPr>
              <p:custDataLst>
                <p:tags r:id="rId18"/>
              </p:custDataLst>
            </p:nvPr>
          </p:nvSpPr>
          <p:spPr>
            <a:xfrm>
              <a:off x="4029201" y="8406088"/>
              <a:ext cx="1005125" cy="21544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panose="020B0604020202020204" pitchFamily="34" charset="0"/>
                </a:rPr>
                <a:t>Current Maturity</a:t>
              </a:r>
            </a:p>
          </p:txBody>
        </p:sp>
        <p:sp>
          <p:nvSpPr>
            <p:cNvPr id="16" name="TextBox 59">
              <a:extLst>
                <a:ext uri="{FF2B5EF4-FFF2-40B4-BE49-F238E27FC236}">
                  <a16:creationId xmlns:a16="http://schemas.microsoft.com/office/drawing/2014/main" id="{EAD6D751-1D48-0BC0-896E-76AE39EBE7E7}"/>
                </a:ext>
              </a:extLst>
            </p:cNvPr>
            <p:cNvSpPr txBox="1"/>
            <p:nvPr>
              <p:custDataLst>
                <p:tags r:id="rId19"/>
              </p:custDataLst>
            </p:nvPr>
          </p:nvSpPr>
          <p:spPr>
            <a:xfrm>
              <a:off x="5169038" y="8402296"/>
              <a:ext cx="881192" cy="21544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panose="020B0604020202020204" pitchFamily="34" charset="0"/>
                </a:rPr>
                <a:t>Target Maturity</a:t>
              </a:r>
            </a:p>
          </p:txBody>
        </p:sp>
        <p:sp>
          <p:nvSpPr>
            <p:cNvPr id="22" name="Rectangle 21">
              <a:extLst>
                <a:ext uri="{FF2B5EF4-FFF2-40B4-BE49-F238E27FC236}">
                  <a16:creationId xmlns:a16="http://schemas.microsoft.com/office/drawing/2014/main" id="{9CC56C76-CE17-A3C7-31FE-9B7BEA82FCFD}"/>
                </a:ext>
              </a:extLst>
            </p:cNvPr>
            <p:cNvSpPr/>
            <p:nvPr>
              <p:custDataLst>
                <p:tags r:id="rId20"/>
              </p:custDataLst>
            </p:nvPr>
          </p:nvSpPr>
          <p:spPr>
            <a:xfrm>
              <a:off x="3884227" y="8444792"/>
              <a:ext cx="136507" cy="136507"/>
            </a:xfrm>
            <a:prstGeom prst="rect">
              <a:avLst/>
            </a:prstGeom>
            <a:solidFill>
              <a:srgbClr val="0028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 name="Rectangle 22">
              <a:extLst>
                <a:ext uri="{FF2B5EF4-FFF2-40B4-BE49-F238E27FC236}">
                  <a16:creationId xmlns:a16="http://schemas.microsoft.com/office/drawing/2014/main" id="{0B64C8A1-2EC1-247C-CEFB-F3D9B4404A4B}"/>
                </a:ext>
              </a:extLst>
            </p:cNvPr>
            <p:cNvSpPr/>
            <p:nvPr>
              <p:custDataLst>
                <p:tags r:id="rId21"/>
              </p:custDataLst>
            </p:nvPr>
          </p:nvSpPr>
          <p:spPr>
            <a:xfrm>
              <a:off x="5034326" y="8441765"/>
              <a:ext cx="136507" cy="136507"/>
            </a:xfrm>
            <a:prstGeom prst="rect">
              <a:avLst/>
            </a:prstGeom>
            <a:solidFill>
              <a:srgbClr val="1F9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Tree>
    <p:extLst>
      <p:ext uri="{BB962C8B-B14F-4D97-AF65-F5344CB8AC3E}">
        <p14:creationId xmlns:p14="http://schemas.microsoft.com/office/powerpoint/2010/main" val="2353862804"/>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4A3FF-740C-8F79-463C-B513C148DE4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2862286-8D87-1395-AB66-AD66AD3D90F9}"/>
              </a:ext>
            </a:extLst>
          </p:cNvPr>
          <p:cNvSpPr>
            <a:spLocks noGrp="1"/>
          </p:cNvSpPr>
          <p:nvPr>
            <p:ph type="title"/>
            <p:custDataLst>
              <p:tags r:id="rId1"/>
            </p:custDataLst>
          </p:nvPr>
        </p:nvSpPr>
        <p:spPr bwMode="gray">
          <a:xfrm>
            <a:off x="536400" y="324000"/>
            <a:ext cx="11274552" cy="451231"/>
          </a:xfrm>
        </p:spPr>
        <p:txBody>
          <a:bodyPr vert="horz"/>
          <a:lstStyle/>
          <a:p>
            <a:r>
              <a:rPr lang="en-US" sz="2400">
                <a:solidFill>
                  <a:srgbClr val="002856"/>
                </a:solidFill>
                <a:latin typeface="+mn-lt"/>
              </a:rPr>
              <a:t>Your Responses: AI People and Culture</a:t>
            </a:r>
          </a:p>
        </p:txBody>
      </p:sp>
      <p:sp>
        <p:nvSpPr>
          <p:cNvPr id="36" name="TextBox 35" descr="FILLCOLOR-IF=AND([C_T2_19]=&quot;N/A&quot;,[T_T2_19]=&quot;N/A&quot;),#FFFFF7&#10;FONTCOLOR-IF=AND([C_T2_19]=&quot;N/A&quot;,[T_T2_19]=&quot;N/A&quot;),#7F7F7F">
            <a:extLst>
              <a:ext uri="{FF2B5EF4-FFF2-40B4-BE49-F238E27FC236}">
                <a16:creationId xmlns:a16="http://schemas.microsoft.com/office/drawing/2014/main" id="{9817D0E4-E2A0-D75A-5C85-A3D898F189F1}"/>
              </a:ext>
            </a:extLst>
          </p:cNvPr>
          <p:cNvSpPr txBox="1"/>
          <p:nvPr>
            <p:custDataLst>
              <p:tags r:id="rId2"/>
            </p:custDataLst>
          </p:nvPr>
        </p:nvSpPr>
        <p:spPr>
          <a:xfrm>
            <a:off x="644660" y="1884431"/>
            <a:ext cx="3348000" cy="276999"/>
          </a:xfrm>
          <a:prstGeom prst="rect">
            <a:avLst/>
          </a:prstGeom>
          <a:noFill/>
        </p:spPr>
        <p:txBody>
          <a:bodyPr wrap="square">
            <a:spAutoFit/>
          </a:bodyPr>
          <a:lstStyle/>
          <a:p>
            <a:pPr algn="r"/>
            <a:r>
              <a:rPr lang="en-IN" sz="1200">
                <a:ea typeface="Calibri" panose="020F0502020204030204" pitchFamily="34" charset="0"/>
                <a:cs typeface="Calibri" panose="020F0502020204030204" pitchFamily="34" charset="0"/>
              </a:rPr>
              <a:t>Manage AI-related change &amp; culture</a:t>
            </a:r>
            <a:endParaRPr lang="en-IN" sz="1200" b="0">
              <a:latin typeface="+mn-lt"/>
              <a:ea typeface="Calibri" panose="020F0502020204030204" pitchFamily="34" charset="0"/>
              <a:cs typeface="Calibri" panose="020F0502020204030204" pitchFamily="34" charset="0"/>
            </a:endParaRPr>
          </a:p>
        </p:txBody>
      </p:sp>
      <p:sp>
        <p:nvSpPr>
          <p:cNvPr id="37" name="TextBox 36" descr="FILLCOLOR-IF=AND([C_T2_20]=&quot;N/A&quot;,[T_T2_20]=&quot;N/A&quot;),#FFFFF7&#10;FONTCOLOR-IF=AND([C_T2_20]=&quot;N/A&quot;,[T_T2_20]=&quot;N/A&quot;),#7F7F7F">
            <a:extLst>
              <a:ext uri="{FF2B5EF4-FFF2-40B4-BE49-F238E27FC236}">
                <a16:creationId xmlns:a16="http://schemas.microsoft.com/office/drawing/2014/main" id="{1559645B-D3FA-668E-698F-5B82FBAD729B}"/>
              </a:ext>
            </a:extLst>
          </p:cNvPr>
          <p:cNvSpPr txBox="1"/>
          <p:nvPr>
            <p:custDataLst>
              <p:tags r:id="rId3"/>
            </p:custDataLst>
          </p:nvPr>
        </p:nvSpPr>
        <p:spPr>
          <a:xfrm>
            <a:off x="644660" y="2532512"/>
            <a:ext cx="3348000" cy="276999"/>
          </a:xfrm>
          <a:prstGeom prst="rect">
            <a:avLst/>
          </a:prstGeom>
          <a:noFill/>
        </p:spPr>
        <p:txBody>
          <a:bodyPr wrap="square">
            <a:spAutoFit/>
          </a:bodyPr>
          <a:lstStyle/>
          <a:p>
            <a:pPr lvl="0" algn="r">
              <a:spcBef>
                <a:spcPct val="0"/>
              </a:spcBef>
              <a:spcAft>
                <a:spcPct val="0"/>
              </a:spcAft>
              <a:defRPr/>
            </a:pPr>
            <a:r>
              <a:rPr lang="en-IN" sz="1200">
                <a:ea typeface="Calibri" panose="020F0502020204030204" pitchFamily="34" charset="0"/>
                <a:cs typeface="Calibri" panose="020F0502020204030204" pitchFamily="34" charset="0"/>
              </a:rPr>
              <a:t>Evolve AI-related roles &amp; staffing</a:t>
            </a:r>
          </a:p>
        </p:txBody>
      </p:sp>
      <p:sp>
        <p:nvSpPr>
          <p:cNvPr id="38" name="TextBox 37" descr="FILLCOLOR-IF=AND([C_T2_23]=&quot;N/A&quot;,[T_T2_23]=&quot;N/A&quot;),#FFFFF7&#10;FONTCOLOR-IF=AND([C_T2_23]=&quot;N/A&quot;,[T_T2_23]=&quot;N/A&quot;),#7F7F7F">
            <a:extLst>
              <a:ext uri="{FF2B5EF4-FFF2-40B4-BE49-F238E27FC236}">
                <a16:creationId xmlns:a16="http://schemas.microsoft.com/office/drawing/2014/main" id="{A17EA15E-AA6E-AA93-F3F7-C31FD9647152}"/>
              </a:ext>
            </a:extLst>
          </p:cNvPr>
          <p:cNvSpPr txBox="1"/>
          <p:nvPr>
            <p:custDataLst>
              <p:tags r:id="rId4"/>
            </p:custDataLst>
          </p:nvPr>
        </p:nvSpPr>
        <p:spPr>
          <a:xfrm>
            <a:off x="644660" y="3163281"/>
            <a:ext cx="3348000" cy="276999"/>
          </a:xfrm>
          <a:prstGeom prst="rect">
            <a:avLst/>
          </a:prstGeom>
          <a:noFill/>
        </p:spPr>
        <p:txBody>
          <a:bodyPr wrap="square">
            <a:spAutoFit/>
          </a:bodyPr>
          <a:lstStyle/>
          <a:p>
            <a:pPr lvl="0" algn="r">
              <a:spcBef>
                <a:spcPct val="0"/>
              </a:spcBef>
              <a:spcAft>
                <a:spcPct val="0"/>
              </a:spcAft>
              <a:defRPr/>
            </a:pPr>
            <a:r>
              <a:rPr lang="sv-SE" sz="1200">
                <a:ea typeface="Calibri" panose="020F0502020204030204" pitchFamily="34" charset="0"/>
                <a:cs typeface="Calibri" panose="020F0502020204030204" pitchFamily="34" charset="0"/>
              </a:rPr>
              <a:t>Deliver AI training &amp; literacy</a:t>
            </a:r>
            <a:endParaRPr lang="en-IN" sz="1200">
              <a:ea typeface="Calibri" panose="020F0502020204030204" pitchFamily="34" charset="0"/>
              <a:cs typeface="Calibri" panose="020F0502020204030204" pitchFamily="34" charset="0"/>
            </a:endParaRPr>
          </a:p>
        </p:txBody>
      </p:sp>
      <p:cxnSp>
        <p:nvCxnSpPr>
          <p:cNvPr id="17" name="Straight Connector 1">
            <a:extLst>
              <a:ext uri="{FF2B5EF4-FFF2-40B4-BE49-F238E27FC236}">
                <a16:creationId xmlns:a16="http://schemas.microsoft.com/office/drawing/2014/main" id="{C769697D-E258-36F0-03FA-317530A1C592}"/>
              </a:ext>
            </a:extLst>
          </p:cNvPr>
          <p:cNvCxnSpPr/>
          <p:nvPr>
            <p:custDataLst>
              <p:tags r:id="rId5"/>
            </p:custDataLst>
          </p:nvPr>
        </p:nvCxnSpPr>
        <p:spPr>
          <a:xfrm flipH="1" flipV="1">
            <a:off x="4285004" y="2031603"/>
            <a:ext cx="6444000" cy="3600"/>
          </a:xfrm>
          <a:prstGeom prst="line">
            <a:avLst/>
          </a:prstGeom>
          <a:noFill/>
          <a:ln w="12700" cap="flat" cmpd="sng">
            <a:solidFill>
              <a:srgbClr val="D9D9D9"/>
            </a:solidFill>
            <a:prstDash val="solid"/>
            <a:round/>
            <a:headEnd type="none" w="lg" len="med"/>
            <a:tailEnd type="none" w="lg" len="med"/>
          </a:ln>
        </p:spPr>
      </p:cxnSp>
      <p:graphicFrame>
        <p:nvGraphicFramePr>
          <p:cNvPr id="18" name="Chart 17" descr="SOURCE=[BULLET_EXECUTE_CHANGE_MANAGEMENT_AND_CULTURE_INITIATIVES]&#10;HIDE-IF=AND([C_T2_19]=&quot;N/A&quot;,[T_T2_19]=&quot;N/A&quot;)">
            <a:extLst>
              <a:ext uri="{FF2B5EF4-FFF2-40B4-BE49-F238E27FC236}">
                <a16:creationId xmlns:a16="http://schemas.microsoft.com/office/drawing/2014/main" id="{FFA6A349-2DD9-C644-5945-5E905C06C5DD}"/>
              </a:ext>
            </a:extLst>
          </p:cNvPr>
          <p:cNvGraphicFramePr>
            <a:graphicFrameLocks noDrilldown="1"/>
          </p:cNvGraphicFramePr>
          <p:nvPr>
            <p:custDataLst>
              <p:tags r:id="rId6"/>
            </p:custDataLst>
            <p:extLst>
              <p:ext uri="{D42A27DB-BD31-4B8C-83A1-F6EECF244321}">
                <p14:modId xmlns:p14="http://schemas.microsoft.com/office/powerpoint/2010/main" val="1867592689"/>
              </p:ext>
            </p:extLst>
          </p:nvPr>
        </p:nvGraphicFramePr>
        <p:xfrm>
          <a:off x="4179688" y="1476933"/>
          <a:ext cx="6872206" cy="900000"/>
        </p:xfrm>
        <a:graphic>
          <a:graphicData uri="http://schemas.openxmlformats.org/drawingml/2006/chart">
            <c:chart xmlns:c="http://schemas.openxmlformats.org/drawingml/2006/chart" xmlns:r="http://schemas.openxmlformats.org/officeDocument/2006/relationships" r:id="rId29"/>
          </a:graphicData>
        </a:graphic>
      </p:graphicFrame>
      <p:cxnSp>
        <p:nvCxnSpPr>
          <p:cNvPr id="19" name="Straight Connector 1">
            <a:extLst>
              <a:ext uri="{FF2B5EF4-FFF2-40B4-BE49-F238E27FC236}">
                <a16:creationId xmlns:a16="http://schemas.microsoft.com/office/drawing/2014/main" id="{2F9F2C61-811E-D418-7780-B533A59FEC90}"/>
              </a:ext>
            </a:extLst>
          </p:cNvPr>
          <p:cNvCxnSpPr/>
          <p:nvPr>
            <p:custDataLst>
              <p:tags r:id="rId7"/>
            </p:custDataLst>
          </p:nvPr>
        </p:nvCxnSpPr>
        <p:spPr>
          <a:xfrm flipH="1" flipV="1">
            <a:off x="4285004" y="2658970"/>
            <a:ext cx="6444000" cy="3600"/>
          </a:xfrm>
          <a:prstGeom prst="line">
            <a:avLst/>
          </a:prstGeom>
          <a:noFill/>
          <a:ln w="12700" cap="flat" cmpd="sng">
            <a:solidFill>
              <a:srgbClr val="D9D9D9"/>
            </a:solidFill>
            <a:prstDash val="solid"/>
            <a:round/>
            <a:headEnd type="none" w="lg" len="med"/>
            <a:tailEnd type="none" w="lg" len="med"/>
          </a:ln>
        </p:spPr>
      </p:cxnSp>
      <p:graphicFrame>
        <p:nvGraphicFramePr>
          <p:cNvPr id="20" name="Chart 19" descr="SOURCE=[BULLET_PREDICT_AI_DRIVEN_WORKFORCE_IMPLICATIONS]&#10;HIDE-IF=AND([C_T2_20]=&quot;N/A&quot;,[T_T2_20]=&quot;N/A&quot;)">
            <a:extLst>
              <a:ext uri="{FF2B5EF4-FFF2-40B4-BE49-F238E27FC236}">
                <a16:creationId xmlns:a16="http://schemas.microsoft.com/office/drawing/2014/main" id="{A7FC61DC-1B60-1A40-1051-035C1C259007}"/>
              </a:ext>
            </a:extLst>
          </p:cNvPr>
          <p:cNvGraphicFramePr>
            <a:graphicFrameLocks noDrilldown="1"/>
          </p:cNvGraphicFramePr>
          <p:nvPr>
            <p:custDataLst>
              <p:tags r:id="rId8"/>
            </p:custDataLst>
            <p:extLst>
              <p:ext uri="{D42A27DB-BD31-4B8C-83A1-F6EECF244321}">
                <p14:modId xmlns:p14="http://schemas.microsoft.com/office/powerpoint/2010/main" val="3272818937"/>
              </p:ext>
            </p:extLst>
          </p:nvPr>
        </p:nvGraphicFramePr>
        <p:xfrm>
          <a:off x="4179600" y="2075740"/>
          <a:ext cx="6872400" cy="900000"/>
        </p:xfrm>
        <a:graphic>
          <a:graphicData uri="http://schemas.openxmlformats.org/drawingml/2006/chart">
            <c:chart xmlns:c="http://schemas.openxmlformats.org/drawingml/2006/chart" xmlns:r="http://schemas.openxmlformats.org/officeDocument/2006/relationships" r:id="rId30"/>
          </a:graphicData>
        </a:graphic>
      </p:graphicFrame>
      <p:cxnSp>
        <p:nvCxnSpPr>
          <p:cNvPr id="21" name="Straight Connector 1">
            <a:extLst>
              <a:ext uri="{FF2B5EF4-FFF2-40B4-BE49-F238E27FC236}">
                <a16:creationId xmlns:a16="http://schemas.microsoft.com/office/drawing/2014/main" id="{74E9827A-0FC7-EE8F-2BD4-F9DB33C6435D}"/>
              </a:ext>
            </a:extLst>
          </p:cNvPr>
          <p:cNvCxnSpPr/>
          <p:nvPr>
            <p:custDataLst>
              <p:tags r:id="rId9"/>
            </p:custDataLst>
          </p:nvPr>
        </p:nvCxnSpPr>
        <p:spPr>
          <a:xfrm flipH="1" flipV="1">
            <a:off x="4285004" y="3290072"/>
            <a:ext cx="6444000" cy="3600"/>
          </a:xfrm>
          <a:prstGeom prst="line">
            <a:avLst/>
          </a:prstGeom>
          <a:noFill/>
          <a:ln w="12700" cap="flat" cmpd="sng">
            <a:solidFill>
              <a:srgbClr val="D9D9D9"/>
            </a:solidFill>
            <a:prstDash val="solid"/>
            <a:round/>
            <a:headEnd type="none" w="lg" len="med"/>
            <a:tailEnd type="none" w="lg" len="med"/>
          </a:ln>
        </p:spPr>
      </p:cxnSp>
      <p:graphicFrame>
        <p:nvGraphicFramePr>
          <p:cNvPr id="58" name="Chart 57" descr="SOURCE=[BULLET_DELIVER_SKILLS_TRAINING_AND_LITERACY_FOR_AI]&#10;HIDE-IF=AND([C_T2_23]=&quot;N/A&quot;,[T_T2_23]=&quot;N/A&quot;)">
            <a:extLst>
              <a:ext uri="{FF2B5EF4-FFF2-40B4-BE49-F238E27FC236}">
                <a16:creationId xmlns:a16="http://schemas.microsoft.com/office/drawing/2014/main" id="{27DCE592-9BEC-DFCD-738F-A45B44C7102A}"/>
              </a:ext>
            </a:extLst>
          </p:cNvPr>
          <p:cNvGraphicFramePr>
            <a:graphicFrameLocks noDrilldown="1"/>
          </p:cNvGraphicFramePr>
          <p:nvPr>
            <p:custDataLst>
              <p:tags r:id="rId10"/>
            </p:custDataLst>
            <p:extLst>
              <p:ext uri="{D42A27DB-BD31-4B8C-83A1-F6EECF244321}">
                <p14:modId xmlns:p14="http://schemas.microsoft.com/office/powerpoint/2010/main" val="789180626"/>
              </p:ext>
            </p:extLst>
          </p:nvPr>
        </p:nvGraphicFramePr>
        <p:xfrm>
          <a:off x="4179600" y="2723620"/>
          <a:ext cx="6872400" cy="900000"/>
        </p:xfrm>
        <a:graphic>
          <a:graphicData uri="http://schemas.openxmlformats.org/drawingml/2006/chart">
            <c:chart xmlns:c="http://schemas.openxmlformats.org/drawingml/2006/chart" xmlns:r="http://schemas.openxmlformats.org/officeDocument/2006/relationships" r:id="rId31"/>
          </a:graphicData>
        </a:graphic>
      </p:graphicFrame>
      <p:grpSp>
        <p:nvGrpSpPr>
          <p:cNvPr id="2" name="Group 1">
            <a:extLst>
              <a:ext uri="{FF2B5EF4-FFF2-40B4-BE49-F238E27FC236}">
                <a16:creationId xmlns:a16="http://schemas.microsoft.com/office/drawing/2014/main" id="{3F32D034-6323-B0AC-4F3D-1EB33E9913A9}"/>
              </a:ext>
            </a:extLst>
          </p:cNvPr>
          <p:cNvGrpSpPr/>
          <p:nvPr>
            <p:custDataLst>
              <p:tags r:id="rId11"/>
            </p:custDataLst>
          </p:nvPr>
        </p:nvGrpSpPr>
        <p:grpSpPr>
          <a:xfrm>
            <a:off x="4293132" y="1011935"/>
            <a:ext cx="6358279" cy="338554"/>
            <a:chOff x="2649839" y="857851"/>
            <a:chExt cx="5601782" cy="338554"/>
          </a:xfrm>
        </p:grpSpPr>
        <p:sp>
          <p:nvSpPr>
            <p:cNvPr id="3" name="TextBox 2">
              <a:extLst>
                <a:ext uri="{FF2B5EF4-FFF2-40B4-BE49-F238E27FC236}">
                  <a16:creationId xmlns:a16="http://schemas.microsoft.com/office/drawing/2014/main" id="{C9A900C0-A7D0-99A3-2E7E-A0BD8B4E8DB9}"/>
                </a:ext>
              </a:extLst>
            </p:cNvPr>
            <p:cNvSpPr txBox="1"/>
            <p:nvPr>
              <p:custDataLst>
                <p:tags r:id="rId22"/>
              </p:custDataLst>
            </p:nvPr>
          </p:nvSpPr>
          <p:spPr>
            <a:xfrm>
              <a:off x="2649839" y="857851"/>
              <a:ext cx="1052903"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 None</a:t>
              </a:r>
            </a:p>
          </p:txBody>
        </p:sp>
        <p:sp>
          <p:nvSpPr>
            <p:cNvPr id="5" name="TextBox 4">
              <a:extLst>
                <a:ext uri="{FF2B5EF4-FFF2-40B4-BE49-F238E27FC236}">
                  <a16:creationId xmlns:a16="http://schemas.microsoft.com/office/drawing/2014/main" id="{0F30BFF3-6CFF-29A6-53C9-4095A6975165}"/>
                </a:ext>
              </a:extLst>
            </p:cNvPr>
            <p:cNvSpPr txBox="1"/>
            <p:nvPr>
              <p:custDataLst>
                <p:tags r:id="rId23"/>
              </p:custDataLst>
            </p:nvPr>
          </p:nvSpPr>
          <p:spPr>
            <a:xfrm>
              <a:off x="3862802" y="857851"/>
              <a:ext cx="983220"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Partial</a:t>
              </a:r>
            </a:p>
          </p:txBody>
        </p:sp>
        <p:sp>
          <p:nvSpPr>
            <p:cNvPr id="6" name="TextBox 5">
              <a:extLst>
                <a:ext uri="{FF2B5EF4-FFF2-40B4-BE49-F238E27FC236}">
                  <a16:creationId xmlns:a16="http://schemas.microsoft.com/office/drawing/2014/main" id="{DA483602-8C51-14FC-46F4-687CDCAD9E41}"/>
                </a:ext>
              </a:extLst>
            </p:cNvPr>
            <p:cNvSpPr txBox="1"/>
            <p:nvPr>
              <p:custDataLst>
                <p:tags r:id="rId24"/>
              </p:custDataLst>
            </p:nvPr>
          </p:nvSpPr>
          <p:spPr>
            <a:xfrm>
              <a:off x="4998563" y="857851"/>
              <a:ext cx="983220"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 Full</a:t>
              </a:r>
            </a:p>
          </p:txBody>
        </p:sp>
        <p:sp>
          <p:nvSpPr>
            <p:cNvPr id="7" name="TextBox 6">
              <a:extLst>
                <a:ext uri="{FF2B5EF4-FFF2-40B4-BE49-F238E27FC236}">
                  <a16:creationId xmlns:a16="http://schemas.microsoft.com/office/drawing/2014/main" id="{FA77AD20-13B2-F349-BCCC-E038B0C4DAE2}"/>
                </a:ext>
              </a:extLst>
            </p:cNvPr>
            <p:cNvSpPr txBox="1"/>
            <p:nvPr>
              <p:custDataLst>
                <p:tags r:id="rId25"/>
              </p:custDataLst>
            </p:nvPr>
          </p:nvSpPr>
          <p:spPr>
            <a:xfrm>
              <a:off x="6127606" y="857851"/>
              <a:ext cx="983220"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Optimized</a:t>
              </a:r>
            </a:p>
          </p:txBody>
        </p:sp>
        <p:sp>
          <p:nvSpPr>
            <p:cNvPr id="8" name="TextBox 7">
              <a:extLst>
                <a:ext uri="{FF2B5EF4-FFF2-40B4-BE49-F238E27FC236}">
                  <a16:creationId xmlns:a16="http://schemas.microsoft.com/office/drawing/2014/main" id="{5F76B1CC-FF70-F138-5F37-ED663CC01135}"/>
                </a:ext>
              </a:extLst>
            </p:cNvPr>
            <p:cNvSpPr txBox="1"/>
            <p:nvPr>
              <p:custDataLst>
                <p:tags r:id="rId26"/>
              </p:custDataLst>
            </p:nvPr>
          </p:nvSpPr>
          <p:spPr>
            <a:xfrm>
              <a:off x="7268401" y="857851"/>
              <a:ext cx="983220"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Adaptive</a:t>
              </a:r>
            </a:p>
          </p:txBody>
        </p:sp>
      </p:grpSp>
      <p:sp>
        <p:nvSpPr>
          <p:cNvPr id="9" name="Oval 8">
            <a:extLst>
              <a:ext uri="{FF2B5EF4-FFF2-40B4-BE49-F238E27FC236}">
                <a16:creationId xmlns:a16="http://schemas.microsoft.com/office/drawing/2014/main" id="{0685255C-97CD-3706-0F2C-21E6B2BAD490}"/>
              </a:ext>
            </a:extLst>
          </p:cNvPr>
          <p:cNvSpPr/>
          <p:nvPr>
            <p:custDataLst>
              <p:tags r:id="rId12"/>
            </p:custDataLst>
          </p:nvPr>
        </p:nvSpPr>
        <p:spPr>
          <a:xfrm>
            <a:off x="5465570" y="1075831"/>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1</a:t>
            </a:r>
          </a:p>
        </p:txBody>
      </p:sp>
      <p:sp>
        <p:nvSpPr>
          <p:cNvPr id="10" name="Oval 9">
            <a:extLst>
              <a:ext uri="{FF2B5EF4-FFF2-40B4-BE49-F238E27FC236}">
                <a16:creationId xmlns:a16="http://schemas.microsoft.com/office/drawing/2014/main" id="{4C1D08D4-EADF-3D98-1599-0F1B126130F7}"/>
              </a:ext>
            </a:extLst>
          </p:cNvPr>
          <p:cNvSpPr/>
          <p:nvPr>
            <p:custDataLst>
              <p:tags r:id="rId13"/>
            </p:custDataLst>
          </p:nvPr>
        </p:nvSpPr>
        <p:spPr>
          <a:xfrm>
            <a:off x="6756827" y="1085606"/>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2</a:t>
            </a:r>
          </a:p>
        </p:txBody>
      </p:sp>
      <p:sp>
        <p:nvSpPr>
          <p:cNvPr id="11" name="Oval 10">
            <a:extLst>
              <a:ext uri="{FF2B5EF4-FFF2-40B4-BE49-F238E27FC236}">
                <a16:creationId xmlns:a16="http://schemas.microsoft.com/office/drawing/2014/main" id="{E3824FB6-0CCF-5445-D5A0-5275A52811F6}"/>
              </a:ext>
            </a:extLst>
          </p:cNvPr>
          <p:cNvSpPr/>
          <p:nvPr>
            <p:custDataLst>
              <p:tags r:id="rId14"/>
            </p:custDataLst>
          </p:nvPr>
        </p:nvSpPr>
        <p:spPr>
          <a:xfrm>
            <a:off x="8045383" y="1085605"/>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3</a:t>
            </a:r>
          </a:p>
        </p:txBody>
      </p:sp>
      <p:sp>
        <p:nvSpPr>
          <p:cNvPr id="12" name="Oval 11">
            <a:extLst>
              <a:ext uri="{FF2B5EF4-FFF2-40B4-BE49-F238E27FC236}">
                <a16:creationId xmlns:a16="http://schemas.microsoft.com/office/drawing/2014/main" id="{DF41A742-8B7E-9A29-A266-9FAE90FEDA82}"/>
              </a:ext>
            </a:extLst>
          </p:cNvPr>
          <p:cNvSpPr/>
          <p:nvPr>
            <p:custDataLst>
              <p:tags r:id="rId15"/>
            </p:custDataLst>
          </p:nvPr>
        </p:nvSpPr>
        <p:spPr>
          <a:xfrm>
            <a:off x="9334590" y="1094884"/>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4</a:t>
            </a:r>
          </a:p>
        </p:txBody>
      </p:sp>
      <p:sp>
        <p:nvSpPr>
          <p:cNvPr id="13" name="Oval 12">
            <a:extLst>
              <a:ext uri="{FF2B5EF4-FFF2-40B4-BE49-F238E27FC236}">
                <a16:creationId xmlns:a16="http://schemas.microsoft.com/office/drawing/2014/main" id="{9C64F34A-BAD5-3B0A-5894-4528411E2885}"/>
              </a:ext>
            </a:extLst>
          </p:cNvPr>
          <p:cNvSpPr/>
          <p:nvPr>
            <p:custDataLst>
              <p:tags r:id="rId16"/>
            </p:custDataLst>
          </p:nvPr>
        </p:nvSpPr>
        <p:spPr>
          <a:xfrm>
            <a:off x="10620471" y="1085604"/>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5</a:t>
            </a:r>
          </a:p>
        </p:txBody>
      </p:sp>
      <p:grpSp>
        <p:nvGrpSpPr>
          <p:cNvPr id="14" name="Group 13">
            <a:extLst>
              <a:ext uri="{FF2B5EF4-FFF2-40B4-BE49-F238E27FC236}">
                <a16:creationId xmlns:a16="http://schemas.microsoft.com/office/drawing/2014/main" id="{E0173FD9-F02C-1289-BB41-055F8F979372}"/>
              </a:ext>
            </a:extLst>
          </p:cNvPr>
          <p:cNvGrpSpPr/>
          <p:nvPr>
            <p:custDataLst>
              <p:tags r:id="rId17"/>
            </p:custDataLst>
          </p:nvPr>
        </p:nvGrpSpPr>
        <p:grpSpPr>
          <a:xfrm>
            <a:off x="1842218" y="1074475"/>
            <a:ext cx="2166003" cy="219236"/>
            <a:chOff x="3884227" y="8402296"/>
            <a:chExt cx="2166003" cy="219236"/>
          </a:xfrm>
        </p:grpSpPr>
        <p:sp>
          <p:nvSpPr>
            <p:cNvPr id="15" name="TextBox 58">
              <a:extLst>
                <a:ext uri="{FF2B5EF4-FFF2-40B4-BE49-F238E27FC236}">
                  <a16:creationId xmlns:a16="http://schemas.microsoft.com/office/drawing/2014/main" id="{504AD4E8-A58A-D70A-877C-C26778B266D4}"/>
                </a:ext>
              </a:extLst>
            </p:cNvPr>
            <p:cNvSpPr txBox="1"/>
            <p:nvPr>
              <p:custDataLst>
                <p:tags r:id="rId18"/>
              </p:custDataLst>
            </p:nvPr>
          </p:nvSpPr>
          <p:spPr>
            <a:xfrm>
              <a:off x="4029201" y="8406088"/>
              <a:ext cx="1005125" cy="21544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panose="020B0604020202020204" pitchFamily="34" charset="0"/>
                </a:rPr>
                <a:t>Current Maturity</a:t>
              </a:r>
            </a:p>
          </p:txBody>
        </p:sp>
        <p:sp>
          <p:nvSpPr>
            <p:cNvPr id="16" name="TextBox 59">
              <a:extLst>
                <a:ext uri="{FF2B5EF4-FFF2-40B4-BE49-F238E27FC236}">
                  <a16:creationId xmlns:a16="http://schemas.microsoft.com/office/drawing/2014/main" id="{B0CE1CE7-B9B8-C9D2-640B-9A9580BAF3D7}"/>
                </a:ext>
              </a:extLst>
            </p:cNvPr>
            <p:cNvSpPr txBox="1"/>
            <p:nvPr>
              <p:custDataLst>
                <p:tags r:id="rId19"/>
              </p:custDataLst>
            </p:nvPr>
          </p:nvSpPr>
          <p:spPr>
            <a:xfrm>
              <a:off x="5169038" y="8402296"/>
              <a:ext cx="881192" cy="21544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panose="020B0604020202020204" pitchFamily="34" charset="0"/>
                </a:rPr>
                <a:t>Target Maturity</a:t>
              </a:r>
            </a:p>
          </p:txBody>
        </p:sp>
        <p:sp>
          <p:nvSpPr>
            <p:cNvPr id="22" name="Rectangle 21">
              <a:extLst>
                <a:ext uri="{FF2B5EF4-FFF2-40B4-BE49-F238E27FC236}">
                  <a16:creationId xmlns:a16="http://schemas.microsoft.com/office/drawing/2014/main" id="{AF3E947D-A92C-3430-7FAA-2D9B7219E296}"/>
                </a:ext>
              </a:extLst>
            </p:cNvPr>
            <p:cNvSpPr/>
            <p:nvPr>
              <p:custDataLst>
                <p:tags r:id="rId20"/>
              </p:custDataLst>
            </p:nvPr>
          </p:nvSpPr>
          <p:spPr>
            <a:xfrm>
              <a:off x="3884227" y="8444792"/>
              <a:ext cx="136507" cy="136507"/>
            </a:xfrm>
            <a:prstGeom prst="rect">
              <a:avLst/>
            </a:prstGeom>
            <a:solidFill>
              <a:srgbClr val="0028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 name="Rectangle 22">
              <a:extLst>
                <a:ext uri="{FF2B5EF4-FFF2-40B4-BE49-F238E27FC236}">
                  <a16:creationId xmlns:a16="http://schemas.microsoft.com/office/drawing/2014/main" id="{E55BF7BA-B511-B2BC-4E0F-60B370631BAC}"/>
                </a:ext>
              </a:extLst>
            </p:cNvPr>
            <p:cNvSpPr/>
            <p:nvPr>
              <p:custDataLst>
                <p:tags r:id="rId21"/>
              </p:custDataLst>
            </p:nvPr>
          </p:nvSpPr>
          <p:spPr>
            <a:xfrm>
              <a:off x="5034326" y="8441765"/>
              <a:ext cx="136507" cy="136507"/>
            </a:xfrm>
            <a:prstGeom prst="rect">
              <a:avLst/>
            </a:prstGeom>
            <a:solidFill>
              <a:srgbClr val="1F9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Tree>
    <p:extLst>
      <p:ext uri="{BB962C8B-B14F-4D97-AF65-F5344CB8AC3E}">
        <p14:creationId xmlns:p14="http://schemas.microsoft.com/office/powerpoint/2010/main" val="426905303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91C96-B786-E8B8-1EAF-FD8A84D9768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EB495B4-7707-7C83-8B39-B6F2A6F86C9A}"/>
              </a:ext>
            </a:extLst>
          </p:cNvPr>
          <p:cNvSpPr>
            <a:spLocks noGrp="1"/>
          </p:cNvSpPr>
          <p:nvPr>
            <p:ph type="title"/>
            <p:custDataLst>
              <p:tags r:id="rId1"/>
            </p:custDataLst>
          </p:nvPr>
        </p:nvSpPr>
        <p:spPr bwMode="gray">
          <a:xfrm>
            <a:off x="536400" y="324000"/>
            <a:ext cx="11274552" cy="451231"/>
          </a:xfrm>
        </p:spPr>
        <p:txBody>
          <a:bodyPr vert="horz"/>
          <a:lstStyle/>
          <a:p>
            <a:r>
              <a:rPr lang="en-US" sz="2400">
                <a:latin typeface="+mn-lt"/>
              </a:rPr>
              <a:t>Your Responses: AI Governance</a:t>
            </a:r>
            <a:endParaRPr lang="en-US" sz="2400">
              <a:solidFill>
                <a:srgbClr val="002856"/>
              </a:solidFill>
              <a:latin typeface="+mn-lt"/>
            </a:endParaRPr>
          </a:p>
        </p:txBody>
      </p:sp>
      <p:sp>
        <p:nvSpPr>
          <p:cNvPr id="36" name="TextBox 35" descr="FILLCOLOR-IF=AND([C_T2_24]=&quot;N/A&quot;,[T_T2_24]=&quot;N/A&quot;),#FFFFF7&#10;FONTCOLOR-IF=AND([C_T2_24]=&quot;N/A&quot;,[T_T2_24]=&quot;N/A&quot;),#7F7F7F">
            <a:extLst>
              <a:ext uri="{FF2B5EF4-FFF2-40B4-BE49-F238E27FC236}">
                <a16:creationId xmlns:a16="http://schemas.microsoft.com/office/drawing/2014/main" id="{171E67FF-47BF-6332-0B2E-6F4235DE3421}"/>
              </a:ext>
            </a:extLst>
          </p:cNvPr>
          <p:cNvSpPr txBox="1"/>
          <p:nvPr>
            <p:custDataLst>
              <p:tags r:id="rId2"/>
            </p:custDataLst>
          </p:nvPr>
        </p:nvSpPr>
        <p:spPr>
          <a:xfrm>
            <a:off x="644660" y="1884431"/>
            <a:ext cx="3348000" cy="276999"/>
          </a:xfrm>
          <a:prstGeom prst="rect">
            <a:avLst/>
          </a:prstGeom>
          <a:noFill/>
        </p:spPr>
        <p:txBody>
          <a:bodyPr wrap="square">
            <a:spAutoFit/>
          </a:bodyPr>
          <a:lstStyle/>
          <a:p>
            <a:pPr algn="r"/>
            <a:r>
              <a:rPr lang="en-US" sz="1200"/>
              <a:t>Evolve AI policies &amp; controls</a:t>
            </a:r>
            <a:endParaRPr lang="it-IT" sz="1200"/>
          </a:p>
        </p:txBody>
      </p:sp>
      <p:sp>
        <p:nvSpPr>
          <p:cNvPr id="37" name="TextBox 36" descr="FILLCOLOR-IF=AND([C_T2_28]=&quot;N/A&quot;,[T_T2_28]=&quot;N/A&quot;),#FFFFF7&#10;FONTCOLOR-IF=AND([C_T2_28]=&quot;N/A&quot;,[T_T2_28]=&quot;N/A&quot;),#7F7F7F">
            <a:extLst>
              <a:ext uri="{FF2B5EF4-FFF2-40B4-BE49-F238E27FC236}">
                <a16:creationId xmlns:a16="http://schemas.microsoft.com/office/drawing/2014/main" id="{6C528DA7-B3B3-3D89-8E8E-78B2FE6021A6}"/>
              </a:ext>
            </a:extLst>
          </p:cNvPr>
          <p:cNvSpPr txBox="1"/>
          <p:nvPr>
            <p:custDataLst>
              <p:tags r:id="rId3"/>
            </p:custDataLst>
          </p:nvPr>
        </p:nvSpPr>
        <p:spPr>
          <a:xfrm>
            <a:off x="644660" y="2532512"/>
            <a:ext cx="3348000" cy="276999"/>
          </a:xfrm>
          <a:prstGeom prst="rect">
            <a:avLst/>
          </a:prstGeom>
          <a:noFill/>
        </p:spPr>
        <p:txBody>
          <a:bodyPr wrap="square">
            <a:spAutoFit/>
          </a:bodyPr>
          <a:lstStyle/>
          <a:p>
            <a:pPr algn="r"/>
            <a:r>
              <a:rPr lang="en-US" sz="1200"/>
              <a:t>Develop AI governance teams &amp; roles</a:t>
            </a:r>
            <a:endParaRPr lang="en-IN" sz="1200"/>
          </a:p>
        </p:txBody>
      </p:sp>
      <p:sp>
        <p:nvSpPr>
          <p:cNvPr id="38" name="TextBox 37" descr="FILLCOLOR-IF=AND([C_T2_30]=&quot;N/A&quot;,[T_T2_30]=&quot;N/A&quot;),#FFFFF7&#10;FONTCOLOR-IF=AND([C_T2_30]=&quot;N/A&quot;,[T_T2_30]=&quot;N/A&quot;),#7F7F7F">
            <a:extLst>
              <a:ext uri="{FF2B5EF4-FFF2-40B4-BE49-F238E27FC236}">
                <a16:creationId xmlns:a16="http://schemas.microsoft.com/office/drawing/2014/main" id="{F5C61D6F-3487-FC81-80BF-B553AD18CCDF}"/>
              </a:ext>
            </a:extLst>
          </p:cNvPr>
          <p:cNvSpPr txBox="1"/>
          <p:nvPr>
            <p:custDataLst>
              <p:tags r:id="rId4"/>
            </p:custDataLst>
          </p:nvPr>
        </p:nvSpPr>
        <p:spPr>
          <a:xfrm>
            <a:off x="644660" y="3163281"/>
            <a:ext cx="3348000" cy="276999"/>
          </a:xfrm>
          <a:prstGeom prst="rect">
            <a:avLst/>
          </a:prstGeom>
          <a:noFill/>
        </p:spPr>
        <p:txBody>
          <a:bodyPr wrap="square">
            <a:spAutoFit/>
          </a:bodyPr>
          <a:lstStyle/>
          <a:p>
            <a:pPr algn="r"/>
            <a:r>
              <a:rPr lang="en-US" sz="1200"/>
              <a:t>Monitor AI &amp; enforce policies</a:t>
            </a:r>
            <a:endParaRPr lang="en-IN" sz="1200"/>
          </a:p>
        </p:txBody>
      </p:sp>
      <p:cxnSp>
        <p:nvCxnSpPr>
          <p:cNvPr id="17" name="Straight Connector 1">
            <a:extLst>
              <a:ext uri="{FF2B5EF4-FFF2-40B4-BE49-F238E27FC236}">
                <a16:creationId xmlns:a16="http://schemas.microsoft.com/office/drawing/2014/main" id="{F4436BF9-E871-F79A-A250-B10FEF71B5E7}"/>
              </a:ext>
            </a:extLst>
          </p:cNvPr>
          <p:cNvCxnSpPr/>
          <p:nvPr>
            <p:custDataLst>
              <p:tags r:id="rId5"/>
            </p:custDataLst>
          </p:nvPr>
        </p:nvCxnSpPr>
        <p:spPr>
          <a:xfrm flipH="1" flipV="1">
            <a:off x="4285004" y="2031603"/>
            <a:ext cx="6444000" cy="3600"/>
          </a:xfrm>
          <a:prstGeom prst="line">
            <a:avLst/>
          </a:prstGeom>
          <a:noFill/>
          <a:ln w="12700" cap="flat" cmpd="sng">
            <a:solidFill>
              <a:srgbClr val="D9D9D9"/>
            </a:solidFill>
            <a:prstDash val="solid"/>
            <a:round/>
            <a:headEnd type="none" w="lg" len="med"/>
            <a:tailEnd type="none" w="lg" len="med"/>
          </a:ln>
        </p:spPr>
      </p:cxnSp>
      <p:graphicFrame>
        <p:nvGraphicFramePr>
          <p:cNvPr id="18" name="Chart 17" descr="SOURCE=[BULLET_DEVELOP_AI_ETHICS_FRAMEWORKS_POLICIES_AND_CONTROLS]&#10;HIDE-IF=AND([C_T2_24]=&quot;N/A&quot;,[T_T2_24]=&quot;N/A&quot;)">
            <a:extLst>
              <a:ext uri="{FF2B5EF4-FFF2-40B4-BE49-F238E27FC236}">
                <a16:creationId xmlns:a16="http://schemas.microsoft.com/office/drawing/2014/main" id="{87D7135A-CFF5-8D61-75A1-1AC8E6F1D316}"/>
              </a:ext>
            </a:extLst>
          </p:cNvPr>
          <p:cNvGraphicFramePr>
            <a:graphicFrameLocks noDrilldown="1"/>
          </p:cNvGraphicFramePr>
          <p:nvPr>
            <p:custDataLst>
              <p:tags r:id="rId6"/>
            </p:custDataLst>
            <p:extLst>
              <p:ext uri="{D42A27DB-BD31-4B8C-83A1-F6EECF244321}">
                <p14:modId xmlns:p14="http://schemas.microsoft.com/office/powerpoint/2010/main" val="3200877673"/>
              </p:ext>
            </p:extLst>
          </p:nvPr>
        </p:nvGraphicFramePr>
        <p:xfrm>
          <a:off x="4179688" y="1476933"/>
          <a:ext cx="6872206" cy="900000"/>
        </p:xfrm>
        <a:graphic>
          <a:graphicData uri="http://schemas.openxmlformats.org/drawingml/2006/chart">
            <c:chart xmlns:c="http://schemas.openxmlformats.org/drawingml/2006/chart" xmlns:r="http://schemas.openxmlformats.org/officeDocument/2006/relationships" r:id="rId29"/>
          </a:graphicData>
        </a:graphic>
      </p:graphicFrame>
      <p:cxnSp>
        <p:nvCxnSpPr>
          <p:cNvPr id="19" name="Straight Connector 1">
            <a:extLst>
              <a:ext uri="{FF2B5EF4-FFF2-40B4-BE49-F238E27FC236}">
                <a16:creationId xmlns:a16="http://schemas.microsoft.com/office/drawing/2014/main" id="{9E668580-B1E2-B9CB-BCD2-A25A9FFA97B3}"/>
              </a:ext>
            </a:extLst>
          </p:cNvPr>
          <p:cNvCxnSpPr/>
          <p:nvPr>
            <p:custDataLst>
              <p:tags r:id="rId7"/>
            </p:custDataLst>
          </p:nvPr>
        </p:nvCxnSpPr>
        <p:spPr>
          <a:xfrm flipH="1" flipV="1">
            <a:off x="4285004" y="2658970"/>
            <a:ext cx="6444000" cy="3600"/>
          </a:xfrm>
          <a:prstGeom prst="line">
            <a:avLst/>
          </a:prstGeom>
          <a:noFill/>
          <a:ln w="12700" cap="flat" cmpd="sng">
            <a:solidFill>
              <a:srgbClr val="D9D9D9"/>
            </a:solidFill>
            <a:prstDash val="solid"/>
            <a:round/>
            <a:headEnd type="none" w="lg" len="med"/>
            <a:tailEnd type="none" w="lg" len="med"/>
          </a:ln>
        </p:spPr>
      </p:cxnSp>
      <p:graphicFrame>
        <p:nvGraphicFramePr>
          <p:cNvPr id="20" name="Chart 19" descr="SOURCE=[BULLET_IDENTIFY_AND_MANAGE_GOVERNANCE_DECISION_RIGHTS_AND_STAKEHOLDERS]&#10;HIDE-IF=AND([C_T2_28]=&quot;N/A&quot;,[T_T2_28]=&quot;N/A&quot;)">
            <a:extLst>
              <a:ext uri="{FF2B5EF4-FFF2-40B4-BE49-F238E27FC236}">
                <a16:creationId xmlns:a16="http://schemas.microsoft.com/office/drawing/2014/main" id="{C7D51819-E67B-2F03-E908-D3DCADAAFE1B}"/>
              </a:ext>
            </a:extLst>
          </p:cNvPr>
          <p:cNvGraphicFramePr>
            <a:graphicFrameLocks noDrilldown="1"/>
          </p:cNvGraphicFramePr>
          <p:nvPr>
            <p:custDataLst>
              <p:tags r:id="rId8"/>
            </p:custDataLst>
            <p:extLst>
              <p:ext uri="{D42A27DB-BD31-4B8C-83A1-F6EECF244321}">
                <p14:modId xmlns:p14="http://schemas.microsoft.com/office/powerpoint/2010/main" val="124709955"/>
              </p:ext>
            </p:extLst>
          </p:nvPr>
        </p:nvGraphicFramePr>
        <p:xfrm>
          <a:off x="4179600" y="2075740"/>
          <a:ext cx="6872400" cy="900000"/>
        </p:xfrm>
        <a:graphic>
          <a:graphicData uri="http://schemas.openxmlformats.org/drawingml/2006/chart">
            <c:chart xmlns:c="http://schemas.openxmlformats.org/drawingml/2006/chart" xmlns:r="http://schemas.openxmlformats.org/officeDocument/2006/relationships" r:id="rId30"/>
          </a:graphicData>
        </a:graphic>
      </p:graphicFrame>
      <p:cxnSp>
        <p:nvCxnSpPr>
          <p:cNvPr id="21" name="Straight Connector 1">
            <a:extLst>
              <a:ext uri="{FF2B5EF4-FFF2-40B4-BE49-F238E27FC236}">
                <a16:creationId xmlns:a16="http://schemas.microsoft.com/office/drawing/2014/main" id="{82D512A6-590A-6B1C-C958-E635B828B5E0}"/>
              </a:ext>
            </a:extLst>
          </p:cNvPr>
          <p:cNvCxnSpPr/>
          <p:nvPr>
            <p:custDataLst>
              <p:tags r:id="rId9"/>
            </p:custDataLst>
          </p:nvPr>
        </p:nvCxnSpPr>
        <p:spPr>
          <a:xfrm flipH="1" flipV="1">
            <a:off x="4285004" y="3290072"/>
            <a:ext cx="6444000" cy="3600"/>
          </a:xfrm>
          <a:prstGeom prst="line">
            <a:avLst/>
          </a:prstGeom>
          <a:noFill/>
          <a:ln w="12700" cap="flat" cmpd="sng">
            <a:solidFill>
              <a:srgbClr val="D9D9D9"/>
            </a:solidFill>
            <a:prstDash val="solid"/>
            <a:round/>
            <a:headEnd type="none" w="lg" len="med"/>
            <a:tailEnd type="none" w="lg" len="med"/>
          </a:ln>
        </p:spPr>
      </p:cxnSp>
      <p:graphicFrame>
        <p:nvGraphicFramePr>
          <p:cNvPr id="58" name="Chart 57" descr="SOURCE=[BULLET_MONITOR_AND_ENFORCE_COMPLIANCE_WITH_GOVERNANCE_REQUIREMENTS]&#10;HIDE-IF=AND([C_T2_30]=&quot;N/A&quot;,[T_T2_30]=&quot;N/A&quot;)">
            <a:extLst>
              <a:ext uri="{FF2B5EF4-FFF2-40B4-BE49-F238E27FC236}">
                <a16:creationId xmlns:a16="http://schemas.microsoft.com/office/drawing/2014/main" id="{B080D2F0-0517-299C-9AB5-D093CABF290F}"/>
              </a:ext>
            </a:extLst>
          </p:cNvPr>
          <p:cNvGraphicFramePr>
            <a:graphicFrameLocks noDrilldown="1"/>
          </p:cNvGraphicFramePr>
          <p:nvPr>
            <p:custDataLst>
              <p:tags r:id="rId10"/>
            </p:custDataLst>
            <p:extLst>
              <p:ext uri="{D42A27DB-BD31-4B8C-83A1-F6EECF244321}">
                <p14:modId xmlns:p14="http://schemas.microsoft.com/office/powerpoint/2010/main" val="838844853"/>
              </p:ext>
            </p:extLst>
          </p:nvPr>
        </p:nvGraphicFramePr>
        <p:xfrm>
          <a:off x="4179600" y="2723620"/>
          <a:ext cx="6872400" cy="900000"/>
        </p:xfrm>
        <a:graphic>
          <a:graphicData uri="http://schemas.openxmlformats.org/drawingml/2006/chart">
            <c:chart xmlns:c="http://schemas.openxmlformats.org/drawingml/2006/chart" xmlns:r="http://schemas.openxmlformats.org/officeDocument/2006/relationships" r:id="rId31"/>
          </a:graphicData>
        </a:graphic>
      </p:graphicFrame>
      <p:grpSp>
        <p:nvGrpSpPr>
          <p:cNvPr id="2" name="Group 1">
            <a:extLst>
              <a:ext uri="{FF2B5EF4-FFF2-40B4-BE49-F238E27FC236}">
                <a16:creationId xmlns:a16="http://schemas.microsoft.com/office/drawing/2014/main" id="{8F06C5B4-CADF-9A74-BF13-6EA25C660E88}"/>
              </a:ext>
            </a:extLst>
          </p:cNvPr>
          <p:cNvGrpSpPr/>
          <p:nvPr>
            <p:custDataLst>
              <p:tags r:id="rId11"/>
            </p:custDataLst>
          </p:nvPr>
        </p:nvGrpSpPr>
        <p:grpSpPr>
          <a:xfrm>
            <a:off x="4293132" y="1011935"/>
            <a:ext cx="6358279" cy="338554"/>
            <a:chOff x="2649839" y="857851"/>
            <a:chExt cx="5601782" cy="338554"/>
          </a:xfrm>
        </p:grpSpPr>
        <p:sp>
          <p:nvSpPr>
            <p:cNvPr id="3" name="TextBox 2">
              <a:extLst>
                <a:ext uri="{FF2B5EF4-FFF2-40B4-BE49-F238E27FC236}">
                  <a16:creationId xmlns:a16="http://schemas.microsoft.com/office/drawing/2014/main" id="{C447F849-3B5C-2B67-44C6-EB0ED65F6890}"/>
                </a:ext>
              </a:extLst>
            </p:cNvPr>
            <p:cNvSpPr txBox="1"/>
            <p:nvPr>
              <p:custDataLst>
                <p:tags r:id="rId22"/>
              </p:custDataLst>
            </p:nvPr>
          </p:nvSpPr>
          <p:spPr>
            <a:xfrm>
              <a:off x="2649839" y="857851"/>
              <a:ext cx="1052903"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 None</a:t>
              </a:r>
            </a:p>
          </p:txBody>
        </p:sp>
        <p:sp>
          <p:nvSpPr>
            <p:cNvPr id="5" name="TextBox 4">
              <a:extLst>
                <a:ext uri="{FF2B5EF4-FFF2-40B4-BE49-F238E27FC236}">
                  <a16:creationId xmlns:a16="http://schemas.microsoft.com/office/drawing/2014/main" id="{7BC2193C-4B97-86BC-6BD4-CC77383979CB}"/>
                </a:ext>
              </a:extLst>
            </p:cNvPr>
            <p:cNvSpPr txBox="1"/>
            <p:nvPr>
              <p:custDataLst>
                <p:tags r:id="rId23"/>
              </p:custDataLst>
            </p:nvPr>
          </p:nvSpPr>
          <p:spPr>
            <a:xfrm>
              <a:off x="3862802" y="857851"/>
              <a:ext cx="983220"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Partial</a:t>
              </a:r>
            </a:p>
          </p:txBody>
        </p:sp>
        <p:sp>
          <p:nvSpPr>
            <p:cNvPr id="6" name="TextBox 5">
              <a:extLst>
                <a:ext uri="{FF2B5EF4-FFF2-40B4-BE49-F238E27FC236}">
                  <a16:creationId xmlns:a16="http://schemas.microsoft.com/office/drawing/2014/main" id="{9915A463-4249-D99A-95E6-58524C6FE1FF}"/>
                </a:ext>
              </a:extLst>
            </p:cNvPr>
            <p:cNvSpPr txBox="1"/>
            <p:nvPr>
              <p:custDataLst>
                <p:tags r:id="rId24"/>
              </p:custDataLst>
            </p:nvPr>
          </p:nvSpPr>
          <p:spPr>
            <a:xfrm>
              <a:off x="4998563" y="857851"/>
              <a:ext cx="983220"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 Full</a:t>
              </a:r>
            </a:p>
          </p:txBody>
        </p:sp>
        <p:sp>
          <p:nvSpPr>
            <p:cNvPr id="7" name="TextBox 6">
              <a:extLst>
                <a:ext uri="{FF2B5EF4-FFF2-40B4-BE49-F238E27FC236}">
                  <a16:creationId xmlns:a16="http://schemas.microsoft.com/office/drawing/2014/main" id="{C744F4A6-C538-09F5-DD0F-0B1F68A2CD28}"/>
                </a:ext>
              </a:extLst>
            </p:cNvPr>
            <p:cNvSpPr txBox="1"/>
            <p:nvPr>
              <p:custDataLst>
                <p:tags r:id="rId25"/>
              </p:custDataLst>
            </p:nvPr>
          </p:nvSpPr>
          <p:spPr>
            <a:xfrm>
              <a:off x="6127606" y="857851"/>
              <a:ext cx="983220"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Optimized</a:t>
              </a:r>
            </a:p>
          </p:txBody>
        </p:sp>
        <p:sp>
          <p:nvSpPr>
            <p:cNvPr id="8" name="TextBox 7">
              <a:extLst>
                <a:ext uri="{FF2B5EF4-FFF2-40B4-BE49-F238E27FC236}">
                  <a16:creationId xmlns:a16="http://schemas.microsoft.com/office/drawing/2014/main" id="{B0FD8E12-D7B3-5C1F-73C1-96C589D4A0F6}"/>
                </a:ext>
              </a:extLst>
            </p:cNvPr>
            <p:cNvSpPr txBox="1"/>
            <p:nvPr>
              <p:custDataLst>
                <p:tags r:id="rId26"/>
              </p:custDataLst>
            </p:nvPr>
          </p:nvSpPr>
          <p:spPr>
            <a:xfrm>
              <a:off x="7268401" y="857851"/>
              <a:ext cx="983220"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Adaptive</a:t>
              </a:r>
            </a:p>
          </p:txBody>
        </p:sp>
      </p:grpSp>
      <p:sp>
        <p:nvSpPr>
          <p:cNvPr id="9" name="Oval 8">
            <a:extLst>
              <a:ext uri="{FF2B5EF4-FFF2-40B4-BE49-F238E27FC236}">
                <a16:creationId xmlns:a16="http://schemas.microsoft.com/office/drawing/2014/main" id="{9972C068-ABE2-56C2-809E-DF66111E88A2}"/>
              </a:ext>
            </a:extLst>
          </p:cNvPr>
          <p:cNvSpPr/>
          <p:nvPr>
            <p:custDataLst>
              <p:tags r:id="rId12"/>
            </p:custDataLst>
          </p:nvPr>
        </p:nvSpPr>
        <p:spPr>
          <a:xfrm>
            <a:off x="5465570" y="1075831"/>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1</a:t>
            </a:r>
          </a:p>
        </p:txBody>
      </p:sp>
      <p:sp>
        <p:nvSpPr>
          <p:cNvPr id="10" name="Oval 9">
            <a:extLst>
              <a:ext uri="{FF2B5EF4-FFF2-40B4-BE49-F238E27FC236}">
                <a16:creationId xmlns:a16="http://schemas.microsoft.com/office/drawing/2014/main" id="{01B703B6-4C1E-DAE7-DCEF-A1D6CF8FB3B3}"/>
              </a:ext>
            </a:extLst>
          </p:cNvPr>
          <p:cNvSpPr/>
          <p:nvPr>
            <p:custDataLst>
              <p:tags r:id="rId13"/>
            </p:custDataLst>
          </p:nvPr>
        </p:nvSpPr>
        <p:spPr>
          <a:xfrm>
            <a:off x="6756827" y="1085606"/>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2</a:t>
            </a:r>
          </a:p>
        </p:txBody>
      </p:sp>
      <p:sp>
        <p:nvSpPr>
          <p:cNvPr id="11" name="Oval 10">
            <a:extLst>
              <a:ext uri="{FF2B5EF4-FFF2-40B4-BE49-F238E27FC236}">
                <a16:creationId xmlns:a16="http://schemas.microsoft.com/office/drawing/2014/main" id="{3F836FBA-CDB0-B35E-23A3-6FB41E0ECAB3}"/>
              </a:ext>
            </a:extLst>
          </p:cNvPr>
          <p:cNvSpPr/>
          <p:nvPr>
            <p:custDataLst>
              <p:tags r:id="rId14"/>
            </p:custDataLst>
          </p:nvPr>
        </p:nvSpPr>
        <p:spPr>
          <a:xfrm>
            <a:off x="8045383" y="1085605"/>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3</a:t>
            </a:r>
          </a:p>
        </p:txBody>
      </p:sp>
      <p:sp>
        <p:nvSpPr>
          <p:cNvPr id="12" name="Oval 11">
            <a:extLst>
              <a:ext uri="{FF2B5EF4-FFF2-40B4-BE49-F238E27FC236}">
                <a16:creationId xmlns:a16="http://schemas.microsoft.com/office/drawing/2014/main" id="{38871EF7-86A5-70F8-BFFE-63EB7B37EB18}"/>
              </a:ext>
            </a:extLst>
          </p:cNvPr>
          <p:cNvSpPr/>
          <p:nvPr>
            <p:custDataLst>
              <p:tags r:id="rId15"/>
            </p:custDataLst>
          </p:nvPr>
        </p:nvSpPr>
        <p:spPr>
          <a:xfrm>
            <a:off x="9334590" y="1094884"/>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4</a:t>
            </a:r>
          </a:p>
        </p:txBody>
      </p:sp>
      <p:sp>
        <p:nvSpPr>
          <p:cNvPr id="13" name="Oval 12">
            <a:extLst>
              <a:ext uri="{FF2B5EF4-FFF2-40B4-BE49-F238E27FC236}">
                <a16:creationId xmlns:a16="http://schemas.microsoft.com/office/drawing/2014/main" id="{58CC39B7-2FA6-18F0-B461-2E06195D8B91}"/>
              </a:ext>
            </a:extLst>
          </p:cNvPr>
          <p:cNvSpPr/>
          <p:nvPr>
            <p:custDataLst>
              <p:tags r:id="rId16"/>
            </p:custDataLst>
          </p:nvPr>
        </p:nvSpPr>
        <p:spPr>
          <a:xfrm>
            <a:off x="10620471" y="1085604"/>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5</a:t>
            </a:r>
          </a:p>
        </p:txBody>
      </p:sp>
      <p:grpSp>
        <p:nvGrpSpPr>
          <p:cNvPr id="14" name="Group 13">
            <a:extLst>
              <a:ext uri="{FF2B5EF4-FFF2-40B4-BE49-F238E27FC236}">
                <a16:creationId xmlns:a16="http://schemas.microsoft.com/office/drawing/2014/main" id="{E9E0FB0A-6AC6-DBAF-92A1-107560EDA28E}"/>
              </a:ext>
            </a:extLst>
          </p:cNvPr>
          <p:cNvGrpSpPr/>
          <p:nvPr>
            <p:custDataLst>
              <p:tags r:id="rId17"/>
            </p:custDataLst>
          </p:nvPr>
        </p:nvGrpSpPr>
        <p:grpSpPr>
          <a:xfrm>
            <a:off x="1842218" y="1074475"/>
            <a:ext cx="2166003" cy="219236"/>
            <a:chOff x="3884227" y="8402296"/>
            <a:chExt cx="2166003" cy="219236"/>
          </a:xfrm>
        </p:grpSpPr>
        <p:sp>
          <p:nvSpPr>
            <p:cNvPr id="15" name="TextBox 58">
              <a:extLst>
                <a:ext uri="{FF2B5EF4-FFF2-40B4-BE49-F238E27FC236}">
                  <a16:creationId xmlns:a16="http://schemas.microsoft.com/office/drawing/2014/main" id="{5EA6EA28-41F1-302A-542D-98C6674558D6}"/>
                </a:ext>
              </a:extLst>
            </p:cNvPr>
            <p:cNvSpPr txBox="1"/>
            <p:nvPr>
              <p:custDataLst>
                <p:tags r:id="rId18"/>
              </p:custDataLst>
            </p:nvPr>
          </p:nvSpPr>
          <p:spPr>
            <a:xfrm>
              <a:off x="4029201" y="8406088"/>
              <a:ext cx="1005125" cy="21544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panose="020B0604020202020204" pitchFamily="34" charset="0"/>
                </a:rPr>
                <a:t>Current Maturity</a:t>
              </a:r>
            </a:p>
          </p:txBody>
        </p:sp>
        <p:sp>
          <p:nvSpPr>
            <p:cNvPr id="16" name="TextBox 59">
              <a:extLst>
                <a:ext uri="{FF2B5EF4-FFF2-40B4-BE49-F238E27FC236}">
                  <a16:creationId xmlns:a16="http://schemas.microsoft.com/office/drawing/2014/main" id="{8A972697-5F47-830F-6080-94F4C9E967F1}"/>
                </a:ext>
              </a:extLst>
            </p:cNvPr>
            <p:cNvSpPr txBox="1"/>
            <p:nvPr>
              <p:custDataLst>
                <p:tags r:id="rId19"/>
              </p:custDataLst>
            </p:nvPr>
          </p:nvSpPr>
          <p:spPr>
            <a:xfrm>
              <a:off x="5169038" y="8402296"/>
              <a:ext cx="881192" cy="21544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panose="020B0604020202020204" pitchFamily="34" charset="0"/>
                </a:rPr>
                <a:t>Target Maturity</a:t>
              </a:r>
            </a:p>
          </p:txBody>
        </p:sp>
        <p:sp>
          <p:nvSpPr>
            <p:cNvPr id="22" name="Rectangle 21">
              <a:extLst>
                <a:ext uri="{FF2B5EF4-FFF2-40B4-BE49-F238E27FC236}">
                  <a16:creationId xmlns:a16="http://schemas.microsoft.com/office/drawing/2014/main" id="{CC3D29F1-A8F9-B499-EC11-D6F7F8E31577}"/>
                </a:ext>
              </a:extLst>
            </p:cNvPr>
            <p:cNvSpPr/>
            <p:nvPr>
              <p:custDataLst>
                <p:tags r:id="rId20"/>
              </p:custDataLst>
            </p:nvPr>
          </p:nvSpPr>
          <p:spPr>
            <a:xfrm>
              <a:off x="3884227" y="8444792"/>
              <a:ext cx="136507" cy="136507"/>
            </a:xfrm>
            <a:prstGeom prst="rect">
              <a:avLst/>
            </a:prstGeom>
            <a:solidFill>
              <a:srgbClr val="0028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 name="Rectangle 22">
              <a:extLst>
                <a:ext uri="{FF2B5EF4-FFF2-40B4-BE49-F238E27FC236}">
                  <a16:creationId xmlns:a16="http://schemas.microsoft.com/office/drawing/2014/main" id="{50910D16-2991-0825-72A6-83F524ED0AEA}"/>
                </a:ext>
              </a:extLst>
            </p:cNvPr>
            <p:cNvSpPr/>
            <p:nvPr>
              <p:custDataLst>
                <p:tags r:id="rId21"/>
              </p:custDataLst>
            </p:nvPr>
          </p:nvSpPr>
          <p:spPr>
            <a:xfrm>
              <a:off x="5034326" y="8441765"/>
              <a:ext cx="136507" cy="136507"/>
            </a:xfrm>
            <a:prstGeom prst="rect">
              <a:avLst/>
            </a:prstGeom>
            <a:solidFill>
              <a:srgbClr val="1F9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Tree>
    <p:extLst>
      <p:ext uri="{BB962C8B-B14F-4D97-AF65-F5344CB8AC3E}">
        <p14:creationId xmlns:p14="http://schemas.microsoft.com/office/powerpoint/2010/main" val="201897214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5880E-FCBE-F9EC-C50E-BFD8674CA65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BFE97B2-3219-1065-3157-C7B2F893FD5F}"/>
              </a:ext>
            </a:extLst>
          </p:cNvPr>
          <p:cNvSpPr>
            <a:spLocks noGrp="1"/>
          </p:cNvSpPr>
          <p:nvPr>
            <p:ph type="title"/>
            <p:custDataLst>
              <p:tags r:id="rId1"/>
            </p:custDataLst>
          </p:nvPr>
        </p:nvSpPr>
        <p:spPr bwMode="gray">
          <a:xfrm>
            <a:off x="536400" y="324000"/>
            <a:ext cx="11274552" cy="451231"/>
          </a:xfrm>
        </p:spPr>
        <p:txBody>
          <a:bodyPr vert="horz"/>
          <a:lstStyle/>
          <a:p>
            <a:r>
              <a:rPr lang="en-US" sz="2400">
                <a:latin typeface="+mn-lt"/>
              </a:rPr>
              <a:t>Your Responses: AI Engineering</a:t>
            </a:r>
            <a:endParaRPr lang="en-US" sz="2400">
              <a:solidFill>
                <a:srgbClr val="002856"/>
              </a:solidFill>
              <a:latin typeface="+mn-lt"/>
            </a:endParaRPr>
          </a:p>
        </p:txBody>
      </p:sp>
      <p:sp>
        <p:nvSpPr>
          <p:cNvPr id="36" name="TextBox 35" descr="FILLCOLOR-IF=AND([C_T2_32]=&quot;N/A&quot;,[T_T2_32]=&quot;N/A&quot;),#FFFFF7&#10;FONTCOLOR-IF=AND([C_T2_32]=&quot;N/A&quot;,[T_T2_32]=&quot;N/A&quot;),#7F7F7F">
            <a:extLst>
              <a:ext uri="{FF2B5EF4-FFF2-40B4-BE49-F238E27FC236}">
                <a16:creationId xmlns:a16="http://schemas.microsoft.com/office/drawing/2014/main" id="{BEF5A64C-EB80-AFA6-EE7E-5158A6EE8900}"/>
              </a:ext>
            </a:extLst>
          </p:cNvPr>
          <p:cNvSpPr txBox="1"/>
          <p:nvPr>
            <p:custDataLst>
              <p:tags r:id="rId2"/>
            </p:custDataLst>
          </p:nvPr>
        </p:nvSpPr>
        <p:spPr>
          <a:xfrm>
            <a:off x="644660" y="1884431"/>
            <a:ext cx="3348000" cy="276999"/>
          </a:xfrm>
          <a:prstGeom prst="rect">
            <a:avLst/>
          </a:prstGeom>
          <a:noFill/>
        </p:spPr>
        <p:txBody>
          <a:bodyPr wrap="square">
            <a:spAutoFit/>
          </a:bodyPr>
          <a:lstStyle/>
          <a:p>
            <a:pPr algn="r"/>
            <a:r>
              <a:rPr lang="en-US" sz="1200"/>
              <a:t>Design &amp; architect AI</a:t>
            </a:r>
            <a:endParaRPr lang="it-IT" sz="1200"/>
          </a:p>
        </p:txBody>
      </p:sp>
      <p:sp>
        <p:nvSpPr>
          <p:cNvPr id="37" name="TextBox 36" descr="FILLCOLOR-IF=AND([C_T2_35]=&quot;N/A&quot;,[T_T2_35]=&quot;N/A&quot;),#FFFFF7&#10;FONTCOLOR-IF=AND([C_T2_35]=&quot;N/A&quot;,[T_T2_35]=&quot;N/A&quot;),#7F7F7F">
            <a:extLst>
              <a:ext uri="{FF2B5EF4-FFF2-40B4-BE49-F238E27FC236}">
                <a16:creationId xmlns:a16="http://schemas.microsoft.com/office/drawing/2014/main" id="{DA69ECB3-09A0-3446-B1A3-54C0EF86A89B}"/>
              </a:ext>
            </a:extLst>
          </p:cNvPr>
          <p:cNvSpPr txBox="1"/>
          <p:nvPr>
            <p:custDataLst>
              <p:tags r:id="rId3"/>
            </p:custDataLst>
          </p:nvPr>
        </p:nvSpPr>
        <p:spPr>
          <a:xfrm>
            <a:off x="644660" y="2532512"/>
            <a:ext cx="3348000" cy="276999"/>
          </a:xfrm>
          <a:prstGeom prst="rect">
            <a:avLst/>
          </a:prstGeom>
          <a:noFill/>
        </p:spPr>
        <p:txBody>
          <a:bodyPr wrap="square">
            <a:spAutoFit/>
          </a:bodyPr>
          <a:lstStyle/>
          <a:p>
            <a:pPr algn="r"/>
            <a:r>
              <a:rPr lang="en-US" sz="1200"/>
              <a:t>Develop, test &amp; integrate AI</a:t>
            </a:r>
          </a:p>
        </p:txBody>
      </p:sp>
      <p:sp>
        <p:nvSpPr>
          <p:cNvPr id="38" name="TextBox 37" descr="FILLCOLOR-IF=AND([C_T2_39]=&quot;N/A&quot;,[T_T2_39]=&quot;N/A&quot;),#FFFFF7&#10;FONTCOLOR-IF=AND([C_T2_39]=&quot;N/A&quot;,[T_T2_39]=&quot;N/A&quot;),#7F7F7F">
            <a:extLst>
              <a:ext uri="{FF2B5EF4-FFF2-40B4-BE49-F238E27FC236}">
                <a16:creationId xmlns:a16="http://schemas.microsoft.com/office/drawing/2014/main" id="{928DC1FC-E5EF-1BCC-4708-4F3E451F625F}"/>
              </a:ext>
            </a:extLst>
          </p:cNvPr>
          <p:cNvSpPr txBox="1"/>
          <p:nvPr>
            <p:custDataLst>
              <p:tags r:id="rId4"/>
            </p:custDataLst>
          </p:nvPr>
        </p:nvSpPr>
        <p:spPr>
          <a:xfrm>
            <a:off x="644660" y="3163281"/>
            <a:ext cx="3348000" cy="276999"/>
          </a:xfrm>
          <a:prstGeom prst="rect">
            <a:avLst/>
          </a:prstGeom>
          <a:noFill/>
        </p:spPr>
        <p:txBody>
          <a:bodyPr wrap="square">
            <a:spAutoFit/>
          </a:bodyPr>
          <a:lstStyle/>
          <a:p>
            <a:pPr algn="r"/>
            <a:r>
              <a:rPr lang="en-US" sz="1200"/>
              <a:t>Deploy, operate &amp; scale AI</a:t>
            </a:r>
            <a:endParaRPr lang="en-IN" sz="1200"/>
          </a:p>
        </p:txBody>
      </p:sp>
      <p:sp>
        <p:nvSpPr>
          <p:cNvPr id="39" name="TextBox 38" descr="FILLCOLOR-IF=AND([C_T2_40]=&quot;N/A&quot;,[T_T2_40]=&quot;N/A&quot;),#FFFFF7&#10;FONTCOLOR-IF=AND([C_T2_40]=&quot;N/A&quot;,[T_T2_40]=&quot;N/A&quot;),#7F7F7F">
            <a:extLst>
              <a:ext uri="{FF2B5EF4-FFF2-40B4-BE49-F238E27FC236}">
                <a16:creationId xmlns:a16="http://schemas.microsoft.com/office/drawing/2014/main" id="{AACF6400-A81B-DF7B-F71C-E585240664B5}"/>
              </a:ext>
            </a:extLst>
          </p:cNvPr>
          <p:cNvSpPr txBox="1"/>
          <p:nvPr>
            <p:custDataLst>
              <p:tags r:id="rId5"/>
            </p:custDataLst>
          </p:nvPr>
        </p:nvSpPr>
        <p:spPr>
          <a:xfrm>
            <a:off x="644660" y="3786710"/>
            <a:ext cx="3348000" cy="276999"/>
          </a:xfrm>
          <a:prstGeom prst="rect">
            <a:avLst/>
          </a:prstGeom>
          <a:noFill/>
        </p:spPr>
        <p:txBody>
          <a:bodyPr wrap="square">
            <a:spAutoFit/>
          </a:bodyPr>
          <a:lstStyle/>
          <a:p>
            <a:pPr algn="r"/>
            <a:r>
              <a:rPr lang="en-US" sz="1200"/>
              <a:t>Manage AI platform &amp; infrastructure</a:t>
            </a:r>
            <a:endParaRPr lang="en-IN" sz="1200"/>
          </a:p>
        </p:txBody>
      </p:sp>
      <p:sp>
        <p:nvSpPr>
          <p:cNvPr id="40" name="TextBox 39" descr="FILLCOLOR-IF=AND([C_T2_41]=&quot;N/A&quot;,[T_T2_41]=&quot;N/A&quot;),#FFFFF7&#10;FONTCOLOR-IF=AND([C_T2_41]=&quot;N/A&quot;,[T_T2_41]=&quot;N/A&quot;),#7F7F7F">
            <a:extLst>
              <a:ext uri="{FF2B5EF4-FFF2-40B4-BE49-F238E27FC236}">
                <a16:creationId xmlns:a16="http://schemas.microsoft.com/office/drawing/2014/main" id="{1D658283-803F-675A-2DCB-E15E31F03585}"/>
              </a:ext>
            </a:extLst>
          </p:cNvPr>
          <p:cNvSpPr txBox="1"/>
          <p:nvPr>
            <p:custDataLst>
              <p:tags r:id="rId6"/>
            </p:custDataLst>
          </p:nvPr>
        </p:nvSpPr>
        <p:spPr>
          <a:xfrm>
            <a:off x="644660" y="4405103"/>
            <a:ext cx="3348000" cy="276999"/>
          </a:xfrm>
          <a:prstGeom prst="rect">
            <a:avLst/>
          </a:prstGeom>
          <a:noFill/>
        </p:spPr>
        <p:txBody>
          <a:bodyPr wrap="square">
            <a:spAutoFit/>
          </a:bodyPr>
          <a:lstStyle/>
          <a:p>
            <a:pPr algn="r"/>
            <a:r>
              <a:rPr lang="en-US" sz="1200"/>
              <a:t>Manage AI engineering</a:t>
            </a:r>
            <a:endParaRPr lang="en-IN" sz="1200"/>
          </a:p>
        </p:txBody>
      </p:sp>
      <p:cxnSp>
        <p:nvCxnSpPr>
          <p:cNvPr id="17" name="Straight Connector 1">
            <a:extLst>
              <a:ext uri="{FF2B5EF4-FFF2-40B4-BE49-F238E27FC236}">
                <a16:creationId xmlns:a16="http://schemas.microsoft.com/office/drawing/2014/main" id="{F8339FC7-48BF-EAB2-20CA-C0902F4C4DC2}"/>
              </a:ext>
            </a:extLst>
          </p:cNvPr>
          <p:cNvCxnSpPr/>
          <p:nvPr>
            <p:custDataLst>
              <p:tags r:id="rId7"/>
            </p:custDataLst>
          </p:nvPr>
        </p:nvCxnSpPr>
        <p:spPr>
          <a:xfrm flipH="1" flipV="1">
            <a:off x="4285004" y="2031603"/>
            <a:ext cx="6444000" cy="3600"/>
          </a:xfrm>
          <a:prstGeom prst="line">
            <a:avLst/>
          </a:prstGeom>
          <a:noFill/>
          <a:ln w="12700" cap="flat" cmpd="sng">
            <a:solidFill>
              <a:srgbClr val="D9D9D9"/>
            </a:solidFill>
            <a:prstDash val="solid"/>
            <a:round/>
            <a:headEnd type="none" w="lg" len="med"/>
            <a:tailEnd type="none" w="lg" len="med"/>
          </a:ln>
        </p:spPr>
      </p:cxnSp>
      <p:graphicFrame>
        <p:nvGraphicFramePr>
          <p:cNvPr id="18" name="Chart 17" descr="SOURCE=[BULLET_ESTABLISH_EVOLVE_AND_OPTIMIZE_AI_ARCHITECTURE_AND_INFRASTRUCTURE]&#10;HIDE-IF=AND([C_T2_32]=&quot;N/A&quot;,[T_T2_32]=&quot;N/A&quot;)">
            <a:extLst>
              <a:ext uri="{FF2B5EF4-FFF2-40B4-BE49-F238E27FC236}">
                <a16:creationId xmlns:a16="http://schemas.microsoft.com/office/drawing/2014/main" id="{0428E34D-143D-CC13-9C8A-2C11FF16BB16}"/>
              </a:ext>
            </a:extLst>
          </p:cNvPr>
          <p:cNvGraphicFramePr>
            <a:graphicFrameLocks noDrilldown="1"/>
          </p:cNvGraphicFramePr>
          <p:nvPr>
            <p:custDataLst>
              <p:tags r:id="rId8"/>
            </p:custDataLst>
            <p:extLst>
              <p:ext uri="{D42A27DB-BD31-4B8C-83A1-F6EECF244321}">
                <p14:modId xmlns:p14="http://schemas.microsoft.com/office/powerpoint/2010/main" val="330577779"/>
              </p:ext>
            </p:extLst>
          </p:nvPr>
        </p:nvGraphicFramePr>
        <p:xfrm>
          <a:off x="4179688" y="1476933"/>
          <a:ext cx="6872206" cy="900000"/>
        </p:xfrm>
        <a:graphic>
          <a:graphicData uri="http://schemas.openxmlformats.org/drawingml/2006/chart">
            <c:chart xmlns:c="http://schemas.openxmlformats.org/drawingml/2006/chart" xmlns:r="http://schemas.openxmlformats.org/officeDocument/2006/relationships" r:id="rId35"/>
          </a:graphicData>
        </a:graphic>
      </p:graphicFrame>
      <p:cxnSp>
        <p:nvCxnSpPr>
          <p:cNvPr id="19" name="Straight Connector 1">
            <a:extLst>
              <a:ext uri="{FF2B5EF4-FFF2-40B4-BE49-F238E27FC236}">
                <a16:creationId xmlns:a16="http://schemas.microsoft.com/office/drawing/2014/main" id="{8BF0E03B-980A-7F1B-1AFE-44DC87B64A26}"/>
              </a:ext>
            </a:extLst>
          </p:cNvPr>
          <p:cNvCxnSpPr/>
          <p:nvPr>
            <p:custDataLst>
              <p:tags r:id="rId9"/>
            </p:custDataLst>
          </p:nvPr>
        </p:nvCxnSpPr>
        <p:spPr>
          <a:xfrm flipH="1" flipV="1">
            <a:off x="4285004" y="2658970"/>
            <a:ext cx="6444000" cy="3600"/>
          </a:xfrm>
          <a:prstGeom prst="line">
            <a:avLst/>
          </a:prstGeom>
          <a:noFill/>
          <a:ln w="12700" cap="flat" cmpd="sng">
            <a:solidFill>
              <a:srgbClr val="D9D9D9"/>
            </a:solidFill>
            <a:prstDash val="solid"/>
            <a:round/>
            <a:headEnd type="none" w="lg" len="med"/>
            <a:tailEnd type="none" w="lg" len="med"/>
          </a:ln>
        </p:spPr>
      </p:cxnSp>
      <p:graphicFrame>
        <p:nvGraphicFramePr>
          <p:cNvPr id="20" name="Chart 19" descr="SOURCE=[BULLET_MANAGE_AI_DEVELOPMENT_ASSESTS]&#10;HIDE-IF=AND([C_T2_35]=&quot;N/A&quot;,[T_T2_35]=&quot;N/A&quot;)">
            <a:extLst>
              <a:ext uri="{FF2B5EF4-FFF2-40B4-BE49-F238E27FC236}">
                <a16:creationId xmlns:a16="http://schemas.microsoft.com/office/drawing/2014/main" id="{4533C6FF-98DA-4887-4E30-DFA63AE439FD}"/>
              </a:ext>
            </a:extLst>
          </p:cNvPr>
          <p:cNvGraphicFramePr>
            <a:graphicFrameLocks noDrilldown="1"/>
          </p:cNvGraphicFramePr>
          <p:nvPr>
            <p:custDataLst>
              <p:tags r:id="rId10"/>
            </p:custDataLst>
            <p:extLst>
              <p:ext uri="{D42A27DB-BD31-4B8C-83A1-F6EECF244321}">
                <p14:modId xmlns:p14="http://schemas.microsoft.com/office/powerpoint/2010/main" val="3509320240"/>
              </p:ext>
            </p:extLst>
          </p:nvPr>
        </p:nvGraphicFramePr>
        <p:xfrm>
          <a:off x="4179600" y="2075740"/>
          <a:ext cx="6872400" cy="900000"/>
        </p:xfrm>
        <a:graphic>
          <a:graphicData uri="http://schemas.openxmlformats.org/drawingml/2006/chart">
            <c:chart xmlns:c="http://schemas.openxmlformats.org/drawingml/2006/chart" xmlns:r="http://schemas.openxmlformats.org/officeDocument/2006/relationships" r:id="rId36"/>
          </a:graphicData>
        </a:graphic>
      </p:graphicFrame>
      <p:cxnSp>
        <p:nvCxnSpPr>
          <p:cNvPr id="21" name="Straight Connector 1">
            <a:extLst>
              <a:ext uri="{FF2B5EF4-FFF2-40B4-BE49-F238E27FC236}">
                <a16:creationId xmlns:a16="http://schemas.microsoft.com/office/drawing/2014/main" id="{6AF24AD1-41C1-ED11-9F85-BF2D0955C49C}"/>
              </a:ext>
            </a:extLst>
          </p:cNvPr>
          <p:cNvCxnSpPr/>
          <p:nvPr>
            <p:custDataLst>
              <p:tags r:id="rId11"/>
            </p:custDataLst>
          </p:nvPr>
        </p:nvCxnSpPr>
        <p:spPr>
          <a:xfrm flipH="1" flipV="1">
            <a:off x="4285004" y="3290072"/>
            <a:ext cx="6444000" cy="3600"/>
          </a:xfrm>
          <a:prstGeom prst="line">
            <a:avLst/>
          </a:prstGeom>
          <a:noFill/>
          <a:ln w="12700" cap="flat" cmpd="sng">
            <a:solidFill>
              <a:srgbClr val="D9D9D9"/>
            </a:solidFill>
            <a:prstDash val="solid"/>
            <a:round/>
            <a:headEnd type="none" w="lg" len="med"/>
            <a:tailEnd type="none" w="lg" len="med"/>
          </a:ln>
        </p:spPr>
      </p:cxnSp>
      <p:cxnSp>
        <p:nvCxnSpPr>
          <p:cNvPr id="22" name="Straight Connector 1">
            <a:extLst>
              <a:ext uri="{FF2B5EF4-FFF2-40B4-BE49-F238E27FC236}">
                <a16:creationId xmlns:a16="http://schemas.microsoft.com/office/drawing/2014/main" id="{DD5A6F8F-24CF-0C3F-807A-92FE0B91596F}"/>
              </a:ext>
            </a:extLst>
          </p:cNvPr>
          <p:cNvCxnSpPr/>
          <p:nvPr>
            <p:custDataLst>
              <p:tags r:id="rId12"/>
            </p:custDataLst>
          </p:nvPr>
        </p:nvCxnSpPr>
        <p:spPr>
          <a:xfrm flipH="1" flipV="1">
            <a:off x="4285004" y="3923484"/>
            <a:ext cx="6444000" cy="3600"/>
          </a:xfrm>
          <a:prstGeom prst="line">
            <a:avLst/>
          </a:prstGeom>
          <a:noFill/>
          <a:ln w="12700" cap="flat" cmpd="sng">
            <a:solidFill>
              <a:srgbClr val="D9D9D9"/>
            </a:solidFill>
            <a:prstDash val="solid"/>
            <a:round/>
            <a:headEnd type="none" w="lg" len="med"/>
            <a:tailEnd type="none" w="lg" len="med"/>
          </a:ln>
        </p:spPr>
      </p:cxnSp>
      <p:graphicFrame>
        <p:nvGraphicFramePr>
          <p:cNvPr id="23" name="Chart 22" descr="SOURCE=[BULLET_MANAGE_PROJECT_PLATFORM_AND_APPLICATION_PORTFOLIOS]&#10;HIDE-IF=AND([C_T2_40]=&quot;N/A&quot;,[T_T2_40]=&quot;N/A&quot;)">
            <a:extLst>
              <a:ext uri="{FF2B5EF4-FFF2-40B4-BE49-F238E27FC236}">
                <a16:creationId xmlns:a16="http://schemas.microsoft.com/office/drawing/2014/main" id="{9410481C-188E-27FD-9570-E65F1846CF5B}"/>
              </a:ext>
            </a:extLst>
          </p:cNvPr>
          <p:cNvGraphicFramePr>
            <a:graphicFrameLocks noDrilldown="1"/>
          </p:cNvGraphicFramePr>
          <p:nvPr>
            <p:custDataLst>
              <p:tags r:id="rId13"/>
            </p:custDataLst>
            <p:extLst>
              <p:ext uri="{D42A27DB-BD31-4B8C-83A1-F6EECF244321}">
                <p14:modId xmlns:p14="http://schemas.microsoft.com/office/powerpoint/2010/main" val="1921488333"/>
              </p:ext>
            </p:extLst>
          </p:nvPr>
        </p:nvGraphicFramePr>
        <p:xfrm>
          <a:off x="4179600" y="3357032"/>
          <a:ext cx="6872400" cy="900000"/>
        </p:xfrm>
        <a:graphic>
          <a:graphicData uri="http://schemas.openxmlformats.org/drawingml/2006/chart">
            <c:chart xmlns:c="http://schemas.openxmlformats.org/drawingml/2006/chart" xmlns:r="http://schemas.openxmlformats.org/officeDocument/2006/relationships" r:id="rId37"/>
          </a:graphicData>
        </a:graphic>
      </p:graphicFrame>
      <p:cxnSp>
        <p:nvCxnSpPr>
          <p:cNvPr id="24" name="Straight Connector 1">
            <a:extLst>
              <a:ext uri="{FF2B5EF4-FFF2-40B4-BE49-F238E27FC236}">
                <a16:creationId xmlns:a16="http://schemas.microsoft.com/office/drawing/2014/main" id="{F1D1A9A0-7632-F773-2729-2AA90CEDB58D}"/>
              </a:ext>
            </a:extLst>
          </p:cNvPr>
          <p:cNvCxnSpPr/>
          <p:nvPr>
            <p:custDataLst>
              <p:tags r:id="rId14"/>
            </p:custDataLst>
          </p:nvPr>
        </p:nvCxnSpPr>
        <p:spPr>
          <a:xfrm flipH="1" flipV="1">
            <a:off x="4285004" y="4552297"/>
            <a:ext cx="6444000" cy="3600"/>
          </a:xfrm>
          <a:prstGeom prst="line">
            <a:avLst/>
          </a:prstGeom>
          <a:noFill/>
          <a:ln w="12700" cap="flat" cmpd="sng">
            <a:solidFill>
              <a:srgbClr val="D9D9D9"/>
            </a:solidFill>
            <a:prstDash val="solid"/>
            <a:round/>
            <a:headEnd type="none" w="lg" len="med"/>
            <a:tailEnd type="none" w="lg" len="med"/>
          </a:ln>
        </p:spPr>
      </p:cxnSp>
      <p:graphicFrame>
        <p:nvGraphicFramePr>
          <p:cNvPr id="25" name="Chart 24" descr="SOURCE=[BULLET_BUILD_AI_PRODUCT_AND_ENGINEERING_TEAMS]&#10;HIDE-IF=AND([C_T2_41]=&quot;N/A&quot;,[T_T2_41]=&quot;N/A&quot;)">
            <a:extLst>
              <a:ext uri="{FF2B5EF4-FFF2-40B4-BE49-F238E27FC236}">
                <a16:creationId xmlns:a16="http://schemas.microsoft.com/office/drawing/2014/main" id="{AA4713BB-4CC0-6FB6-A757-5158A9782FFD}"/>
              </a:ext>
            </a:extLst>
          </p:cNvPr>
          <p:cNvGraphicFramePr>
            <a:graphicFrameLocks noDrilldown="1"/>
          </p:cNvGraphicFramePr>
          <p:nvPr>
            <p:custDataLst>
              <p:tags r:id="rId15"/>
            </p:custDataLst>
            <p:extLst>
              <p:ext uri="{D42A27DB-BD31-4B8C-83A1-F6EECF244321}">
                <p14:modId xmlns:p14="http://schemas.microsoft.com/office/powerpoint/2010/main" val="2422306225"/>
              </p:ext>
            </p:extLst>
          </p:nvPr>
        </p:nvGraphicFramePr>
        <p:xfrm>
          <a:off x="4179600" y="3985845"/>
          <a:ext cx="6872400" cy="900000"/>
        </p:xfrm>
        <a:graphic>
          <a:graphicData uri="http://schemas.openxmlformats.org/drawingml/2006/chart">
            <c:chart xmlns:c="http://schemas.openxmlformats.org/drawingml/2006/chart" xmlns:r="http://schemas.openxmlformats.org/officeDocument/2006/relationships" r:id="rId38"/>
          </a:graphicData>
        </a:graphic>
      </p:graphicFrame>
      <p:graphicFrame>
        <p:nvGraphicFramePr>
          <p:cNvPr id="61" name="Chart 60" descr="SOURCE=[BULLET_DEVELOP_OPERATE_SCALE_AI_SYSTEMS]&#10;HIDE-IF=AND([C_T2_39]=&quot;N/A&quot;,[T_T2_39]=&quot;N/A&quot;)">
            <a:extLst>
              <a:ext uri="{FF2B5EF4-FFF2-40B4-BE49-F238E27FC236}">
                <a16:creationId xmlns:a16="http://schemas.microsoft.com/office/drawing/2014/main" id="{493D3A3E-26E2-8ABC-4458-8FA7FC9A6B1C}"/>
              </a:ext>
            </a:extLst>
          </p:cNvPr>
          <p:cNvGraphicFramePr>
            <a:graphicFrameLocks noDrilldown="1"/>
          </p:cNvGraphicFramePr>
          <p:nvPr>
            <p:custDataLst>
              <p:tags r:id="rId16"/>
            </p:custDataLst>
            <p:extLst>
              <p:ext uri="{D42A27DB-BD31-4B8C-83A1-F6EECF244321}">
                <p14:modId xmlns:p14="http://schemas.microsoft.com/office/powerpoint/2010/main" val="498132914"/>
              </p:ext>
            </p:extLst>
          </p:nvPr>
        </p:nvGraphicFramePr>
        <p:xfrm>
          <a:off x="4179600" y="2723620"/>
          <a:ext cx="6872400" cy="900000"/>
        </p:xfrm>
        <a:graphic>
          <a:graphicData uri="http://schemas.openxmlformats.org/drawingml/2006/chart">
            <c:chart xmlns:c="http://schemas.openxmlformats.org/drawingml/2006/chart" xmlns:r="http://schemas.openxmlformats.org/officeDocument/2006/relationships" r:id="rId39"/>
          </a:graphicData>
        </a:graphic>
      </p:graphicFrame>
      <p:grpSp>
        <p:nvGrpSpPr>
          <p:cNvPr id="2" name="Group 1">
            <a:extLst>
              <a:ext uri="{FF2B5EF4-FFF2-40B4-BE49-F238E27FC236}">
                <a16:creationId xmlns:a16="http://schemas.microsoft.com/office/drawing/2014/main" id="{9C81608C-A6C5-53F3-FAFC-62282746DB88}"/>
              </a:ext>
            </a:extLst>
          </p:cNvPr>
          <p:cNvGrpSpPr/>
          <p:nvPr>
            <p:custDataLst>
              <p:tags r:id="rId17"/>
            </p:custDataLst>
          </p:nvPr>
        </p:nvGrpSpPr>
        <p:grpSpPr>
          <a:xfrm>
            <a:off x="4293132" y="1011935"/>
            <a:ext cx="6358279" cy="338554"/>
            <a:chOff x="2649839" y="857851"/>
            <a:chExt cx="5601782" cy="338554"/>
          </a:xfrm>
        </p:grpSpPr>
        <p:sp>
          <p:nvSpPr>
            <p:cNvPr id="3" name="TextBox 2">
              <a:extLst>
                <a:ext uri="{FF2B5EF4-FFF2-40B4-BE49-F238E27FC236}">
                  <a16:creationId xmlns:a16="http://schemas.microsoft.com/office/drawing/2014/main" id="{4F4AA648-44AF-5327-6398-A515E8F466B3}"/>
                </a:ext>
              </a:extLst>
            </p:cNvPr>
            <p:cNvSpPr txBox="1"/>
            <p:nvPr>
              <p:custDataLst>
                <p:tags r:id="rId28"/>
              </p:custDataLst>
            </p:nvPr>
          </p:nvSpPr>
          <p:spPr>
            <a:xfrm>
              <a:off x="2649839" y="857851"/>
              <a:ext cx="1052903"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 None</a:t>
              </a:r>
            </a:p>
          </p:txBody>
        </p:sp>
        <p:sp>
          <p:nvSpPr>
            <p:cNvPr id="5" name="TextBox 4">
              <a:extLst>
                <a:ext uri="{FF2B5EF4-FFF2-40B4-BE49-F238E27FC236}">
                  <a16:creationId xmlns:a16="http://schemas.microsoft.com/office/drawing/2014/main" id="{3AB4789E-91D2-F58A-E8D3-F0C2ED2DEAF4}"/>
                </a:ext>
              </a:extLst>
            </p:cNvPr>
            <p:cNvSpPr txBox="1"/>
            <p:nvPr>
              <p:custDataLst>
                <p:tags r:id="rId29"/>
              </p:custDataLst>
            </p:nvPr>
          </p:nvSpPr>
          <p:spPr>
            <a:xfrm>
              <a:off x="3862802" y="857851"/>
              <a:ext cx="983220"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Partial</a:t>
              </a:r>
            </a:p>
          </p:txBody>
        </p:sp>
        <p:sp>
          <p:nvSpPr>
            <p:cNvPr id="6" name="TextBox 5">
              <a:extLst>
                <a:ext uri="{FF2B5EF4-FFF2-40B4-BE49-F238E27FC236}">
                  <a16:creationId xmlns:a16="http://schemas.microsoft.com/office/drawing/2014/main" id="{ECC45A4C-FB74-E52C-EED7-025B757D2F2D}"/>
                </a:ext>
              </a:extLst>
            </p:cNvPr>
            <p:cNvSpPr txBox="1"/>
            <p:nvPr>
              <p:custDataLst>
                <p:tags r:id="rId30"/>
              </p:custDataLst>
            </p:nvPr>
          </p:nvSpPr>
          <p:spPr>
            <a:xfrm>
              <a:off x="4998563" y="857851"/>
              <a:ext cx="983220"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 Full</a:t>
              </a:r>
            </a:p>
          </p:txBody>
        </p:sp>
        <p:sp>
          <p:nvSpPr>
            <p:cNvPr id="7" name="TextBox 6">
              <a:extLst>
                <a:ext uri="{FF2B5EF4-FFF2-40B4-BE49-F238E27FC236}">
                  <a16:creationId xmlns:a16="http://schemas.microsoft.com/office/drawing/2014/main" id="{BF5AEFAE-22C1-D7B5-1782-9A84676F9886}"/>
                </a:ext>
              </a:extLst>
            </p:cNvPr>
            <p:cNvSpPr txBox="1"/>
            <p:nvPr>
              <p:custDataLst>
                <p:tags r:id="rId31"/>
              </p:custDataLst>
            </p:nvPr>
          </p:nvSpPr>
          <p:spPr>
            <a:xfrm>
              <a:off x="6127606" y="857851"/>
              <a:ext cx="983220"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Optimized</a:t>
              </a:r>
            </a:p>
          </p:txBody>
        </p:sp>
        <p:sp>
          <p:nvSpPr>
            <p:cNvPr id="8" name="TextBox 7">
              <a:extLst>
                <a:ext uri="{FF2B5EF4-FFF2-40B4-BE49-F238E27FC236}">
                  <a16:creationId xmlns:a16="http://schemas.microsoft.com/office/drawing/2014/main" id="{EBC760BE-D948-0C94-0B95-8C0977461AE6}"/>
                </a:ext>
              </a:extLst>
            </p:cNvPr>
            <p:cNvSpPr txBox="1"/>
            <p:nvPr>
              <p:custDataLst>
                <p:tags r:id="rId32"/>
              </p:custDataLst>
            </p:nvPr>
          </p:nvSpPr>
          <p:spPr>
            <a:xfrm>
              <a:off x="7268401" y="857851"/>
              <a:ext cx="983220"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Adaptive</a:t>
              </a:r>
            </a:p>
          </p:txBody>
        </p:sp>
      </p:grpSp>
      <p:sp>
        <p:nvSpPr>
          <p:cNvPr id="9" name="Oval 8">
            <a:extLst>
              <a:ext uri="{FF2B5EF4-FFF2-40B4-BE49-F238E27FC236}">
                <a16:creationId xmlns:a16="http://schemas.microsoft.com/office/drawing/2014/main" id="{F4758AD2-C8B9-1144-0D19-112405AC3A9F}"/>
              </a:ext>
            </a:extLst>
          </p:cNvPr>
          <p:cNvSpPr/>
          <p:nvPr>
            <p:custDataLst>
              <p:tags r:id="rId18"/>
            </p:custDataLst>
          </p:nvPr>
        </p:nvSpPr>
        <p:spPr>
          <a:xfrm>
            <a:off x="5465570" y="1075831"/>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1</a:t>
            </a:r>
          </a:p>
        </p:txBody>
      </p:sp>
      <p:sp>
        <p:nvSpPr>
          <p:cNvPr id="10" name="Oval 9">
            <a:extLst>
              <a:ext uri="{FF2B5EF4-FFF2-40B4-BE49-F238E27FC236}">
                <a16:creationId xmlns:a16="http://schemas.microsoft.com/office/drawing/2014/main" id="{E73618E2-0C48-7160-9DDC-7488A9A644CA}"/>
              </a:ext>
            </a:extLst>
          </p:cNvPr>
          <p:cNvSpPr/>
          <p:nvPr>
            <p:custDataLst>
              <p:tags r:id="rId19"/>
            </p:custDataLst>
          </p:nvPr>
        </p:nvSpPr>
        <p:spPr>
          <a:xfrm>
            <a:off x="6756827" y="1085606"/>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2</a:t>
            </a:r>
          </a:p>
        </p:txBody>
      </p:sp>
      <p:sp>
        <p:nvSpPr>
          <p:cNvPr id="11" name="Oval 10">
            <a:extLst>
              <a:ext uri="{FF2B5EF4-FFF2-40B4-BE49-F238E27FC236}">
                <a16:creationId xmlns:a16="http://schemas.microsoft.com/office/drawing/2014/main" id="{C245A502-DB29-D78D-B809-66D8C33080EB}"/>
              </a:ext>
            </a:extLst>
          </p:cNvPr>
          <p:cNvSpPr/>
          <p:nvPr>
            <p:custDataLst>
              <p:tags r:id="rId20"/>
            </p:custDataLst>
          </p:nvPr>
        </p:nvSpPr>
        <p:spPr>
          <a:xfrm>
            <a:off x="8045383" y="1085605"/>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3</a:t>
            </a:r>
          </a:p>
        </p:txBody>
      </p:sp>
      <p:sp>
        <p:nvSpPr>
          <p:cNvPr id="12" name="Oval 11">
            <a:extLst>
              <a:ext uri="{FF2B5EF4-FFF2-40B4-BE49-F238E27FC236}">
                <a16:creationId xmlns:a16="http://schemas.microsoft.com/office/drawing/2014/main" id="{EF10F55D-6C33-D8FD-A19F-AF048A153474}"/>
              </a:ext>
            </a:extLst>
          </p:cNvPr>
          <p:cNvSpPr/>
          <p:nvPr>
            <p:custDataLst>
              <p:tags r:id="rId21"/>
            </p:custDataLst>
          </p:nvPr>
        </p:nvSpPr>
        <p:spPr>
          <a:xfrm>
            <a:off x="9334590" y="1094884"/>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4</a:t>
            </a:r>
          </a:p>
        </p:txBody>
      </p:sp>
      <p:sp>
        <p:nvSpPr>
          <p:cNvPr id="13" name="Oval 12">
            <a:extLst>
              <a:ext uri="{FF2B5EF4-FFF2-40B4-BE49-F238E27FC236}">
                <a16:creationId xmlns:a16="http://schemas.microsoft.com/office/drawing/2014/main" id="{FD123E01-FEE4-B59B-AC67-D542329574D2}"/>
              </a:ext>
            </a:extLst>
          </p:cNvPr>
          <p:cNvSpPr/>
          <p:nvPr>
            <p:custDataLst>
              <p:tags r:id="rId22"/>
            </p:custDataLst>
          </p:nvPr>
        </p:nvSpPr>
        <p:spPr>
          <a:xfrm>
            <a:off x="10620471" y="1085604"/>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5</a:t>
            </a:r>
          </a:p>
        </p:txBody>
      </p:sp>
      <p:grpSp>
        <p:nvGrpSpPr>
          <p:cNvPr id="14" name="Group 13">
            <a:extLst>
              <a:ext uri="{FF2B5EF4-FFF2-40B4-BE49-F238E27FC236}">
                <a16:creationId xmlns:a16="http://schemas.microsoft.com/office/drawing/2014/main" id="{2D83DCC6-CF9D-A749-EFA2-80B97B032C5B}"/>
              </a:ext>
            </a:extLst>
          </p:cNvPr>
          <p:cNvGrpSpPr/>
          <p:nvPr>
            <p:custDataLst>
              <p:tags r:id="rId23"/>
            </p:custDataLst>
          </p:nvPr>
        </p:nvGrpSpPr>
        <p:grpSpPr>
          <a:xfrm>
            <a:off x="1842218" y="1074475"/>
            <a:ext cx="2166003" cy="219236"/>
            <a:chOff x="3884227" y="8402296"/>
            <a:chExt cx="2166003" cy="219236"/>
          </a:xfrm>
        </p:grpSpPr>
        <p:sp>
          <p:nvSpPr>
            <p:cNvPr id="15" name="TextBox 58">
              <a:extLst>
                <a:ext uri="{FF2B5EF4-FFF2-40B4-BE49-F238E27FC236}">
                  <a16:creationId xmlns:a16="http://schemas.microsoft.com/office/drawing/2014/main" id="{16C7073A-24C3-ADBE-6300-601966F5B80B}"/>
                </a:ext>
              </a:extLst>
            </p:cNvPr>
            <p:cNvSpPr txBox="1"/>
            <p:nvPr>
              <p:custDataLst>
                <p:tags r:id="rId24"/>
              </p:custDataLst>
            </p:nvPr>
          </p:nvSpPr>
          <p:spPr>
            <a:xfrm>
              <a:off x="4029201" y="8406088"/>
              <a:ext cx="1005125" cy="21544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panose="020B0604020202020204" pitchFamily="34" charset="0"/>
                </a:rPr>
                <a:t>Current Maturity</a:t>
              </a:r>
            </a:p>
          </p:txBody>
        </p:sp>
        <p:sp>
          <p:nvSpPr>
            <p:cNvPr id="16" name="TextBox 59">
              <a:extLst>
                <a:ext uri="{FF2B5EF4-FFF2-40B4-BE49-F238E27FC236}">
                  <a16:creationId xmlns:a16="http://schemas.microsoft.com/office/drawing/2014/main" id="{819EF260-EEF1-6E2B-044C-E78909CE912A}"/>
                </a:ext>
              </a:extLst>
            </p:cNvPr>
            <p:cNvSpPr txBox="1"/>
            <p:nvPr>
              <p:custDataLst>
                <p:tags r:id="rId25"/>
              </p:custDataLst>
            </p:nvPr>
          </p:nvSpPr>
          <p:spPr>
            <a:xfrm>
              <a:off x="5169038" y="8402296"/>
              <a:ext cx="881192" cy="21544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panose="020B0604020202020204" pitchFamily="34" charset="0"/>
                </a:rPr>
                <a:t>Target Maturity</a:t>
              </a:r>
            </a:p>
          </p:txBody>
        </p:sp>
        <p:sp>
          <p:nvSpPr>
            <p:cNvPr id="26" name="Rectangle 25">
              <a:extLst>
                <a:ext uri="{FF2B5EF4-FFF2-40B4-BE49-F238E27FC236}">
                  <a16:creationId xmlns:a16="http://schemas.microsoft.com/office/drawing/2014/main" id="{3D983955-5B8F-7948-8CEF-E59AE4169EF2}"/>
                </a:ext>
              </a:extLst>
            </p:cNvPr>
            <p:cNvSpPr/>
            <p:nvPr>
              <p:custDataLst>
                <p:tags r:id="rId26"/>
              </p:custDataLst>
            </p:nvPr>
          </p:nvSpPr>
          <p:spPr>
            <a:xfrm>
              <a:off x="3884227" y="8444792"/>
              <a:ext cx="136507" cy="136507"/>
            </a:xfrm>
            <a:prstGeom prst="rect">
              <a:avLst/>
            </a:prstGeom>
            <a:solidFill>
              <a:srgbClr val="0028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 name="Rectangle 26">
              <a:extLst>
                <a:ext uri="{FF2B5EF4-FFF2-40B4-BE49-F238E27FC236}">
                  <a16:creationId xmlns:a16="http://schemas.microsoft.com/office/drawing/2014/main" id="{1BAAA818-0ADD-1F87-07A1-02D8FB737E5E}"/>
                </a:ext>
              </a:extLst>
            </p:cNvPr>
            <p:cNvSpPr/>
            <p:nvPr>
              <p:custDataLst>
                <p:tags r:id="rId27"/>
              </p:custDataLst>
            </p:nvPr>
          </p:nvSpPr>
          <p:spPr>
            <a:xfrm>
              <a:off x="5034326" y="8441765"/>
              <a:ext cx="136507" cy="136507"/>
            </a:xfrm>
            <a:prstGeom prst="rect">
              <a:avLst/>
            </a:prstGeom>
            <a:solidFill>
              <a:srgbClr val="1F9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Tree>
    <p:extLst>
      <p:ext uri="{BB962C8B-B14F-4D97-AF65-F5344CB8AC3E}">
        <p14:creationId xmlns:p14="http://schemas.microsoft.com/office/powerpoint/2010/main" val="167216315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ED7F0-EE34-00E9-882C-F45DE059AEF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0CAB4AF-CD24-D626-6472-D802D58E81CF}"/>
              </a:ext>
            </a:extLst>
          </p:cNvPr>
          <p:cNvSpPr>
            <a:spLocks noGrp="1"/>
          </p:cNvSpPr>
          <p:nvPr>
            <p:ph type="title"/>
            <p:custDataLst>
              <p:tags r:id="rId1"/>
            </p:custDataLst>
          </p:nvPr>
        </p:nvSpPr>
        <p:spPr bwMode="gray">
          <a:xfrm>
            <a:off x="536400" y="324000"/>
            <a:ext cx="11274552" cy="451231"/>
          </a:xfrm>
        </p:spPr>
        <p:txBody>
          <a:bodyPr vert="horz"/>
          <a:lstStyle/>
          <a:p>
            <a:r>
              <a:rPr lang="en-US" sz="2400">
                <a:solidFill>
                  <a:srgbClr val="002856"/>
                </a:solidFill>
                <a:latin typeface="+mn-lt"/>
              </a:rPr>
              <a:t>Your Responses: AI Data</a:t>
            </a:r>
          </a:p>
        </p:txBody>
      </p:sp>
      <p:sp>
        <p:nvSpPr>
          <p:cNvPr id="36" name="TextBox 35" descr="FILLCOLOR-IF=AND([C_T2_43]=&quot;N/A&quot;,[T_T2_43]=&quot;N/A&quot;),#FFFFF7&#10;FONTCOLOR-IF=AND([C_T2_43]=&quot;N/A&quot;,[T_T2_43]=&quot;N/A&quot;),#7F7F7F">
            <a:extLst>
              <a:ext uri="{FF2B5EF4-FFF2-40B4-BE49-F238E27FC236}">
                <a16:creationId xmlns:a16="http://schemas.microsoft.com/office/drawing/2014/main" id="{5335B5AC-83FD-0934-6976-3576D4513FE4}"/>
              </a:ext>
            </a:extLst>
          </p:cNvPr>
          <p:cNvSpPr txBox="1"/>
          <p:nvPr>
            <p:custDataLst>
              <p:tags r:id="rId2"/>
            </p:custDataLst>
          </p:nvPr>
        </p:nvSpPr>
        <p:spPr>
          <a:xfrm>
            <a:off x="644660" y="1884431"/>
            <a:ext cx="3348000" cy="276999"/>
          </a:xfrm>
          <a:prstGeom prst="rect">
            <a:avLst/>
          </a:prstGeom>
          <a:noFill/>
        </p:spPr>
        <p:txBody>
          <a:bodyPr wrap="square">
            <a:spAutoFit/>
          </a:bodyPr>
          <a:lstStyle/>
          <a:p>
            <a:pPr algn="r"/>
            <a:r>
              <a:rPr lang="it-IT" sz="1200">
                <a:ea typeface="Calibri" panose="020F0502020204030204" pitchFamily="34" charset="0"/>
                <a:cs typeface="Calibri" panose="020F0502020204030204" pitchFamily="34" charset="0"/>
              </a:rPr>
              <a:t>Acquire &amp; prepare AI data</a:t>
            </a:r>
            <a:endParaRPr lang="en-IN" sz="1200" b="0">
              <a:latin typeface="+mn-lt"/>
              <a:ea typeface="Calibri" panose="020F0502020204030204" pitchFamily="34" charset="0"/>
              <a:cs typeface="Calibri" panose="020F0502020204030204" pitchFamily="34" charset="0"/>
            </a:endParaRPr>
          </a:p>
        </p:txBody>
      </p:sp>
      <p:sp>
        <p:nvSpPr>
          <p:cNvPr id="37" name="TextBox 36" descr="FILLCOLOR-IF=AND([C_T2_44]=&quot;N/A&quot;,[T_T2_44]=&quot;N/A&quot;),#FFFFF7&#10;FONTCOLOR-IF=AND([C_T2_44]=&quot;N/A&quot;,[T_T2_44]=&quot;N/A&quot;),#7F7F7F">
            <a:extLst>
              <a:ext uri="{FF2B5EF4-FFF2-40B4-BE49-F238E27FC236}">
                <a16:creationId xmlns:a16="http://schemas.microsoft.com/office/drawing/2014/main" id="{0387B98A-A00B-8A42-C3B4-2783306BC6F5}"/>
              </a:ext>
            </a:extLst>
          </p:cNvPr>
          <p:cNvSpPr txBox="1"/>
          <p:nvPr>
            <p:custDataLst>
              <p:tags r:id="rId3"/>
            </p:custDataLst>
          </p:nvPr>
        </p:nvSpPr>
        <p:spPr>
          <a:xfrm>
            <a:off x="644660" y="2532512"/>
            <a:ext cx="3348000" cy="276999"/>
          </a:xfrm>
          <a:prstGeom prst="rect">
            <a:avLst/>
          </a:prstGeom>
          <a:noFill/>
        </p:spPr>
        <p:txBody>
          <a:bodyPr wrap="square">
            <a:spAutoFit/>
          </a:bodyPr>
          <a:lstStyle/>
          <a:p>
            <a:pPr lvl="0" algn="r">
              <a:spcBef>
                <a:spcPct val="0"/>
              </a:spcBef>
              <a:spcAft>
                <a:spcPct val="0"/>
              </a:spcAft>
              <a:defRPr/>
            </a:pPr>
            <a:r>
              <a:rPr lang="en-US" sz="1200">
                <a:ea typeface="Calibri" panose="020F0502020204030204" pitchFamily="34" charset="0"/>
                <a:cs typeface="Calibri" panose="020F0502020204030204" pitchFamily="34" charset="0"/>
              </a:rPr>
              <a:t>Manage &amp; govern AI data</a:t>
            </a:r>
            <a:endParaRPr lang="en-IN" sz="1200">
              <a:ea typeface="Calibri" panose="020F0502020204030204" pitchFamily="34" charset="0"/>
              <a:cs typeface="Calibri" panose="020F0502020204030204" pitchFamily="34" charset="0"/>
            </a:endParaRPr>
          </a:p>
        </p:txBody>
      </p:sp>
      <p:sp>
        <p:nvSpPr>
          <p:cNvPr id="38" name="TextBox 37" descr="FILLCOLOR-IF=AND([C_T2_48]=&quot;N/A&quot;,[T_T2_48]=&quot;N/A&quot;),#FFFFF7&#10;FONTCOLOR-IF=AND([C_T2_48]=&quot;N/A&quot;,[T_T2_48]=&quot;N/A&quot;),#7F7F7F">
            <a:extLst>
              <a:ext uri="{FF2B5EF4-FFF2-40B4-BE49-F238E27FC236}">
                <a16:creationId xmlns:a16="http://schemas.microsoft.com/office/drawing/2014/main" id="{0E9D73F5-5AE9-88B6-CC58-129A90396AA5}"/>
              </a:ext>
            </a:extLst>
          </p:cNvPr>
          <p:cNvSpPr txBox="1"/>
          <p:nvPr>
            <p:custDataLst>
              <p:tags r:id="rId4"/>
            </p:custDataLst>
          </p:nvPr>
        </p:nvSpPr>
        <p:spPr>
          <a:xfrm>
            <a:off x="644660" y="3163281"/>
            <a:ext cx="3348000" cy="276999"/>
          </a:xfrm>
          <a:prstGeom prst="rect">
            <a:avLst/>
          </a:prstGeom>
          <a:noFill/>
        </p:spPr>
        <p:txBody>
          <a:bodyPr wrap="square">
            <a:spAutoFit/>
          </a:bodyPr>
          <a:lstStyle/>
          <a:p>
            <a:pPr lvl="0" algn="r">
              <a:spcBef>
                <a:spcPct val="0"/>
              </a:spcBef>
              <a:spcAft>
                <a:spcPct val="0"/>
              </a:spcAft>
              <a:defRPr/>
            </a:pPr>
            <a:r>
              <a:rPr lang="en-IN" sz="1200" err="1">
                <a:ea typeface="Calibri" panose="020F0502020204030204" pitchFamily="34" charset="0"/>
                <a:cs typeface="Calibri" panose="020F0502020204030204" pitchFamily="34" charset="0"/>
              </a:rPr>
              <a:t>Analyze AI data</a:t>
            </a:r>
          </a:p>
        </p:txBody>
      </p:sp>
      <p:cxnSp>
        <p:nvCxnSpPr>
          <p:cNvPr id="17" name="Straight Connector 1">
            <a:extLst>
              <a:ext uri="{FF2B5EF4-FFF2-40B4-BE49-F238E27FC236}">
                <a16:creationId xmlns:a16="http://schemas.microsoft.com/office/drawing/2014/main" id="{91ECBD42-6296-1F05-EA29-72F30684AC55}"/>
              </a:ext>
            </a:extLst>
          </p:cNvPr>
          <p:cNvCxnSpPr/>
          <p:nvPr>
            <p:custDataLst>
              <p:tags r:id="rId5"/>
            </p:custDataLst>
          </p:nvPr>
        </p:nvCxnSpPr>
        <p:spPr>
          <a:xfrm flipH="1" flipV="1">
            <a:off x="4285004" y="2031603"/>
            <a:ext cx="6444000" cy="3600"/>
          </a:xfrm>
          <a:prstGeom prst="line">
            <a:avLst/>
          </a:prstGeom>
          <a:noFill/>
          <a:ln w="12700" cap="flat" cmpd="sng">
            <a:solidFill>
              <a:srgbClr val="D9D9D9"/>
            </a:solidFill>
            <a:prstDash val="solid"/>
            <a:round/>
            <a:headEnd type="none" w="lg" len="med"/>
            <a:tailEnd type="none" w="lg" len="med"/>
          </a:ln>
        </p:spPr>
      </p:cxnSp>
      <p:graphicFrame>
        <p:nvGraphicFramePr>
          <p:cNvPr id="18" name="Chart 17" descr="SOURCE=[BULLET_ACQUIRE_AND_PREPARE_AI_DATA]&#10;HIDE-IF=AND([C_T2_43]=&quot;N/A&quot;,[T_T2_43]=&quot;N/A&quot;)">
            <a:extLst>
              <a:ext uri="{FF2B5EF4-FFF2-40B4-BE49-F238E27FC236}">
                <a16:creationId xmlns:a16="http://schemas.microsoft.com/office/drawing/2014/main" id="{CEB8B773-F788-6CCA-F8C7-EA70C545258D}"/>
              </a:ext>
            </a:extLst>
          </p:cNvPr>
          <p:cNvGraphicFramePr>
            <a:graphicFrameLocks noDrilldown="1"/>
          </p:cNvGraphicFramePr>
          <p:nvPr>
            <p:custDataLst>
              <p:tags r:id="rId6"/>
            </p:custDataLst>
            <p:extLst>
              <p:ext uri="{D42A27DB-BD31-4B8C-83A1-F6EECF244321}">
                <p14:modId xmlns:p14="http://schemas.microsoft.com/office/powerpoint/2010/main" val="533619780"/>
              </p:ext>
            </p:extLst>
          </p:nvPr>
        </p:nvGraphicFramePr>
        <p:xfrm>
          <a:off x="4179688" y="1476933"/>
          <a:ext cx="6872206" cy="900000"/>
        </p:xfrm>
        <a:graphic>
          <a:graphicData uri="http://schemas.openxmlformats.org/drawingml/2006/chart">
            <c:chart xmlns:c="http://schemas.openxmlformats.org/drawingml/2006/chart" xmlns:r="http://schemas.openxmlformats.org/officeDocument/2006/relationships" r:id="rId29"/>
          </a:graphicData>
        </a:graphic>
      </p:graphicFrame>
      <p:cxnSp>
        <p:nvCxnSpPr>
          <p:cNvPr id="19" name="Straight Connector 1">
            <a:extLst>
              <a:ext uri="{FF2B5EF4-FFF2-40B4-BE49-F238E27FC236}">
                <a16:creationId xmlns:a16="http://schemas.microsoft.com/office/drawing/2014/main" id="{E5EB5C48-05A9-FB6B-3561-6533A68D195A}"/>
              </a:ext>
            </a:extLst>
          </p:cNvPr>
          <p:cNvCxnSpPr/>
          <p:nvPr>
            <p:custDataLst>
              <p:tags r:id="rId7"/>
            </p:custDataLst>
          </p:nvPr>
        </p:nvCxnSpPr>
        <p:spPr>
          <a:xfrm flipH="1" flipV="1">
            <a:off x="4285004" y="2658970"/>
            <a:ext cx="6444000" cy="3600"/>
          </a:xfrm>
          <a:prstGeom prst="line">
            <a:avLst/>
          </a:prstGeom>
          <a:noFill/>
          <a:ln w="12700" cap="flat" cmpd="sng">
            <a:solidFill>
              <a:srgbClr val="D9D9D9"/>
            </a:solidFill>
            <a:prstDash val="solid"/>
            <a:round/>
            <a:headEnd type="none" w="lg" len="med"/>
            <a:tailEnd type="none" w="lg" len="med"/>
          </a:ln>
        </p:spPr>
      </p:cxnSp>
      <p:graphicFrame>
        <p:nvGraphicFramePr>
          <p:cNvPr id="20" name="Chart 19" descr="SOURCE=[BULLET_DEVELOP_AND_ENFORCE_AI_DATA_GOVERNANCE_CONTROLS_POLICIES_AND_PROCESSES]&#10;HIDE-IF=AND([C_T2_44]=&quot;N/A&quot;,[T_T2_44]=&quot;N/A&quot;)">
            <a:extLst>
              <a:ext uri="{FF2B5EF4-FFF2-40B4-BE49-F238E27FC236}">
                <a16:creationId xmlns:a16="http://schemas.microsoft.com/office/drawing/2014/main" id="{14F8E449-04C2-82D5-7A8D-716CEC0E7A14}"/>
              </a:ext>
            </a:extLst>
          </p:cNvPr>
          <p:cNvGraphicFramePr>
            <a:graphicFrameLocks noDrilldown="1"/>
          </p:cNvGraphicFramePr>
          <p:nvPr>
            <p:custDataLst>
              <p:tags r:id="rId8"/>
            </p:custDataLst>
            <p:extLst>
              <p:ext uri="{D42A27DB-BD31-4B8C-83A1-F6EECF244321}">
                <p14:modId xmlns:p14="http://schemas.microsoft.com/office/powerpoint/2010/main" val="3352677908"/>
              </p:ext>
            </p:extLst>
          </p:nvPr>
        </p:nvGraphicFramePr>
        <p:xfrm>
          <a:off x="4179600" y="2075740"/>
          <a:ext cx="6872400" cy="900000"/>
        </p:xfrm>
        <a:graphic>
          <a:graphicData uri="http://schemas.openxmlformats.org/drawingml/2006/chart">
            <c:chart xmlns:c="http://schemas.openxmlformats.org/drawingml/2006/chart" xmlns:r="http://schemas.openxmlformats.org/officeDocument/2006/relationships" r:id="rId30"/>
          </a:graphicData>
        </a:graphic>
      </p:graphicFrame>
      <p:cxnSp>
        <p:nvCxnSpPr>
          <p:cNvPr id="21" name="Straight Connector 1">
            <a:extLst>
              <a:ext uri="{FF2B5EF4-FFF2-40B4-BE49-F238E27FC236}">
                <a16:creationId xmlns:a16="http://schemas.microsoft.com/office/drawing/2014/main" id="{F8F57AA6-7DAB-55AB-896A-4144FA6E3AC5}"/>
              </a:ext>
            </a:extLst>
          </p:cNvPr>
          <p:cNvCxnSpPr/>
          <p:nvPr>
            <p:custDataLst>
              <p:tags r:id="rId9"/>
            </p:custDataLst>
          </p:nvPr>
        </p:nvCxnSpPr>
        <p:spPr>
          <a:xfrm flipH="1" flipV="1">
            <a:off x="4285004" y="3290072"/>
            <a:ext cx="6444000" cy="3600"/>
          </a:xfrm>
          <a:prstGeom prst="line">
            <a:avLst/>
          </a:prstGeom>
          <a:noFill/>
          <a:ln w="12700" cap="flat" cmpd="sng">
            <a:solidFill>
              <a:srgbClr val="D9D9D9"/>
            </a:solidFill>
            <a:prstDash val="solid"/>
            <a:round/>
            <a:headEnd type="none" w="lg" len="med"/>
            <a:tailEnd type="none" w="lg" len="med"/>
          </a:ln>
        </p:spPr>
      </p:cxnSp>
      <p:graphicFrame>
        <p:nvGraphicFramePr>
          <p:cNvPr id="61" name="Chart 60" descr="SOURCE=[BULLET_BUILD_AI_DATA_UTILISATION_AND_INSIGHTS]&#10;HIDE-IF=AND([C_T2_48]=&quot;N/A&quot;,[T_T2_48]=&quot;N/A&quot;)">
            <a:extLst>
              <a:ext uri="{FF2B5EF4-FFF2-40B4-BE49-F238E27FC236}">
                <a16:creationId xmlns:a16="http://schemas.microsoft.com/office/drawing/2014/main" id="{03D98E0A-E242-4578-927E-7CDC29BA0297}"/>
              </a:ext>
            </a:extLst>
          </p:cNvPr>
          <p:cNvGraphicFramePr>
            <a:graphicFrameLocks noDrilldown="1"/>
          </p:cNvGraphicFramePr>
          <p:nvPr>
            <p:custDataLst>
              <p:tags r:id="rId10"/>
            </p:custDataLst>
            <p:extLst>
              <p:ext uri="{D42A27DB-BD31-4B8C-83A1-F6EECF244321}">
                <p14:modId xmlns:p14="http://schemas.microsoft.com/office/powerpoint/2010/main" val="2538154555"/>
              </p:ext>
            </p:extLst>
          </p:nvPr>
        </p:nvGraphicFramePr>
        <p:xfrm>
          <a:off x="4179600" y="2723620"/>
          <a:ext cx="6872400" cy="900000"/>
        </p:xfrm>
        <a:graphic>
          <a:graphicData uri="http://schemas.openxmlformats.org/drawingml/2006/chart">
            <c:chart xmlns:c="http://schemas.openxmlformats.org/drawingml/2006/chart" xmlns:r="http://schemas.openxmlformats.org/officeDocument/2006/relationships" r:id="rId31"/>
          </a:graphicData>
        </a:graphic>
      </p:graphicFrame>
      <p:grpSp>
        <p:nvGrpSpPr>
          <p:cNvPr id="2" name="Group 1">
            <a:extLst>
              <a:ext uri="{FF2B5EF4-FFF2-40B4-BE49-F238E27FC236}">
                <a16:creationId xmlns:a16="http://schemas.microsoft.com/office/drawing/2014/main" id="{3A294678-0405-C018-87DB-5BCD93534A36}"/>
              </a:ext>
            </a:extLst>
          </p:cNvPr>
          <p:cNvGrpSpPr/>
          <p:nvPr>
            <p:custDataLst>
              <p:tags r:id="rId11"/>
            </p:custDataLst>
          </p:nvPr>
        </p:nvGrpSpPr>
        <p:grpSpPr>
          <a:xfrm>
            <a:off x="4293132" y="1011935"/>
            <a:ext cx="6358279" cy="338554"/>
            <a:chOff x="2649839" y="857851"/>
            <a:chExt cx="5601782" cy="338554"/>
          </a:xfrm>
        </p:grpSpPr>
        <p:sp>
          <p:nvSpPr>
            <p:cNvPr id="3" name="TextBox 2">
              <a:extLst>
                <a:ext uri="{FF2B5EF4-FFF2-40B4-BE49-F238E27FC236}">
                  <a16:creationId xmlns:a16="http://schemas.microsoft.com/office/drawing/2014/main" id="{03DF465C-E7D1-B52B-8B4F-43C7D7B36B69}"/>
                </a:ext>
              </a:extLst>
            </p:cNvPr>
            <p:cNvSpPr txBox="1"/>
            <p:nvPr>
              <p:custDataLst>
                <p:tags r:id="rId22"/>
              </p:custDataLst>
            </p:nvPr>
          </p:nvSpPr>
          <p:spPr>
            <a:xfrm>
              <a:off x="2649839" y="857851"/>
              <a:ext cx="1052903"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 None</a:t>
              </a:r>
            </a:p>
          </p:txBody>
        </p:sp>
        <p:sp>
          <p:nvSpPr>
            <p:cNvPr id="5" name="TextBox 4">
              <a:extLst>
                <a:ext uri="{FF2B5EF4-FFF2-40B4-BE49-F238E27FC236}">
                  <a16:creationId xmlns:a16="http://schemas.microsoft.com/office/drawing/2014/main" id="{F06DA87C-4298-69D6-9F1E-D87E0FF5E307}"/>
                </a:ext>
              </a:extLst>
            </p:cNvPr>
            <p:cNvSpPr txBox="1"/>
            <p:nvPr>
              <p:custDataLst>
                <p:tags r:id="rId23"/>
              </p:custDataLst>
            </p:nvPr>
          </p:nvSpPr>
          <p:spPr>
            <a:xfrm>
              <a:off x="3862802" y="857851"/>
              <a:ext cx="983220"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Partial</a:t>
              </a:r>
            </a:p>
          </p:txBody>
        </p:sp>
        <p:sp>
          <p:nvSpPr>
            <p:cNvPr id="6" name="TextBox 5">
              <a:extLst>
                <a:ext uri="{FF2B5EF4-FFF2-40B4-BE49-F238E27FC236}">
                  <a16:creationId xmlns:a16="http://schemas.microsoft.com/office/drawing/2014/main" id="{279396A6-D7F4-05CB-AEC5-5D9CD5719E6F}"/>
                </a:ext>
              </a:extLst>
            </p:cNvPr>
            <p:cNvSpPr txBox="1"/>
            <p:nvPr>
              <p:custDataLst>
                <p:tags r:id="rId24"/>
              </p:custDataLst>
            </p:nvPr>
          </p:nvSpPr>
          <p:spPr>
            <a:xfrm>
              <a:off x="4998563" y="857851"/>
              <a:ext cx="983220"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 Full</a:t>
              </a:r>
            </a:p>
          </p:txBody>
        </p:sp>
        <p:sp>
          <p:nvSpPr>
            <p:cNvPr id="7" name="TextBox 6">
              <a:extLst>
                <a:ext uri="{FF2B5EF4-FFF2-40B4-BE49-F238E27FC236}">
                  <a16:creationId xmlns:a16="http://schemas.microsoft.com/office/drawing/2014/main" id="{977B9A2E-4159-C679-697C-3FEAF1531A1B}"/>
                </a:ext>
              </a:extLst>
            </p:cNvPr>
            <p:cNvSpPr txBox="1"/>
            <p:nvPr>
              <p:custDataLst>
                <p:tags r:id="rId25"/>
              </p:custDataLst>
            </p:nvPr>
          </p:nvSpPr>
          <p:spPr>
            <a:xfrm>
              <a:off x="6127606" y="857851"/>
              <a:ext cx="983220"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Optimized</a:t>
              </a:r>
            </a:p>
          </p:txBody>
        </p:sp>
        <p:sp>
          <p:nvSpPr>
            <p:cNvPr id="8" name="TextBox 7">
              <a:extLst>
                <a:ext uri="{FF2B5EF4-FFF2-40B4-BE49-F238E27FC236}">
                  <a16:creationId xmlns:a16="http://schemas.microsoft.com/office/drawing/2014/main" id="{FAE1FE0D-94D7-EDF6-2A42-79571A06B146}"/>
                </a:ext>
              </a:extLst>
            </p:cNvPr>
            <p:cNvSpPr txBox="1"/>
            <p:nvPr>
              <p:custDataLst>
                <p:tags r:id="rId26"/>
              </p:custDataLst>
            </p:nvPr>
          </p:nvSpPr>
          <p:spPr>
            <a:xfrm>
              <a:off x="7268401" y="857851"/>
              <a:ext cx="983220" cy="338554"/>
            </a:xfrm>
            <a:prstGeom prst="rect">
              <a:avLst/>
            </a:prstGeom>
            <a:solidFill>
              <a:srgbClr val="E6EAEE"/>
            </a:solidFill>
          </p:spPr>
          <p:txBody>
            <a:bodyPr wrap="square" lIns="182880" tIns="91440" rIns="182880" bIns="91440" rtlCol="0" anchor="ctr">
              <a:spAutoFit/>
            </a:bodyPr>
            <a:lstStyle/>
            <a:p>
              <a:pPr algn="ctr">
                <a:spcBef>
                  <a:spcPts val="600"/>
                </a:spcBef>
              </a:pPr>
              <a:r>
                <a:rPr lang="en-IN" sz="1000">
                  <a:ea typeface="Calibri" panose="020F0502020204030204" pitchFamily="34" charset="0"/>
                  <a:cs typeface="Calibri" panose="020F0502020204030204" pitchFamily="34" charset="0"/>
                </a:rPr>
                <a:t>Adaptive</a:t>
              </a:r>
            </a:p>
          </p:txBody>
        </p:sp>
      </p:grpSp>
      <p:sp>
        <p:nvSpPr>
          <p:cNvPr id="9" name="Oval 8">
            <a:extLst>
              <a:ext uri="{FF2B5EF4-FFF2-40B4-BE49-F238E27FC236}">
                <a16:creationId xmlns:a16="http://schemas.microsoft.com/office/drawing/2014/main" id="{19E158FF-822B-5DF5-5C0D-B967169293C6}"/>
              </a:ext>
            </a:extLst>
          </p:cNvPr>
          <p:cNvSpPr/>
          <p:nvPr>
            <p:custDataLst>
              <p:tags r:id="rId12"/>
            </p:custDataLst>
          </p:nvPr>
        </p:nvSpPr>
        <p:spPr>
          <a:xfrm>
            <a:off x="5465570" y="1075831"/>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1</a:t>
            </a:r>
          </a:p>
        </p:txBody>
      </p:sp>
      <p:sp>
        <p:nvSpPr>
          <p:cNvPr id="10" name="Oval 9">
            <a:extLst>
              <a:ext uri="{FF2B5EF4-FFF2-40B4-BE49-F238E27FC236}">
                <a16:creationId xmlns:a16="http://schemas.microsoft.com/office/drawing/2014/main" id="{47E5636C-A7FD-51A6-E124-C5DCA9D71F41}"/>
              </a:ext>
            </a:extLst>
          </p:cNvPr>
          <p:cNvSpPr/>
          <p:nvPr>
            <p:custDataLst>
              <p:tags r:id="rId13"/>
            </p:custDataLst>
          </p:nvPr>
        </p:nvSpPr>
        <p:spPr>
          <a:xfrm>
            <a:off x="6756827" y="1085606"/>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2</a:t>
            </a:r>
          </a:p>
        </p:txBody>
      </p:sp>
      <p:sp>
        <p:nvSpPr>
          <p:cNvPr id="11" name="Oval 10">
            <a:extLst>
              <a:ext uri="{FF2B5EF4-FFF2-40B4-BE49-F238E27FC236}">
                <a16:creationId xmlns:a16="http://schemas.microsoft.com/office/drawing/2014/main" id="{30A42642-08FE-BB6A-EEB7-8E122461E088}"/>
              </a:ext>
            </a:extLst>
          </p:cNvPr>
          <p:cNvSpPr/>
          <p:nvPr>
            <p:custDataLst>
              <p:tags r:id="rId14"/>
            </p:custDataLst>
          </p:nvPr>
        </p:nvSpPr>
        <p:spPr>
          <a:xfrm>
            <a:off x="8045383" y="1085605"/>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3</a:t>
            </a:r>
          </a:p>
        </p:txBody>
      </p:sp>
      <p:sp>
        <p:nvSpPr>
          <p:cNvPr id="12" name="Oval 11">
            <a:extLst>
              <a:ext uri="{FF2B5EF4-FFF2-40B4-BE49-F238E27FC236}">
                <a16:creationId xmlns:a16="http://schemas.microsoft.com/office/drawing/2014/main" id="{9DEB08B3-28DF-B419-F224-BC18F0C00A7B}"/>
              </a:ext>
            </a:extLst>
          </p:cNvPr>
          <p:cNvSpPr/>
          <p:nvPr>
            <p:custDataLst>
              <p:tags r:id="rId15"/>
            </p:custDataLst>
          </p:nvPr>
        </p:nvSpPr>
        <p:spPr>
          <a:xfrm>
            <a:off x="9334590" y="1094884"/>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4</a:t>
            </a:r>
          </a:p>
        </p:txBody>
      </p:sp>
      <p:sp>
        <p:nvSpPr>
          <p:cNvPr id="13" name="Oval 12">
            <a:extLst>
              <a:ext uri="{FF2B5EF4-FFF2-40B4-BE49-F238E27FC236}">
                <a16:creationId xmlns:a16="http://schemas.microsoft.com/office/drawing/2014/main" id="{3222B850-A293-D9A9-D359-4972BC9E1170}"/>
              </a:ext>
            </a:extLst>
          </p:cNvPr>
          <p:cNvSpPr/>
          <p:nvPr>
            <p:custDataLst>
              <p:tags r:id="rId16"/>
            </p:custDataLst>
          </p:nvPr>
        </p:nvSpPr>
        <p:spPr>
          <a:xfrm>
            <a:off x="10620471" y="1085604"/>
            <a:ext cx="224234" cy="2334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5</a:t>
            </a:r>
          </a:p>
        </p:txBody>
      </p:sp>
      <p:grpSp>
        <p:nvGrpSpPr>
          <p:cNvPr id="14" name="Group 13">
            <a:extLst>
              <a:ext uri="{FF2B5EF4-FFF2-40B4-BE49-F238E27FC236}">
                <a16:creationId xmlns:a16="http://schemas.microsoft.com/office/drawing/2014/main" id="{409A035D-989A-5617-C519-53F9C0F83D8E}"/>
              </a:ext>
            </a:extLst>
          </p:cNvPr>
          <p:cNvGrpSpPr/>
          <p:nvPr>
            <p:custDataLst>
              <p:tags r:id="rId17"/>
            </p:custDataLst>
          </p:nvPr>
        </p:nvGrpSpPr>
        <p:grpSpPr>
          <a:xfrm>
            <a:off x="1842218" y="1074475"/>
            <a:ext cx="2166003" cy="219236"/>
            <a:chOff x="3884227" y="8402296"/>
            <a:chExt cx="2166003" cy="219236"/>
          </a:xfrm>
        </p:grpSpPr>
        <p:sp>
          <p:nvSpPr>
            <p:cNvPr id="15" name="TextBox 58">
              <a:extLst>
                <a:ext uri="{FF2B5EF4-FFF2-40B4-BE49-F238E27FC236}">
                  <a16:creationId xmlns:a16="http://schemas.microsoft.com/office/drawing/2014/main" id="{31389755-64CD-42E3-D555-3BEC8E85487A}"/>
                </a:ext>
              </a:extLst>
            </p:cNvPr>
            <p:cNvSpPr txBox="1"/>
            <p:nvPr>
              <p:custDataLst>
                <p:tags r:id="rId18"/>
              </p:custDataLst>
            </p:nvPr>
          </p:nvSpPr>
          <p:spPr>
            <a:xfrm>
              <a:off x="4029201" y="8406088"/>
              <a:ext cx="1005125" cy="21544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panose="020B0604020202020204" pitchFamily="34" charset="0"/>
                </a:rPr>
                <a:t>Current Maturity</a:t>
              </a:r>
            </a:p>
          </p:txBody>
        </p:sp>
        <p:sp>
          <p:nvSpPr>
            <p:cNvPr id="16" name="TextBox 59">
              <a:extLst>
                <a:ext uri="{FF2B5EF4-FFF2-40B4-BE49-F238E27FC236}">
                  <a16:creationId xmlns:a16="http://schemas.microsoft.com/office/drawing/2014/main" id="{E084A49A-D29E-1D7F-6D7F-B65128F65BCA}"/>
                </a:ext>
              </a:extLst>
            </p:cNvPr>
            <p:cNvSpPr txBox="1"/>
            <p:nvPr>
              <p:custDataLst>
                <p:tags r:id="rId19"/>
              </p:custDataLst>
            </p:nvPr>
          </p:nvSpPr>
          <p:spPr>
            <a:xfrm>
              <a:off x="5169038" y="8402296"/>
              <a:ext cx="881192" cy="21544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cs typeface="Arial" panose="020B0604020202020204" pitchFamily="34" charset="0"/>
                </a:rPr>
                <a:t>Target Maturity</a:t>
              </a:r>
            </a:p>
          </p:txBody>
        </p:sp>
        <p:sp>
          <p:nvSpPr>
            <p:cNvPr id="22" name="Rectangle 21">
              <a:extLst>
                <a:ext uri="{FF2B5EF4-FFF2-40B4-BE49-F238E27FC236}">
                  <a16:creationId xmlns:a16="http://schemas.microsoft.com/office/drawing/2014/main" id="{4C322901-87AB-5C7B-A44D-195C33C5DDEC}"/>
                </a:ext>
              </a:extLst>
            </p:cNvPr>
            <p:cNvSpPr/>
            <p:nvPr>
              <p:custDataLst>
                <p:tags r:id="rId20"/>
              </p:custDataLst>
            </p:nvPr>
          </p:nvSpPr>
          <p:spPr>
            <a:xfrm>
              <a:off x="3884227" y="8444792"/>
              <a:ext cx="136507" cy="136507"/>
            </a:xfrm>
            <a:prstGeom prst="rect">
              <a:avLst/>
            </a:prstGeom>
            <a:solidFill>
              <a:srgbClr val="0028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 name="Rectangle 22">
              <a:extLst>
                <a:ext uri="{FF2B5EF4-FFF2-40B4-BE49-F238E27FC236}">
                  <a16:creationId xmlns:a16="http://schemas.microsoft.com/office/drawing/2014/main" id="{AD3804EC-E03B-0ACF-2917-789AEA9A9947}"/>
                </a:ext>
              </a:extLst>
            </p:cNvPr>
            <p:cNvSpPr/>
            <p:nvPr>
              <p:custDataLst>
                <p:tags r:id="rId21"/>
              </p:custDataLst>
            </p:nvPr>
          </p:nvSpPr>
          <p:spPr>
            <a:xfrm>
              <a:off x="5034326" y="8441765"/>
              <a:ext cx="136507" cy="136507"/>
            </a:xfrm>
            <a:prstGeom prst="rect">
              <a:avLst/>
            </a:prstGeom>
            <a:solidFill>
              <a:srgbClr val="1F9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Tree>
    <p:extLst>
      <p:ext uri="{BB962C8B-B14F-4D97-AF65-F5344CB8AC3E}">
        <p14:creationId xmlns:p14="http://schemas.microsoft.com/office/powerpoint/2010/main" val="337006640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81B7D51-13CB-45DD-B873-AB218E3EF0C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473" imgH="473" progId="TCLayout.ActiveDocument.1">
                  <p:embed/>
                </p:oleObj>
              </mc:Choice>
              <mc:Fallback>
                <p:oleObj name="think-cell Slide" r:id="rId6" imgW="473" imgH="473" progId="TCLayout.ActiveDocument.1">
                  <p:embed/>
                  <p:pic>
                    <p:nvPicPr>
                      <p:cNvPr id="5" name="Object 4" hidden="1">
                        <a:extLst>
                          <a:ext uri="{FF2B5EF4-FFF2-40B4-BE49-F238E27FC236}">
                            <a16:creationId xmlns:a16="http://schemas.microsoft.com/office/drawing/2014/main" id="{781B7D51-13CB-45DD-B873-AB218E3EF0C4}"/>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TextBox 2">
            <a:extLst>
              <a:ext uri="{FF2B5EF4-FFF2-40B4-BE49-F238E27FC236}">
                <a16:creationId xmlns:a16="http://schemas.microsoft.com/office/drawing/2014/main" id="{0497ED72-6300-E57F-7D8D-2F0324505B70}"/>
              </a:ext>
            </a:extLst>
          </p:cNvPr>
          <p:cNvSpPr txBox="1"/>
          <p:nvPr>
            <p:custDataLst>
              <p:tags r:id="rId2"/>
            </p:custDataLst>
          </p:nvPr>
        </p:nvSpPr>
        <p:spPr>
          <a:xfrm>
            <a:off x="536400" y="3127248"/>
            <a:ext cx="10753344" cy="2631490"/>
          </a:xfrm>
          <a:prstGeom prst="rect">
            <a:avLst/>
          </a:prstGeom>
          <a:noFill/>
        </p:spPr>
        <p:txBody>
          <a:bodyPr wrap="square" lIns="0" rtlCol="0">
            <a:spAutoFit/>
          </a:bodyPr>
          <a:lstStyle/>
          <a:p>
            <a:r>
              <a:rPr lang="en-US" sz="1100" b="1" dirty="0">
                <a:solidFill>
                  <a:schemeClr val="accent4"/>
                </a:solidFill>
              </a:rPr>
              <a:t>Confidentiality and Intellectual Property</a:t>
            </a:r>
          </a:p>
          <a:p>
            <a:r>
              <a:rPr lang="en-US" sz="1100" dirty="0"/>
              <a:t>These materials have been prepared by Gartner Inc. and/or its affiliates (“Gartner”) for the exclusive and individual use of our clients. These materials contain valuable</a:t>
            </a:r>
          </a:p>
          <a:p>
            <a:r>
              <a:rPr lang="en-US" sz="1100" dirty="0"/>
              <a:t>confidential and proprietary information belonging to Gartner, and they may not be shared with any third party (including independent contractors and consultants) without</a:t>
            </a:r>
          </a:p>
          <a:p>
            <a:r>
              <a:rPr lang="en-US" sz="1100" dirty="0"/>
              <a:t>the prior approval of Gartner. Gartner retains any and all intellectual property rights in these materials and requires retention of the copyright mark on all pages reproduced.</a:t>
            </a:r>
          </a:p>
          <a:p>
            <a:endParaRPr lang="en-US" sz="1100" dirty="0"/>
          </a:p>
          <a:p>
            <a:r>
              <a:rPr lang="en-US" sz="1100" b="1" dirty="0">
                <a:solidFill>
                  <a:schemeClr val="accent4"/>
                </a:solidFill>
              </a:rPr>
              <a:t>Legal Caveat</a:t>
            </a:r>
          </a:p>
          <a:p>
            <a:r>
              <a:rPr lang="en-US" sz="1100" dirty="0"/>
              <a:t>Gartner is not able to guarantee the accuracy of the information or analysis contained in these materials. Furthermore, Gartner is not engaged in rendering legal, accounting, or any other professional services. Gartner specifically disclaims liability for any damages, claims, or losses that may arise from any errors or omissions in theses materials, whether caused by Gartner or its sources, or reliance upon any recommendation made by Gartner. </a:t>
            </a:r>
          </a:p>
          <a:p>
            <a:endParaRPr lang="en-US" sz="1100" b="1" dirty="0">
              <a:solidFill>
                <a:schemeClr val="accent4"/>
              </a:solidFill>
            </a:endParaRPr>
          </a:p>
          <a:p>
            <a:r>
              <a:rPr lang="en-US" sz="1100" b="1" dirty="0">
                <a:solidFill>
                  <a:schemeClr val="accent4"/>
                </a:solidFill>
              </a:rPr>
              <a:t>Disclaimer</a:t>
            </a:r>
          </a:p>
          <a:p>
            <a:r>
              <a:rPr lang="en-US" sz="1100" dirty="0"/>
              <a:t>Unless otherwise set forth in your Service Description or marked expressly for external use, these items may be downloaded and customized for internal noncommercial</a:t>
            </a:r>
          </a:p>
          <a:p>
            <a:r>
              <a:rPr lang="en-US" sz="1100" dirty="0"/>
              <a:t>use by the Client. The items contained in this report may not be repackaged or resold. Gartner makes no representations or warranties as to the suitability of this report for</a:t>
            </a:r>
          </a:p>
          <a:p>
            <a:r>
              <a:rPr lang="en-US" sz="1100" dirty="0"/>
              <a:t>any particular purpose, and disclaims all liability for any damage or loss, whether direct, consequential, incidental or special, arising out of the use of or inability to use this</a:t>
            </a:r>
          </a:p>
          <a:p>
            <a:r>
              <a:rPr lang="en-US" sz="1100" dirty="0"/>
              <a:t>material or the information provided herein.</a:t>
            </a:r>
          </a:p>
        </p:txBody>
      </p:sp>
      <p:sp>
        <p:nvSpPr>
          <p:cNvPr id="4" name="Title 2">
            <a:extLst>
              <a:ext uri="{FF2B5EF4-FFF2-40B4-BE49-F238E27FC236}">
                <a16:creationId xmlns:a16="http://schemas.microsoft.com/office/drawing/2014/main" id="{CC3DC13C-E418-7284-8A8D-7411801BA3EA}"/>
              </a:ext>
            </a:extLst>
          </p:cNvPr>
          <p:cNvSpPr>
            <a:spLocks noGrp="1"/>
          </p:cNvSpPr>
          <p:nvPr>
            <p:ph type="title"/>
            <p:custDataLst>
              <p:tags r:id="rId3"/>
            </p:custDataLst>
          </p:nvPr>
        </p:nvSpPr>
        <p:spPr>
          <a:xfrm>
            <a:off x="536400" y="840420"/>
            <a:ext cx="11274552" cy="451231"/>
          </a:xfrm>
        </p:spPr>
        <p:txBody>
          <a:bodyPr/>
          <a:lstStyle/>
          <a:p>
            <a:r>
              <a:rPr lang="en-US" sz="2400">
                <a:latin typeface="+mn-lt"/>
              </a:rPr>
              <a:t>Disclaimer</a:t>
            </a:r>
          </a:p>
        </p:txBody>
      </p:sp>
    </p:spTree>
    <p:extLst>
      <p:ext uri="{BB962C8B-B14F-4D97-AF65-F5344CB8AC3E}">
        <p14:creationId xmlns:p14="http://schemas.microsoft.com/office/powerpoint/2010/main" val="1890271022"/>
      </p:ext>
    </p:extLst>
  </p:cSld>
  <p:clrMapOvr>
    <a:masterClrMapping/>
  </p:clrMapOvr>
  <mc:AlternateContent xmlns:mc="http://schemas.openxmlformats.org/markup-compatibility/2006" xmlns:p14="http://schemas.microsoft.com/office/powerpoint/2010/main">
    <mc:Choice Requires="p14">
      <p:transition p14:dur="1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10.0.20348.0"/>
  <p:tag name="AS_RELEASE_DATE" val="2026.04.14"/>
  <p:tag name="AS_TITLE" val="Aspose.Slides for .NET 4.6.2"/>
  <p:tag name="AS_VERSION" val="26.4"/>
</p:tagLst>
</file>

<file path=ppt/tags/tag2.xml><?xml version="1.0" encoding="utf-8"?>
<p:tagLst xmlns:a="http://schemas.openxmlformats.org/drawingml/2006/main" xmlns:r="http://schemas.openxmlformats.org/officeDocument/2006/relationships" xmlns:p="http://schemas.openxmlformats.org/presentationml/2006/main">
  <p:tag name="AS_UNIQUEID" val="12309"/>
</p:tagLst>
</file>

<file path=ppt/tags/tag3.xml><?xml version="1.0" encoding="utf-8"?>
<p:tagLst xmlns:a="http://schemas.openxmlformats.org/drawingml/2006/main" xmlns:r="http://schemas.openxmlformats.org/officeDocument/2006/relationships" xmlns:p="http://schemas.openxmlformats.org/presentationml/2006/main">
  <p:tag name="AS_UNIQUEID" val="12310"/>
</p:tagLst>
</file>

<file path=ppt/tags/tag4.xml><?xml version="1.0" encoding="utf-8"?>
<p:tagLst xmlns:a="http://schemas.openxmlformats.org/drawingml/2006/main" xmlns:r="http://schemas.openxmlformats.org/officeDocument/2006/relationships" xmlns:p="http://schemas.openxmlformats.org/presentationml/2006/main">
  <p:tag name="AS_UNIQUEID" val="12311"/>
</p:tagLst>
</file>

<file path=ppt/tags/tag5.xml><?xml version="1.0" encoding="utf-8"?>
<p:tagLst xmlns:a="http://schemas.openxmlformats.org/drawingml/2006/main" xmlns:r="http://schemas.openxmlformats.org/officeDocument/2006/relationships" xmlns:p="http://schemas.openxmlformats.org/presentationml/2006/main">
  <p:tag name="AS_UNIQUEID" val="12312"/>
</p:tagLst>
</file>

<file path=ppt/tags/tag6.xml><?xml version="1.0" encoding="utf-8"?>
<p:tagLst xmlns:a="http://schemas.openxmlformats.org/drawingml/2006/main" xmlns:r="http://schemas.openxmlformats.org/officeDocument/2006/relationships" xmlns:p="http://schemas.openxmlformats.org/presentationml/2006/main">
  <p:tag name="AS_UNIQUEID" val="12243"/>
</p:tagLst>
</file>

<file path=ppt/tags/tag7.xml><?xml version="1.0" encoding="utf-8"?>
<p:tagLst xmlns:a="http://schemas.openxmlformats.org/drawingml/2006/main" xmlns:r="http://schemas.openxmlformats.org/officeDocument/2006/relationships" xmlns:p="http://schemas.openxmlformats.org/presentationml/2006/main">
  <p:tag name="AS_UNIQUEID" val="12244"/>
</p:tagLst>
</file>

<file path=ppt/tags/tag8.xml><?xml version="1.0" encoding="utf-8"?>
<p:tagLst xmlns:a="http://schemas.openxmlformats.org/drawingml/2006/main" xmlns:r="http://schemas.openxmlformats.org/officeDocument/2006/relationships" xmlns:p="http://schemas.openxmlformats.org/presentationml/2006/main">
  <p:tag name="AS_UNIQUEID" val="12245"/>
</p:tagLst>
</file>

<file path=ppt/tags/tag9.xml><?xml version="1.0" encoding="utf-8"?>
<p:tagLst xmlns:a="http://schemas.openxmlformats.org/drawingml/2006/main" xmlns:r="http://schemas.openxmlformats.org/officeDocument/2006/relationships" xmlns:p="http://schemas.openxmlformats.org/presentationml/2006/main">
  <p:tag name="AS_UNIQUEID" val="12246"/>
</p:tagLst>
</file>

<file path=ppt/tags/tag10.xml><?xml version="1.0" encoding="utf-8"?>
<p:tagLst xmlns:a="http://schemas.openxmlformats.org/drawingml/2006/main" xmlns:r="http://schemas.openxmlformats.org/officeDocument/2006/relationships" xmlns:p="http://schemas.openxmlformats.org/presentationml/2006/main">
  <p:tag name="AS_UNIQUEID" val="12248"/>
</p:tagLst>
</file>

<file path=ppt/tags/tag11.xml><?xml version="1.0" encoding="utf-8"?>
<p:tagLst xmlns:a="http://schemas.openxmlformats.org/drawingml/2006/main" xmlns:r="http://schemas.openxmlformats.org/officeDocument/2006/relationships" xmlns:p="http://schemas.openxmlformats.org/presentationml/2006/main">
  <p:tag name="AS_UNIQUEID" val="12249"/>
</p:tagLst>
</file>

<file path=ppt/tags/tag12.xml><?xml version="1.0" encoding="utf-8"?>
<p:tagLst xmlns:a="http://schemas.openxmlformats.org/drawingml/2006/main" xmlns:r="http://schemas.openxmlformats.org/officeDocument/2006/relationships" xmlns:p="http://schemas.openxmlformats.org/presentationml/2006/main">
  <p:tag name="AS_UNIQUEID" val="12250"/>
</p:tagLst>
</file>

<file path=ppt/tags/tag13.xml><?xml version="1.0" encoding="utf-8"?>
<p:tagLst xmlns:a="http://schemas.openxmlformats.org/drawingml/2006/main" xmlns:r="http://schemas.openxmlformats.org/officeDocument/2006/relationships" xmlns:p="http://schemas.openxmlformats.org/presentationml/2006/main">
  <p:tag name="AS_UNIQUEID" val="12251"/>
</p:tagLst>
</file>

<file path=ppt/tags/tag14.xml><?xml version="1.0" encoding="utf-8"?>
<p:tagLst xmlns:a="http://schemas.openxmlformats.org/drawingml/2006/main" xmlns:r="http://schemas.openxmlformats.org/officeDocument/2006/relationships" xmlns:p="http://schemas.openxmlformats.org/presentationml/2006/main">
  <p:tag name="AS_UNIQUEID" val="12254"/>
</p:tagLst>
</file>

<file path=ppt/tags/tag15.xml><?xml version="1.0" encoding="utf-8"?>
<p:tagLst xmlns:a="http://schemas.openxmlformats.org/drawingml/2006/main" xmlns:r="http://schemas.openxmlformats.org/officeDocument/2006/relationships" xmlns:p="http://schemas.openxmlformats.org/presentationml/2006/main">
  <p:tag name="AS_UNIQUEID" val="12256"/>
</p:tagLst>
</file>

<file path=ppt/tags/tag16.xml><?xml version="1.0" encoding="utf-8"?>
<p:tagLst xmlns:a="http://schemas.openxmlformats.org/drawingml/2006/main" xmlns:r="http://schemas.openxmlformats.org/officeDocument/2006/relationships" xmlns:p="http://schemas.openxmlformats.org/presentationml/2006/main">
  <p:tag name="AS_UNIQUEID" val="12257"/>
</p:tagLst>
</file>

<file path=ppt/tags/tag17.xml><?xml version="1.0" encoding="utf-8"?>
<p:tagLst xmlns:a="http://schemas.openxmlformats.org/drawingml/2006/main" xmlns:r="http://schemas.openxmlformats.org/officeDocument/2006/relationships" xmlns:p="http://schemas.openxmlformats.org/presentationml/2006/main">
  <p:tag name="AS_UNIQUEID" val="12259"/>
</p:tagLst>
</file>

<file path=ppt/tags/tag18.xml><?xml version="1.0" encoding="utf-8"?>
<p:tagLst xmlns:a="http://schemas.openxmlformats.org/drawingml/2006/main" xmlns:r="http://schemas.openxmlformats.org/officeDocument/2006/relationships" xmlns:p="http://schemas.openxmlformats.org/presentationml/2006/main">
  <p:tag name="AS_UNIQUEID" val="12260"/>
</p:tagLst>
</file>

<file path=ppt/tags/tag19.xml><?xml version="1.0" encoding="utf-8"?>
<p:tagLst xmlns:a="http://schemas.openxmlformats.org/drawingml/2006/main" xmlns:r="http://schemas.openxmlformats.org/officeDocument/2006/relationships" xmlns:p="http://schemas.openxmlformats.org/presentationml/2006/main">
  <p:tag name="AS_UNIQUEID" val="12262"/>
</p:tagLst>
</file>

<file path=ppt/tags/tag20.xml><?xml version="1.0" encoding="utf-8"?>
<p:tagLst xmlns:a="http://schemas.openxmlformats.org/drawingml/2006/main" xmlns:r="http://schemas.openxmlformats.org/officeDocument/2006/relationships" xmlns:p="http://schemas.openxmlformats.org/presentationml/2006/main">
  <p:tag name="AS_UNIQUEID" val="12263"/>
</p:tagLst>
</file>

<file path=ppt/tags/tag21.xml><?xml version="1.0" encoding="utf-8"?>
<p:tagLst xmlns:a="http://schemas.openxmlformats.org/drawingml/2006/main" xmlns:r="http://schemas.openxmlformats.org/officeDocument/2006/relationships" xmlns:p="http://schemas.openxmlformats.org/presentationml/2006/main">
  <p:tag name="AS_UNIQUEID" val="12264"/>
</p:tagLst>
</file>

<file path=ppt/tags/tag22.xml><?xml version="1.0" encoding="utf-8"?>
<p:tagLst xmlns:a="http://schemas.openxmlformats.org/drawingml/2006/main" xmlns:r="http://schemas.openxmlformats.org/officeDocument/2006/relationships" xmlns:p="http://schemas.openxmlformats.org/presentationml/2006/main">
  <p:tag name="AS_UNIQUEID" val="12266"/>
</p:tagLst>
</file>

<file path=ppt/tags/tag23.xml><?xml version="1.0" encoding="utf-8"?>
<p:tagLst xmlns:a="http://schemas.openxmlformats.org/drawingml/2006/main" xmlns:r="http://schemas.openxmlformats.org/officeDocument/2006/relationships" xmlns:p="http://schemas.openxmlformats.org/presentationml/2006/main">
  <p:tag name="AS_UNIQUEID" val="12267"/>
</p:tagLst>
</file>

<file path=ppt/tags/tag24.xml><?xml version="1.0" encoding="utf-8"?>
<p:tagLst xmlns:a="http://schemas.openxmlformats.org/drawingml/2006/main" xmlns:r="http://schemas.openxmlformats.org/officeDocument/2006/relationships" xmlns:p="http://schemas.openxmlformats.org/presentationml/2006/main">
  <p:tag name="AS_UNIQUEID" val="12268"/>
</p:tagLst>
</file>

<file path=ppt/tags/tag25.xml><?xml version="1.0" encoding="utf-8"?>
<p:tagLst xmlns:a="http://schemas.openxmlformats.org/drawingml/2006/main" xmlns:r="http://schemas.openxmlformats.org/officeDocument/2006/relationships" xmlns:p="http://schemas.openxmlformats.org/presentationml/2006/main">
  <p:tag name="AS_UNIQUEID" val="12269"/>
</p:tagLst>
</file>

<file path=ppt/tags/tag26.xml><?xml version="1.0" encoding="utf-8"?>
<p:tagLst xmlns:a="http://schemas.openxmlformats.org/drawingml/2006/main" xmlns:r="http://schemas.openxmlformats.org/officeDocument/2006/relationships" xmlns:p="http://schemas.openxmlformats.org/presentationml/2006/main">
  <p:tag name="AS_UNIQUEID" val="12271"/>
</p:tagLst>
</file>

<file path=ppt/tags/tag27.xml><?xml version="1.0" encoding="utf-8"?>
<p:tagLst xmlns:a="http://schemas.openxmlformats.org/drawingml/2006/main" xmlns:r="http://schemas.openxmlformats.org/officeDocument/2006/relationships" xmlns:p="http://schemas.openxmlformats.org/presentationml/2006/main">
  <p:tag name="AS_UNIQUEID" val="12272"/>
</p:tagLst>
</file>

<file path=ppt/tags/tag28.xml><?xml version="1.0" encoding="utf-8"?>
<p:tagLst xmlns:a="http://schemas.openxmlformats.org/drawingml/2006/main" xmlns:r="http://schemas.openxmlformats.org/officeDocument/2006/relationships" xmlns:p="http://schemas.openxmlformats.org/presentationml/2006/main">
  <p:tag name="AS_UNIQUEID" val="12273"/>
</p:tagLst>
</file>

<file path=ppt/tags/tag29.xml><?xml version="1.0" encoding="utf-8"?>
<p:tagLst xmlns:a="http://schemas.openxmlformats.org/drawingml/2006/main" xmlns:r="http://schemas.openxmlformats.org/officeDocument/2006/relationships" xmlns:p="http://schemas.openxmlformats.org/presentationml/2006/main">
  <p:tag name="AS_UNIQUEID" val="12274"/>
</p:tagLst>
</file>

<file path=ppt/tags/tag30.xml><?xml version="1.0" encoding="utf-8"?>
<p:tagLst xmlns:a="http://schemas.openxmlformats.org/drawingml/2006/main" xmlns:r="http://schemas.openxmlformats.org/officeDocument/2006/relationships" xmlns:p="http://schemas.openxmlformats.org/presentationml/2006/main">
  <p:tag name="AS_UNIQUEID" val="12276"/>
</p:tagLst>
</file>

<file path=ppt/tags/tag31.xml><?xml version="1.0" encoding="utf-8"?>
<p:tagLst xmlns:a="http://schemas.openxmlformats.org/drawingml/2006/main" xmlns:r="http://schemas.openxmlformats.org/officeDocument/2006/relationships" xmlns:p="http://schemas.openxmlformats.org/presentationml/2006/main">
  <p:tag name="AS_UNIQUEID" val="12277"/>
</p:tagLst>
</file>

<file path=ppt/tags/tag32.xml><?xml version="1.0" encoding="utf-8"?>
<p:tagLst xmlns:a="http://schemas.openxmlformats.org/drawingml/2006/main" xmlns:r="http://schemas.openxmlformats.org/officeDocument/2006/relationships" xmlns:p="http://schemas.openxmlformats.org/presentationml/2006/main">
  <p:tag name="AS_UNIQUEID" val="12278"/>
</p:tagLst>
</file>

<file path=ppt/tags/tag33.xml><?xml version="1.0" encoding="utf-8"?>
<p:tagLst xmlns:a="http://schemas.openxmlformats.org/drawingml/2006/main" xmlns:r="http://schemas.openxmlformats.org/officeDocument/2006/relationships" xmlns:p="http://schemas.openxmlformats.org/presentationml/2006/main">
  <p:tag name="AS_UNIQUEID" val="12279"/>
</p:tagLst>
</file>

<file path=ppt/tags/tag34.xml><?xml version="1.0" encoding="utf-8"?>
<p:tagLst xmlns:a="http://schemas.openxmlformats.org/drawingml/2006/main" xmlns:r="http://schemas.openxmlformats.org/officeDocument/2006/relationships" xmlns:p="http://schemas.openxmlformats.org/presentationml/2006/main">
  <p:tag name="AS_UNIQUEID" val="12280"/>
</p:tagLst>
</file>

<file path=ppt/tags/tag35.xml><?xml version="1.0" encoding="utf-8"?>
<p:tagLst xmlns:a="http://schemas.openxmlformats.org/drawingml/2006/main" xmlns:r="http://schemas.openxmlformats.org/officeDocument/2006/relationships" xmlns:p="http://schemas.openxmlformats.org/presentationml/2006/main">
  <p:tag name="AS_UNIQUEID" val="12282"/>
</p:tagLst>
</file>

<file path=ppt/tags/tag36.xml><?xml version="1.0" encoding="utf-8"?>
<p:tagLst xmlns:a="http://schemas.openxmlformats.org/drawingml/2006/main" xmlns:r="http://schemas.openxmlformats.org/officeDocument/2006/relationships" xmlns:p="http://schemas.openxmlformats.org/presentationml/2006/main">
  <p:tag name="AS_UNIQUEID" val="12283"/>
</p:tagLst>
</file>

<file path=ppt/tags/tag37.xml><?xml version="1.0" encoding="utf-8"?>
<p:tagLst xmlns:a="http://schemas.openxmlformats.org/drawingml/2006/main" xmlns:r="http://schemas.openxmlformats.org/officeDocument/2006/relationships" xmlns:p="http://schemas.openxmlformats.org/presentationml/2006/main">
  <p:tag name="AS_UNIQUEID" val="12284"/>
</p:tagLst>
</file>

<file path=ppt/tags/tag38.xml><?xml version="1.0" encoding="utf-8"?>
<p:tagLst xmlns:a="http://schemas.openxmlformats.org/drawingml/2006/main" xmlns:r="http://schemas.openxmlformats.org/officeDocument/2006/relationships" xmlns:p="http://schemas.openxmlformats.org/presentationml/2006/main">
  <p:tag name="AS_UNIQUEID" val="12285"/>
</p:tagLst>
</file>

<file path=ppt/tags/tag39.xml><?xml version="1.0" encoding="utf-8"?>
<p:tagLst xmlns:a="http://schemas.openxmlformats.org/drawingml/2006/main" xmlns:r="http://schemas.openxmlformats.org/officeDocument/2006/relationships" xmlns:p="http://schemas.openxmlformats.org/presentationml/2006/main">
  <p:tag name="AS_UNIQUEID" val="12286"/>
</p:tagLst>
</file>

<file path=ppt/tags/tag40.xml><?xml version="1.0" encoding="utf-8"?>
<p:tagLst xmlns:a="http://schemas.openxmlformats.org/drawingml/2006/main" xmlns:r="http://schemas.openxmlformats.org/officeDocument/2006/relationships" xmlns:p="http://schemas.openxmlformats.org/presentationml/2006/main">
  <p:tag name="AS_UNIQUEID" val="12288"/>
</p:tagLst>
</file>

<file path=ppt/tags/tag41.xml><?xml version="1.0" encoding="utf-8"?>
<p:tagLst xmlns:a="http://schemas.openxmlformats.org/drawingml/2006/main" xmlns:r="http://schemas.openxmlformats.org/officeDocument/2006/relationships" xmlns:p="http://schemas.openxmlformats.org/presentationml/2006/main">
  <p:tag name="AS_UNIQUEID" val="12290"/>
</p:tagLst>
</file>

<file path=ppt/tags/tag42.xml><?xml version="1.0" encoding="utf-8"?>
<p:tagLst xmlns:a="http://schemas.openxmlformats.org/drawingml/2006/main" xmlns:r="http://schemas.openxmlformats.org/officeDocument/2006/relationships" xmlns:p="http://schemas.openxmlformats.org/presentationml/2006/main">
  <p:tag name="AS_UNIQUEID" val="12291"/>
</p:tagLst>
</file>

<file path=ppt/tags/tag43.xml><?xml version="1.0" encoding="utf-8"?>
<p:tagLst xmlns:a="http://schemas.openxmlformats.org/drawingml/2006/main" xmlns:r="http://schemas.openxmlformats.org/officeDocument/2006/relationships" xmlns:p="http://schemas.openxmlformats.org/presentationml/2006/main">
  <p:tag name="AS_UNIQUEID" val="12292"/>
</p:tagLst>
</file>

<file path=ppt/tags/tag44.xml><?xml version="1.0" encoding="utf-8"?>
<p:tagLst xmlns:a="http://schemas.openxmlformats.org/drawingml/2006/main" xmlns:r="http://schemas.openxmlformats.org/officeDocument/2006/relationships" xmlns:p="http://schemas.openxmlformats.org/presentationml/2006/main">
  <p:tag name="AS_UNIQUEID" val="12293"/>
</p:tagLst>
</file>

<file path=ppt/tags/tag45.xml><?xml version="1.0" encoding="utf-8"?>
<p:tagLst xmlns:a="http://schemas.openxmlformats.org/drawingml/2006/main" xmlns:r="http://schemas.openxmlformats.org/officeDocument/2006/relationships" xmlns:p="http://schemas.openxmlformats.org/presentationml/2006/main">
  <p:tag name="AS_UNIQUEID" val="12295"/>
</p:tagLst>
</file>

<file path=ppt/tags/tag46.xml><?xml version="1.0" encoding="utf-8"?>
<p:tagLst xmlns:a="http://schemas.openxmlformats.org/drawingml/2006/main" xmlns:r="http://schemas.openxmlformats.org/officeDocument/2006/relationships" xmlns:p="http://schemas.openxmlformats.org/presentationml/2006/main">
  <p:tag name="AS_UNIQUEID" val="12296"/>
</p:tagLst>
</file>

<file path=ppt/tags/tag47.xml><?xml version="1.0" encoding="utf-8"?>
<p:tagLst xmlns:a="http://schemas.openxmlformats.org/drawingml/2006/main" xmlns:r="http://schemas.openxmlformats.org/officeDocument/2006/relationships" xmlns:p="http://schemas.openxmlformats.org/presentationml/2006/main">
  <p:tag name="AS_UNIQUEID" val="12297"/>
</p:tagLst>
</file>

<file path=ppt/tags/tag48.xml><?xml version="1.0" encoding="utf-8"?>
<p:tagLst xmlns:a="http://schemas.openxmlformats.org/drawingml/2006/main" xmlns:r="http://schemas.openxmlformats.org/officeDocument/2006/relationships" xmlns:p="http://schemas.openxmlformats.org/presentationml/2006/main">
  <p:tag name="AS_UNIQUEID" val="12298"/>
</p:tagLst>
</file>

<file path=ppt/tags/tag49.xml><?xml version="1.0" encoding="utf-8"?>
<p:tagLst xmlns:a="http://schemas.openxmlformats.org/drawingml/2006/main" xmlns:r="http://schemas.openxmlformats.org/officeDocument/2006/relationships" xmlns:p="http://schemas.openxmlformats.org/presentationml/2006/main">
  <p:tag name="AS_UNIQUEID" val="12300"/>
</p:tagLst>
</file>

<file path=ppt/tags/tag50.xml><?xml version="1.0" encoding="utf-8"?>
<p:tagLst xmlns:a="http://schemas.openxmlformats.org/drawingml/2006/main" xmlns:r="http://schemas.openxmlformats.org/officeDocument/2006/relationships" xmlns:p="http://schemas.openxmlformats.org/presentationml/2006/main">
  <p:tag name="AS_UNIQUEID" val="12301"/>
</p:tagLst>
</file>

<file path=ppt/tags/tag51.xml><?xml version="1.0" encoding="utf-8"?>
<p:tagLst xmlns:a="http://schemas.openxmlformats.org/drawingml/2006/main" xmlns:r="http://schemas.openxmlformats.org/officeDocument/2006/relationships" xmlns:p="http://schemas.openxmlformats.org/presentationml/2006/main">
  <p:tag name="AS_UNIQUEID" val="12302"/>
</p:tagLst>
</file>

<file path=ppt/tags/tag52.xml><?xml version="1.0" encoding="utf-8"?>
<p:tagLst xmlns:a="http://schemas.openxmlformats.org/drawingml/2006/main" xmlns:r="http://schemas.openxmlformats.org/officeDocument/2006/relationships" xmlns:p="http://schemas.openxmlformats.org/presentationml/2006/main">
  <p:tag name="AS_UNIQUEID" val="12304"/>
</p:tagLst>
</file>

<file path=ppt/tags/tag53.xml><?xml version="1.0" encoding="utf-8"?>
<p:tagLst xmlns:a="http://schemas.openxmlformats.org/drawingml/2006/main" xmlns:r="http://schemas.openxmlformats.org/officeDocument/2006/relationships" xmlns:p="http://schemas.openxmlformats.org/presentationml/2006/main">
  <p:tag name="AS_UNIQUEID" val="12305"/>
</p:tagLst>
</file>

<file path=ppt/tags/tag54.xml><?xml version="1.0" encoding="utf-8"?>
<p:tagLst xmlns:a="http://schemas.openxmlformats.org/drawingml/2006/main" xmlns:r="http://schemas.openxmlformats.org/officeDocument/2006/relationships" xmlns:p="http://schemas.openxmlformats.org/presentationml/2006/main">
  <p:tag name="AS_UNIQUEID" val="10841"/>
</p:tagLst>
</file>

<file path=ppt/tags/tag55.xml><?xml version="1.0" encoding="utf-8"?>
<p:tagLst xmlns:a="http://schemas.openxmlformats.org/drawingml/2006/main" xmlns:r="http://schemas.openxmlformats.org/officeDocument/2006/relationships" xmlns:p="http://schemas.openxmlformats.org/presentationml/2006/main">
  <p:tag name="AS_UNIQUEID" val="10838"/>
</p:tagLst>
</file>

<file path=ppt/tags/tag56.xml><?xml version="1.0" encoding="utf-8"?>
<p:tagLst xmlns:a="http://schemas.openxmlformats.org/drawingml/2006/main" xmlns:r="http://schemas.openxmlformats.org/officeDocument/2006/relationships" xmlns:p="http://schemas.openxmlformats.org/presentationml/2006/main">
  <p:tag name="AS_UNIQUEID" val="10839"/>
</p:tagLst>
</file>

<file path=ppt/tags/tag57.xml><?xml version="1.0" encoding="utf-8"?>
<p:tagLst xmlns:a="http://schemas.openxmlformats.org/drawingml/2006/main" xmlns:r="http://schemas.openxmlformats.org/officeDocument/2006/relationships" xmlns:p="http://schemas.openxmlformats.org/presentationml/2006/main">
  <p:tag name="AS_UNIQUEID" val="12378"/>
</p:tagLst>
</file>

<file path=ppt/tags/tag58.xml><?xml version="1.0" encoding="utf-8"?>
<p:tagLst xmlns:a="http://schemas.openxmlformats.org/drawingml/2006/main" xmlns:r="http://schemas.openxmlformats.org/officeDocument/2006/relationships" xmlns:p="http://schemas.openxmlformats.org/presentationml/2006/main">
  <p:tag name="AS_UNIQUEID" val="12379"/>
</p:tagLst>
</file>

<file path=ppt/tags/tag59.xml><?xml version="1.0" encoding="utf-8"?>
<p:tagLst xmlns:a="http://schemas.openxmlformats.org/drawingml/2006/main" xmlns:r="http://schemas.openxmlformats.org/officeDocument/2006/relationships" xmlns:p="http://schemas.openxmlformats.org/presentationml/2006/main">
  <p:tag name="AS_UNIQUEID" val="12380"/>
</p:tagLst>
</file>

<file path=ppt/tags/tag60.xml><?xml version="1.0" encoding="utf-8"?>
<p:tagLst xmlns:a="http://schemas.openxmlformats.org/drawingml/2006/main" xmlns:r="http://schemas.openxmlformats.org/officeDocument/2006/relationships" xmlns:p="http://schemas.openxmlformats.org/presentationml/2006/main">
  <p:tag name="AS_UNIQUEID" val="12381"/>
</p:tagLst>
</file>

<file path=ppt/tags/tag61.xml><?xml version="1.0" encoding="utf-8"?>
<p:tagLst xmlns:a="http://schemas.openxmlformats.org/drawingml/2006/main" xmlns:r="http://schemas.openxmlformats.org/officeDocument/2006/relationships" xmlns:p="http://schemas.openxmlformats.org/presentationml/2006/main">
  <p:tag name="AS_UNIQUEID" val="12314"/>
</p:tagLst>
</file>

<file path=ppt/tags/tag62.xml><?xml version="1.0" encoding="utf-8"?>
<p:tagLst xmlns:a="http://schemas.openxmlformats.org/drawingml/2006/main" xmlns:r="http://schemas.openxmlformats.org/officeDocument/2006/relationships" xmlns:p="http://schemas.openxmlformats.org/presentationml/2006/main">
  <p:tag name="AS_UNIQUEID" val="12315"/>
</p:tagLst>
</file>

<file path=ppt/tags/tag63.xml><?xml version="1.0" encoding="utf-8"?>
<p:tagLst xmlns:a="http://schemas.openxmlformats.org/drawingml/2006/main" xmlns:r="http://schemas.openxmlformats.org/officeDocument/2006/relationships" xmlns:p="http://schemas.openxmlformats.org/presentationml/2006/main">
  <p:tag name="AS_UNIQUEID" val="12316"/>
</p:tagLst>
</file>

<file path=ppt/tags/tag64.xml><?xml version="1.0" encoding="utf-8"?>
<p:tagLst xmlns:a="http://schemas.openxmlformats.org/drawingml/2006/main" xmlns:r="http://schemas.openxmlformats.org/officeDocument/2006/relationships" xmlns:p="http://schemas.openxmlformats.org/presentationml/2006/main">
  <p:tag name="AS_UNIQUEID" val="12317"/>
</p:tagLst>
</file>

<file path=ppt/tags/tag65.xml><?xml version="1.0" encoding="utf-8"?>
<p:tagLst xmlns:a="http://schemas.openxmlformats.org/drawingml/2006/main" xmlns:r="http://schemas.openxmlformats.org/officeDocument/2006/relationships" xmlns:p="http://schemas.openxmlformats.org/presentationml/2006/main">
  <p:tag name="AS_UNIQUEID" val="12319"/>
</p:tagLst>
</file>

<file path=ppt/tags/tag66.xml><?xml version="1.0" encoding="utf-8"?>
<p:tagLst xmlns:a="http://schemas.openxmlformats.org/drawingml/2006/main" xmlns:r="http://schemas.openxmlformats.org/officeDocument/2006/relationships" xmlns:p="http://schemas.openxmlformats.org/presentationml/2006/main">
  <p:tag name="AS_UNIQUEID" val="12320"/>
</p:tagLst>
</file>

<file path=ppt/tags/tag67.xml><?xml version="1.0" encoding="utf-8"?>
<p:tagLst xmlns:a="http://schemas.openxmlformats.org/drawingml/2006/main" xmlns:r="http://schemas.openxmlformats.org/officeDocument/2006/relationships" xmlns:p="http://schemas.openxmlformats.org/presentationml/2006/main">
  <p:tag name="AS_UNIQUEID" val="12321"/>
</p:tagLst>
</file>

<file path=ppt/tags/tag68.xml><?xml version="1.0" encoding="utf-8"?>
<p:tagLst xmlns:a="http://schemas.openxmlformats.org/drawingml/2006/main" xmlns:r="http://schemas.openxmlformats.org/officeDocument/2006/relationships" xmlns:p="http://schemas.openxmlformats.org/presentationml/2006/main">
  <p:tag name="AS_UNIQUEID" val="12322"/>
</p:tagLst>
</file>

<file path=ppt/tags/tag69.xml><?xml version="1.0" encoding="utf-8"?>
<p:tagLst xmlns:a="http://schemas.openxmlformats.org/drawingml/2006/main" xmlns:r="http://schemas.openxmlformats.org/officeDocument/2006/relationships" xmlns:p="http://schemas.openxmlformats.org/presentationml/2006/main">
  <p:tag name="AS_UNIQUEID" val="12325"/>
</p:tagLst>
</file>

<file path=ppt/tags/tag70.xml><?xml version="1.0" encoding="utf-8"?>
<p:tagLst xmlns:a="http://schemas.openxmlformats.org/drawingml/2006/main" xmlns:r="http://schemas.openxmlformats.org/officeDocument/2006/relationships" xmlns:p="http://schemas.openxmlformats.org/presentationml/2006/main">
  <p:tag name="AS_UNIQUEID" val="12327"/>
</p:tagLst>
</file>

<file path=ppt/tags/tag71.xml><?xml version="1.0" encoding="utf-8"?>
<p:tagLst xmlns:a="http://schemas.openxmlformats.org/drawingml/2006/main" xmlns:r="http://schemas.openxmlformats.org/officeDocument/2006/relationships" xmlns:p="http://schemas.openxmlformats.org/presentationml/2006/main">
  <p:tag name="AS_UNIQUEID" val="12328"/>
</p:tagLst>
</file>

<file path=ppt/tags/tag72.xml><?xml version="1.0" encoding="utf-8"?>
<p:tagLst xmlns:a="http://schemas.openxmlformats.org/drawingml/2006/main" xmlns:r="http://schemas.openxmlformats.org/officeDocument/2006/relationships" xmlns:p="http://schemas.openxmlformats.org/presentationml/2006/main">
  <p:tag name="AS_UNIQUEID" val="12330"/>
</p:tagLst>
</file>

<file path=ppt/tags/tag73.xml><?xml version="1.0" encoding="utf-8"?>
<p:tagLst xmlns:a="http://schemas.openxmlformats.org/drawingml/2006/main" xmlns:r="http://schemas.openxmlformats.org/officeDocument/2006/relationships" xmlns:p="http://schemas.openxmlformats.org/presentationml/2006/main">
  <p:tag name="AS_UNIQUEID" val="12331"/>
</p:tagLst>
</file>

<file path=ppt/tags/tag74.xml><?xml version="1.0" encoding="utf-8"?>
<p:tagLst xmlns:a="http://schemas.openxmlformats.org/drawingml/2006/main" xmlns:r="http://schemas.openxmlformats.org/officeDocument/2006/relationships" xmlns:p="http://schemas.openxmlformats.org/presentationml/2006/main">
  <p:tag name="AS_UNIQUEID" val="12333"/>
</p:tagLst>
</file>

<file path=ppt/tags/tag75.xml><?xml version="1.0" encoding="utf-8"?>
<p:tagLst xmlns:a="http://schemas.openxmlformats.org/drawingml/2006/main" xmlns:r="http://schemas.openxmlformats.org/officeDocument/2006/relationships" xmlns:p="http://schemas.openxmlformats.org/presentationml/2006/main">
  <p:tag name="AS_UNIQUEID" val="12334"/>
</p:tagLst>
</file>

<file path=ppt/tags/tag76.xml><?xml version="1.0" encoding="utf-8"?>
<p:tagLst xmlns:a="http://schemas.openxmlformats.org/drawingml/2006/main" xmlns:r="http://schemas.openxmlformats.org/officeDocument/2006/relationships" xmlns:p="http://schemas.openxmlformats.org/presentationml/2006/main">
  <p:tag name="AS_UNIQUEID" val="12335"/>
</p:tagLst>
</file>

<file path=ppt/tags/tag77.xml><?xml version="1.0" encoding="utf-8"?>
<p:tagLst xmlns:a="http://schemas.openxmlformats.org/drawingml/2006/main" xmlns:r="http://schemas.openxmlformats.org/officeDocument/2006/relationships" xmlns:p="http://schemas.openxmlformats.org/presentationml/2006/main">
  <p:tag name="AS_UNIQUEID" val="12337"/>
</p:tagLst>
</file>

<file path=ppt/tags/tag78.xml><?xml version="1.0" encoding="utf-8"?>
<p:tagLst xmlns:a="http://schemas.openxmlformats.org/drawingml/2006/main" xmlns:r="http://schemas.openxmlformats.org/officeDocument/2006/relationships" xmlns:p="http://schemas.openxmlformats.org/presentationml/2006/main">
  <p:tag name="AS_UNIQUEID" val="12338"/>
</p:tagLst>
</file>

<file path=ppt/tags/tag79.xml><?xml version="1.0" encoding="utf-8"?>
<p:tagLst xmlns:a="http://schemas.openxmlformats.org/drawingml/2006/main" xmlns:r="http://schemas.openxmlformats.org/officeDocument/2006/relationships" xmlns:p="http://schemas.openxmlformats.org/presentationml/2006/main">
  <p:tag name="AS_UNIQUEID" val="12339"/>
</p:tagLst>
</file>

<file path=ppt/tags/tag80.xml><?xml version="1.0" encoding="utf-8"?>
<p:tagLst xmlns:a="http://schemas.openxmlformats.org/drawingml/2006/main" xmlns:r="http://schemas.openxmlformats.org/officeDocument/2006/relationships" xmlns:p="http://schemas.openxmlformats.org/presentationml/2006/main">
  <p:tag name="AS_UNIQUEID" val="12340"/>
</p:tagLst>
</file>

<file path=ppt/tags/tag81.xml><?xml version="1.0" encoding="utf-8"?>
<p:tagLst xmlns:a="http://schemas.openxmlformats.org/drawingml/2006/main" xmlns:r="http://schemas.openxmlformats.org/officeDocument/2006/relationships" xmlns:p="http://schemas.openxmlformats.org/presentationml/2006/main">
  <p:tag name="AS_UNIQUEID" val="12342"/>
</p:tagLst>
</file>

<file path=ppt/tags/tag82.xml><?xml version="1.0" encoding="utf-8"?>
<p:tagLst xmlns:a="http://schemas.openxmlformats.org/drawingml/2006/main" xmlns:r="http://schemas.openxmlformats.org/officeDocument/2006/relationships" xmlns:p="http://schemas.openxmlformats.org/presentationml/2006/main">
  <p:tag name="AS_UNIQUEID" val="12343"/>
</p:tagLst>
</file>

<file path=ppt/tags/tag83.xml><?xml version="1.0" encoding="utf-8"?>
<p:tagLst xmlns:a="http://schemas.openxmlformats.org/drawingml/2006/main" xmlns:r="http://schemas.openxmlformats.org/officeDocument/2006/relationships" xmlns:p="http://schemas.openxmlformats.org/presentationml/2006/main">
  <p:tag name="AS_UNIQUEID" val="12344"/>
</p:tagLst>
</file>

<file path=ppt/tags/tag84.xml><?xml version="1.0" encoding="utf-8"?>
<p:tagLst xmlns:a="http://schemas.openxmlformats.org/drawingml/2006/main" xmlns:r="http://schemas.openxmlformats.org/officeDocument/2006/relationships" xmlns:p="http://schemas.openxmlformats.org/presentationml/2006/main">
  <p:tag name="AS_UNIQUEID" val="12345"/>
</p:tagLst>
</file>

<file path=ppt/tags/tag85.xml><?xml version="1.0" encoding="utf-8"?>
<p:tagLst xmlns:a="http://schemas.openxmlformats.org/drawingml/2006/main" xmlns:r="http://schemas.openxmlformats.org/officeDocument/2006/relationships" xmlns:p="http://schemas.openxmlformats.org/presentationml/2006/main">
  <p:tag name="AS_UNIQUEID" val="12347"/>
</p:tagLst>
</file>

<file path=ppt/tags/tag86.xml><?xml version="1.0" encoding="utf-8"?>
<p:tagLst xmlns:a="http://schemas.openxmlformats.org/drawingml/2006/main" xmlns:r="http://schemas.openxmlformats.org/officeDocument/2006/relationships" xmlns:p="http://schemas.openxmlformats.org/presentationml/2006/main">
  <p:tag name="AS_UNIQUEID" val="12348"/>
</p:tagLst>
</file>

<file path=ppt/tags/tag87.xml><?xml version="1.0" encoding="utf-8"?>
<p:tagLst xmlns:a="http://schemas.openxmlformats.org/drawingml/2006/main" xmlns:r="http://schemas.openxmlformats.org/officeDocument/2006/relationships" xmlns:p="http://schemas.openxmlformats.org/presentationml/2006/main">
  <p:tag name="AS_UNIQUEID" val="12349"/>
</p:tagLst>
</file>

<file path=ppt/tags/tag88.xml><?xml version="1.0" encoding="utf-8"?>
<p:tagLst xmlns:a="http://schemas.openxmlformats.org/drawingml/2006/main" xmlns:r="http://schemas.openxmlformats.org/officeDocument/2006/relationships" xmlns:p="http://schemas.openxmlformats.org/presentationml/2006/main">
  <p:tag name="AS_UNIQUEID" val="12350"/>
</p:tagLst>
</file>

<file path=ppt/tags/tag89.xml><?xml version="1.0" encoding="utf-8"?>
<p:tagLst xmlns:a="http://schemas.openxmlformats.org/drawingml/2006/main" xmlns:r="http://schemas.openxmlformats.org/officeDocument/2006/relationships" xmlns:p="http://schemas.openxmlformats.org/presentationml/2006/main">
  <p:tag name="AS_UNIQUEID" val="12351"/>
</p:tagLst>
</file>

<file path=ppt/tags/tag90.xml><?xml version="1.0" encoding="utf-8"?>
<p:tagLst xmlns:a="http://schemas.openxmlformats.org/drawingml/2006/main" xmlns:r="http://schemas.openxmlformats.org/officeDocument/2006/relationships" xmlns:p="http://schemas.openxmlformats.org/presentationml/2006/main">
  <p:tag name="AS_UNIQUEID" val="12353"/>
</p:tagLst>
</file>

<file path=ppt/tags/tag91.xml><?xml version="1.0" encoding="utf-8"?>
<p:tagLst xmlns:a="http://schemas.openxmlformats.org/drawingml/2006/main" xmlns:r="http://schemas.openxmlformats.org/officeDocument/2006/relationships" xmlns:p="http://schemas.openxmlformats.org/presentationml/2006/main">
  <p:tag name="AS_UNIQUEID" val="12354"/>
</p:tagLst>
</file>

<file path=ppt/tags/tag92.xml><?xml version="1.0" encoding="utf-8"?>
<p:tagLst xmlns:a="http://schemas.openxmlformats.org/drawingml/2006/main" xmlns:r="http://schemas.openxmlformats.org/officeDocument/2006/relationships" xmlns:p="http://schemas.openxmlformats.org/presentationml/2006/main">
  <p:tag name="AS_UNIQUEID" val="12355"/>
</p:tagLst>
</file>

<file path=ppt/tags/tag93.xml><?xml version="1.0" encoding="utf-8"?>
<p:tagLst xmlns:a="http://schemas.openxmlformats.org/drawingml/2006/main" xmlns:r="http://schemas.openxmlformats.org/officeDocument/2006/relationships" xmlns:p="http://schemas.openxmlformats.org/presentationml/2006/main">
  <p:tag name="AS_UNIQUEID" val="12356"/>
</p:tagLst>
</file>

<file path=ppt/tags/tag94.xml><?xml version="1.0" encoding="utf-8"?>
<p:tagLst xmlns:a="http://schemas.openxmlformats.org/drawingml/2006/main" xmlns:r="http://schemas.openxmlformats.org/officeDocument/2006/relationships" xmlns:p="http://schemas.openxmlformats.org/presentationml/2006/main">
  <p:tag name="AS_UNIQUEID" val="12357"/>
</p:tagLst>
</file>

<file path=ppt/tags/tag95.xml><?xml version="1.0" encoding="utf-8"?>
<p:tagLst xmlns:a="http://schemas.openxmlformats.org/drawingml/2006/main" xmlns:r="http://schemas.openxmlformats.org/officeDocument/2006/relationships" xmlns:p="http://schemas.openxmlformats.org/presentationml/2006/main">
  <p:tag name="AS_UNIQUEID" val="12359"/>
</p:tagLst>
</file>

<file path=ppt/tags/tag96.xml><?xml version="1.0" encoding="utf-8"?>
<p:tagLst xmlns:a="http://schemas.openxmlformats.org/drawingml/2006/main" xmlns:r="http://schemas.openxmlformats.org/officeDocument/2006/relationships" xmlns:p="http://schemas.openxmlformats.org/presentationml/2006/main">
  <p:tag name="AS_UNIQUEID" val="12361"/>
</p:tagLst>
</file>

<file path=ppt/tags/tag97.xml><?xml version="1.0" encoding="utf-8"?>
<p:tagLst xmlns:a="http://schemas.openxmlformats.org/drawingml/2006/main" xmlns:r="http://schemas.openxmlformats.org/officeDocument/2006/relationships" xmlns:p="http://schemas.openxmlformats.org/presentationml/2006/main">
  <p:tag name="AS_UNIQUEID" val="12362"/>
</p:tagLst>
</file>

<file path=ppt/tags/tag98.xml><?xml version="1.0" encoding="utf-8"?>
<p:tagLst xmlns:a="http://schemas.openxmlformats.org/drawingml/2006/main" xmlns:r="http://schemas.openxmlformats.org/officeDocument/2006/relationships" xmlns:p="http://schemas.openxmlformats.org/presentationml/2006/main">
  <p:tag name="AS_UNIQUEID" val="12363"/>
</p:tagLst>
</file>

<file path=ppt/tags/tag99.xml><?xml version="1.0" encoding="utf-8"?>
<p:tagLst xmlns:a="http://schemas.openxmlformats.org/drawingml/2006/main" xmlns:r="http://schemas.openxmlformats.org/officeDocument/2006/relationships" xmlns:p="http://schemas.openxmlformats.org/presentationml/2006/main">
  <p:tag name="AS_UNIQUEID" val="12364"/>
</p:tagLst>
</file>

<file path=ppt/tags/tag100.xml><?xml version="1.0" encoding="utf-8"?>
<p:tagLst xmlns:a="http://schemas.openxmlformats.org/drawingml/2006/main" xmlns:r="http://schemas.openxmlformats.org/officeDocument/2006/relationships" xmlns:p="http://schemas.openxmlformats.org/presentationml/2006/main">
  <p:tag name="AS_UNIQUEID" val="12366"/>
</p:tagLst>
</file>

<file path=ppt/tags/tag101.xml><?xml version="1.0" encoding="utf-8"?>
<p:tagLst xmlns:a="http://schemas.openxmlformats.org/drawingml/2006/main" xmlns:r="http://schemas.openxmlformats.org/officeDocument/2006/relationships" xmlns:p="http://schemas.openxmlformats.org/presentationml/2006/main">
  <p:tag name="AS_UNIQUEID" val="12367"/>
</p:tagLst>
</file>

<file path=ppt/tags/tag102.xml><?xml version="1.0" encoding="utf-8"?>
<p:tagLst xmlns:a="http://schemas.openxmlformats.org/drawingml/2006/main" xmlns:r="http://schemas.openxmlformats.org/officeDocument/2006/relationships" xmlns:p="http://schemas.openxmlformats.org/presentationml/2006/main">
  <p:tag name="AS_UNIQUEID" val="12368"/>
</p:tagLst>
</file>

<file path=ppt/tags/tag103.xml><?xml version="1.0" encoding="utf-8"?>
<p:tagLst xmlns:a="http://schemas.openxmlformats.org/drawingml/2006/main" xmlns:r="http://schemas.openxmlformats.org/officeDocument/2006/relationships" xmlns:p="http://schemas.openxmlformats.org/presentationml/2006/main">
  <p:tag name="AS_UNIQUEID" val="12369"/>
</p:tagLst>
</file>

<file path=ppt/tags/tag104.xml><?xml version="1.0" encoding="utf-8"?>
<p:tagLst xmlns:a="http://schemas.openxmlformats.org/drawingml/2006/main" xmlns:r="http://schemas.openxmlformats.org/officeDocument/2006/relationships" xmlns:p="http://schemas.openxmlformats.org/presentationml/2006/main">
  <p:tag name="AS_UNIQUEID" val="12371"/>
</p:tagLst>
</file>

<file path=ppt/tags/tag105.xml><?xml version="1.0" encoding="utf-8"?>
<p:tagLst xmlns:a="http://schemas.openxmlformats.org/drawingml/2006/main" xmlns:r="http://schemas.openxmlformats.org/officeDocument/2006/relationships" xmlns:p="http://schemas.openxmlformats.org/presentationml/2006/main">
  <p:tag name="AS_UNIQUEID" val="12372"/>
</p:tagLst>
</file>

<file path=ppt/tags/tag106.xml><?xml version="1.0" encoding="utf-8"?>
<p:tagLst xmlns:a="http://schemas.openxmlformats.org/drawingml/2006/main" xmlns:r="http://schemas.openxmlformats.org/officeDocument/2006/relationships" xmlns:p="http://schemas.openxmlformats.org/presentationml/2006/main">
  <p:tag name="AS_UNIQUEID" val="12373"/>
</p:tagLst>
</file>

<file path=ppt/tags/tag107.xml><?xml version="1.0" encoding="utf-8"?>
<p:tagLst xmlns:a="http://schemas.openxmlformats.org/drawingml/2006/main" xmlns:r="http://schemas.openxmlformats.org/officeDocument/2006/relationships" xmlns:p="http://schemas.openxmlformats.org/presentationml/2006/main">
  <p:tag name="AS_UNIQUEID" val="12375"/>
</p:tagLst>
</file>

<file path=ppt/tags/tag108.xml><?xml version="1.0" encoding="utf-8"?>
<p:tagLst xmlns:a="http://schemas.openxmlformats.org/drawingml/2006/main" xmlns:r="http://schemas.openxmlformats.org/officeDocument/2006/relationships" xmlns:p="http://schemas.openxmlformats.org/presentationml/2006/main">
  <p:tag name="AS_UNIQUEID" val="12376"/>
</p:tagLst>
</file>

<file path=ppt/tags/tag109.xml><?xml version="1.0" encoding="utf-8"?>
<p:tagLst xmlns:a="http://schemas.openxmlformats.org/drawingml/2006/main" xmlns:r="http://schemas.openxmlformats.org/officeDocument/2006/relationships" xmlns:p="http://schemas.openxmlformats.org/presentationml/2006/main">
  <p:tag name="AS_UNIQUEID" val="12447"/>
</p:tagLst>
</file>

<file path=ppt/tags/tag110.xml><?xml version="1.0" encoding="utf-8"?>
<p:tagLst xmlns:a="http://schemas.openxmlformats.org/drawingml/2006/main" xmlns:r="http://schemas.openxmlformats.org/officeDocument/2006/relationships" xmlns:p="http://schemas.openxmlformats.org/presentationml/2006/main">
  <p:tag name="AS_UNIQUEID" val="12448"/>
</p:tagLst>
</file>

<file path=ppt/tags/tag111.xml><?xml version="1.0" encoding="utf-8"?>
<p:tagLst xmlns:a="http://schemas.openxmlformats.org/drawingml/2006/main" xmlns:r="http://schemas.openxmlformats.org/officeDocument/2006/relationships" xmlns:p="http://schemas.openxmlformats.org/presentationml/2006/main">
  <p:tag name="AS_UNIQUEID" val="12449"/>
</p:tagLst>
</file>

<file path=ppt/tags/tag112.xml><?xml version="1.0" encoding="utf-8"?>
<p:tagLst xmlns:a="http://schemas.openxmlformats.org/drawingml/2006/main" xmlns:r="http://schemas.openxmlformats.org/officeDocument/2006/relationships" xmlns:p="http://schemas.openxmlformats.org/presentationml/2006/main">
  <p:tag name="AS_UNIQUEID" val="12450"/>
</p:tagLst>
</file>

<file path=ppt/tags/tag113.xml><?xml version="1.0" encoding="utf-8"?>
<p:tagLst xmlns:a="http://schemas.openxmlformats.org/drawingml/2006/main" xmlns:r="http://schemas.openxmlformats.org/officeDocument/2006/relationships" xmlns:p="http://schemas.openxmlformats.org/presentationml/2006/main">
  <p:tag name="AS_UNIQUEID" val="12383"/>
</p:tagLst>
</file>

<file path=ppt/tags/tag114.xml><?xml version="1.0" encoding="utf-8"?>
<p:tagLst xmlns:a="http://schemas.openxmlformats.org/drawingml/2006/main" xmlns:r="http://schemas.openxmlformats.org/officeDocument/2006/relationships" xmlns:p="http://schemas.openxmlformats.org/presentationml/2006/main">
  <p:tag name="AS_UNIQUEID" val="12384"/>
</p:tagLst>
</file>

<file path=ppt/tags/tag115.xml><?xml version="1.0" encoding="utf-8"?>
<p:tagLst xmlns:a="http://schemas.openxmlformats.org/drawingml/2006/main" xmlns:r="http://schemas.openxmlformats.org/officeDocument/2006/relationships" xmlns:p="http://schemas.openxmlformats.org/presentationml/2006/main">
  <p:tag name="AS_UNIQUEID" val="12385"/>
</p:tagLst>
</file>

<file path=ppt/tags/tag116.xml><?xml version="1.0" encoding="utf-8"?>
<p:tagLst xmlns:a="http://schemas.openxmlformats.org/drawingml/2006/main" xmlns:r="http://schemas.openxmlformats.org/officeDocument/2006/relationships" xmlns:p="http://schemas.openxmlformats.org/presentationml/2006/main">
  <p:tag name="AS_UNIQUEID" val="12386"/>
</p:tagLst>
</file>

<file path=ppt/tags/tag117.xml><?xml version="1.0" encoding="utf-8"?>
<p:tagLst xmlns:a="http://schemas.openxmlformats.org/drawingml/2006/main" xmlns:r="http://schemas.openxmlformats.org/officeDocument/2006/relationships" xmlns:p="http://schemas.openxmlformats.org/presentationml/2006/main">
  <p:tag name="AS_UNIQUEID" val="12388"/>
</p:tagLst>
</file>

<file path=ppt/tags/tag118.xml><?xml version="1.0" encoding="utf-8"?>
<p:tagLst xmlns:a="http://schemas.openxmlformats.org/drawingml/2006/main" xmlns:r="http://schemas.openxmlformats.org/officeDocument/2006/relationships" xmlns:p="http://schemas.openxmlformats.org/presentationml/2006/main">
  <p:tag name="AS_UNIQUEID" val="12389"/>
</p:tagLst>
</file>

<file path=ppt/tags/tag119.xml><?xml version="1.0" encoding="utf-8"?>
<p:tagLst xmlns:a="http://schemas.openxmlformats.org/drawingml/2006/main" xmlns:r="http://schemas.openxmlformats.org/officeDocument/2006/relationships" xmlns:p="http://schemas.openxmlformats.org/presentationml/2006/main">
  <p:tag name="AS_UNIQUEID" val="12390"/>
</p:tagLst>
</file>

<file path=ppt/tags/tag120.xml><?xml version="1.0" encoding="utf-8"?>
<p:tagLst xmlns:a="http://schemas.openxmlformats.org/drawingml/2006/main" xmlns:r="http://schemas.openxmlformats.org/officeDocument/2006/relationships" xmlns:p="http://schemas.openxmlformats.org/presentationml/2006/main">
  <p:tag name="AS_UNIQUEID" val="12391"/>
</p:tagLst>
</file>

<file path=ppt/tags/tag121.xml><?xml version="1.0" encoding="utf-8"?>
<p:tagLst xmlns:a="http://schemas.openxmlformats.org/drawingml/2006/main" xmlns:r="http://schemas.openxmlformats.org/officeDocument/2006/relationships" xmlns:p="http://schemas.openxmlformats.org/presentationml/2006/main">
  <p:tag name="AS_UNIQUEID" val="12394"/>
</p:tagLst>
</file>

<file path=ppt/tags/tag122.xml><?xml version="1.0" encoding="utf-8"?>
<p:tagLst xmlns:a="http://schemas.openxmlformats.org/drawingml/2006/main" xmlns:r="http://schemas.openxmlformats.org/officeDocument/2006/relationships" xmlns:p="http://schemas.openxmlformats.org/presentationml/2006/main">
  <p:tag name="AS_UNIQUEID" val="12396"/>
</p:tagLst>
</file>

<file path=ppt/tags/tag123.xml><?xml version="1.0" encoding="utf-8"?>
<p:tagLst xmlns:a="http://schemas.openxmlformats.org/drawingml/2006/main" xmlns:r="http://schemas.openxmlformats.org/officeDocument/2006/relationships" xmlns:p="http://schemas.openxmlformats.org/presentationml/2006/main">
  <p:tag name="AS_UNIQUEID" val="12397"/>
</p:tagLst>
</file>

<file path=ppt/tags/tag124.xml><?xml version="1.0" encoding="utf-8"?>
<p:tagLst xmlns:a="http://schemas.openxmlformats.org/drawingml/2006/main" xmlns:r="http://schemas.openxmlformats.org/officeDocument/2006/relationships" xmlns:p="http://schemas.openxmlformats.org/presentationml/2006/main">
  <p:tag name="AS_UNIQUEID" val="12399"/>
</p:tagLst>
</file>

<file path=ppt/tags/tag125.xml><?xml version="1.0" encoding="utf-8"?>
<p:tagLst xmlns:a="http://schemas.openxmlformats.org/drawingml/2006/main" xmlns:r="http://schemas.openxmlformats.org/officeDocument/2006/relationships" xmlns:p="http://schemas.openxmlformats.org/presentationml/2006/main">
  <p:tag name="AS_UNIQUEID" val="12400"/>
</p:tagLst>
</file>

<file path=ppt/tags/tag126.xml><?xml version="1.0" encoding="utf-8"?>
<p:tagLst xmlns:a="http://schemas.openxmlformats.org/drawingml/2006/main" xmlns:r="http://schemas.openxmlformats.org/officeDocument/2006/relationships" xmlns:p="http://schemas.openxmlformats.org/presentationml/2006/main">
  <p:tag name="AS_UNIQUEID" val="12402"/>
</p:tagLst>
</file>

<file path=ppt/tags/tag127.xml><?xml version="1.0" encoding="utf-8"?>
<p:tagLst xmlns:a="http://schemas.openxmlformats.org/drawingml/2006/main" xmlns:r="http://schemas.openxmlformats.org/officeDocument/2006/relationships" xmlns:p="http://schemas.openxmlformats.org/presentationml/2006/main">
  <p:tag name="AS_UNIQUEID" val="12403"/>
</p:tagLst>
</file>

<file path=ppt/tags/tag128.xml><?xml version="1.0" encoding="utf-8"?>
<p:tagLst xmlns:a="http://schemas.openxmlformats.org/drawingml/2006/main" xmlns:r="http://schemas.openxmlformats.org/officeDocument/2006/relationships" xmlns:p="http://schemas.openxmlformats.org/presentationml/2006/main">
  <p:tag name="AS_UNIQUEID" val="12404"/>
</p:tagLst>
</file>

<file path=ppt/tags/tag129.xml><?xml version="1.0" encoding="utf-8"?>
<p:tagLst xmlns:a="http://schemas.openxmlformats.org/drawingml/2006/main" xmlns:r="http://schemas.openxmlformats.org/officeDocument/2006/relationships" xmlns:p="http://schemas.openxmlformats.org/presentationml/2006/main">
  <p:tag name="AS_UNIQUEID" val="12406"/>
</p:tagLst>
</file>

<file path=ppt/tags/tag130.xml><?xml version="1.0" encoding="utf-8"?>
<p:tagLst xmlns:a="http://schemas.openxmlformats.org/drawingml/2006/main" xmlns:r="http://schemas.openxmlformats.org/officeDocument/2006/relationships" xmlns:p="http://schemas.openxmlformats.org/presentationml/2006/main">
  <p:tag name="AS_UNIQUEID" val="12407"/>
</p:tagLst>
</file>

<file path=ppt/tags/tag131.xml><?xml version="1.0" encoding="utf-8"?>
<p:tagLst xmlns:a="http://schemas.openxmlformats.org/drawingml/2006/main" xmlns:r="http://schemas.openxmlformats.org/officeDocument/2006/relationships" xmlns:p="http://schemas.openxmlformats.org/presentationml/2006/main">
  <p:tag name="AS_UNIQUEID" val="12408"/>
</p:tagLst>
</file>

<file path=ppt/tags/tag132.xml><?xml version="1.0" encoding="utf-8"?>
<p:tagLst xmlns:a="http://schemas.openxmlformats.org/drawingml/2006/main" xmlns:r="http://schemas.openxmlformats.org/officeDocument/2006/relationships" xmlns:p="http://schemas.openxmlformats.org/presentationml/2006/main">
  <p:tag name="AS_UNIQUEID" val="12409"/>
</p:tagLst>
</file>

<file path=ppt/tags/tag133.xml><?xml version="1.0" encoding="utf-8"?>
<p:tagLst xmlns:a="http://schemas.openxmlformats.org/drawingml/2006/main" xmlns:r="http://schemas.openxmlformats.org/officeDocument/2006/relationships" xmlns:p="http://schemas.openxmlformats.org/presentationml/2006/main">
  <p:tag name="AS_UNIQUEID" val="12411"/>
</p:tagLst>
</file>

<file path=ppt/tags/tag134.xml><?xml version="1.0" encoding="utf-8"?>
<p:tagLst xmlns:a="http://schemas.openxmlformats.org/drawingml/2006/main" xmlns:r="http://schemas.openxmlformats.org/officeDocument/2006/relationships" xmlns:p="http://schemas.openxmlformats.org/presentationml/2006/main">
  <p:tag name="AS_UNIQUEID" val="12412"/>
</p:tagLst>
</file>

<file path=ppt/tags/tag135.xml><?xml version="1.0" encoding="utf-8"?>
<p:tagLst xmlns:a="http://schemas.openxmlformats.org/drawingml/2006/main" xmlns:r="http://schemas.openxmlformats.org/officeDocument/2006/relationships" xmlns:p="http://schemas.openxmlformats.org/presentationml/2006/main">
  <p:tag name="AS_UNIQUEID" val="12413"/>
</p:tagLst>
</file>

<file path=ppt/tags/tag136.xml><?xml version="1.0" encoding="utf-8"?>
<p:tagLst xmlns:a="http://schemas.openxmlformats.org/drawingml/2006/main" xmlns:r="http://schemas.openxmlformats.org/officeDocument/2006/relationships" xmlns:p="http://schemas.openxmlformats.org/presentationml/2006/main">
  <p:tag name="AS_UNIQUEID" val="12414"/>
</p:tagLst>
</file>

<file path=ppt/tags/tag137.xml><?xml version="1.0" encoding="utf-8"?>
<p:tagLst xmlns:a="http://schemas.openxmlformats.org/drawingml/2006/main" xmlns:r="http://schemas.openxmlformats.org/officeDocument/2006/relationships" xmlns:p="http://schemas.openxmlformats.org/presentationml/2006/main">
  <p:tag name="AS_UNIQUEID" val="12416"/>
</p:tagLst>
</file>

<file path=ppt/tags/tag138.xml><?xml version="1.0" encoding="utf-8"?>
<p:tagLst xmlns:a="http://schemas.openxmlformats.org/drawingml/2006/main" xmlns:r="http://schemas.openxmlformats.org/officeDocument/2006/relationships" xmlns:p="http://schemas.openxmlformats.org/presentationml/2006/main">
  <p:tag name="AS_UNIQUEID" val="12417"/>
</p:tagLst>
</file>

<file path=ppt/tags/tag139.xml><?xml version="1.0" encoding="utf-8"?>
<p:tagLst xmlns:a="http://schemas.openxmlformats.org/drawingml/2006/main" xmlns:r="http://schemas.openxmlformats.org/officeDocument/2006/relationships" xmlns:p="http://schemas.openxmlformats.org/presentationml/2006/main">
  <p:tag name="AS_UNIQUEID" val="12418"/>
</p:tagLst>
</file>

<file path=ppt/tags/tag140.xml><?xml version="1.0" encoding="utf-8"?>
<p:tagLst xmlns:a="http://schemas.openxmlformats.org/drawingml/2006/main" xmlns:r="http://schemas.openxmlformats.org/officeDocument/2006/relationships" xmlns:p="http://schemas.openxmlformats.org/presentationml/2006/main">
  <p:tag name="AS_UNIQUEID" val="12419"/>
</p:tagLst>
</file>

<file path=ppt/tags/tag141.xml><?xml version="1.0" encoding="utf-8"?>
<p:tagLst xmlns:a="http://schemas.openxmlformats.org/drawingml/2006/main" xmlns:r="http://schemas.openxmlformats.org/officeDocument/2006/relationships" xmlns:p="http://schemas.openxmlformats.org/presentationml/2006/main">
  <p:tag name="AS_UNIQUEID" val="12420"/>
</p:tagLst>
</file>

<file path=ppt/tags/tag142.xml><?xml version="1.0" encoding="utf-8"?>
<p:tagLst xmlns:a="http://schemas.openxmlformats.org/drawingml/2006/main" xmlns:r="http://schemas.openxmlformats.org/officeDocument/2006/relationships" xmlns:p="http://schemas.openxmlformats.org/presentationml/2006/main">
  <p:tag name="AS_UNIQUEID" val="12422"/>
</p:tagLst>
</file>

<file path=ppt/tags/tag143.xml><?xml version="1.0" encoding="utf-8"?>
<p:tagLst xmlns:a="http://schemas.openxmlformats.org/drawingml/2006/main" xmlns:r="http://schemas.openxmlformats.org/officeDocument/2006/relationships" xmlns:p="http://schemas.openxmlformats.org/presentationml/2006/main">
  <p:tag name="AS_UNIQUEID" val="12423"/>
</p:tagLst>
</file>

<file path=ppt/tags/tag144.xml><?xml version="1.0" encoding="utf-8"?>
<p:tagLst xmlns:a="http://schemas.openxmlformats.org/drawingml/2006/main" xmlns:r="http://schemas.openxmlformats.org/officeDocument/2006/relationships" xmlns:p="http://schemas.openxmlformats.org/presentationml/2006/main">
  <p:tag name="AS_UNIQUEID" val="12424"/>
</p:tagLst>
</file>

<file path=ppt/tags/tag145.xml><?xml version="1.0" encoding="utf-8"?>
<p:tagLst xmlns:a="http://schemas.openxmlformats.org/drawingml/2006/main" xmlns:r="http://schemas.openxmlformats.org/officeDocument/2006/relationships" xmlns:p="http://schemas.openxmlformats.org/presentationml/2006/main">
  <p:tag name="AS_UNIQUEID" val="12425"/>
</p:tagLst>
</file>

<file path=ppt/tags/tag146.xml><?xml version="1.0" encoding="utf-8"?>
<p:tagLst xmlns:a="http://schemas.openxmlformats.org/drawingml/2006/main" xmlns:r="http://schemas.openxmlformats.org/officeDocument/2006/relationships" xmlns:p="http://schemas.openxmlformats.org/presentationml/2006/main">
  <p:tag name="AS_UNIQUEID" val="12426"/>
</p:tagLst>
</file>

<file path=ppt/tags/tag147.xml><?xml version="1.0" encoding="utf-8"?>
<p:tagLst xmlns:a="http://schemas.openxmlformats.org/drawingml/2006/main" xmlns:r="http://schemas.openxmlformats.org/officeDocument/2006/relationships" xmlns:p="http://schemas.openxmlformats.org/presentationml/2006/main">
  <p:tag name="AS_UNIQUEID" val="12428"/>
</p:tagLst>
</file>

<file path=ppt/tags/tag148.xml><?xml version="1.0" encoding="utf-8"?>
<p:tagLst xmlns:a="http://schemas.openxmlformats.org/drawingml/2006/main" xmlns:r="http://schemas.openxmlformats.org/officeDocument/2006/relationships" xmlns:p="http://schemas.openxmlformats.org/presentationml/2006/main">
  <p:tag name="AS_UNIQUEID" val="12430"/>
</p:tagLst>
</file>

<file path=ppt/tags/tag149.xml><?xml version="1.0" encoding="utf-8"?>
<p:tagLst xmlns:a="http://schemas.openxmlformats.org/drawingml/2006/main" xmlns:r="http://schemas.openxmlformats.org/officeDocument/2006/relationships" xmlns:p="http://schemas.openxmlformats.org/presentationml/2006/main">
  <p:tag name="AS_UNIQUEID" val="12431"/>
</p:tagLst>
</file>

<file path=ppt/tags/tag150.xml><?xml version="1.0" encoding="utf-8"?>
<p:tagLst xmlns:a="http://schemas.openxmlformats.org/drawingml/2006/main" xmlns:r="http://schemas.openxmlformats.org/officeDocument/2006/relationships" xmlns:p="http://schemas.openxmlformats.org/presentationml/2006/main">
  <p:tag name="AS_UNIQUEID" val="12432"/>
</p:tagLst>
</file>

<file path=ppt/tags/tag151.xml><?xml version="1.0" encoding="utf-8"?>
<p:tagLst xmlns:a="http://schemas.openxmlformats.org/drawingml/2006/main" xmlns:r="http://schemas.openxmlformats.org/officeDocument/2006/relationships" xmlns:p="http://schemas.openxmlformats.org/presentationml/2006/main">
  <p:tag name="AS_UNIQUEID" val="12433"/>
</p:tagLst>
</file>

<file path=ppt/tags/tag152.xml><?xml version="1.0" encoding="utf-8"?>
<p:tagLst xmlns:a="http://schemas.openxmlformats.org/drawingml/2006/main" xmlns:r="http://schemas.openxmlformats.org/officeDocument/2006/relationships" xmlns:p="http://schemas.openxmlformats.org/presentationml/2006/main">
  <p:tag name="AS_UNIQUEID" val="12435"/>
</p:tagLst>
</file>

<file path=ppt/tags/tag153.xml><?xml version="1.0" encoding="utf-8"?>
<p:tagLst xmlns:a="http://schemas.openxmlformats.org/drawingml/2006/main" xmlns:r="http://schemas.openxmlformats.org/officeDocument/2006/relationships" xmlns:p="http://schemas.openxmlformats.org/presentationml/2006/main">
  <p:tag name="AS_UNIQUEID" val="12436"/>
</p:tagLst>
</file>

<file path=ppt/tags/tag154.xml><?xml version="1.0" encoding="utf-8"?>
<p:tagLst xmlns:a="http://schemas.openxmlformats.org/drawingml/2006/main" xmlns:r="http://schemas.openxmlformats.org/officeDocument/2006/relationships" xmlns:p="http://schemas.openxmlformats.org/presentationml/2006/main">
  <p:tag name="AS_UNIQUEID" val="12437"/>
</p:tagLst>
</file>

<file path=ppt/tags/tag155.xml><?xml version="1.0" encoding="utf-8"?>
<p:tagLst xmlns:a="http://schemas.openxmlformats.org/drawingml/2006/main" xmlns:r="http://schemas.openxmlformats.org/officeDocument/2006/relationships" xmlns:p="http://schemas.openxmlformats.org/presentationml/2006/main">
  <p:tag name="AS_UNIQUEID" val="12438"/>
</p:tagLst>
</file>

<file path=ppt/tags/tag156.xml><?xml version="1.0" encoding="utf-8"?>
<p:tagLst xmlns:a="http://schemas.openxmlformats.org/drawingml/2006/main" xmlns:r="http://schemas.openxmlformats.org/officeDocument/2006/relationships" xmlns:p="http://schemas.openxmlformats.org/presentationml/2006/main">
  <p:tag name="AS_UNIQUEID" val="12440"/>
</p:tagLst>
</file>

<file path=ppt/tags/tag157.xml><?xml version="1.0" encoding="utf-8"?>
<p:tagLst xmlns:a="http://schemas.openxmlformats.org/drawingml/2006/main" xmlns:r="http://schemas.openxmlformats.org/officeDocument/2006/relationships" xmlns:p="http://schemas.openxmlformats.org/presentationml/2006/main">
  <p:tag name="AS_UNIQUEID" val="12441"/>
</p:tagLst>
</file>

<file path=ppt/tags/tag158.xml><?xml version="1.0" encoding="utf-8"?>
<p:tagLst xmlns:a="http://schemas.openxmlformats.org/drawingml/2006/main" xmlns:r="http://schemas.openxmlformats.org/officeDocument/2006/relationships" xmlns:p="http://schemas.openxmlformats.org/presentationml/2006/main">
  <p:tag name="AS_UNIQUEID" val="12442"/>
</p:tagLst>
</file>

<file path=ppt/tags/tag159.xml><?xml version="1.0" encoding="utf-8"?>
<p:tagLst xmlns:a="http://schemas.openxmlformats.org/drawingml/2006/main" xmlns:r="http://schemas.openxmlformats.org/officeDocument/2006/relationships" xmlns:p="http://schemas.openxmlformats.org/presentationml/2006/main">
  <p:tag name="AS_UNIQUEID" val="12444"/>
</p:tagLst>
</file>

<file path=ppt/tags/tag160.xml><?xml version="1.0" encoding="utf-8"?>
<p:tagLst xmlns:a="http://schemas.openxmlformats.org/drawingml/2006/main" xmlns:r="http://schemas.openxmlformats.org/officeDocument/2006/relationships" xmlns:p="http://schemas.openxmlformats.org/presentationml/2006/main">
  <p:tag name="AS_UNIQUEID" val="12445"/>
</p:tagLst>
</file>

<file path=ppt/tags/tag161.xml><?xml version="1.0" encoding="utf-8"?>
<p:tagLst xmlns:a="http://schemas.openxmlformats.org/drawingml/2006/main" xmlns:r="http://schemas.openxmlformats.org/officeDocument/2006/relationships" xmlns:p="http://schemas.openxmlformats.org/presentationml/2006/main">
  <p:tag name="AS_UNIQUEID" val="12452"/>
</p:tagLst>
</file>

<file path=ppt/tags/tag162.xml><?xml version="1.0" encoding="utf-8"?>
<p:tagLst xmlns:a="http://schemas.openxmlformats.org/drawingml/2006/main" xmlns:r="http://schemas.openxmlformats.org/officeDocument/2006/relationships" xmlns:p="http://schemas.openxmlformats.org/presentationml/2006/main">
  <p:tag name="AS_UNIQUEID" val="12453"/>
</p:tagLst>
</file>

<file path=ppt/tags/tag163.xml><?xml version="1.0" encoding="utf-8"?>
<p:tagLst xmlns:a="http://schemas.openxmlformats.org/drawingml/2006/main" xmlns:r="http://schemas.openxmlformats.org/officeDocument/2006/relationships" xmlns:p="http://schemas.openxmlformats.org/presentationml/2006/main">
  <p:tag name="AS_UNIQUEID" val="12454"/>
</p:tagLst>
</file>

<file path=ppt/tags/tag164.xml><?xml version="1.0" encoding="utf-8"?>
<p:tagLst xmlns:a="http://schemas.openxmlformats.org/drawingml/2006/main" xmlns:r="http://schemas.openxmlformats.org/officeDocument/2006/relationships" xmlns:p="http://schemas.openxmlformats.org/presentationml/2006/main">
  <p:tag name="AS_UNIQUEID" val="12455"/>
</p:tagLst>
</file>

<file path=ppt/tags/tag165.xml><?xml version="1.0" encoding="utf-8"?>
<p:tagLst xmlns:a="http://schemas.openxmlformats.org/drawingml/2006/main" xmlns:r="http://schemas.openxmlformats.org/officeDocument/2006/relationships" xmlns:p="http://schemas.openxmlformats.org/presentationml/2006/main">
  <p:tag name="AS_UNIQUEID" val="12456"/>
</p:tagLst>
</file>

<file path=ppt/tags/tag166.xml><?xml version="1.0" encoding="utf-8"?>
<p:tagLst xmlns:a="http://schemas.openxmlformats.org/drawingml/2006/main" xmlns:r="http://schemas.openxmlformats.org/officeDocument/2006/relationships" xmlns:p="http://schemas.openxmlformats.org/presentationml/2006/main">
  <p:tag name="AS_UNIQUEID" val="12457"/>
</p:tagLst>
</file>

<file path=ppt/tags/tag167.xml><?xml version="1.0" encoding="utf-8"?>
<p:tagLst xmlns:a="http://schemas.openxmlformats.org/drawingml/2006/main" xmlns:r="http://schemas.openxmlformats.org/officeDocument/2006/relationships" xmlns:p="http://schemas.openxmlformats.org/presentationml/2006/main">
  <p:tag name="AS_UNIQUEID" val="12459"/>
</p:tagLst>
</file>

<file path=ppt/tags/tag168.xml><?xml version="1.0" encoding="utf-8"?>
<p:tagLst xmlns:a="http://schemas.openxmlformats.org/drawingml/2006/main" xmlns:r="http://schemas.openxmlformats.org/officeDocument/2006/relationships" xmlns:p="http://schemas.openxmlformats.org/presentationml/2006/main">
  <p:tag name="AS_UNIQUEID" val="12460"/>
</p:tagLst>
</file>

<file path=ppt/tags/tag169.xml><?xml version="1.0" encoding="utf-8"?>
<p:tagLst xmlns:a="http://schemas.openxmlformats.org/drawingml/2006/main" xmlns:r="http://schemas.openxmlformats.org/officeDocument/2006/relationships" xmlns:p="http://schemas.openxmlformats.org/presentationml/2006/main">
  <p:tag name="AS_UNIQUEID" val="12461"/>
</p:tagLst>
</file>

<file path=ppt/tags/tag170.xml><?xml version="1.0" encoding="utf-8"?>
<p:tagLst xmlns:a="http://schemas.openxmlformats.org/drawingml/2006/main" xmlns:r="http://schemas.openxmlformats.org/officeDocument/2006/relationships" xmlns:p="http://schemas.openxmlformats.org/presentationml/2006/main">
  <p:tag name="AS_UNIQUEID" val="12462"/>
</p:tagLst>
</file>

<file path=ppt/tags/tag171.xml><?xml version="1.0" encoding="utf-8"?>
<p:tagLst xmlns:a="http://schemas.openxmlformats.org/drawingml/2006/main" xmlns:r="http://schemas.openxmlformats.org/officeDocument/2006/relationships" xmlns:p="http://schemas.openxmlformats.org/presentationml/2006/main">
  <p:tag name="AS_UNIQUEID" val="12468"/>
</p:tagLst>
</file>

<file path=ppt/tags/tag172.xml><?xml version="1.0" encoding="utf-8"?>
<p:tagLst xmlns:a="http://schemas.openxmlformats.org/drawingml/2006/main" xmlns:r="http://schemas.openxmlformats.org/officeDocument/2006/relationships" xmlns:p="http://schemas.openxmlformats.org/presentationml/2006/main">
  <p:tag name="AS_UNIQUEID" val="12469"/>
</p:tagLst>
</file>

<file path=ppt/tags/tag173.xml><?xml version="1.0" encoding="utf-8"?>
<p:tagLst xmlns:a="http://schemas.openxmlformats.org/drawingml/2006/main" xmlns:r="http://schemas.openxmlformats.org/officeDocument/2006/relationships" xmlns:p="http://schemas.openxmlformats.org/presentationml/2006/main">
  <p:tag name="AS_UNIQUEID" val="10958"/>
</p:tagLst>
</file>

<file path=ppt/tags/tag174.xml><?xml version="1.0" encoding="utf-8"?>
<p:tagLst xmlns:a="http://schemas.openxmlformats.org/drawingml/2006/main" xmlns:r="http://schemas.openxmlformats.org/officeDocument/2006/relationships" xmlns:p="http://schemas.openxmlformats.org/presentationml/2006/main">
  <p:tag name="AS_UNIQUEID" val="12470"/>
</p:tagLst>
</file>

<file path=ppt/tags/tag175.xml><?xml version="1.0" encoding="utf-8"?>
<p:tagLst xmlns:a="http://schemas.openxmlformats.org/drawingml/2006/main" xmlns:r="http://schemas.openxmlformats.org/officeDocument/2006/relationships" xmlns:p="http://schemas.openxmlformats.org/presentationml/2006/main">
  <p:tag name="AS_UNIQUEID" val="12471"/>
</p:tagLst>
</file>

<file path=ppt/tags/tag176.xml><?xml version="1.0" encoding="utf-8"?>
<p:tagLst xmlns:a="http://schemas.openxmlformats.org/drawingml/2006/main" xmlns:r="http://schemas.openxmlformats.org/officeDocument/2006/relationships" xmlns:p="http://schemas.openxmlformats.org/presentationml/2006/main">
  <p:tag name="AS_UNIQUEID" val="12464"/>
</p:tagLst>
</file>

<file path=ppt/tags/tag177.xml><?xml version="1.0" encoding="utf-8"?>
<p:tagLst xmlns:a="http://schemas.openxmlformats.org/drawingml/2006/main" xmlns:r="http://schemas.openxmlformats.org/officeDocument/2006/relationships" xmlns:p="http://schemas.openxmlformats.org/presentationml/2006/main">
  <p:tag name="AS_UNIQUEID" val="12465"/>
</p:tagLst>
</file>

<file path=ppt/tags/tag178.xml><?xml version="1.0" encoding="utf-8"?>
<p:tagLst xmlns:a="http://schemas.openxmlformats.org/drawingml/2006/main" xmlns:r="http://schemas.openxmlformats.org/officeDocument/2006/relationships" xmlns:p="http://schemas.openxmlformats.org/presentationml/2006/main">
  <p:tag name="AS_UNIQUEID" val="12466"/>
</p:tagLst>
</file>

<file path=ppt/tags/tag179.xml><?xml version="1.0" encoding="utf-8"?>
<p:tagLst xmlns:a="http://schemas.openxmlformats.org/drawingml/2006/main" xmlns:r="http://schemas.openxmlformats.org/officeDocument/2006/relationships" xmlns:p="http://schemas.openxmlformats.org/presentationml/2006/main">
  <p:tag name="AS_UNIQUEID" val="9396"/>
</p:tagLst>
</file>

<file path=ppt/tags/tag180.xml><?xml version="1.0" encoding="utf-8"?>
<p:tagLst xmlns:a="http://schemas.openxmlformats.org/drawingml/2006/main" xmlns:r="http://schemas.openxmlformats.org/officeDocument/2006/relationships" xmlns:p="http://schemas.openxmlformats.org/presentationml/2006/main">
  <p:tag name="AS_UNIQUEID" val="9396"/>
</p:tagLst>
</file>

<file path=ppt/tags/tag181.xml><?xml version="1.0" encoding="utf-8"?>
<p:tagLst xmlns:a="http://schemas.openxmlformats.org/drawingml/2006/main" xmlns:r="http://schemas.openxmlformats.org/officeDocument/2006/relationships" xmlns:p="http://schemas.openxmlformats.org/presentationml/2006/main">
  <p:tag name="AS_UNIQUEID" val="10204"/>
</p:tagLst>
</file>

<file path=ppt/tags/tag182.xml><?xml version="1.0" encoding="utf-8"?>
<p:tagLst xmlns:a="http://schemas.openxmlformats.org/drawingml/2006/main" xmlns:r="http://schemas.openxmlformats.org/officeDocument/2006/relationships" xmlns:p="http://schemas.openxmlformats.org/presentationml/2006/main">
  <p:tag name="AS_UNIQUEID" val="10212"/>
</p:tagLst>
</file>

<file path=ppt/tags/tag183.xml><?xml version="1.0" encoding="utf-8"?>
<p:tagLst xmlns:a="http://schemas.openxmlformats.org/drawingml/2006/main" xmlns:r="http://schemas.openxmlformats.org/officeDocument/2006/relationships" xmlns:p="http://schemas.openxmlformats.org/presentationml/2006/main">
  <p:tag name="AS_UNIQUEID" val="10214"/>
</p:tagLst>
</file>

<file path=ppt/tags/tag184.xml><?xml version="1.0" encoding="utf-8"?>
<p:tagLst xmlns:a="http://schemas.openxmlformats.org/drawingml/2006/main" xmlns:r="http://schemas.openxmlformats.org/officeDocument/2006/relationships" xmlns:p="http://schemas.openxmlformats.org/presentationml/2006/main">
  <p:tag name="AS_UNIQUEID" val="10206"/>
</p:tagLst>
</file>

<file path=ppt/tags/tag185.xml><?xml version="1.0" encoding="utf-8"?>
<p:tagLst xmlns:a="http://schemas.openxmlformats.org/drawingml/2006/main" xmlns:r="http://schemas.openxmlformats.org/officeDocument/2006/relationships" xmlns:p="http://schemas.openxmlformats.org/presentationml/2006/main">
  <p:tag name="AS_UNIQUEID" val="10210"/>
</p:tagLst>
</file>

<file path=ppt/tags/tag186.xml><?xml version="1.0" encoding="utf-8"?>
<p:tagLst xmlns:a="http://schemas.openxmlformats.org/drawingml/2006/main" xmlns:r="http://schemas.openxmlformats.org/officeDocument/2006/relationships" xmlns:p="http://schemas.openxmlformats.org/presentationml/2006/main">
  <p:tag name="AS_UNIQUEID" val="12474"/>
</p:tagLst>
</file>

<file path=ppt/tags/tag187.xml><?xml version="1.0" encoding="utf-8"?>
<p:tagLst xmlns:a="http://schemas.openxmlformats.org/drawingml/2006/main" xmlns:r="http://schemas.openxmlformats.org/officeDocument/2006/relationships" xmlns:p="http://schemas.openxmlformats.org/presentationml/2006/main">
  <p:tag name="AS_UNIQUEID" val="12475"/>
</p:tagLst>
</file>

<file path=ppt/tags/tag188.xml><?xml version="1.0" encoding="utf-8"?>
<p:tagLst xmlns:a="http://schemas.openxmlformats.org/drawingml/2006/main" xmlns:r="http://schemas.openxmlformats.org/officeDocument/2006/relationships" xmlns:p="http://schemas.openxmlformats.org/presentationml/2006/main">
  <p:tag name="AS_UNIQUEID" val="972"/>
</p:tagLst>
</file>

<file path=ppt/tags/tag189.xml><?xml version="1.0" encoding="utf-8"?>
<p:tagLst xmlns:a="http://schemas.openxmlformats.org/drawingml/2006/main" xmlns:r="http://schemas.openxmlformats.org/officeDocument/2006/relationships" xmlns:p="http://schemas.openxmlformats.org/presentationml/2006/main">
  <p:tag name="AS_UNIQUEID" val="12188"/>
</p:tagLst>
</file>

<file path=ppt/tags/tag190.xml><?xml version="1.0" encoding="utf-8"?>
<p:tagLst xmlns:a="http://schemas.openxmlformats.org/drawingml/2006/main" xmlns:r="http://schemas.openxmlformats.org/officeDocument/2006/relationships" xmlns:p="http://schemas.openxmlformats.org/presentationml/2006/main">
  <p:tag name="AS_UNIQUEID" val="12189"/>
</p:tagLst>
</file>

<file path=ppt/tags/tag191.xml><?xml version="1.0" encoding="utf-8"?>
<p:tagLst xmlns:a="http://schemas.openxmlformats.org/drawingml/2006/main" xmlns:r="http://schemas.openxmlformats.org/officeDocument/2006/relationships" xmlns:p="http://schemas.openxmlformats.org/presentationml/2006/main">
  <p:tag name="AS_UNIQUEID" val="12476"/>
</p:tagLst>
</file>

<file path=ppt/tags/tag192.xml><?xml version="1.0" encoding="utf-8"?>
<p:tagLst xmlns:a="http://schemas.openxmlformats.org/drawingml/2006/main" xmlns:r="http://schemas.openxmlformats.org/officeDocument/2006/relationships" xmlns:p="http://schemas.openxmlformats.org/presentationml/2006/main">
  <p:tag name="AS_UNIQUEID" val="10211"/>
</p:tagLst>
</file>

<file path=ppt/tags/tag193.xml><?xml version="1.0" encoding="utf-8"?>
<p:tagLst xmlns:a="http://schemas.openxmlformats.org/drawingml/2006/main" xmlns:r="http://schemas.openxmlformats.org/officeDocument/2006/relationships" xmlns:p="http://schemas.openxmlformats.org/presentationml/2006/main">
  <p:tag name="AS_UNIQUEID" val="10213"/>
</p:tagLst>
</file>

<file path=ppt/tags/tag194.xml><?xml version="1.0" encoding="utf-8"?>
<p:tagLst xmlns:a="http://schemas.openxmlformats.org/drawingml/2006/main" xmlns:r="http://schemas.openxmlformats.org/officeDocument/2006/relationships" xmlns:p="http://schemas.openxmlformats.org/presentationml/2006/main">
  <p:tag name="AS_UNIQUEID" val="10201"/>
</p:tagLst>
</file>

<file path=ppt/tags/tag195.xml><?xml version="1.0" encoding="utf-8"?>
<p:tagLst xmlns:a="http://schemas.openxmlformats.org/drawingml/2006/main" xmlns:r="http://schemas.openxmlformats.org/officeDocument/2006/relationships" xmlns:p="http://schemas.openxmlformats.org/presentationml/2006/main">
  <p:tag name="AS_UNIQUEID" val="10202"/>
</p:tagLst>
</file>

<file path=ppt/tags/tag196.xml><?xml version="1.0" encoding="utf-8"?>
<p:tagLst xmlns:a="http://schemas.openxmlformats.org/drawingml/2006/main" xmlns:r="http://schemas.openxmlformats.org/officeDocument/2006/relationships" xmlns:p="http://schemas.openxmlformats.org/presentationml/2006/main">
  <p:tag name="AS_UNIQUEID" val="9396"/>
</p:tagLst>
</file>

<file path=ppt/tags/tag197.xml><?xml version="1.0" encoding="utf-8"?>
<p:tagLst xmlns:a="http://schemas.openxmlformats.org/drawingml/2006/main" xmlns:r="http://schemas.openxmlformats.org/officeDocument/2006/relationships" xmlns:p="http://schemas.openxmlformats.org/presentationml/2006/main">
  <p:tag name="AS_UNIQUEID" val="9396"/>
</p:tagLst>
</file>

<file path=ppt/tags/tag198.xml><?xml version="1.0" encoding="utf-8"?>
<p:tagLst xmlns:a="http://schemas.openxmlformats.org/drawingml/2006/main" xmlns:r="http://schemas.openxmlformats.org/officeDocument/2006/relationships" xmlns:p="http://schemas.openxmlformats.org/presentationml/2006/main">
  <p:tag name="AS_UNIQUEID" val="9396"/>
</p:tagLst>
</file>

<file path=ppt/tags/tag199.xml><?xml version="1.0" encoding="utf-8"?>
<p:tagLst xmlns:a="http://schemas.openxmlformats.org/drawingml/2006/main" xmlns:r="http://schemas.openxmlformats.org/officeDocument/2006/relationships" xmlns:p="http://schemas.openxmlformats.org/presentationml/2006/main">
  <p:tag name="AS_UNIQUEID" val="9396"/>
</p:tagLst>
</file>

<file path=ppt/tags/tag200.xml><?xml version="1.0" encoding="utf-8"?>
<p:tagLst xmlns:a="http://schemas.openxmlformats.org/drawingml/2006/main" xmlns:r="http://schemas.openxmlformats.org/officeDocument/2006/relationships" xmlns:p="http://schemas.openxmlformats.org/presentationml/2006/main">
  <p:tag name="AS_UNIQUEID" val="9396"/>
</p:tagLst>
</file>

<file path=ppt/tags/tag201.xml><?xml version="1.0" encoding="utf-8"?>
<p:tagLst xmlns:a="http://schemas.openxmlformats.org/drawingml/2006/main" xmlns:r="http://schemas.openxmlformats.org/officeDocument/2006/relationships" xmlns:p="http://schemas.openxmlformats.org/presentationml/2006/main">
  <p:tag name="AS_UNIQUEID" val="9396"/>
</p:tagLst>
</file>

<file path=ppt/tags/tag202.xml><?xml version="1.0" encoding="utf-8"?>
<p:tagLst xmlns:a="http://schemas.openxmlformats.org/drawingml/2006/main" xmlns:r="http://schemas.openxmlformats.org/officeDocument/2006/relationships" xmlns:p="http://schemas.openxmlformats.org/presentationml/2006/main">
  <p:tag name="AS_UNIQUEID" val="9396"/>
</p:tagLst>
</file>

<file path=ppt/tags/tag203.xml><?xml version="1.0" encoding="utf-8"?>
<p:tagLst xmlns:a="http://schemas.openxmlformats.org/drawingml/2006/main" xmlns:r="http://schemas.openxmlformats.org/officeDocument/2006/relationships" xmlns:p="http://schemas.openxmlformats.org/presentationml/2006/main">
  <p:tag name="AS_UNIQUEID" val="9396"/>
</p:tagLst>
</file>

<file path=ppt/tags/tag204.xml><?xml version="1.0" encoding="utf-8"?>
<p:tagLst xmlns:a="http://schemas.openxmlformats.org/drawingml/2006/main" xmlns:r="http://schemas.openxmlformats.org/officeDocument/2006/relationships" xmlns:p="http://schemas.openxmlformats.org/presentationml/2006/main">
  <p:tag name="AS_UNIQUEID" val="12478"/>
</p:tagLst>
</file>

<file path=ppt/tags/tag205.xml><?xml version="1.0" encoding="utf-8"?>
<p:tagLst xmlns:a="http://schemas.openxmlformats.org/drawingml/2006/main" xmlns:r="http://schemas.openxmlformats.org/officeDocument/2006/relationships" xmlns:p="http://schemas.openxmlformats.org/presentationml/2006/main">
  <p:tag name="AS_UNIQUEID" val="9429"/>
</p:tagLst>
</file>

<file path=ppt/tags/tag206.xml><?xml version="1.0" encoding="utf-8"?>
<p:tagLst xmlns:a="http://schemas.openxmlformats.org/drawingml/2006/main" xmlns:r="http://schemas.openxmlformats.org/officeDocument/2006/relationships" xmlns:p="http://schemas.openxmlformats.org/presentationml/2006/main">
  <p:tag name="AS_UNIQUEID" val="12479"/>
</p:tagLst>
</file>

<file path=ppt/tags/tag207.xml><?xml version="1.0" encoding="utf-8"?>
<p:tagLst xmlns:a="http://schemas.openxmlformats.org/drawingml/2006/main" xmlns:r="http://schemas.openxmlformats.org/officeDocument/2006/relationships" xmlns:p="http://schemas.openxmlformats.org/presentationml/2006/main">
  <p:tag name="AS_UNIQUEID" val="972"/>
</p:tagLst>
</file>

<file path=ppt/tags/tag208.xml><?xml version="1.0" encoding="utf-8"?>
<p:tagLst xmlns:a="http://schemas.openxmlformats.org/drawingml/2006/main" xmlns:r="http://schemas.openxmlformats.org/officeDocument/2006/relationships" xmlns:p="http://schemas.openxmlformats.org/presentationml/2006/main">
  <p:tag name="AS_UNIQUEID" val="972"/>
</p:tagLst>
</file>

<file path=ppt/tags/tag209.xml><?xml version="1.0" encoding="utf-8"?>
<p:tagLst xmlns:a="http://schemas.openxmlformats.org/drawingml/2006/main" xmlns:r="http://schemas.openxmlformats.org/officeDocument/2006/relationships" xmlns:p="http://schemas.openxmlformats.org/presentationml/2006/main">
  <p:tag name="AS_UNIQUEID" val="972"/>
</p:tagLst>
</file>

<file path=ppt/tags/tag210.xml><?xml version="1.0" encoding="utf-8"?>
<p:tagLst xmlns:a="http://schemas.openxmlformats.org/drawingml/2006/main" xmlns:r="http://schemas.openxmlformats.org/officeDocument/2006/relationships" xmlns:p="http://schemas.openxmlformats.org/presentationml/2006/main">
  <p:tag name="AS_UNIQUEID" val="972"/>
</p:tagLst>
</file>

<file path=ppt/tags/tag211.xml><?xml version="1.0" encoding="utf-8"?>
<p:tagLst xmlns:a="http://schemas.openxmlformats.org/drawingml/2006/main" xmlns:r="http://schemas.openxmlformats.org/officeDocument/2006/relationships" xmlns:p="http://schemas.openxmlformats.org/presentationml/2006/main">
  <p:tag name="AS_UNIQUEID" val="12193"/>
</p:tagLst>
</file>

<file path=ppt/tags/tag212.xml><?xml version="1.0" encoding="utf-8"?>
<p:tagLst xmlns:a="http://schemas.openxmlformats.org/drawingml/2006/main" xmlns:r="http://schemas.openxmlformats.org/officeDocument/2006/relationships" xmlns:p="http://schemas.openxmlformats.org/presentationml/2006/main">
  <p:tag name="AS_UNIQUEID" val="12194"/>
</p:tagLst>
</file>

<file path=ppt/tags/tag213.xml><?xml version="1.0" encoding="utf-8"?>
<p:tagLst xmlns:a="http://schemas.openxmlformats.org/drawingml/2006/main" xmlns:r="http://schemas.openxmlformats.org/officeDocument/2006/relationships" xmlns:p="http://schemas.openxmlformats.org/presentationml/2006/main">
  <p:tag name="AS_UNIQUEID" val="12195"/>
</p:tagLst>
</file>

<file path=ppt/tags/tag214.xml><?xml version="1.0" encoding="utf-8"?>
<p:tagLst xmlns:a="http://schemas.openxmlformats.org/drawingml/2006/main" xmlns:r="http://schemas.openxmlformats.org/officeDocument/2006/relationships" xmlns:p="http://schemas.openxmlformats.org/presentationml/2006/main">
  <p:tag name="AS_UNIQUEID" val="12196"/>
</p:tagLst>
</file>

<file path=ppt/tags/tag215.xml><?xml version="1.0" encoding="utf-8"?>
<p:tagLst xmlns:a="http://schemas.openxmlformats.org/drawingml/2006/main" xmlns:r="http://schemas.openxmlformats.org/officeDocument/2006/relationships" xmlns:p="http://schemas.openxmlformats.org/presentationml/2006/main">
  <p:tag name="AS_UNIQUEID" val="10967"/>
</p:tagLst>
</file>

<file path=ppt/tags/tag216.xml><?xml version="1.0" encoding="utf-8"?>
<p:tagLst xmlns:a="http://schemas.openxmlformats.org/drawingml/2006/main" xmlns:r="http://schemas.openxmlformats.org/officeDocument/2006/relationships" xmlns:p="http://schemas.openxmlformats.org/presentationml/2006/main">
  <p:tag name="AS_UNIQUEID" val="10967"/>
</p:tagLst>
</file>

<file path=ppt/tags/tag217.xml><?xml version="1.0" encoding="utf-8"?>
<p:tagLst xmlns:a="http://schemas.openxmlformats.org/drawingml/2006/main" xmlns:r="http://schemas.openxmlformats.org/officeDocument/2006/relationships" xmlns:p="http://schemas.openxmlformats.org/presentationml/2006/main">
  <p:tag name="AS_UNIQUEID" val="10967"/>
</p:tagLst>
</file>

<file path=ppt/tags/tag218.xml><?xml version="1.0" encoding="utf-8"?>
<p:tagLst xmlns:a="http://schemas.openxmlformats.org/drawingml/2006/main" xmlns:r="http://schemas.openxmlformats.org/officeDocument/2006/relationships" xmlns:p="http://schemas.openxmlformats.org/presentationml/2006/main">
  <p:tag name="AS_UNIQUEID" val="10967"/>
</p:tagLst>
</file>

<file path=ppt/tags/tag219.xml><?xml version="1.0" encoding="utf-8"?>
<p:tagLst xmlns:a="http://schemas.openxmlformats.org/drawingml/2006/main" xmlns:r="http://schemas.openxmlformats.org/officeDocument/2006/relationships" xmlns:p="http://schemas.openxmlformats.org/presentationml/2006/main">
  <p:tag name="AS_UNIQUEID" val="10967"/>
</p:tagLst>
</file>

<file path=ppt/tags/tag220.xml><?xml version="1.0" encoding="utf-8"?>
<p:tagLst xmlns:a="http://schemas.openxmlformats.org/drawingml/2006/main" xmlns:r="http://schemas.openxmlformats.org/officeDocument/2006/relationships" xmlns:p="http://schemas.openxmlformats.org/presentationml/2006/main">
  <p:tag name="AS_UNIQUEID" val="10967"/>
</p:tagLst>
</file>

<file path=ppt/tags/tag221.xml><?xml version="1.0" encoding="utf-8"?>
<p:tagLst xmlns:a="http://schemas.openxmlformats.org/drawingml/2006/main" xmlns:r="http://schemas.openxmlformats.org/officeDocument/2006/relationships" xmlns:p="http://schemas.openxmlformats.org/presentationml/2006/main">
  <p:tag name="AS_UNIQUEID" val="10967"/>
</p:tagLst>
</file>

<file path=ppt/tags/tag222.xml><?xml version="1.0" encoding="utf-8"?>
<p:tagLst xmlns:a="http://schemas.openxmlformats.org/drawingml/2006/main" xmlns:r="http://schemas.openxmlformats.org/officeDocument/2006/relationships" xmlns:p="http://schemas.openxmlformats.org/presentationml/2006/main">
  <p:tag name="AS_UNIQUEID" val="10967"/>
</p:tagLst>
</file>

<file path=ppt/tags/tag223.xml><?xml version="1.0" encoding="utf-8"?>
<p:tagLst xmlns:a="http://schemas.openxmlformats.org/drawingml/2006/main" xmlns:r="http://schemas.openxmlformats.org/officeDocument/2006/relationships" xmlns:p="http://schemas.openxmlformats.org/presentationml/2006/main">
  <p:tag name="AS_UNIQUEID" val="12484"/>
</p:tagLst>
</file>

<file path=ppt/tags/tag224.xml><?xml version="1.0" encoding="utf-8"?>
<p:tagLst xmlns:a="http://schemas.openxmlformats.org/drawingml/2006/main" xmlns:r="http://schemas.openxmlformats.org/officeDocument/2006/relationships" xmlns:p="http://schemas.openxmlformats.org/presentationml/2006/main">
  <p:tag name="AS_UNIQUEID" val="10679"/>
</p:tagLst>
</file>

<file path=ppt/tags/tag225.xml><?xml version="1.0" encoding="utf-8"?>
<p:tagLst xmlns:a="http://schemas.openxmlformats.org/drawingml/2006/main" xmlns:r="http://schemas.openxmlformats.org/officeDocument/2006/relationships" xmlns:p="http://schemas.openxmlformats.org/presentationml/2006/main">
  <p:tag name="AS_UNIQUEID" val="12485"/>
</p:tagLst>
</file>

<file path=ppt/tags/tag226.xml><?xml version="1.0" encoding="utf-8"?>
<p:tagLst xmlns:a="http://schemas.openxmlformats.org/drawingml/2006/main" xmlns:r="http://schemas.openxmlformats.org/officeDocument/2006/relationships" xmlns:p="http://schemas.openxmlformats.org/presentationml/2006/main">
  <p:tag name="AS_UNIQUEID" val="12486"/>
</p:tagLst>
</file>

<file path=ppt/tags/tag227.xml><?xml version="1.0" encoding="utf-8"?>
<p:tagLst xmlns:a="http://schemas.openxmlformats.org/drawingml/2006/main" xmlns:r="http://schemas.openxmlformats.org/officeDocument/2006/relationships" xmlns:p="http://schemas.openxmlformats.org/presentationml/2006/main">
  <p:tag name="AS_UNIQUEID" val="12487"/>
</p:tagLst>
</file>

<file path=ppt/tags/tag228.xml><?xml version="1.0" encoding="utf-8"?>
<p:tagLst xmlns:a="http://schemas.openxmlformats.org/drawingml/2006/main" xmlns:r="http://schemas.openxmlformats.org/officeDocument/2006/relationships" xmlns:p="http://schemas.openxmlformats.org/presentationml/2006/main">
  <p:tag name="AS_UNIQUEID" val="12488"/>
</p:tagLst>
</file>

<file path=ppt/tags/tag229.xml><?xml version="1.0" encoding="utf-8"?>
<p:tagLst xmlns:a="http://schemas.openxmlformats.org/drawingml/2006/main" xmlns:r="http://schemas.openxmlformats.org/officeDocument/2006/relationships" xmlns:p="http://schemas.openxmlformats.org/presentationml/2006/main">
  <p:tag name="AS_UNIQUEID" val="12489"/>
</p:tagLst>
</file>

<file path=ppt/tags/tag230.xml><?xml version="1.0" encoding="utf-8"?>
<p:tagLst xmlns:a="http://schemas.openxmlformats.org/drawingml/2006/main" xmlns:r="http://schemas.openxmlformats.org/officeDocument/2006/relationships" xmlns:p="http://schemas.openxmlformats.org/presentationml/2006/main">
  <p:tag name="AS_UNIQUEID" val="10680"/>
</p:tagLst>
</file>

<file path=ppt/tags/tag231.xml><?xml version="1.0" encoding="utf-8"?>
<p:tagLst xmlns:a="http://schemas.openxmlformats.org/drawingml/2006/main" xmlns:r="http://schemas.openxmlformats.org/officeDocument/2006/relationships" xmlns:p="http://schemas.openxmlformats.org/presentationml/2006/main">
  <p:tag name="AS_UNIQUEID" val="10681"/>
</p:tagLst>
</file>

<file path=ppt/tags/tag232.xml><?xml version="1.0" encoding="utf-8"?>
<p:tagLst xmlns:a="http://schemas.openxmlformats.org/drawingml/2006/main" xmlns:r="http://schemas.openxmlformats.org/officeDocument/2006/relationships" xmlns:p="http://schemas.openxmlformats.org/presentationml/2006/main">
  <p:tag name="AS_UNIQUEID" val="10682"/>
</p:tagLst>
</file>

<file path=ppt/tags/tag233.xml><?xml version="1.0" encoding="utf-8"?>
<p:tagLst xmlns:a="http://schemas.openxmlformats.org/drawingml/2006/main" xmlns:r="http://schemas.openxmlformats.org/officeDocument/2006/relationships" xmlns:p="http://schemas.openxmlformats.org/presentationml/2006/main">
  <p:tag name="AS_UNIQUEID" val="10683"/>
</p:tagLst>
</file>

<file path=ppt/tags/tag234.xml><?xml version="1.0" encoding="utf-8"?>
<p:tagLst xmlns:a="http://schemas.openxmlformats.org/drawingml/2006/main" xmlns:r="http://schemas.openxmlformats.org/officeDocument/2006/relationships" xmlns:p="http://schemas.openxmlformats.org/presentationml/2006/main">
  <p:tag name="AS_UNIQUEID" val="10684"/>
</p:tagLst>
</file>

<file path=ppt/tags/tag235.xml><?xml version="1.0" encoding="utf-8"?>
<p:tagLst xmlns:a="http://schemas.openxmlformats.org/drawingml/2006/main" xmlns:r="http://schemas.openxmlformats.org/officeDocument/2006/relationships" xmlns:p="http://schemas.openxmlformats.org/presentationml/2006/main">
  <p:tag name="AS_UNIQUEID" val="12480"/>
</p:tagLst>
</file>

<file path=ppt/tags/tag236.xml><?xml version="1.0" encoding="utf-8"?>
<p:tagLst xmlns:a="http://schemas.openxmlformats.org/drawingml/2006/main" xmlns:r="http://schemas.openxmlformats.org/officeDocument/2006/relationships" xmlns:p="http://schemas.openxmlformats.org/presentationml/2006/main">
  <p:tag name="AS_UNIQUEID" val="12481"/>
</p:tagLst>
</file>

<file path=ppt/tags/tag237.xml><?xml version="1.0" encoding="utf-8"?>
<p:tagLst xmlns:a="http://schemas.openxmlformats.org/drawingml/2006/main" xmlns:r="http://schemas.openxmlformats.org/officeDocument/2006/relationships" xmlns:p="http://schemas.openxmlformats.org/presentationml/2006/main">
  <p:tag name="AS_UNIQUEID" val="12482"/>
</p:tagLst>
</file>

<file path=ppt/tags/tag238.xml><?xml version="1.0" encoding="utf-8"?>
<p:tagLst xmlns:a="http://schemas.openxmlformats.org/drawingml/2006/main" xmlns:r="http://schemas.openxmlformats.org/officeDocument/2006/relationships" xmlns:p="http://schemas.openxmlformats.org/presentationml/2006/main">
  <p:tag name="AS_UNIQUEID" val="12483"/>
</p:tagLst>
</file>

<file path=ppt/tags/tag239.xml><?xml version="1.0" encoding="utf-8"?>
<p:tagLst xmlns:a="http://schemas.openxmlformats.org/drawingml/2006/main" xmlns:r="http://schemas.openxmlformats.org/officeDocument/2006/relationships" xmlns:p="http://schemas.openxmlformats.org/presentationml/2006/main">
  <p:tag name="AS_UNIQUEID" val="9396"/>
</p:tagLst>
</file>

<file path=ppt/tags/tag240.xml><?xml version="1.0" encoding="utf-8"?>
<p:tagLst xmlns:a="http://schemas.openxmlformats.org/drawingml/2006/main" xmlns:r="http://schemas.openxmlformats.org/officeDocument/2006/relationships" xmlns:p="http://schemas.openxmlformats.org/presentationml/2006/main">
  <p:tag name="AS_UNIQUEID" val="9396"/>
</p:tagLst>
</file>

<file path=ppt/tags/tag241.xml><?xml version="1.0" encoding="utf-8"?>
<p:tagLst xmlns:a="http://schemas.openxmlformats.org/drawingml/2006/main" xmlns:r="http://schemas.openxmlformats.org/officeDocument/2006/relationships" xmlns:p="http://schemas.openxmlformats.org/presentationml/2006/main">
  <p:tag name="AS_UNIQUEID" val="9396"/>
</p:tagLst>
</file>

<file path=ppt/tags/tag242.xml><?xml version="1.0" encoding="utf-8"?>
<p:tagLst xmlns:a="http://schemas.openxmlformats.org/drawingml/2006/main" xmlns:r="http://schemas.openxmlformats.org/officeDocument/2006/relationships" xmlns:p="http://schemas.openxmlformats.org/presentationml/2006/main">
  <p:tag name="AS_UNIQUEID" val="9396"/>
</p:tagLst>
</file>

<file path=ppt/tags/tag243.xml><?xml version="1.0" encoding="utf-8"?>
<p:tagLst xmlns:a="http://schemas.openxmlformats.org/drawingml/2006/main" xmlns:r="http://schemas.openxmlformats.org/officeDocument/2006/relationships" xmlns:p="http://schemas.openxmlformats.org/presentationml/2006/main">
  <p:tag name="AS_UNIQUEID" val="9396"/>
</p:tagLst>
</file>

<file path=ppt/tags/tag244.xml><?xml version="1.0" encoding="utf-8"?>
<p:tagLst xmlns:a="http://schemas.openxmlformats.org/drawingml/2006/main" xmlns:r="http://schemas.openxmlformats.org/officeDocument/2006/relationships" xmlns:p="http://schemas.openxmlformats.org/presentationml/2006/main">
  <p:tag name="AS_UNIQUEID" val="9396"/>
</p:tagLst>
</file>

<file path=ppt/tags/tag245.xml><?xml version="1.0" encoding="utf-8"?>
<p:tagLst xmlns:a="http://schemas.openxmlformats.org/drawingml/2006/main" xmlns:r="http://schemas.openxmlformats.org/officeDocument/2006/relationships" xmlns:p="http://schemas.openxmlformats.org/presentationml/2006/main">
  <p:tag name="AS_UNIQUEID" val="12491"/>
</p:tagLst>
</file>

<file path=ppt/tags/tag246.xml><?xml version="1.0" encoding="utf-8"?>
<p:tagLst xmlns:a="http://schemas.openxmlformats.org/drawingml/2006/main" xmlns:r="http://schemas.openxmlformats.org/officeDocument/2006/relationships" xmlns:p="http://schemas.openxmlformats.org/presentationml/2006/main">
  <p:tag name="AS_UNIQUEID" val="9429"/>
</p:tagLst>
</file>

<file path=ppt/tags/tag247.xml><?xml version="1.0" encoding="utf-8"?>
<p:tagLst xmlns:a="http://schemas.openxmlformats.org/drawingml/2006/main" xmlns:r="http://schemas.openxmlformats.org/officeDocument/2006/relationships" xmlns:p="http://schemas.openxmlformats.org/presentationml/2006/main">
  <p:tag name="AS_UNIQUEID" val="12492"/>
</p:tagLst>
</file>

<file path=ppt/tags/tag248.xml><?xml version="1.0" encoding="utf-8"?>
<p:tagLst xmlns:a="http://schemas.openxmlformats.org/drawingml/2006/main" xmlns:r="http://schemas.openxmlformats.org/officeDocument/2006/relationships" xmlns:p="http://schemas.openxmlformats.org/presentationml/2006/main">
  <p:tag name="AS_UNIQUEID" val="10679"/>
</p:tagLst>
</file>

<file path=ppt/tags/tag249.xml><?xml version="1.0" encoding="utf-8"?>
<p:tagLst xmlns:a="http://schemas.openxmlformats.org/drawingml/2006/main" xmlns:r="http://schemas.openxmlformats.org/officeDocument/2006/relationships" xmlns:p="http://schemas.openxmlformats.org/presentationml/2006/main">
  <p:tag name="AS_UNIQUEID" val="12497"/>
</p:tagLst>
</file>

<file path=ppt/tags/tag250.xml><?xml version="1.0" encoding="utf-8"?>
<p:tagLst xmlns:a="http://schemas.openxmlformats.org/drawingml/2006/main" xmlns:r="http://schemas.openxmlformats.org/officeDocument/2006/relationships" xmlns:p="http://schemas.openxmlformats.org/presentationml/2006/main">
  <p:tag name="AS_UNIQUEID" val="12498"/>
</p:tagLst>
</file>

<file path=ppt/tags/tag251.xml><?xml version="1.0" encoding="utf-8"?>
<p:tagLst xmlns:a="http://schemas.openxmlformats.org/drawingml/2006/main" xmlns:r="http://schemas.openxmlformats.org/officeDocument/2006/relationships" xmlns:p="http://schemas.openxmlformats.org/presentationml/2006/main">
  <p:tag name="AS_UNIQUEID" val="12499"/>
</p:tagLst>
</file>

<file path=ppt/tags/tag252.xml><?xml version="1.0" encoding="utf-8"?>
<p:tagLst xmlns:a="http://schemas.openxmlformats.org/drawingml/2006/main" xmlns:r="http://schemas.openxmlformats.org/officeDocument/2006/relationships" xmlns:p="http://schemas.openxmlformats.org/presentationml/2006/main">
  <p:tag name="AS_UNIQUEID" val="12500"/>
</p:tagLst>
</file>

<file path=ppt/tags/tag253.xml><?xml version="1.0" encoding="utf-8"?>
<p:tagLst xmlns:a="http://schemas.openxmlformats.org/drawingml/2006/main" xmlns:r="http://schemas.openxmlformats.org/officeDocument/2006/relationships" xmlns:p="http://schemas.openxmlformats.org/presentationml/2006/main">
  <p:tag name="AS_UNIQUEID" val="12501"/>
</p:tagLst>
</file>

<file path=ppt/tags/tag254.xml><?xml version="1.0" encoding="utf-8"?>
<p:tagLst xmlns:a="http://schemas.openxmlformats.org/drawingml/2006/main" xmlns:r="http://schemas.openxmlformats.org/officeDocument/2006/relationships" xmlns:p="http://schemas.openxmlformats.org/presentationml/2006/main">
  <p:tag name="AS_UNIQUEID" val="972"/>
</p:tagLst>
</file>

<file path=ppt/tags/tag255.xml><?xml version="1.0" encoding="utf-8"?>
<p:tagLst xmlns:a="http://schemas.openxmlformats.org/drawingml/2006/main" xmlns:r="http://schemas.openxmlformats.org/officeDocument/2006/relationships" xmlns:p="http://schemas.openxmlformats.org/presentationml/2006/main">
  <p:tag name="AS_UNIQUEID" val="972"/>
</p:tagLst>
</file>

<file path=ppt/tags/tag256.xml><?xml version="1.0" encoding="utf-8"?>
<p:tagLst xmlns:a="http://schemas.openxmlformats.org/drawingml/2006/main" xmlns:r="http://schemas.openxmlformats.org/officeDocument/2006/relationships" xmlns:p="http://schemas.openxmlformats.org/presentationml/2006/main">
  <p:tag name="AS_UNIQUEID" val="972"/>
</p:tagLst>
</file>

<file path=ppt/tags/tag257.xml><?xml version="1.0" encoding="utf-8"?>
<p:tagLst xmlns:a="http://schemas.openxmlformats.org/drawingml/2006/main" xmlns:r="http://schemas.openxmlformats.org/officeDocument/2006/relationships" xmlns:p="http://schemas.openxmlformats.org/presentationml/2006/main">
  <p:tag name="AS_UNIQUEID" val="12198"/>
</p:tagLst>
</file>

<file path=ppt/tags/tag258.xml><?xml version="1.0" encoding="utf-8"?>
<p:tagLst xmlns:a="http://schemas.openxmlformats.org/drawingml/2006/main" xmlns:r="http://schemas.openxmlformats.org/officeDocument/2006/relationships" xmlns:p="http://schemas.openxmlformats.org/presentationml/2006/main">
  <p:tag name="AS_UNIQUEID" val="12199"/>
</p:tagLst>
</file>

<file path=ppt/tags/tag259.xml><?xml version="1.0" encoding="utf-8"?>
<p:tagLst xmlns:a="http://schemas.openxmlformats.org/drawingml/2006/main" xmlns:r="http://schemas.openxmlformats.org/officeDocument/2006/relationships" xmlns:p="http://schemas.openxmlformats.org/presentationml/2006/main">
  <p:tag name="AS_UNIQUEID" val="12200"/>
</p:tagLst>
</file>

<file path=ppt/tags/tag260.xml><?xml version="1.0" encoding="utf-8"?>
<p:tagLst xmlns:a="http://schemas.openxmlformats.org/drawingml/2006/main" xmlns:r="http://schemas.openxmlformats.org/officeDocument/2006/relationships" xmlns:p="http://schemas.openxmlformats.org/presentationml/2006/main">
  <p:tag name="AS_UNIQUEID" val="10967"/>
</p:tagLst>
</file>

<file path=ppt/tags/tag261.xml><?xml version="1.0" encoding="utf-8"?>
<p:tagLst xmlns:a="http://schemas.openxmlformats.org/drawingml/2006/main" xmlns:r="http://schemas.openxmlformats.org/officeDocument/2006/relationships" xmlns:p="http://schemas.openxmlformats.org/presentationml/2006/main">
  <p:tag name="AS_UNIQUEID" val="10967"/>
</p:tagLst>
</file>

<file path=ppt/tags/tag262.xml><?xml version="1.0" encoding="utf-8"?>
<p:tagLst xmlns:a="http://schemas.openxmlformats.org/drawingml/2006/main" xmlns:r="http://schemas.openxmlformats.org/officeDocument/2006/relationships" xmlns:p="http://schemas.openxmlformats.org/presentationml/2006/main">
  <p:tag name="AS_UNIQUEID" val="10967"/>
</p:tagLst>
</file>

<file path=ppt/tags/tag263.xml><?xml version="1.0" encoding="utf-8"?>
<p:tagLst xmlns:a="http://schemas.openxmlformats.org/drawingml/2006/main" xmlns:r="http://schemas.openxmlformats.org/officeDocument/2006/relationships" xmlns:p="http://schemas.openxmlformats.org/presentationml/2006/main">
  <p:tag name="AS_UNIQUEID" val="10967"/>
</p:tagLst>
</file>

<file path=ppt/tags/tag264.xml><?xml version="1.0" encoding="utf-8"?>
<p:tagLst xmlns:a="http://schemas.openxmlformats.org/drawingml/2006/main" xmlns:r="http://schemas.openxmlformats.org/officeDocument/2006/relationships" xmlns:p="http://schemas.openxmlformats.org/presentationml/2006/main">
  <p:tag name="AS_UNIQUEID" val="10967"/>
</p:tagLst>
</file>

<file path=ppt/tags/tag265.xml><?xml version="1.0" encoding="utf-8"?>
<p:tagLst xmlns:a="http://schemas.openxmlformats.org/drawingml/2006/main" xmlns:r="http://schemas.openxmlformats.org/officeDocument/2006/relationships" xmlns:p="http://schemas.openxmlformats.org/presentationml/2006/main">
  <p:tag name="AS_UNIQUEID" val="10967"/>
</p:tagLst>
</file>

<file path=ppt/tags/tag266.xml><?xml version="1.0" encoding="utf-8"?>
<p:tagLst xmlns:a="http://schemas.openxmlformats.org/drawingml/2006/main" xmlns:r="http://schemas.openxmlformats.org/officeDocument/2006/relationships" xmlns:p="http://schemas.openxmlformats.org/presentationml/2006/main">
  <p:tag name="AS_UNIQUEID" val="12502"/>
</p:tagLst>
</file>

<file path=ppt/tags/tag267.xml><?xml version="1.0" encoding="utf-8"?>
<p:tagLst xmlns:a="http://schemas.openxmlformats.org/drawingml/2006/main" xmlns:r="http://schemas.openxmlformats.org/officeDocument/2006/relationships" xmlns:p="http://schemas.openxmlformats.org/presentationml/2006/main">
  <p:tag name="AS_UNIQUEID" val="10680"/>
</p:tagLst>
</file>

<file path=ppt/tags/tag268.xml><?xml version="1.0" encoding="utf-8"?>
<p:tagLst xmlns:a="http://schemas.openxmlformats.org/drawingml/2006/main" xmlns:r="http://schemas.openxmlformats.org/officeDocument/2006/relationships" xmlns:p="http://schemas.openxmlformats.org/presentationml/2006/main">
  <p:tag name="AS_UNIQUEID" val="10681"/>
</p:tagLst>
</file>

<file path=ppt/tags/tag269.xml><?xml version="1.0" encoding="utf-8"?>
<p:tagLst xmlns:a="http://schemas.openxmlformats.org/drawingml/2006/main" xmlns:r="http://schemas.openxmlformats.org/officeDocument/2006/relationships" xmlns:p="http://schemas.openxmlformats.org/presentationml/2006/main">
  <p:tag name="AS_UNIQUEID" val="10682"/>
</p:tagLst>
</file>

<file path=ppt/tags/tag270.xml><?xml version="1.0" encoding="utf-8"?>
<p:tagLst xmlns:a="http://schemas.openxmlformats.org/drawingml/2006/main" xmlns:r="http://schemas.openxmlformats.org/officeDocument/2006/relationships" xmlns:p="http://schemas.openxmlformats.org/presentationml/2006/main">
  <p:tag name="AS_UNIQUEID" val="10683"/>
</p:tagLst>
</file>

<file path=ppt/tags/tag271.xml><?xml version="1.0" encoding="utf-8"?>
<p:tagLst xmlns:a="http://schemas.openxmlformats.org/drawingml/2006/main" xmlns:r="http://schemas.openxmlformats.org/officeDocument/2006/relationships" xmlns:p="http://schemas.openxmlformats.org/presentationml/2006/main">
  <p:tag name="AS_UNIQUEID" val="10684"/>
</p:tagLst>
</file>

<file path=ppt/tags/tag272.xml><?xml version="1.0" encoding="utf-8"?>
<p:tagLst xmlns:a="http://schemas.openxmlformats.org/drawingml/2006/main" xmlns:r="http://schemas.openxmlformats.org/officeDocument/2006/relationships" xmlns:p="http://schemas.openxmlformats.org/presentationml/2006/main">
  <p:tag name="AS_UNIQUEID" val="12493"/>
</p:tagLst>
</file>

<file path=ppt/tags/tag273.xml><?xml version="1.0" encoding="utf-8"?>
<p:tagLst xmlns:a="http://schemas.openxmlformats.org/drawingml/2006/main" xmlns:r="http://schemas.openxmlformats.org/officeDocument/2006/relationships" xmlns:p="http://schemas.openxmlformats.org/presentationml/2006/main">
  <p:tag name="AS_UNIQUEID" val="12494"/>
</p:tagLst>
</file>

<file path=ppt/tags/tag274.xml><?xml version="1.0" encoding="utf-8"?>
<p:tagLst xmlns:a="http://schemas.openxmlformats.org/drawingml/2006/main" xmlns:r="http://schemas.openxmlformats.org/officeDocument/2006/relationships" xmlns:p="http://schemas.openxmlformats.org/presentationml/2006/main">
  <p:tag name="AS_UNIQUEID" val="12495"/>
</p:tagLst>
</file>

<file path=ppt/tags/tag275.xml><?xml version="1.0" encoding="utf-8"?>
<p:tagLst xmlns:a="http://schemas.openxmlformats.org/drawingml/2006/main" xmlns:r="http://schemas.openxmlformats.org/officeDocument/2006/relationships" xmlns:p="http://schemas.openxmlformats.org/presentationml/2006/main">
  <p:tag name="AS_UNIQUEID" val="12496"/>
</p:tagLst>
</file>

<file path=ppt/tags/tag276.xml><?xml version="1.0" encoding="utf-8"?>
<p:tagLst xmlns:a="http://schemas.openxmlformats.org/drawingml/2006/main" xmlns:r="http://schemas.openxmlformats.org/officeDocument/2006/relationships" xmlns:p="http://schemas.openxmlformats.org/presentationml/2006/main">
  <p:tag name="AS_UNIQUEID" val="12504"/>
</p:tagLst>
</file>

<file path=ppt/tags/tag277.xml><?xml version="1.0" encoding="utf-8"?>
<p:tagLst xmlns:a="http://schemas.openxmlformats.org/drawingml/2006/main" xmlns:r="http://schemas.openxmlformats.org/officeDocument/2006/relationships" xmlns:p="http://schemas.openxmlformats.org/presentationml/2006/main">
  <p:tag name="AS_UNIQUEID" val="12505"/>
</p:tagLst>
</file>

<file path=ppt/tags/tag278.xml><?xml version="1.0" encoding="utf-8"?>
<p:tagLst xmlns:a="http://schemas.openxmlformats.org/drawingml/2006/main" xmlns:r="http://schemas.openxmlformats.org/officeDocument/2006/relationships" xmlns:p="http://schemas.openxmlformats.org/presentationml/2006/main">
  <p:tag name="AS_UNIQUEID" val="12506"/>
</p:tagLst>
</file>

<file path=ppt/tags/tag279.xml><?xml version="1.0" encoding="utf-8"?>
<p:tagLst xmlns:a="http://schemas.openxmlformats.org/drawingml/2006/main" xmlns:r="http://schemas.openxmlformats.org/officeDocument/2006/relationships" xmlns:p="http://schemas.openxmlformats.org/presentationml/2006/main">
  <p:tag name="AS_UNIQUEID" val="12507"/>
</p:tagLst>
</file>

<file path=ppt/tags/tag280.xml><?xml version="1.0" encoding="utf-8"?>
<p:tagLst xmlns:a="http://schemas.openxmlformats.org/drawingml/2006/main" xmlns:r="http://schemas.openxmlformats.org/officeDocument/2006/relationships" xmlns:p="http://schemas.openxmlformats.org/presentationml/2006/main">
  <p:tag name="AS_UNIQUEID" val="12508"/>
</p:tagLst>
</file>

<file path=ppt/tags/tag281.xml><?xml version="1.0" encoding="utf-8"?>
<p:tagLst xmlns:a="http://schemas.openxmlformats.org/drawingml/2006/main" xmlns:r="http://schemas.openxmlformats.org/officeDocument/2006/relationships" xmlns:p="http://schemas.openxmlformats.org/presentationml/2006/main">
  <p:tag name="AS_UNIQUEID" val="12509"/>
</p:tagLst>
</file>

<file path=ppt/tags/tag282.xml><?xml version="1.0" encoding="utf-8"?>
<p:tagLst xmlns:a="http://schemas.openxmlformats.org/drawingml/2006/main" xmlns:r="http://schemas.openxmlformats.org/officeDocument/2006/relationships" xmlns:p="http://schemas.openxmlformats.org/presentationml/2006/main">
  <p:tag name="AS_UNIQUEID" val="12510"/>
</p:tagLst>
</file>

<file path=ppt/tags/tag283.xml><?xml version="1.0" encoding="utf-8"?>
<p:tagLst xmlns:a="http://schemas.openxmlformats.org/drawingml/2006/main" xmlns:r="http://schemas.openxmlformats.org/officeDocument/2006/relationships" xmlns:p="http://schemas.openxmlformats.org/presentationml/2006/main">
  <p:tag name="AS_UNIQUEID" val="12511"/>
</p:tagLst>
</file>

<file path=ppt/tags/tag284.xml><?xml version="1.0" encoding="utf-8"?>
<p:tagLst xmlns:a="http://schemas.openxmlformats.org/drawingml/2006/main" xmlns:r="http://schemas.openxmlformats.org/officeDocument/2006/relationships" xmlns:p="http://schemas.openxmlformats.org/presentationml/2006/main">
  <p:tag name="AS_UNIQUEID" val="12512"/>
</p:tagLst>
</file>

<file path=ppt/tags/tag285.xml><?xml version="1.0" encoding="utf-8"?>
<p:tagLst xmlns:a="http://schemas.openxmlformats.org/drawingml/2006/main" xmlns:r="http://schemas.openxmlformats.org/officeDocument/2006/relationships" xmlns:p="http://schemas.openxmlformats.org/presentationml/2006/main">
  <p:tag name="AS_UNIQUEID" val="12513"/>
</p:tagLst>
</file>

<file path=ppt/tags/tag286.xml><?xml version="1.0" encoding="utf-8"?>
<p:tagLst xmlns:a="http://schemas.openxmlformats.org/drawingml/2006/main" xmlns:r="http://schemas.openxmlformats.org/officeDocument/2006/relationships" xmlns:p="http://schemas.openxmlformats.org/presentationml/2006/main">
  <p:tag name="AS_UNIQUEID" val="12514"/>
</p:tagLst>
</file>

<file path=ppt/tags/tag287.xml><?xml version="1.0" encoding="utf-8"?>
<p:tagLst xmlns:a="http://schemas.openxmlformats.org/drawingml/2006/main" xmlns:r="http://schemas.openxmlformats.org/officeDocument/2006/relationships" xmlns:p="http://schemas.openxmlformats.org/presentationml/2006/main">
  <p:tag name="AS_UNIQUEID" val="10760"/>
</p:tagLst>
</file>

<file path=ppt/tags/tag288.xml><?xml version="1.0" encoding="utf-8"?>
<p:tagLst xmlns:a="http://schemas.openxmlformats.org/drawingml/2006/main" xmlns:r="http://schemas.openxmlformats.org/officeDocument/2006/relationships" xmlns:p="http://schemas.openxmlformats.org/presentationml/2006/main">
  <p:tag name="AS_UNIQUEID" val="10236"/>
</p:tagLst>
</file>

<file path=ppt/tags/tag289.xml><?xml version="1.0" encoding="utf-8"?>
<p:tagLst xmlns:a="http://schemas.openxmlformats.org/drawingml/2006/main" xmlns:r="http://schemas.openxmlformats.org/officeDocument/2006/relationships" xmlns:p="http://schemas.openxmlformats.org/presentationml/2006/main">
  <p:tag name="AS_UNIQUEID" val="10237"/>
</p:tagLst>
</file>

<file path=ppt/tags/tag290.xml><?xml version="1.0" encoding="utf-8"?>
<p:tagLst xmlns:a="http://schemas.openxmlformats.org/drawingml/2006/main" xmlns:r="http://schemas.openxmlformats.org/officeDocument/2006/relationships" xmlns:p="http://schemas.openxmlformats.org/presentationml/2006/main">
  <p:tag name="AS_UNIQUEID" val="10238"/>
</p:tagLst>
</file>

<file path=ppt/tags/tag291.xml><?xml version="1.0" encoding="utf-8"?>
<p:tagLst xmlns:a="http://schemas.openxmlformats.org/drawingml/2006/main" xmlns:r="http://schemas.openxmlformats.org/officeDocument/2006/relationships" xmlns:p="http://schemas.openxmlformats.org/presentationml/2006/main">
  <p:tag name="AS_UNIQUEID" val="9696"/>
</p:tagLst>
</file>

<file path=ppt/tags/tag292.xml><?xml version="1.0" encoding="utf-8"?>
<p:tagLst xmlns:a="http://schemas.openxmlformats.org/drawingml/2006/main" xmlns:r="http://schemas.openxmlformats.org/officeDocument/2006/relationships" xmlns:p="http://schemas.openxmlformats.org/presentationml/2006/main">
  <p:tag name="AS_UNIQUEID" val="10239"/>
</p:tagLst>
</file>

<file path=ppt/tags/tag293.xml><?xml version="1.0" encoding="utf-8"?>
<p:tagLst xmlns:a="http://schemas.openxmlformats.org/drawingml/2006/main" xmlns:r="http://schemas.openxmlformats.org/officeDocument/2006/relationships" xmlns:p="http://schemas.openxmlformats.org/presentationml/2006/main">
  <p:tag name="AS_UNIQUEID" val="10240"/>
</p:tagLst>
</file>

<file path=ppt/tags/tag294.xml><?xml version="1.0" encoding="utf-8"?>
<p:tagLst xmlns:a="http://schemas.openxmlformats.org/drawingml/2006/main" xmlns:r="http://schemas.openxmlformats.org/officeDocument/2006/relationships" xmlns:p="http://schemas.openxmlformats.org/presentationml/2006/main">
  <p:tag name="AS_UNIQUEID" val="10229"/>
</p:tagLst>
</file>

<file path=ppt/tags/tag295.xml><?xml version="1.0" encoding="utf-8"?>
<p:tagLst xmlns:a="http://schemas.openxmlformats.org/drawingml/2006/main" xmlns:r="http://schemas.openxmlformats.org/officeDocument/2006/relationships" xmlns:p="http://schemas.openxmlformats.org/presentationml/2006/main">
  <p:tag name="AS_UNIQUEID" val="1176"/>
</p:tagLst>
</file>

<file path=ppt/tags/tag296.xml><?xml version="1.0" encoding="utf-8"?>
<p:tagLst xmlns:a="http://schemas.openxmlformats.org/drawingml/2006/main" xmlns:r="http://schemas.openxmlformats.org/officeDocument/2006/relationships" xmlns:p="http://schemas.openxmlformats.org/presentationml/2006/main">
  <p:tag name="AS_UNIQUEID" val="9697"/>
</p:tagLst>
</file>

<file path=ppt/tags/tag297.xml><?xml version="1.0" encoding="utf-8"?>
<p:tagLst xmlns:a="http://schemas.openxmlformats.org/drawingml/2006/main" xmlns:r="http://schemas.openxmlformats.org/officeDocument/2006/relationships" xmlns:p="http://schemas.openxmlformats.org/presentationml/2006/main">
  <p:tag name="AS_UNIQUEID" val="10233"/>
</p:tagLst>
</file>

<file path=ppt/tags/tag298.xml><?xml version="1.0" encoding="utf-8"?>
<p:tagLst xmlns:a="http://schemas.openxmlformats.org/drawingml/2006/main" xmlns:r="http://schemas.openxmlformats.org/officeDocument/2006/relationships" xmlns:p="http://schemas.openxmlformats.org/presentationml/2006/main">
  <p:tag name="AS_UNIQUEID" val="10234"/>
</p:tagLst>
</file>

<file path=ppt/tags/tag299.xml><?xml version="1.0" encoding="utf-8"?>
<p:tagLst xmlns:a="http://schemas.openxmlformats.org/drawingml/2006/main" xmlns:r="http://schemas.openxmlformats.org/officeDocument/2006/relationships" xmlns:p="http://schemas.openxmlformats.org/presentationml/2006/main">
  <p:tag name="AS_UNIQUEID" val="10236"/>
</p:tagLst>
</file>

<file path=ppt/tags/tag300.xml><?xml version="1.0" encoding="utf-8"?>
<p:tagLst xmlns:a="http://schemas.openxmlformats.org/drawingml/2006/main" xmlns:r="http://schemas.openxmlformats.org/officeDocument/2006/relationships" xmlns:p="http://schemas.openxmlformats.org/presentationml/2006/main">
  <p:tag name="AS_UNIQUEID" val="10237"/>
</p:tagLst>
</file>

<file path=ppt/tags/tag301.xml><?xml version="1.0" encoding="utf-8"?>
<p:tagLst xmlns:a="http://schemas.openxmlformats.org/drawingml/2006/main" xmlns:r="http://schemas.openxmlformats.org/officeDocument/2006/relationships" xmlns:p="http://schemas.openxmlformats.org/presentationml/2006/main">
  <p:tag name="AS_UNIQUEID" val="10238"/>
</p:tagLst>
</file>

<file path=ppt/tags/tag302.xml><?xml version="1.0" encoding="utf-8"?>
<p:tagLst xmlns:a="http://schemas.openxmlformats.org/drawingml/2006/main" xmlns:r="http://schemas.openxmlformats.org/officeDocument/2006/relationships" xmlns:p="http://schemas.openxmlformats.org/presentationml/2006/main">
  <p:tag name="AS_UNIQUEID" val="9696"/>
</p:tagLst>
</file>

<file path=ppt/tags/tag303.xml><?xml version="1.0" encoding="utf-8"?>
<p:tagLst xmlns:a="http://schemas.openxmlformats.org/drawingml/2006/main" xmlns:r="http://schemas.openxmlformats.org/officeDocument/2006/relationships" xmlns:p="http://schemas.openxmlformats.org/presentationml/2006/main">
  <p:tag name="AS_UNIQUEID" val="10239"/>
</p:tagLst>
</file>

<file path=ppt/tags/tag304.xml><?xml version="1.0" encoding="utf-8"?>
<p:tagLst xmlns:a="http://schemas.openxmlformats.org/drawingml/2006/main" xmlns:r="http://schemas.openxmlformats.org/officeDocument/2006/relationships" xmlns:p="http://schemas.openxmlformats.org/presentationml/2006/main">
  <p:tag name="AS_UNIQUEID" val="10240"/>
</p:tagLst>
</file>

<file path=ppt/tags/tag305.xml><?xml version="1.0" encoding="utf-8"?>
<p:tagLst xmlns:a="http://schemas.openxmlformats.org/drawingml/2006/main" xmlns:r="http://schemas.openxmlformats.org/officeDocument/2006/relationships" xmlns:p="http://schemas.openxmlformats.org/presentationml/2006/main">
  <p:tag name="AS_UNIQUEID" val="10229"/>
</p:tagLst>
</file>

<file path=ppt/tags/tag306.xml><?xml version="1.0" encoding="utf-8"?>
<p:tagLst xmlns:a="http://schemas.openxmlformats.org/drawingml/2006/main" xmlns:r="http://schemas.openxmlformats.org/officeDocument/2006/relationships" xmlns:p="http://schemas.openxmlformats.org/presentationml/2006/main">
  <p:tag name="AS_UNIQUEID" val="1176"/>
</p:tagLst>
</file>

<file path=ppt/tags/tag307.xml><?xml version="1.0" encoding="utf-8"?>
<p:tagLst xmlns:a="http://schemas.openxmlformats.org/drawingml/2006/main" xmlns:r="http://schemas.openxmlformats.org/officeDocument/2006/relationships" xmlns:p="http://schemas.openxmlformats.org/presentationml/2006/main">
  <p:tag name="AS_UNIQUEID" val="9697"/>
</p:tagLst>
</file>

<file path=ppt/tags/tag308.xml><?xml version="1.0" encoding="utf-8"?>
<p:tagLst xmlns:a="http://schemas.openxmlformats.org/drawingml/2006/main" xmlns:r="http://schemas.openxmlformats.org/officeDocument/2006/relationships" xmlns:p="http://schemas.openxmlformats.org/presentationml/2006/main">
  <p:tag name="AS_UNIQUEID" val="10233"/>
</p:tagLst>
</file>

<file path=ppt/tags/tag309.xml><?xml version="1.0" encoding="utf-8"?>
<p:tagLst xmlns:a="http://schemas.openxmlformats.org/drawingml/2006/main" xmlns:r="http://schemas.openxmlformats.org/officeDocument/2006/relationships" xmlns:p="http://schemas.openxmlformats.org/presentationml/2006/main">
  <p:tag name="AS_UNIQUEID" val="10234"/>
</p:tagLst>
</file>

<file path=ppt/tags/tag310.xml><?xml version="1.0" encoding="utf-8"?>
<p:tagLst xmlns:a="http://schemas.openxmlformats.org/drawingml/2006/main" xmlns:r="http://schemas.openxmlformats.org/officeDocument/2006/relationships" xmlns:p="http://schemas.openxmlformats.org/presentationml/2006/main">
  <p:tag name="AS_UNIQUEID" val="10236"/>
</p:tagLst>
</file>

<file path=ppt/tags/tag311.xml><?xml version="1.0" encoding="utf-8"?>
<p:tagLst xmlns:a="http://schemas.openxmlformats.org/drawingml/2006/main" xmlns:r="http://schemas.openxmlformats.org/officeDocument/2006/relationships" xmlns:p="http://schemas.openxmlformats.org/presentationml/2006/main">
  <p:tag name="AS_UNIQUEID" val="10237"/>
</p:tagLst>
</file>

<file path=ppt/tags/tag312.xml><?xml version="1.0" encoding="utf-8"?>
<p:tagLst xmlns:a="http://schemas.openxmlformats.org/drawingml/2006/main" xmlns:r="http://schemas.openxmlformats.org/officeDocument/2006/relationships" xmlns:p="http://schemas.openxmlformats.org/presentationml/2006/main">
  <p:tag name="AS_UNIQUEID" val="10238"/>
</p:tagLst>
</file>

<file path=ppt/tags/tag313.xml><?xml version="1.0" encoding="utf-8"?>
<p:tagLst xmlns:a="http://schemas.openxmlformats.org/drawingml/2006/main" xmlns:r="http://schemas.openxmlformats.org/officeDocument/2006/relationships" xmlns:p="http://schemas.openxmlformats.org/presentationml/2006/main">
  <p:tag name="AS_UNIQUEID" val="9696"/>
</p:tagLst>
</file>

<file path=ppt/tags/tag314.xml><?xml version="1.0" encoding="utf-8"?>
<p:tagLst xmlns:a="http://schemas.openxmlformats.org/drawingml/2006/main" xmlns:r="http://schemas.openxmlformats.org/officeDocument/2006/relationships" xmlns:p="http://schemas.openxmlformats.org/presentationml/2006/main">
  <p:tag name="AS_UNIQUEID" val="10239"/>
</p:tagLst>
</file>

<file path=ppt/tags/tag315.xml><?xml version="1.0" encoding="utf-8"?>
<p:tagLst xmlns:a="http://schemas.openxmlformats.org/drawingml/2006/main" xmlns:r="http://schemas.openxmlformats.org/officeDocument/2006/relationships" xmlns:p="http://schemas.openxmlformats.org/presentationml/2006/main">
  <p:tag name="AS_UNIQUEID" val="10240"/>
</p:tagLst>
</file>

<file path=ppt/tags/tag316.xml><?xml version="1.0" encoding="utf-8"?>
<p:tagLst xmlns:a="http://schemas.openxmlformats.org/drawingml/2006/main" xmlns:r="http://schemas.openxmlformats.org/officeDocument/2006/relationships" xmlns:p="http://schemas.openxmlformats.org/presentationml/2006/main">
  <p:tag name="AS_UNIQUEID" val="10229"/>
</p:tagLst>
</file>

<file path=ppt/tags/tag317.xml><?xml version="1.0" encoding="utf-8"?>
<p:tagLst xmlns:a="http://schemas.openxmlformats.org/drawingml/2006/main" xmlns:r="http://schemas.openxmlformats.org/officeDocument/2006/relationships" xmlns:p="http://schemas.openxmlformats.org/presentationml/2006/main">
  <p:tag name="AS_UNIQUEID" val="1176"/>
</p:tagLst>
</file>

<file path=ppt/tags/tag318.xml><?xml version="1.0" encoding="utf-8"?>
<p:tagLst xmlns:a="http://schemas.openxmlformats.org/drawingml/2006/main" xmlns:r="http://schemas.openxmlformats.org/officeDocument/2006/relationships" xmlns:p="http://schemas.openxmlformats.org/presentationml/2006/main">
  <p:tag name="AS_UNIQUEID" val="9697"/>
</p:tagLst>
</file>

<file path=ppt/tags/tag319.xml><?xml version="1.0" encoding="utf-8"?>
<p:tagLst xmlns:a="http://schemas.openxmlformats.org/drawingml/2006/main" xmlns:r="http://schemas.openxmlformats.org/officeDocument/2006/relationships" xmlns:p="http://schemas.openxmlformats.org/presentationml/2006/main">
  <p:tag name="AS_UNIQUEID" val="10233"/>
</p:tagLst>
</file>

<file path=ppt/tags/tag320.xml><?xml version="1.0" encoding="utf-8"?>
<p:tagLst xmlns:a="http://schemas.openxmlformats.org/drawingml/2006/main" xmlns:r="http://schemas.openxmlformats.org/officeDocument/2006/relationships" xmlns:p="http://schemas.openxmlformats.org/presentationml/2006/main">
  <p:tag name="AS_UNIQUEID" val="10234"/>
</p:tagLst>
</file>

<file path=ppt/tags/tag321.xml><?xml version="1.0" encoding="utf-8"?>
<p:tagLst xmlns:a="http://schemas.openxmlformats.org/drawingml/2006/main" xmlns:r="http://schemas.openxmlformats.org/officeDocument/2006/relationships" xmlns:p="http://schemas.openxmlformats.org/presentationml/2006/main">
  <p:tag name="AS_UNIQUEID" val="10236"/>
</p:tagLst>
</file>

<file path=ppt/tags/tag322.xml><?xml version="1.0" encoding="utf-8"?>
<p:tagLst xmlns:a="http://schemas.openxmlformats.org/drawingml/2006/main" xmlns:r="http://schemas.openxmlformats.org/officeDocument/2006/relationships" xmlns:p="http://schemas.openxmlformats.org/presentationml/2006/main">
  <p:tag name="AS_UNIQUEID" val="10237"/>
</p:tagLst>
</file>

<file path=ppt/tags/tag323.xml><?xml version="1.0" encoding="utf-8"?>
<p:tagLst xmlns:a="http://schemas.openxmlformats.org/drawingml/2006/main" xmlns:r="http://schemas.openxmlformats.org/officeDocument/2006/relationships" xmlns:p="http://schemas.openxmlformats.org/presentationml/2006/main">
  <p:tag name="AS_UNIQUEID" val="10238"/>
</p:tagLst>
</file>

<file path=ppt/tags/tag324.xml><?xml version="1.0" encoding="utf-8"?>
<p:tagLst xmlns:a="http://schemas.openxmlformats.org/drawingml/2006/main" xmlns:r="http://schemas.openxmlformats.org/officeDocument/2006/relationships" xmlns:p="http://schemas.openxmlformats.org/presentationml/2006/main">
  <p:tag name="AS_UNIQUEID" val="9696"/>
</p:tagLst>
</file>

<file path=ppt/tags/tag325.xml><?xml version="1.0" encoding="utf-8"?>
<p:tagLst xmlns:a="http://schemas.openxmlformats.org/drawingml/2006/main" xmlns:r="http://schemas.openxmlformats.org/officeDocument/2006/relationships" xmlns:p="http://schemas.openxmlformats.org/presentationml/2006/main">
  <p:tag name="AS_UNIQUEID" val="10239"/>
</p:tagLst>
</file>

<file path=ppt/tags/tag326.xml><?xml version="1.0" encoding="utf-8"?>
<p:tagLst xmlns:a="http://schemas.openxmlformats.org/drawingml/2006/main" xmlns:r="http://schemas.openxmlformats.org/officeDocument/2006/relationships" xmlns:p="http://schemas.openxmlformats.org/presentationml/2006/main">
  <p:tag name="AS_UNIQUEID" val="10240"/>
</p:tagLst>
</file>

<file path=ppt/tags/tag327.xml><?xml version="1.0" encoding="utf-8"?>
<p:tagLst xmlns:a="http://schemas.openxmlformats.org/drawingml/2006/main" xmlns:r="http://schemas.openxmlformats.org/officeDocument/2006/relationships" xmlns:p="http://schemas.openxmlformats.org/presentationml/2006/main">
  <p:tag name="AS_UNIQUEID" val="10229"/>
</p:tagLst>
</file>

<file path=ppt/tags/tag328.xml><?xml version="1.0" encoding="utf-8"?>
<p:tagLst xmlns:a="http://schemas.openxmlformats.org/drawingml/2006/main" xmlns:r="http://schemas.openxmlformats.org/officeDocument/2006/relationships" xmlns:p="http://schemas.openxmlformats.org/presentationml/2006/main">
  <p:tag name="AS_UNIQUEID" val="1176"/>
</p:tagLst>
</file>

<file path=ppt/tags/tag329.xml><?xml version="1.0" encoding="utf-8"?>
<p:tagLst xmlns:a="http://schemas.openxmlformats.org/drawingml/2006/main" xmlns:r="http://schemas.openxmlformats.org/officeDocument/2006/relationships" xmlns:p="http://schemas.openxmlformats.org/presentationml/2006/main">
  <p:tag name="AS_UNIQUEID" val="9697"/>
</p:tagLst>
</file>

<file path=ppt/tags/tag330.xml><?xml version="1.0" encoding="utf-8"?>
<p:tagLst xmlns:a="http://schemas.openxmlformats.org/drawingml/2006/main" xmlns:r="http://schemas.openxmlformats.org/officeDocument/2006/relationships" xmlns:p="http://schemas.openxmlformats.org/presentationml/2006/main">
  <p:tag name="AS_UNIQUEID" val="10233"/>
</p:tagLst>
</file>

<file path=ppt/tags/tag331.xml><?xml version="1.0" encoding="utf-8"?>
<p:tagLst xmlns:a="http://schemas.openxmlformats.org/drawingml/2006/main" xmlns:r="http://schemas.openxmlformats.org/officeDocument/2006/relationships" xmlns:p="http://schemas.openxmlformats.org/presentationml/2006/main">
  <p:tag name="AS_UNIQUEID" val="10234"/>
</p:tagLst>
</file>

<file path=ppt/tags/tag332.xml><?xml version="1.0" encoding="utf-8"?>
<p:tagLst xmlns:a="http://schemas.openxmlformats.org/drawingml/2006/main" xmlns:r="http://schemas.openxmlformats.org/officeDocument/2006/relationships" xmlns:p="http://schemas.openxmlformats.org/presentationml/2006/main">
  <p:tag name="AS_UNIQUEID" val="10236"/>
</p:tagLst>
</file>

<file path=ppt/tags/tag333.xml><?xml version="1.0" encoding="utf-8"?>
<p:tagLst xmlns:a="http://schemas.openxmlformats.org/drawingml/2006/main" xmlns:r="http://schemas.openxmlformats.org/officeDocument/2006/relationships" xmlns:p="http://schemas.openxmlformats.org/presentationml/2006/main">
  <p:tag name="AS_UNIQUEID" val="10237"/>
</p:tagLst>
</file>

<file path=ppt/tags/tag334.xml><?xml version="1.0" encoding="utf-8"?>
<p:tagLst xmlns:a="http://schemas.openxmlformats.org/drawingml/2006/main" xmlns:r="http://schemas.openxmlformats.org/officeDocument/2006/relationships" xmlns:p="http://schemas.openxmlformats.org/presentationml/2006/main">
  <p:tag name="AS_UNIQUEID" val="10238"/>
</p:tagLst>
</file>

<file path=ppt/tags/tag335.xml><?xml version="1.0" encoding="utf-8"?>
<p:tagLst xmlns:a="http://schemas.openxmlformats.org/drawingml/2006/main" xmlns:r="http://schemas.openxmlformats.org/officeDocument/2006/relationships" xmlns:p="http://schemas.openxmlformats.org/presentationml/2006/main">
  <p:tag name="AS_UNIQUEID" val="9696"/>
</p:tagLst>
</file>

<file path=ppt/tags/tag336.xml><?xml version="1.0" encoding="utf-8"?>
<p:tagLst xmlns:a="http://schemas.openxmlformats.org/drawingml/2006/main" xmlns:r="http://schemas.openxmlformats.org/officeDocument/2006/relationships" xmlns:p="http://schemas.openxmlformats.org/presentationml/2006/main">
  <p:tag name="AS_UNIQUEID" val="10239"/>
</p:tagLst>
</file>

<file path=ppt/tags/tag337.xml><?xml version="1.0" encoding="utf-8"?>
<p:tagLst xmlns:a="http://schemas.openxmlformats.org/drawingml/2006/main" xmlns:r="http://schemas.openxmlformats.org/officeDocument/2006/relationships" xmlns:p="http://schemas.openxmlformats.org/presentationml/2006/main">
  <p:tag name="AS_UNIQUEID" val="10240"/>
</p:tagLst>
</file>

<file path=ppt/tags/tag338.xml><?xml version="1.0" encoding="utf-8"?>
<p:tagLst xmlns:a="http://schemas.openxmlformats.org/drawingml/2006/main" xmlns:r="http://schemas.openxmlformats.org/officeDocument/2006/relationships" xmlns:p="http://schemas.openxmlformats.org/presentationml/2006/main">
  <p:tag name="AS_UNIQUEID" val="10229"/>
</p:tagLst>
</file>

<file path=ppt/tags/tag339.xml><?xml version="1.0" encoding="utf-8"?>
<p:tagLst xmlns:a="http://schemas.openxmlformats.org/drawingml/2006/main" xmlns:r="http://schemas.openxmlformats.org/officeDocument/2006/relationships" xmlns:p="http://schemas.openxmlformats.org/presentationml/2006/main">
  <p:tag name="AS_UNIQUEID" val="1176"/>
</p:tagLst>
</file>

<file path=ppt/tags/tag340.xml><?xml version="1.0" encoding="utf-8"?>
<p:tagLst xmlns:a="http://schemas.openxmlformats.org/drawingml/2006/main" xmlns:r="http://schemas.openxmlformats.org/officeDocument/2006/relationships" xmlns:p="http://schemas.openxmlformats.org/presentationml/2006/main">
  <p:tag name="AS_UNIQUEID" val="9697"/>
</p:tagLst>
</file>

<file path=ppt/tags/tag341.xml><?xml version="1.0" encoding="utf-8"?>
<p:tagLst xmlns:a="http://schemas.openxmlformats.org/drawingml/2006/main" xmlns:r="http://schemas.openxmlformats.org/officeDocument/2006/relationships" xmlns:p="http://schemas.openxmlformats.org/presentationml/2006/main">
  <p:tag name="AS_UNIQUEID" val="10233"/>
</p:tagLst>
</file>

<file path=ppt/tags/tag342.xml><?xml version="1.0" encoding="utf-8"?>
<p:tagLst xmlns:a="http://schemas.openxmlformats.org/drawingml/2006/main" xmlns:r="http://schemas.openxmlformats.org/officeDocument/2006/relationships" xmlns:p="http://schemas.openxmlformats.org/presentationml/2006/main">
  <p:tag name="AS_UNIQUEID" val="10234"/>
</p:tagLst>
</file>

<file path=ppt/tags/tag343.xml><?xml version="1.0" encoding="utf-8"?>
<p:tagLst xmlns:a="http://schemas.openxmlformats.org/drawingml/2006/main" xmlns:r="http://schemas.openxmlformats.org/officeDocument/2006/relationships" xmlns:p="http://schemas.openxmlformats.org/presentationml/2006/main">
  <p:tag name="AS_UNIQUEID" val="10236"/>
</p:tagLst>
</file>

<file path=ppt/tags/tag344.xml><?xml version="1.0" encoding="utf-8"?>
<p:tagLst xmlns:a="http://schemas.openxmlformats.org/drawingml/2006/main" xmlns:r="http://schemas.openxmlformats.org/officeDocument/2006/relationships" xmlns:p="http://schemas.openxmlformats.org/presentationml/2006/main">
  <p:tag name="AS_UNIQUEID" val="10237"/>
</p:tagLst>
</file>

<file path=ppt/tags/tag345.xml><?xml version="1.0" encoding="utf-8"?>
<p:tagLst xmlns:a="http://schemas.openxmlformats.org/drawingml/2006/main" xmlns:r="http://schemas.openxmlformats.org/officeDocument/2006/relationships" xmlns:p="http://schemas.openxmlformats.org/presentationml/2006/main">
  <p:tag name="AS_UNIQUEID" val="10238"/>
</p:tagLst>
</file>

<file path=ppt/tags/tag346.xml><?xml version="1.0" encoding="utf-8"?>
<p:tagLst xmlns:a="http://schemas.openxmlformats.org/drawingml/2006/main" xmlns:r="http://schemas.openxmlformats.org/officeDocument/2006/relationships" xmlns:p="http://schemas.openxmlformats.org/presentationml/2006/main">
  <p:tag name="AS_UNIQUEID" val="9696"/>
</p:tagLst>
</file>

<file path=ppt/tags/tag347.xml><?xml version="1.0" encoding="utf-8"?>
<p:tagLst xmlns:a="http://schemas.openxmlformats.org/drawingml/2006/main" xmlns:r="http://schemas.openxmlformats.org/officeDocument/2006/relationships" xmlns:p="http://schemas.openxmlformats.org/presentationml/2006/main">
  <p:tag name="AS_UNIQUEID" val="10239"/>
</p:tagLst>
</file>

<file path=ppt/tags/tag348.xml><?xml version="1.0" encoding="utf-8"?>
<p:tagLst xmlns:a="http://schemas.openxmlformats.org/drawingml/2006/main" xmlns:r="http://schemas.openxmlformats.org/officeDocument/2006/relationships" xmlns:p="http://schemas.openxmlformats.org/presentationml/2006/main">
  <p:tag name="AS_UNIQUEID" val="10240"/>
</p:tagLst>
</file>

<file path=ppt/tags/tag349.xml><?xml version="1.0" encoding="utf-8"?>
<p:tagLst xmlns:a="http://schemas.openxmlformats.org/drawingml/2006/main" xmlns:r="http://schemas.openxmlformats.org/officeDocument/2006/relationships" xmlns:p="http://schemas.openxmlformats.org/presentationml/2006/main">
  <p:tag name="AS_UNIQUEID" val="10229"/>
</p:tagLst>
</file>

<file path=ppt/tags/tag350.xml><?xml version="1.0" encoding="utf-8"?>
<p:tagLst xmlns:a="http://schemas.openxmlformats.org/drawingml/2006/main" xmlns:r="http://schemas.openxmlformats.org/officeDocument/2006/relationships" xmlns:p="http://schemas.openxmlformats.org/presentationml/2006/main">
  <p:tag name="AS_UNIQUEID" val="1176"/>
</p:tagLst>
</file>

<file path=ppt/tags/tag351.xml><?xml version="1.0" encoding="utf-8"?>
<p:tagLst xmlns:a="http://schemas.openxmlformats.org/drawingml/2006/main" xmlns:r="http://schemas.openxmlformats.org/officeDocument/2006/relationships" xmlns:p="http://schemas.openxmlformats.org/presentationml/2006/main">
  <p:tag name="AS_UNIQUEID" val="9697"/>
</p:tagLst>
</file>

<file path=ppt/tags/tag352.xml><?xml version="1.0" encoding="utf-8"?>
<p:tagLst xmlns:a="http://schemas.openxmlformats.org/drawingml/2006/main" xmlns:r="http://schemas.openxmlformats.org/officeDocument/2006/relationships" xmlns:p="http://schemas.openxmlformats.org/presentationml/2006/main">
  <p:tag name="AS_UNIQUEID" val="10233"/>
</p:tagLst>
</file>

<file path=ppt/tags/tag353.xml><?xml version="1.0" encoding="utf-8"?>
<p:tagLst xmlns:a="http://schemas.openxmlformats.org/drawingml/2006/main" xmlns:r="http://schemas.openxmlformats.org/officeDocument/2006/relationships" xmlns:p="http://schemas.openxmlformats.org/presentationml/2006/main">
  <p:tag name="AS_UNIQUEID" val="10234"/>
</p:tagLst>
</file>

<file path=ppt/tags/tag354.xml><?xml version="1.0" encoding="utf-8"?>
<p:tagLst xmlns:a="http://schemas.openxmlformats.org/drawingml/2006/main" xmlns:r="http://schemas.openxmlformats.org/officeDocument/2006/relationships" xmlns:p="http://schemas.openxmlformats.org/presentationml/2006/main">
  <p:tag name="AS_UNIQUEID" val="10236"/>
</p:tagLst>
</file>

<file path=ppt/tags/tag355.xml><?xml version="1.0" encoding="utf-8"?>
<p:tagLst xmlns:a="http://schemas.openxmlformats.org/drawingml/2006/main" xmlns:r="http://schemas.openxmlformats.org/officeDocument/2006/relationships" xmlns:p="http://schemas.openxmlformats.org/presentationml/2006/main">
  <p:tag name="AS_UNIQUEID" val="10237"/>
</p:tagLst>
</file>

<file path=ppt/tags/tag356.xml><?xml version="1.0" encoding="utf-8"?>
<p:tagLst xmlns:a="http://schemas.openxmlformats.org/drawingml/2006/main" xmlns:r="http://schemas.openxmlformats.org/officeDocument/2006/relationships" xmlns:p="http://schemas.openxmlformats.org/presentationml/2006/main">
  <p:tag name="AS_UNIQUEID" val="10238"/>
</p:tagLst>
</file>

<file path=ppt/tags/tag357.xml><?xml version="1.0" encoding="utf-8"?>
<p:tagLst xmlns:a="http://schemas.openxmlformats.org/drawingml/2006/main" xmlns:r="http://schemas.openxmlformats.org/officeDocument/2006/relationships" xmlns:p="http://schemas.openxmlformats.org/presentationml/2006/main">
  <p:tag name="AS_UNIQUEID" val="9696"/>
</p:tagLst>
</file>

<file path=ppt/tags/tag358.xml><?xml version="1.0" encoding="utf-8"?>
<p:tagLst xmlns:a="http://schemas.openxmlformats.org/drawingml/2006/main" xmlns:r="http://schemas.openxmlformats.org/officeDocument/2006/relationships" xmlns:p="http://schemas.openxmlformats.org/presentationml/2006/main">
  <p:tag name="AS_UNIQUEID" val="10239"/>
</p:tagLst>
</file>

<file path=ppt/tags/tag359.xml><?xml version="1.0" encoding="utf-8"?>
<p:tagLst xmlns:a="http://schemas.openxmlformats.org/drawingml/2006/main" xmlns:r="http://schemas.openxmlformats.org/officeDocument/2006/relationships" xmlns:p="http://schemas.openxmlformats.org/presentationml/2006/main">
  <p:tag name="AS_UNIQUEID" val="10240"/>
</p:tagLst>
</file>

<file path=ppt/tags/tag360.xml><?xml version="1.0" encoding="utf-8"?>
<p:tagLst xmlns:a="http://schemas.openxmlformats.org/drawingml/2006/main" xmlns:r="http://schemas.openxmlformats.org/officeDocument/2006/relationships" xmlns:p="http://schemas.openxmlformats.org/presentationml/2006/main">
  <p:tag name="AS_UNIQUEID" val="10229"/>
</p:tagLst>
</file>

<file path=ppt/tags/tag361.xml><?xml version="1.0" encoding="utf-8"?>
<p:tagLst xmlns:a="http://schemas.openxmlformats.org/drawingml/2006/main" xmlns:r="http://schemas.openxmlformats.org/officeDocument/2006/relationships" xmlns:p="http://schemas.openxmlformats.org/presentationml/2006/main">
  <p:tag name="AS_UNIQUEID" val="1176"/>
</p:tagLst>
</file>

<file path=ppt/tags/tag362.xml><?xml version="1.0" encoding="utf-8"?>
<p:tagLst xmlns:a="http://schemas.openxmlformats.org/drawingml/2006/main" xmlns:r="http://schemas.openxmlformats.org/officeDocument/2006/relationships" xmlns:p="http://schemas.openxmlformats.org/presentationml/2006/main">
  <p:tag name="AS_UNIQUEID" val="9697"/>
</p:tagLst>
</file>

<file path=ppt/tags/tag363.xml><?xml version="1.0" encoding="utf-8"?>
<p:tagLst xmlns:a="http://schemas.openxmlformats.org/drawingml/2006/main" xmlns:r="http://schemas.openxmlformats.org/officeDocument/2006/relationships" xmlns:p="http://schemas.openxmlformats.org/presentationml/2006/main">
  <p:tag name="AS_UNIQUEID" val="10233"/>
</p:tagLst>
</file>

<file path=ppt/tags/tag364.xml><?xml version="1.0" encoding="utf-8"?>
<p:tagLst xmlns:a="http://schemas.openxmlformats.org/drawingml/2006/main" xmlns:r="http://schemas.openxmlformats.org/officeDocument/2006/relationships" xmlns:p="http://schemas.openxmlformats.org/presentationml/2006/main">
  <p:tag name="AS_UNIQUEID" val="10234"/>
</p:tagLst>
</file>

<file path=ppt/tags/tag365.xml><?xml version="1.0" encoding="utf-8"?>
<p:tagLst xmlns:a="http://schemas.openxmlformats.org/drawingml/2006/main" xmlns:r="http://schemas.openxmlformats.org/officeDocument/2006/relationships" xmlns:p="http://schemas.openxmlformats.org/presentationml/2006/main">
  <p:tag name="AS_UNIQUEID" val="9396"/>
</p:tagLst>
</file>

<file path=ppt/tags/tag366.xml><?xml version="1.0" encoding="utf-8"?>
<p:tagLst xmlns:a="http://schemas.openxmlformats.org/drawingml/2006/main" xmlns:r="http://schemas.openxmlformats.org/officeDocument/2006/relationships" xmlns:p="http://schemas.openxmlformats.org/presentationml/2006/main">
  <p:tag name="AS_UNIQUEID" val="10243"/>
</p:tagLst>
</file>

<file path=ppt/tags/tag367.xml><?xml version="1.0" encoding="utf-8"?>
<p:tagLst xmlns:a="http://schemas.openxmlformats.org/drawingml/2006/main" xmlns:r="http://schemas.openxmlformats.org/officeDocument/2006/relationships" xmlns:p="http://schemas.openxmlformats.org/presentationml/2006/main">
  <p:tag name="AS_UNIQUEID" val="12530"/>
</p:tagLst>
</file>

<file path=ppt/tags/tag368.xml><?xml version="1.0" encoding="utf-8"?>
<p:tagLst xmlns:a="http://schemas.openxmlformats.org/drawingml/2006/main" xmlns:r="http://schemas.openxmlformats.org/officeDocument/2006/relationships" xmlns:p="http://schemas.openxmlformats.org/presentationml/2006/main">
  <p:tag name="AS_UNIQUEID" val="9396"/>
</p:tagLst>
</file>

<file path=ppt/tags/tag369.xml><?xml version="1.0" encoding="utf-8"?>
<p:tagLst xmlns:a="http://schemas.openxmlformats.org/drawingml/2006/main" xmlns:r="http://schemas.openxmlformats.org/officeDocument/2006/relationships" xmlns:p="http://schemas.openxmlformats.org/presentationml/2006/main">
  <p:tag name="AS_UNIQUEID" val="10243"/>
</p:tagLst>
</file>

<file path=ppt/tags/tag370.xml><?xml version="1.0" encoding="utf-8"?>
<p:tagLst xmlns:a="http://schemas.openxmlformats.org/drawingml/2006/main" xmlns:r="http://schemas.openxmlformats.org/officeDocument/2006/relationships" xmlns:p="http://schemas.openxmlformats.org/presentationml/2006/main">
  <p:tag name="AS_UNIQUEID" val="9396"/>
</p:tagLst>
</file>

<file path=ppt/tags/tag371.xml><?xml version="1.0" encoding="utf-8"?>
<p:tagLst xmlns:a="http://schemas.openxmlformats.org/drawingml/2006/main" xmlns:r="http://schemas.openxmlformats.org/officeDocument/2006/relationships" xmlns:p="http://schemas.openxmlformats.org/presentationml/2006/main">
  <p:tag name="AS_UNIQUEID" val="9396"/>
</p:tagLst>
</file>

<file path=ppt/tags/tag372.xml><?xml version="1.0" encoding="utf-8"?>
<p:tagLst xmlns:a="http://schemas.openxmlformats.org/drawingml/2006/main" xmlns:r="http://schemas.openxmlformats.org/officeDocument/2006/relationships" xmlns:p="http://schemas.openxmlformats.org/presentationml/2006/main">
  <p:tag name="AS_UNIQUEID" val="10243"/>
</p:tagLst>
</file>

<file path=ppt/tags/tag373.xml><?xml version="1.0" encoding="utf-8"?>
<p:tagLst xmlns:a="http://schemas.openxmlformats.org/drawingml/2006/main" xmlns:r="http://schemas.openxmlformats.org/officeDocument/2006/relationships" xmlns:p="http://schemas.openxmlformats.org/presentationml/2006/main">
  <p:tag name="AS_UNIQUEID" val="9396"/>
</p:tagLst>
</file>

<file path=ppt/tags/tag374.xml><?xml version="1.0" encoding="utf-8"?>
<p:tagLst xmlns:a="http://schemas.openxmlformats.org/drawingml/2006/main" xmlns:r="http://schemas.openxmlformats.org/officeDocument/2006/relationships" xmlns:p="http://schemas.openxmlformats.org/presentationml/2006/main">
  <p:tag name="AS_UNIQUEID" val="10243"/>
</p:tagLst>
</file>

<file path=ppt/tags/tag375.xml><?xml version="1.0" encoding="utf-8"?>
<p:tagLst xmlns:a="http://schemas.openxmlformats.org/drawingml/2006/main" xmlns:r="http://schemas.openxmlformats.org/officeDocument/2006/relationships" xmlns:p="http://schemas.openxmlformats.org/presentationml/2006/main">
  <p:tag name="AS_UNIQUEID" val="12210"/>
</p:tagLst>
</file>

<file path=ppt/tags/tag376.xml><?xml version="1.0" encoding="utf-8"?>
<p:tagLst xmlns:a="http://schemas.openxmlformats.org/drawingml/2006/main" xmlns:r="http://schemas.openxmlformats.org/officeDocument/2006/relationships" xmlns:p="http://schemas.openxmlformats.org/presentationml/2006/main">
  <p:tag name="AS_UNIQUEID" val="12211"/>
</p:tagLst>
</file>

<file path=ppt/tags/tag377.xml><?xml version="1.0" encoding="utf-8"?>
<p:tagLst xmlns:a="http://schemas.openxmlformats.org/drawingml/2006/main" xmlns:r="http://schemas.openxmlformats.org/officeDocument/2006/relationships" xmlns:p="http://schemas.openxmlformats.org/presentationml/2006/main">
  <p:tag name="AS_UNIQUEID" val="12212"/>
</p:tagLst>
</file>

<file path=ppt/tags/tag378.xml><?xml version="1.0" encoding="utf-8"?>
<p:tagLst xmlns:a="http://schemas.openxmlformats.org/drawingml/2006/main" xmlns:r="http://schemas.openxmlformats.org/officeDocument/2006/relationships" xmlns:p="http://schemas.openxmlformats.org/presentationml/2006/main">
  <p:tag name="AS_UNIQUEID" val="12213"/>
</p:tagLst>
</file>

<file path=ppt/tags/tag379.xml><?xml version="1.0" encoding="utf-8"?>
<p:tagLst xmlns:a="http://schemas.openxmlformats.org/drawingml/2006/main" xmlns:r="http://schemas.openxmlformats.org/officeDocument/2006/relationships" xmlns:p="http://schemas.openxmlformats.org/presentationml/2006/main">
  <p:tag name="AS_UNIQUEID" val="12214"/>
</p:tagLst>
</file>

<file path=ppt/tags/tag380.xml><?xml version="1.0" encoding="utf-8"?>
<p:tagLst xmlns:a="http://schemas.openxmlformats.org/drawingml/2006/main" xmlns:r="http://schemas.openxmlformats.org/officeDocument/2006/relationships" xmlns:p="http://schemas.openxmlformats.org/presentationml/2006/main">
  <p:tag name="AS_UNIQUEID" val="10679"/>
</p:tagLst>
</file>

<file path=ppt/tags/tag381.xml><?xml version="1.0" encoding="utf-8"?>
<p:tagLst xmlns:a="http://schemas.openxmlformats.org/drawingml/2006/main" xmlns:r="http://schemas.openxmlformats.org/officeDocument/2006/relationships" xmlns:p="http://schemas.openxmlformats.org/presentationml/2006/main">
  <p:tag name="AS_UNIQUEID" val="12531"/>
</p:tagLst>
</file>

<file path=ppt/tags/tag382.xml><?xml version="1.0" encoding="utf-8"?>
<p:tagLst xmlns:a="http://schemas.openxmlformats.org/drawingml/2006/main" xmlns:r="http://schemas.openxmlformats.org/officeDocument/2006/relationships" xmlns:p="http://schemas.openxmlformats.org/presentationml/2006/main">
  <p:tag name="AS_UNIQUEID" val="12532"/>
</p:tagLst>
</file>

<file path=ppt/tags/tag383.xml><?xml version="1.0" encoding="utf-8"?>
<p:tagLst xmlns:a="http://schemas.openxmlformats.org/drawingml/2006/main" xmlns:r="http://schemas.openxmlformats.org/officeDocument/2006/relationships" xmlns:p="http://schemas.openxmlformats.org/presentationml/2006/main">
  <p:tag name="AS_UNIQUEID" val="12533"/>
</p:tagLst>
</file>

<file path=ppt/tags/tag384.xml><?xml version="1.0" encoding="utf-8"?>
<p:tagLst xmlns:a="http://schemas.openxmlformats.org/drawingml/2006/main" xmlns:r="http://schemas.openxmlformats.org/officeDocument/2006/relationships" xmlns:p="http://schemas.openxmlformats.org/presentationml/2006/main">
  <p:tag name="AS_UNIQUEID" val="12534"/>
</p:tagLst>
</file>

<file path=ppt/tags/tag385.xml><?xml version="1.0" encoding="utf-8"?>
<p:tagLst xmlns:a="http://schemas.openxmlformats.org/drawingml/2006/main" xmlns:r="http://schemas.openxmlformats.org/officeDocument/2006/relationships" xmlns:p="http://schemas.openxmlformats.org/presentationml/2006/main">
  <p:tag name="AS_UNIQUEID" val="12535"/>
</p:tagLst>
</file>

<file path=ppt/tags/tag386.xml><?xml version="1.0" encoding="utf-8"?>
<p:tagLst xmlns:a="http://schemas.openxmlformats.org/drawingml/2006/main" xmlns:r="http://schemas.openxmlformats.org/officeDocument/2006/relationships" xmlns:p="http://schemas.openxmlformats.org/presentationml/2006/main">
  <p:tag name="AS_UNIQUEID" val="12536"/>
</p:tagLst>
</file>

<file path=ppt/tags/tag387.xml><?xml version="1.0" encoding="utf-8"?>
<p:tagLst xmlns:a="http://schemas.openxmlformats.org/drawingml/2006/main" xmlns:r="http://schemas.openxmlformats.org/officeDocument/2006/relationships" xmlns:p="http://schemas.openxmlformats.org/presentationml/2006/main">
  <p:tag name="AS_UNIQUEID" val="10243"/>
</p:tagLst>
</file>

<file path=ppt/tags/tag388.xml><?xml version="1.0" encoding="utf-8"?>
<p:tagLst xmlns:a="http://schemas.openxmlformats.org/drawingml/2006/main" xmlns:r="http://schemas.openxmlformats.org/officeDocument/2006/relationships" xmlns:p="http://schemas.openxmlformats.org/presentationml/2006/main">
  <p:tag name="AS_UNIQUEID" val="12537"/>
</p:tagLst>
</file>

<file path=ppt/tags/tag389.xml><?xml version="1.0" encoding="utf-8"?>
<p:tagLst xmlns:a="http://schemas.openxmlformats.org/drawingml/2006/main" xmlns:r="http://schemas.openxmlformats.org/officeDocument/2006/relationships" xmlns:p="http://schemas.openxmlformats.org/presentationml/2006/main">
  <p:tag name="AS_UNIQUEID" val="12538"/>
</p:tagLst>
</file>

<file path=ppt/tags/tag390.xml><?xml version="1.0" encoding="utf-8"?>
<p:tagLst xmlns:a="http://schemas.openxmlformats.org/drawingml/2006/main" xmlns:r="http://schemas.openxmlformats.org/officeDocument/2006/relationships" xmlns:p="http://schemas.openxmlformats.org/presentationml/2006/main">
  <p:tag name="AS_UNIQUEID" val="12539"/>
</p:tagLst>
</file>

<file path=ppt/tags/tag391.xml><?xml version="1.0" encoding="utf-8"?>
<p:tagLst xmlns:a="http://schemas.openxmlformats.org/drawingml/2006/main" xmlns:r="http://schemas.openxmlformats.org/officeDocument/2006/relationships" xmlns:p="http://schemas.openxmlformats.org/presentationml/2006/main">
  <p:tag name="AS_UNIQUEID" val="12540"/>
</p:tagLst>
</file>

<file path=ppt/tags/tag392.xml><?xml version="1.0" encoding="utf-8"?>
<p:tagLst xmlns:a="http://schemas.openxmlformats.org/drawingml/2006/main" xmlns:r="http://schemas.openxmlformats.org/officeDocument/2006/relationships" xmlns:p="http://schemas.openxmlformats.org/presentationml/2006/main">
  <p:tag name="AS_UNIQUEID" val="10680"/>
</p:tagLst>
</file>

<file path=ppt/tags/tag393.xml><?xml version="1.0" encoding="utf-8"?>
<p:tagLst xmlns:a="http://schemas.openxmlformats.org/drawingml/2006/main" xmlns:r="http://schemas.openxmlformats.org/officeDocument/2006/relationships" xmlns:p="http://schemas.openxmlformats.org/presentationml/2006/main">
  <p:tag name="AS_UNIQUEID" val="10681"/>
</p:tagLst>
</file>

<file path=ppt/tags/tag394.xml><?xml version="1.0" encoding="utf-8"?>
<p:tagLst xmlns:a="http://schemas.openxmlformats.org/drawingml/2006/main" xmlns:r="http://schemas.openxmlformats.org/officeDocument/2006/relationships" xmlns:p="http://schemas.openxmlformats.org/presentationml/2006/main">
  <p:tag name="AS_UNIQUEID" val="10682"/>
</p:tagLst>
</file>

<file path=ppt/tags/tag395.xml><?xml version="1.0" encoding="utf-8"?>
<p:tagLst xmlns:a="http://schemas.openxmlformats.org/drawingml/2006/main" xmlns:r="http://schemas.openxmlformats.org/officeDocument/2006/relationships" xmlns:p="http://schemas.openxmlformats.org/presentationml/2006/main">
  <p:tag name="AS_UNIQUEID" val="10683"/>
</p:tagLst>
</file>

<file path=ppt/tags/tag396.xml><?xml version="1.0" encoding="utf-8"?>
<p:tagLst xmlns:a="http://schemas.openxmlformats.org/drawingml/2006/main" xmlns:r="http://schemas.openxmlformats.org/officeDocument/2006/relationships" xmlns:p="http://schemas.openxmlformats.org/presentationml/2006/main">
  <p:tag name="AS_UNIQUEID" val="10684"/>
</p:tagLst>
</file>

<file path=ppt/tags/tag397.xml><?xml version="1.0" encoding="utf-8"?>
<p:tagLst xmlns:a="http://schemas.openxmlformats.org/drawingml/2006/main" xmlns:r="http://schemas.openxmlformats.org/officeDocument/2006/relationships" xmlns:p="http://schemas.openxmlformats.org/presentationml/2006/main">
  <p:tag name="AS_UNIQUEID" val="12542"/>
</p:tagLst>
</file>

<file path=ppt/tags/tag398.xml><?xml version="1.0" encoding="utf-8"?>
<p:tagLst xmlns:a="http://schemas.openxmlformats.org/drawingml/2006/main" xmlns:r="http://schemas.openxmlformats.org/officeDocument/2006/relationships" xmlns:p="http://schemas.openxmlformats.org/presentationml/2006/main">
  <p:tag name="AS_UNIQUEID" val="12216"/>
</p:tagLst>
</file>

<file path=ppt/tags/tag399.xml><?xml version="1.0" encoding="utf-8"?>
<p:tagLst xmlns:a="http://schemas.openxmlformats.org/drawingml/2006/main" xmlns:r="http://schemas.openxmlformats.org/officeDocument/2006/relationships" xmlns:p="http://schemas.openxmlformats.org/presentationml/2006/main">
  <p:tag name="AS_UNIQUEID" val="12217"/>
</p:tagLst>
</file>

<file path=ppt/tags/tag400.xml><?xml version="1.0" encoding="utf-8"?>
<p:tagLst xmlns:a="http://schemas.openxmlformats.org/drawingml/2006/main" xmlns:r="http://schemas.openxmlformats.org/officeDocument/2006/relationships" xmlns:p="http://schemas.openxmlformats.org/presentationml/2006/main">
  <p:tag name="AS_UNIQUEID" val="12218"/>
</p:tagLst>
</file>

<file path=ppt/tags/tag401.xml><?xml version="1.0" encoding="utf-8"?>
<p:tagLst xmlns:a="http://schemas.openxmlformats.org/drawingml/2006/main" xmlns:r="http://schemas.openxmlformats.org/officeDocument/2006/relationships" xmlns:p="http://schemas.openxmlformats.org/presentationml/2006/main">
  <p:tag name="AS_UNIQUEID" val="9396"/>
</p:tagLst>
</file>

<file path=ppt/tags/tag402.xml><?xml version="1.0" encoding="utf-8"?>
<p:tagLst xmlns:a="http://schemas.openxmlformats.org/drawingml/2006/main" xmlns:r="http://schemas.openxmlformats.org/officeDocument/2006/relationships" xmlns:p="http://schemas.openxmlformats.org/presentationml/2006/main">
  <p:tag name="AS_UNIQUEID" val="10243"/>
</p:tagLst>
</file>

<file path=ppt/tags/tag403.xml><?xml version="1.0" encoding="utf-8"?>
<p:tagLst xmlns:a="http://schemas.openxmlformats.org/drawingml/2006/main" xmlns:r="http://schemas.openxmlformats.org/officeDocument/2006/relationships" xmlns:p="http://schemas.openxmlformats.org/presentationml/2006/main">
  <p:tag name="AS_UNIQUEID" val="9396"/>
</p:tagLst>
</file>

<file path=ppt/tags/tag404.xml><?xml version="1.0" encoding="utf-8"?>
<p:tagLst xmlns:a="http://schemas.openxmlformats.org/drawingml/2006/main" xmlns:r="http://schemas.openxmlformats.org/officeDocument/2006/relationships" xmlns:p="http://schemas.openxmlformats.org/presentationml/2006/main">
  <p:tag name="AS_UNIQUEID" val="10243"/>
</p:tagLst>
</file>

<file path=ppt/tags/tag405.xml><?xml version="1.0" encoding="utf-8"?>
<p:tagLst xmlns:a="http://schemas.openxmlformats.org/drawingml/2006/main" xmlns:r="http://schemas.openxmlformats.org/officeDocument/2006/relationships" xmlns:p="http://schemas.openxmlformats.org/presentationml/2006/main">
  <p:tag name="AS_UNIQUEID" val="9396"/>
</p:tagLst>
</file>

<file path=ppt/tags/tag406.xml><?xml version="1.0" encoding="utf-8"?>
<p:tagLst xmlns:a="http://schemas.openxmlformats.org/drawingml/2006/main" xmlns:r="http://schemas.openxmlformats.org/officeDocument/2006/relationships" xmlns:p="http://schemas.openxmlformats.org/presentationml/2006/main">
  <p:tag name="AS_UNIQUEID" val="10243"/>
</p:tagLst>
</file>

<file path=ppt/tags/tag407.xml><?xml version="1.0" encoding="utf-8"?>
<p:tagLst xmlns:a="http://schemas.openxmlformats.org/drawingml/2006/main" xmlns:r="http://schemas.openxmlformats.org/officeDocument/2006/relationships" xmlns:p="http://schemas.openxmlformats.org/presentationml/2006/main">
  <p:tag name="AS_UNIQUEID" val="10679"/>
</p:tagLst>
</file>

<file path=ppt/tags/tag408.xml><?xml version="1.0" encoding="utf-8"?>
<p:tagLst xmlns:a="http://schemas.openxmlformats.org/drawingml/2006/main" xmlns:r="http://schemas.openxmlformats.org/officeDocument/2006/relationships" xmlns:p="http://schemas.openxmlformats.org/presentationml/2006/main">
  <p:tag name="AS_UNIQUEID" val="12543"/>
</p:tagLst>
</file>

<file path=ppt/tags/tag409.xml><?xml version="1.0" encoding="utf-8"?>
<p:tagLst xmlns:a="http://schemas.openxmlformats.org/drawingml/2006/main" xmlns:r="http://schemas.openxmlformats.org/officeDocument/2006/relationships" xmlns:p="http://schemas.openxmlformats.org/presentationml/2006/main">
  <p:tag name="AS_UNIQUEID" val="12544"/>
</p:tagLst>
</file>

<file path=ppt/tags/tag410.xml><?xml version="1.0" encoding="utf-8"?>
<p:tagLst xmlns:a="http://schemas.openxmlformats.org/drawingml/2006/main" xmlns:r="http://schemas.openxmlformats.org/officeDocument/2006/relationships" xmlns:p="http://schemas.openxmlformats.org/presentationml/2006/main">
  <p:tag name="AS_UNIQUEID" val="12545"/>
</p:tagLst>
</file>

<file path=ppt/tags/tag411.xml><?xml version="1.0" encoding="utf-8"?>
<p:tagLst xmlns:a="http://schemas.openxmlformats.org/drawingml/2006/main" xmlns:r="http://schemas.openxmlformats.org/officeDocument/2006/relationships" xmlns:p="http://schemas.openxmlformats.org/presentationml/2006/main">
  <p:tag name="AS_UNIQUEID" val="12546"/>
</p:tagLst>
</file>

<file path=ppt/tags/tag412.xml><?xml version="1.0" encoding="utf-8"?>
<p:tagLst xmlns:a="http://schemas.openxmlformats.org/drawingml/2006/main" xmlns:r="http://schemas.openxmlformats.org/officeDocument/2006/relationships" xmlns:p="http://schemas.openxmlformats.org/presentationml/2006/main">
  <p:tag name="AS_UNIQUEID" val="12547"/>
</p:tagLst>
</file>

<file path=ppt/tags/tag413.xml><?xml version="1.0" encoding="utf-8"?>
<p:tagLst xmlns:a="http://schemas.openxmlformats.org/drawingml/2006/main" xmlns:r="http://schemas.openxmlformats.org/officeDocument/2006/relationships" xmlns:p="http://schemas.openxmlformats.org/presentationml/2006/main">
  <p:tag name="AS_UNIQUEID" val="12548"/>
</p:tagLst>
</file>

<file path=ppt/tags/tag414.xml><?xml version="1.0" encoding="utf-8"?>
<p:tagLst xmlns:a="http://schemas.openxmlformats.org/drawingml/2006/main" xmlns:r="http://schemas.openxmlformats.org/officeDocument/2006/relationships" xmlns:p="http://schemas.openxmlformats.org/presentationml/2006/main">
  <p:tag name="AS_UNIQUEID" val="12549"/>
</p:tagLst>
</file>

<file path=ppt/tags/tag415.xml><?xml version="1.0" encoding="utf-8"?>
<p:tagLst xmlns:a="http://schemas.openxmlformats.org/drawingml/2006/main" xmlns:r="http://schemas.openxmlformats.org/officeDocument/2006/relationships" xmlns:p="http://schemas.openxmlformats.org/presentationml/2006/main">
  <p:tag name="AS_UNIQUEID" val="12550"/>
</p:tagLst>
</file>

<file path=ppt/tags/tag416.xml><?xml version="1.0" encoding="utf-8"?>
<p:tagLst xmlns:a="http://schemas.openxmlformats.org/drawingml/2006/main" xmlns:r="http://schemas.openxmlformats.org/officeDocument/2006/relationships" xmlns:p="http://schemas.openxmlformats.org/presentationml/2006/main">
  <p:tag name="AS_UNIQUEID" val="12551"/>
</p:tagLst>
</file>

<file path=ppt/tags/tag417.xml><?xml version="1.0" encoding="utf-8"?>
<p:tagLst xmlns:a="http://schemas.openxmlformats.org/drawingml/2006/main" xmlns:r="http://schemas.openxmlformats.org/officeDocument/2006/relationships" xmlns:p="http://schemas.openxmlformats.org/presentationml/2006/main">
  <p:tag name="AS_UNIQUEID" val="12552"/>
</p:tagLst>
</file>

<file path=ppt/tags/tag418.xml><?xml version="1.0" encoding="utf-8"?>
<p:tagLst xmlns:a="http://schemas.openxmlformats.org/drawingml/2006/main" xmlns:r="http://schemas.openxmlformats.org/officeDocument/2006/relationships" xmlns:p="http://schemas.openxmlformats.org/presentationml/2006/main">
  <p:tag name="AS_UNIQUEID" val="10680"/>
</p:tagLst>
</file>

<file path=ppt/tags/tag419.xml><?xml version="1.0" encoding="utf-8"?>
<p:tagLst xmlns:a="http://schemas.openxmlformats.org/drawingml/2006/main" xmlns:r="http://schemas.openxmlformats.org/officeDocument/2006/relationships" xmlns:p="http://schemas.openxmlformats.org/presentationml/2006/main">
  <p:tag name="AS_UNIQUEID" val="10681"/>
</p:tagLst>
</file>

<file path=ppt/tags/tag420.xml><?xml version="1.0" encoding="utf-8"?>
<p:tagLst xmlns:a="http://schemas.openxmlformats.org/drawingml/2006/main" xmlns:r="http://schemas.openxmlformats.org/officeDocument/2006/relationships" xmlns:p="http://schemas.openxmlformats.org/presentationml/2006/main">
  <p:tag name="AS_UNIQUEID" val="10682"/>
</p:tagLst>
</file>

<file path=ppt/tags/tag421.xml><?xml version="1.0" encoding="utf-8"?>
<p:tagLst xmlns:a="http://schemas.openxmlformats.org/drawingml/2006/main" xmlns:r="http://schemas.openxmlformats.org/officeDocument/2006/relationships" xmlns:p="http://schemas.openxmlformats.org/presentationml/2006/main">
  <p:tag name="AS_UNIQUEID" val="10683"/>
</p:tagLst>
</file>

<file path=ppt/tags/tag422.xml><?xml version="1.0" encoding="utf-8"?>
<p:tagLst xmlns:a="http://schemas.openxmlformats.org/drawingml/2006/main" xmlns:r="http://schemas.openxmlformats.org/officeDocument/2006/relationships" xmlns:p="http://schemas.openxmlformats.org/presentationml/2006/main">
  <p:tag name="AS_UNIQUEID" val="10684"/>
</p:tagLst>
</file>

<file path=ppt/tags/tag423.xml><?xml version="1.0" encoding="utf-8"?>
<p:tagLst xmlns:a="http://schemas.openxmlformats.org/drawingml/2006/main" xmlns:r="http://schemas.openxmlformats.org/officeDocument/2006/relationships" xmlns:p="http://schemas.openxmlformats.org/presentationml/2006/main">
  <p:tag name="AS_UNIQUEID" val="12554"/>
</p:tagLst>
</file>

<file path=ppt/tags/tag424.xml><?xml version="1.0" encoding="utf-8"?>
<p:tagLst xmlns:a="http://schemas.openxmlformats.org/drawingml/2006/main" xmlns:r="http://schemas.openxmlformats.org/officeDocument/2006/relationships" xmlns:p="http://schemas.openxmlformats.org/presentationml/2006/main">
  <p:tag name="AS_UNIQUEID" val="12220"/>
</p:tagLst>
</file>

<file path=ppt/tags/tag425.xml><?xml version="1.0" encoding="utf-8"?>
<p:tagLst xmlns:a="http://schemas.openxmlformats.org/drawingml/2006/main" xmlns:r="http://schemas.openxmlformats.org/officeDocument/2006/relationships" xmlns:p="http://schemas.openxmlformats.org/presentationml/2006/main">
  <p:tag name="AS_UNIQUEID" val="12221"/>
</p:tagLst>
</file>

<file path=ppt/tags/tag426.xml><?xml version="1.0" encoding="utf-8"?>
<p:tagLst xmlns:a="http://schemas.openxmlformats.org/drawingml/2006/main" xmlns:r="http://schemas.openxmlformats.org/officeDocument/2006/relationships" xmlns:p="http://schemas.openxmlformats.org/presentationml/2006/main">
  <p:tag name="AS_UNIQUEID" val="12222"/>
</p:tagLst>
</file>

<file path=ppt/tags/tag427.xml><?xml version="1.0" encoding="utf-8"?>
<p:tagLst xmlns:a="http://schemas.openxmlformats.org/drawingml/2006/main" xmlns:r="http://schemas.openxmlformats.org/officeDocument/2006/relationships" xmlns:p="http://schemas.openxmlformats.org/presentationml/2006/main">
  <p:tag name="AS_UNIQUEID" val="9396"/>
</p:tagLst>
</file>

<file path=ppt/tags/tag428.xml><?xml version="1.0" encoding="utf-8"?>
<p:tagLst xmlns:a="http://schemas.openxmlformats.org/drawingml/2006/main" xmlns:r="http://schemas.openxmlformats.org/officeDocument/2006/relationships" xmlns:p="http://schemas.openxmlformats.org/presentationml/2006/main">
  <p:tag name="AS_UNIQUEID" val="10243"/>
</p:tagLst>
</file>

<file path=ppt/tags/tag429.xml><?xml version="1.0" encoding="utf-8"?>
<p:tagLst xmlns:a="http://schemas.openxmlformats.org/drawingml/2006/main" xmlns:r="http://schemas.openxmlformats.org/officeDocument/2006/relationships" xmlns:p="http://schemas.openxmlformats.org/presentationml/2006/main">
  <p:tag name="AS_UNIQUEID" val="9396"/>
</p:tagLst>
</file>

<file path=ppt/tags/tag430.xml><?xml version="1.0" encoding="utf-8"?>
<p:tagLst xmlns:a="http://schemas.openxmlformats.org/drawingml/2006/main" xmlns:r="http://schemas.openxmlformats.org/officeDocument/2006/relationships" xmlns:p="http://schemas.openxmlformats.org/presentationml/2006/main">
  <p:tag name="AS_UNIQUEID" val="10243"/>
</p:tagLst>
</file>

<file path=ppt/tags/tag431.xml><?xml version="1.0" encoding="utf-8"?>
<p:tagLst xmlns:a="http://schemas.openxmlformats.org/drawingml/2006/main" xmlns:r="http://schemas.openxmlformats.org/officeDocument/2006/relationships" xmlns:p="http://schemas.openxmlformats.org/presentationml/2006/main">
  <p:tag name="AS_UNIQUEID" val="9396"/>
</p:tagLst>
</file>

<file path=ppt/tags/tag432.xml><?xml version="1.0" encoding="utf-8"?>
<p:tagLst xmlns:a="http://schemas.openxmlformats.org/drawingml/2006/main" xmlns:r="http://schemas.openxmlformats.org/officeDocument/2006/relationships" xmlns:p="http://schemas.openxmlformats.org/presentationml/2006/main">
  <p:tag name="AS_UNIQUEID" val="10243"/>
</p:tagLst>
</file>

<file path=ppt/tags/tag433.xml><?xml version="1.0" encoding="utf-8"?>
<p:tagLst xmlns:a="http://schemas.openxmlformats.org/drawingml/2006/main" xmlns:r="http://schemas.openxmlformats.org/officeDocument/2006/relationships" xmlns:p="http://schemas.openxmlformats.org/presentationml/2006/main">
  <p:tag name="AS_UNIQUEID" val="10679"/>
</p:tagLst>
</file>

<file path=ppt/tags/tag434.xml><?xml version="1.0" encoding="utf-8"?>
<p:tagLst xmlns:a="http://schemas.openxmlformats.org/drawingml/2006/main" xmlns:r="http://schemas.openxmlformats.org/officeDocument/2006/relationships" xmlns:p="http://schemas.openxmlformats.org/presentationml/2006/main">
  <p:tag name="AS_UNIQUEID" val="12555"/>
</p:tagLst>
</file>

<file path=ppt/tags/tag435.xml><?xml version="1.0" encoding="utf-8"?>
<p:tagLst xmlns:a="http://schemas.openxmlformats.org/drawingml/2006/main" xmlns:r="http://schemas.openxmlformats.org/officeDocument/2006/relationships" xmlns:p="http://schemas.openxmlformats.org/presentationml/2006/main">
  <p:tag name="AS_UNIQUEID" val="12556"/>
</p:tagLst>
</file>

<file path=ppt/tags/tag436.xml><?xml version="1.0" encoding="utf-8"?>
<p:tagLst xmlns:a="http://schemas.openxmlformats.org/drawingml/2006/main" xmlns:r="http://schemas.openxmlformats.org/officeDocument/2006/relationships" xmlns:p="http://schemas.openxmlformats.org/presentationml/2006/main">
  <p:tag name="AS_UNIQUEID" val="12557"/>
</p:tagLst>
</file>

<file path=ppt/tags/tag437.xml><?xml version="1.0" encoding="utf-8"?>
<p:tagLst xmlns:a="http://schemas.openxmlformats.org/drawingml/2006/main" xmlns:r="http://schemas.openxmlformats.org/officeDocument/2006/relationships" xmlns:p="http://schemas.openxmlformats.org/presentationml/2006/main">
  <p:tag name="AS_UNIQUEID" val="12558"/>
</p:tagLst>
</file>

<file path=ppt/tags/tag438.xml><?xml version="1.0" encoding="utf-8"?>
<p:tagLst xmlns:a="http://schemas.openxmlformats.org/drawingml/2006/main" xmlns:r="http://schemas.openxmlformats.org/officeDocument/2006/relationships" xmlns:p="http://schemas.openxmlformats.org/presentationml/2006/main">
  <p:tag name="AS_UNIQUEID" val="12559"/>
</p:tagLst>
</file>

<file path=ppt/tags/tag439.xml><?xml version="1.0" encoding="utf-8"?>
<p:tagLst xmlns:a="http://schemas.openxmlformats.org/drawingml/2006/main" xmlns:r="http://schemas.openxmlformats.org/officeDocument/2006/relationships" xmlns:p="http://schemas.openxmlformats.org/presentationml/2006/main">
  <p:tag name="AS_UNIQUEID" val="12560"/>
</p:tagLst>
</file>

<file path=ppt/tags/tag440.xml><?xml version="1.0" encoding="utf-8"?>
<p:tagLst xmlns:a="http://schemas.openxmlformats.org/drawingml/2006/main" xmlns:r="http://schemas.openxmlformats.org/officeDocument/2006/relationships" xmlns:p="http://schemas.openxmlformats.org/presentationml/2006/main">
  <p:tag name="AS_UNIQUEID" val="12561"/>
</p:tagLst>
</file>

<file path=ppt/tags/tag441.xml><?xml version="1.0" encoding="utf-8"?>
<p:tagLst xmlns:a="http://schemas.openxmlformats.org/drawingml/2006/main" xmlns:r="http://schemas.openxmlformats.org/officeDocument/2006/relationships" xmlns:p="http://schemas.openxmlformats.org/presentationml/2006/main">
  <p:tag name="AS_UNIQUEID" val="12562"/>
</p:tagLst>
</file>

<file path=ppt/tags/tag442.xml><?xml version="1.0" encoding="utf-8"?>
<p:tagLst xmlns:a="http://schemas.openxmlformats.org/drawingml/2006/main" xmlns:r="http://schemas.openxmlformats.org/officeDocument/2006/relationships" xmlns:p="http://schemas.openxmlformats.org/presentationml/2006/main">
  <p:tag name="AS_UNIQUEID" val="12563"/>
</p:tagLst>
</file>

<file path=ppt/tags/tag443.xml><?xml version="1.0" encoding="utf-8"?>
<p:tagLst xmlns:a="http://schemas.openxmlformats.org/drawingml/2006/main" xmlns:r="http://schemas.openxmlformats.org/officeDocument/2006/relationships" xmlns:p="http://schemas.openxmlformats.org/presentationml/2006/main">
  <p:tag name="AS_UNIQUEID" val="12564"/>
</p:tagLst>
</file>

<file path=ppt/tags/tag444.xml><?xml version="1.0" encoding="utf-8"?>
<p:tagLst xmlns:a="http://schemas.openxmlformats.org/drawingml/2006/main" xmlns:r="http://schemas.openxmlformats.org/officeDocument/2006/relationships" xmlns:p="http://schemas.openxmlformats.org/presentationml/2006/main">
  <p:tag name="AS_UNIQUEID" val="10680"/>
</p:tagLst>
</file>

<file path=ppt/tags/tag445.xml><?xml version="1.0" encoding="utf-8"?>
<p:tagLst xmlns:a="http://schemas.openxmlformats.org/drawingml/2006/main" xmlns:r="http://schemas.openxmlformats.org/officeDocument/2006/relationships" xmlns:p="http://schemas.openxmlformats.org/presentationml/2006/main">
  <p:tag name="AS_UNIQUEID" val="10681"/>
</p:tagLst>
</file>

<file path=ppt/tags/tag446.xml><?xml version="1.0" encoding="utf-8"?>
<p:tagLst xmlns:a="http://schemas.openxmlformats.org/drawingml/2006/main" xmlns:r="http://schemas.openxmlformats.org/officeDocument/2006/relationships" xmlns:p="http://schemas.openxmlformats.org/presentationml/2006/main">
  <p:tag name="AS_UNIQUEID" val="10682"/>
</p:tagLst>
</file>

<file path=ppt/tags/tag447.xml><?xml version="1.0" encoding="utf-8"?>
<p:tagLst xmlns:a="http://schemas.openxmlformats.org/drawingml/2006/main" xmlns:r="http://schemas.openxmlformats.org/officeDocument/2006/relationships" xmlns:p="http://schemas.openxmlformats.org/presentationml/2006/main">
  <p:tag name="AS_UNIQUEID" val="10683"/>
</p:tagLst>
</file>

<file path=ppt/tags/tag448.xml><?xml version="1.0" encoding="utf-8"?>
<p:tagLst xmlns:a="http://schemas.openxmlformats.org/drawingml/2006/main" xmlns:r="http://schemas.openxmlformats.org/officeDocument/2006/relationships" xmlns:p="http://schemas.openxmlformats.org/presentationml/2006/main">
  <p:tag name="AS_UNIQUEID" val="10684"/>
</p:tagLst>
</file>

<file path=ppt/tags/tag449.xml><?xml version="1.0" encoding="utf-8"?>
<p:tagLst xmlns:a="http://schemas.openxmlformats.org/drawingml/2006/main" xmlns:r="http://schemas.openxmlformats.org/officeDocument/2006/relationships" xmlns:p="http://schemas.openxmlformats.org/presentationml/2006/main">
  <p:tag name="AS_UNIQUEID" val="12566"/>
</p:tagLst>
</file>

<file path=ppt/tags/tag450.xml><?xml version="1.0" encoding="utf-8"?>
<p:tagLst xmlns:a="http://schemas.openxmlformats.org/drawingml/2006/main" xmlns:r="http://schemas.openxmlformats.org/officeDocument/2006/relationships" xmlns:p="http://schemas.openxmlformats.org/presentationml/2006/main">
  <p:tag name="AS_UNIQUEID" val="12224"/>
</p:tagLst>
</file>

<file path=ppt/tags/tag451.xml><?xml version="1.0" encoding="utf-8"?>
<p:tagLst xmlns:a="http://schemas.openxmlformats.org/drawingml/2006/main" xmlns:r="http://schemas.openxmlformats.org/officeDocument/2006/relationships" xmlns:p="http://schemas.openxmlformats.org/presentationml/2006/main">
  <p:tag name="AS_UNIQUEID" val="12225"/>
</p:tagLst>
</file>

<file path=ppt/tags/tag452.xml><?xml version="1.0" encoding="utf-8"?>
<p:tagLst xmlns:a="http://schemas.openxmlformats.org/drawingml/2006/main" xmlns:r="http://schemas.openxmlformats.org/officeDocument/2006/relationships" xmlns:p="http://schemas.openxmlformats.org/presentationml/2006/main">
  <p:tag name="AS_UNIQUEID" val="12226"/>
</p:tagLst>
</file>

<file path=ppt/tags/tag453.xml><?xml version="1.0" encoding="utf-8"?>
<p:tagLst xmlns:a="http://schemas.openxmlformats.org/drawingml/2006/main" xmlns:r="http://schemas.openxmlformats.org/officeDocument/2006/relationships" xmlns:p="http://schemas.openxmlformats.org/presentationml/2006/main">
  <p:tag name="AS_UNIQUEID" val="9396"/>
</p:tagLst>
</file>

<file path=ppt/tags/tag454.xml><?xml version="1.0" encoding="utf-8"?>
<p:tagLst xmlns:a="http://schemas.openxmlformats.org/drawingml/2006/main" xmlns:r="http://schemas.openxmlformats.org/officeDocument/2006/relationships" xmlns:p="http://schemas.openxmlformats.org/presentationml/2006/main">
  <p:tag name="AS_UNIQUEID" val="10243"/>
</p:tagLst>
</file>

<file path=ppt/tags/tag455.xml><?xml version="1.0" encoding="utf-8"?>
<p:tagLst xmlns:a="http://schemas.openxmlformats.org/drawingml/2006/main" xmlns:r="http://schemas.openxmlformats.org/officeDocument/2006/relationships" xmlns:p="http://schemas.openxmlformats.org/presentationml/2006/main">
  <p:tag name="AS_UNIQUEID" val="9396"/>
</p:tagLst>
</file>

<file path=ppt/tags/tag456.xml><?xml version="1.0" encoding="utf-8"?>
<p:tagLst xmlns:a="http://schemas.openxmlformats.org/drawingml/2006/main" xmlns:r="http://schemas.openxmlformats.org/officeDocument/2006/relationships" xmlns:p="http://schemas.openxmlformats.org/presentationml/2006/main">
  <p:tag name="AS_UNIQUEID" val="10243"/>
</p:tagLst>
</file>

<file path=ppt/tags/tag457.xml><?xml version="1.0" encoding="utf-8"?>
<p:tagLst xmlns:a="http://schemas.openxmlformats.org/drawingml/2006/main" xmlns:r="http://schemas.openxmlformats.org/officeDocument/2006/relationships" xmlns:p="http://schemas.openxmlformats.org/presentationml/2006/main">
  <p:tag name="AS_UNIQUEID" val="9396"/>
</p:tagLst>
</file>

<file path=ppt/tags/tag458.xml><?xml version="1.0" encoding="utf-8"?>
<p:tagLst xmlns:a="http://schemas.openxmlformats.org/drawingml/2006/main" xmlns:r="http://schemas.openxmlformats.org/officeDocument/2006/relationships" xmlns:p="http://schemas.openxmlformats.org/presentationml/2006/main">
  <p:tag name="AS_UNIQUEID" val="10243"/>
</p:tagLst>
</file>

<file path=ppt/tags/tag459.xml><?xml version="1.0" encoding="utf-8"?>
<p:tagLst xmlns:a="http://schemas.openxmlformats.org/drawingml/2006/main" xmlns:r="http://schemas.openxmlformats.org/officeDocument/2006/relationships" xmlns:p="http://schemas.openxmlformats.org/presentationml/2006/main">
  <p:tag name="AS_UNIQUEID" val="10679"/>
</p:tagLst>
</file>

<file path=ppt/tags/tag460.xml><?xml version="1.0" encoding="utf-8"?>
<p:tagLst xmlns:a="http://schemas.openxmlformats.org/drawingml/2006/main" xmlns:r="http://schemas.openxmlformats.org/officeDocument/2006/relationships" xmlns:p="http://schemas.openxmlformats.org/presentationml/2006/main">
  <p:tag name="AS_UNIQUEID" val="12567"/>
</p:tagLst>
</file>

<file path=ppt/tags/tag461.xml><?xml version="1.0" encoding="utf-8"?>
<p:tagLst xmlns:a="http://schemas.openxmlformats.org/drawingml/2006/main" xmlns:r="http://schemas.openxmlformats.org/officeDocument/2006/relationships" xmlns:p="http://schemas.openxmlformats.org/presentationml/2006/main">
  <p:tag name="AS_UNIQUEID" val="12568"/>
</p:tagLst>
</file>

<file path=ppt/tags/tag462.xml><?xml version="1.0" encoding="utf-8"?>
<p:tagLst xmlns:a="http://schemas.openxmlformats.org/drawingml/2006/main" xmlns:r="http://schemas.openxmlformats.org/officeDocument/2006/relationships" xmlns:p="http://schemas.openxmlformats.org/presentationml/2006/main">
  <p:tag name="AS_UNIQUEID" val="12569"/>
</p:tagLst>
</file>

<file path=ppt/tags/tag463.xml><?xml version="1.0" encoding="utf-8"?>
<p:tagLst xmlns:a="http://schemas.openxmlformats.org/drawingml/2006/main" xmlns:r="http://schemas.openxmlformats.org/officeDocument/2006/relationships" xmlns:p="http://schemas.openxmlformats.org/presentationml/2006/main">
  <p:tag name="AS_UNIQUEID" val="12570"/>
</p:tagLst>
</file>

<file path=ppt/tags/tag464.xml><?xml version="1.0" encoding="utf-8"?>
<p:tagLst xmlns:a="http://schemas.openxmlformats.org/drawingml/2006/main" xmlns:r="http://schemas.openxmlformats.org/officeDocument/2006/relationships" xmlns:p="http://schemas.openxmlformats.org/presentationml/2006/main">
  <p:tag name="AS_UNIQUEID" val="12571"/>
</p:tagLst>
</file>

<file path=ppt/tags/tag465.xml><?xml version="1.0" encoding="utf-8"?>
<p:tagLst xmlns:a="http://schemas.openxmlformats.org/drawingml/2006/main" xmlns:r="http://schemas.openxmlformats.org/officeDocument/2006/relationships" xmlns:p="http://schemas.openxmlformats.org/presentationml/2006/main">
  <p:tag name="AS_UNIQUEID" val="12572"/>
</p:tagLst>
</file>

<file path=ppt/tags/tag466.xml><?xml version="1.0" encoding="utf-8"?>
<p:tagLst xmlns:a="http://schemas.openxmlformats.org/drawingml/2006/main" xmlns:r="http://schemas.openxmlformats.org/officeDocument/2006/relationships" xmlns:p="http://schemas.openxmlformats.org/presentationml/2006/main">
  <p:tag name="AS_UNIQUEID" val="12573"/>
</p:tagLst>
</file>

<file path=ppt/tags/tag467.xml><?xml version="1.0" encoding="utf-8"?>
<p:tagLst xmlns:a="http://schemas.openxmlformats.org/drawingml/2006/main" xmlns:r="http://schemas.openxmlformats.org/officeDocument/2006/relationships" xmlns:p="http://schemas.openxmlformats.org/presentationml/2006/main">
  <p:tag name="AS_UNIQUEID" val="12574"/>
</p:tagLst>
</file>

<file path=ppt/tags/tag468.xml><?xml version="1.0" encoding="utf-8"?>
<p:tagLst xmlns:a="http://schemas.openxmlformats.org/drawingml/2006/main" xmlns:r="http://schemas.openxmlformats.org/officeDocument/2006/relationships" xmlns:p="http://schemas.openxmlformats.org/presentationml/2006/main">
  <p:tag name="AS_UNIQUEID" val="12575"/>
</p:tagLst>
</file>

<file path=ppt/tags/tag469.xml><?xml version="1.0" encoding="utf-8"?>
<p:tagLst xmlns:a="http://schemas.openxmlformats.org/drawingml/2006/main" xmlns:r="http://schemas.openxmlformats.org/officeDocument/2006/relationships" xmlns:p="http://schemas.openxmlformats.org/presentationml/2006/main">
  <p:tag name="AS_UNIQUEID" val="12576"/>
</p:tagLst>
</file>

<file path=ppt/tags/tag470.xml><?xml version="1.0" encoding="utf-8"?>
<p:tagLst xmlns:a="http://schemas.openxmlformats.org/drawingml/2006/main" xmlns:r="http://schemas.openxmlformats.org/officeDocument/2006/relationships" xmlns:p="http://schemas.openxmlformats.org/presentationml/2006/main">
  <p:tag name="AS_UNIQUEID" val="10680"/>
</p:tagLst>
</file>

<file path=ppt/tags/tag471.xml><?xml version="1.0" encoding="utf-8"?>
<p:tagLst xmlns:a="http://schemas.openxmlformats.org/drawingml/2006/main" xmlns:r="http://schemas.openxmlformats.org/officeDocument/2006/relationships" xmlns:p="http://schemas.openxmlformats.org/presentationml/2006/main">
  <p:tag name="AS_UNIQUEID" val="10681"/>
</p:tagLst>
</file>

<file path=ppt/tags/tag472.xml><?xml version="1.0" encoding="utf-8"?>
<p:tagLst xmlns:a="http://schemas.openxmlformats.org/drawingml/2006/main" xmlns:r="http://schemas.openxmlformats.org/officeDocument/2006/relationships" xmlns:p="http://schemas.openxmlformats.org/presentationml/2006/main">
  <p:tag name="AS_UNIQUEID" val="10682"/>
</p:tagLst>
</file>

<file path=ppt/tags/tag473.xml><?xml version="1.0" encoding="utf-8"?>
<p:tagLst xmlns:a="http://schemas.openxmlformats.org/drawingml/2006/main" xmlns:r="http://schemas.openxmlformats.org/officeDocument/2006/relationships" xmlns:p="http://schemas.openxmlformats.org/presentationml/2006/main">
  <p:tag name="AS_UNIQUEID" val="10683"/>
</p:tagLst>
</file>

<file path=ppt/tags/tag474.xml><?xml version="1.0" encoding="utf-8"?>
<p:tagLst xmlns:a="http://schemas.openxmlformats.org/drawingml/2006/main" xmlns:r="http://schemas.openxmlformats.org/officeDocument/2006/relationships" xmlns:p="http://schemas.openxmlformats.org/presentationml/2006/main">
  <p:tag name="AS_UNIQUEID" val="10684"/>
</p:tagLst>
</file>

<file path=ppt/tags/tag475.xml><?xml version="1.0" encoding="utf-8"?>
<p:tagLst xmlns:a="http://schemas.openxmlformats.org/drawingml/2006/main" xmlns:r="http://schemas.openxmlformats.org/officeDocument/2006/relationships" xmlns:p="http://schemas.openxmlformats.org/presentationml/2006/main">
  <p:tag name="AS_UNIQUEID" val="12578"/>
</p:tagLst>
</file>

<file path=ppt/tags/tag476.xml><?xml version="1.0" encoding="utf-8"?>
<p:tagLst xmlns:a="http://schemas.openxmlformats.org/drawingml/2006/main" xmlns:r="http://schemas.openxmlformats.org/officeDocument/2006/relationships" xmlns:p="http://schemas.openxmlformats.org/presentationml/2006/main">
  <p:tag name="AS_UNIQUEID" val="12228"/>
</p:tagLst>
</file>

<file path=ppt/tags/tag477.xml><?xml version="1.0" encoding="utf-8"?>
<p:tagLst xmlns:a="http://schemas.openxmlformats.org/drawingml/2006/main" xmlns:r="http://schemas.openxmlformats.org/officeDocument/2006/relationships" xmlns:p="http://schemas.openxmlformats.org/presentationml/2006/main">
  <p:tag name="AS_UNIQUEID" val="12229"/>
</p:tagLst>
</file>

<file path=ppt/tags/tag478.xml><?xml version="1.0" encoding="utf-8"?>
<p:tagLst xmlns:a="http://schemas.openxmlformats.org/drawingml/2006/main" xmlns:r="http://schemas.openxmlformats.org/officeDocument/2006/relationships" xmlns:p="http://schemas.openxmlformats.org/presentationml/2006/main">
  <p:tag name="AS_UNIQUEID" val="12230"/>
</p:tagLst>
</file>

<file path=ppt/tags/tag479.xml><?xml version="1.0" encoding="utf-8"?>
<p:tagLst xmlns:a="http://schemas.openxmlformats.org/drawingml/2006/main" xmlns:r="http://schemas.openxmlformats.org/officeDocument/2006/relationships" xmlns:p="http://schemas.openxmlformats.org/presentationml/2006/main">
  <p:tag name="AS_UNIQUEID" val="9396"/>
</p:tagLst>
</file>

<file path=ppt/tags/tag480.xml><?xml version="1.0" encoding="utf-8"?>
<p:tagLst xmlns:a="http://schemas.openxmlformats.org/drawingml/2006/main" xmlns:r="http://schemas.openxmlformats.org/officeDocument/2006/relationships" xmlns:p="http://schemas.openxmlformats.org/presentationml/2006/main">
  <p:tag name="AS_UNIQUEID" val="10243"/>
</p:tagLst>
</file>

<file path=ppt/tags/tag481.xml><?xml version="1.0" encoding="utf-8"?>
<p:tagLst xmlns:a="http://schemas.openxmlformats.org/drawingml/2006/main" xmlns:r="http://schemas.openxmlformats.org/officeDocument/2006/relationships" xmlns:p="http://schemas.openxmlformats.org/presentationml/2006/main">
  <p:tag name="AS_UNIQUEID" val="9396"/>
</p:tagLst>
</file>

<file path=ppt/tags/tag482.xml><?xml version="1.0" encoding="utf-8"?>
<p:tagLst xmlns:a="http://schemas.openxmlformats.org/drawingml/2006/main" xmlns:r="http://schemas.openxmlformats.org/officeDocument/2006/relationships" xmlns:p="http://schemas.openxmlformats.org/presentationml/2006/main">
  <p:tag name="AS_UNIQUEID" val="10243"/>
</p:tagLst>
</file>

<file path=ppt/tags/tag483.xml><?xml version="1.0" encoding="utf-8"?>
<p:tagLst xmlns:a="http://schemas.openxmlformats.org/drawingml/2006/main" xmlns:r="http://schemas.openxmlformats.org/officeDocument/2006/relationships" xmlns:p="http://schemas.openxmlformats.org/presentationml/2006/main">
  <p:tag name="AS_UNIQUEID" val="9396"/>
</p:tagLst>
</file>

<file path=ppt/tags/tag484.xml><?xml version="1.0" encoding="utf-8"?>
<p:tagLst xmlns:a="http://schemas.openxmlformats.org/drawingml/2006/main" xmlns:r="http://schemas.openxmlformats.org/officeDocument/2006/relationships" xmlns:p="http://schemas.openxmlformats.org/presentationml/2006/main">
  <p:tag name="AS_UNIQUEID" val="10243"/>
</p:tagLst>
</file>

<file path=ppt/tags/tag485.xml><?xml version="1.0" encoding="utf-8"?>
<p:tagLst xmlns:a="http://schemas.openxmlformats.org/drawingml/2006/main" xmlns:r="http://schemas.openxmlformats.org/officeDocument/2006/relationships" xmlns:p="http://schemas.openxmlformats.org/presentationml/2006/main">
  <p:tag name="AS_UNIQUEID" val="10679"/>
</p:tagLst>
</file>

<file path=ppt/tags/tag486.xml><?xml version="1.0" encoding="utf-8"?>
<p:tagLst xmlns:a="http://schemas.openxmlformats.org/drawingml/2006/main" xmlns:r="http://schemas.openxmlformats.org/officeDocument/2006/relationships" xmlns:p="http://schemas.openxmlformats.org/presentationml/2006/main">
  <p:tag name="AS_UNIQUEID" val="12579"/>
</p:tagLst>
</file>

<file path=ppt/tags/tag487.xml><?xml version="1.0" encoding="utf-8"?>
<p:tagLst xmlns:a="http://schemas.openxmlformats.org/drawingml/2006/main" xmlns:r="http://schemas.openxmlformats.org/officeDocument/2006/relationships" xmlns:p="http://schemas.openxmlformats.org/presentationml/2006/main">
  <p:tag name="AS_UNIQUEID" val="12580"/>
</p:tagLst>
</file>

<file path=ppt/tags/tag488.xml><?xml version="1.0" encoding="utf-8"?>
<p:tagLst xmlns:a="http://schemas.openxmlformats.org/drawingml/2006/main" xmlns:r="http://schemas.openxmlformats.org/officeDocument/2006/relationships" xmlns:p="http://schemas.openxmlformats.org/presentationml/2006/main">
  <p:tag name="AS_UNIQUEID" val="12581"/>
</p:tagLst>
</file>

<file path=ppt/tags/tag489.xml><?xml version="1.0" encoding="utf-8"?>
<p:tagLst xmlns:a="http://schemas.openxmlformats.org/drawingml/2006/main" xmlns:r="http://schemas.openxmlformats.org/officeDocument/2006/relationships" xmlns:p="http://schemas.openxmlformats.org/presentationml/2006/main">
  <p:tag name="AS_UNIQUEID" val="12582"/>
</p:tagLst>
</file>

<file path=ppt/tags/tag490.xml><?xml version="1.0" encoding="utf-8"?>
<p:tagLst xmlns:a="http://schemas.openxmlformats.org/drawingml/2006/main" xmlns:r="http://schemas.openxmlformats.org/officeDocument/2006/relationships" xmlns:p="http://schemas.openxmlformats.org/presentationml/2006/main">
  <p:tag name="AS_UNIQUEID" val="12583"/>
</p:tagLst>
</file>

<file path=ppt/tags/tag491.xml><?xml version="1.0" encoding="utf-8"?>
<p:tagLst xmlns:a="http://schemas.openxmlformats.org/drawingml/2006/main" xmlns:r="http://schemas.openxmlformats.org/officeDocument/2006/relationships" xmlns:p="http://schemas.openxmlformats.org/presentationml/2006/main">
  <p:tag name="AS_UNIQUEID" val="12584"/>
</p:tagLst>
</file>

<file path=ppt/tags/tag492.xml><?xml version="1.0" encoding="utf-8"?>
<p:tagLst xmlns:a="http://schemas.openxmlformats.org/drawingml/2006/main" xmlns:r="http://schemas.openxmlformats.org/officeDocument/2006/relationships" xmlns:p="http://schemas.openxmlformats.org/presentationml/2006/main">
  <p:tag name="AS_UNIQUEID" val="12585"/>
</p:tagLst>
</file>

<file path=ppt/tags/tag493.xml><?xml version="1.0" encoding="utf-8"?>
<p:tagLst xmlns:a="http://schemas.openxmlformats.org/drawingml/2006/main" xmlns:r="http://schemas.openxmlformats.org/officeDocument/2006/relationships" xmlns:p="http://schemas.openxmlformats.org/presentationml/2006/main">
  <p:tag name="AS_UNIQUEID" val="12586"/>
</p:tagLst>
</file>

<file path=ppt/tags/tag494.xml><?xml version="1.0" encoding="utf-8"?>
<p:tagLst xmlns:a="http://schemas.openxmlformats.org/drawingml/2006/main" xmlns:r="http://schemas.openxmlformats.org/officeDocument/2006/relationships" xmlns:p="http://schemas.openxmlformats.org/presentationml/2006/main">
  <p:tag name="AS_UNIQUEID" val="12587"/>
</p:tagLst>
</file>

<file path=ppt/tags/tag495.xml><?xml version="1.0" encoding="utf-8"?>
<p:tagLst xmlns:a="http://schemas.openxmlformats.org/drawingml/2006/main" xmlns:r="http://schemas.openxmlformats.org/officeDocument/2006/relationships" xmlns:p="http://schemas.openxmlformats.org/presentationml/2006/main">
  <p:tag name="AS_UNIQUEID" val="12588"/>
</p:tagLst>
</file>

<file path=ppt/tags/tag496.xml><?xml version="1.0" encoding="utf-8"?>
<p:tagLst xmlns:a="http://schemas.openxmlformats.org/drawingml/2006/main" xmlns:r="http://schemas.openxmlformats.org/officeDocument/2006/relationships" xmlns:p="http://schemas.openxmlformats.org/presentationml/2006/main">
  <p:tag name="AS_UNIQUEID" val="10680"/>
</p:tagLst>
</file>

<file path=ppt/tags/tag497.xml><?xml version="1.0" encoding="utf-8"?>
<p:tagLst xmlns:a="http://schemas.openxmlformats.org/drawingml/2006/main" xmlns:r="http://schemas.openxmlformats.org/officeDocument/2006/relationships" xmlns:p="http://schemas.openxmlformats.org/presentationml/2006/main">
  <p:tag name="AS_UNIQUEID" val="10681"/>
</p:tagLst>
</file>

<file path=ppt/tags/tag498.xml><?xml version="1.0" encoding="utf-8"?>
<p:tagLst xmlns:a="http://schemas.openxmlformats.org/drawingml/2006/main" xmlns:r="http://schemas.openxmlformats.org/officeDocument/2006/relationships" xmlns:p="http://schemas.openxmlformats.org/presentationml/2006/main">
  <p:tag name="AS_UNIQUEID" val="10682"/>
</p:tagLst>
</file>

<file path=ppt/tags/tag499.xml><?xml version="1.0" encoding="utf-8"?>
<p:tagLst xmlns:a="http://schemas.openxmlformats.org/drawingml/2006/main" xmlns:r="http://schemas.openxmlformats.org/officeDocument/2006/relationships" xmlns:p="http://schemas.openxmlformats.org/presentationml/2006/main">
  <p:tag name="AS_UNIQUEID" val="10683"/>
</p:tagLst>
</file>

<file path=ppt/tags/tag500.xml><?xml version="1.0" encoding="utf-8"?>
<p:tagLst xmlns:a="http://schemas.openxmlformats.org/drawingml/2006/main" xmlns:r="http://schemas.openxmlformats.org/officeDocument/2006/relationships" xmlns:p="http://schemas.openxmlformats.org/presentationml/2006/main">
  <p:tag name="AS_UNIQUEID" val="10684"/>
</p:tagLst>
</file>

<file path=ppt/tags/tag501.xml><?xml version="1.0" encoding="utf-8"?>
<p:tagLst xmlns:a="http://schemas.openxmlformats.org/drawingml/2006/main" xmlns:r="http://schemas.openxmlformats.org/officeDocument/2006/relationships" xmlns:p="http://schemas.openxmlformats.org/presentationml/2006/main">
  <p:tag name="AS_UNIQUEID" val="12590"/>
</p:tagLst>
</file>

<file path=ppt/tags/tag502.xml><?xml version="1.0" encoding="utf-8"?>
<p:tagLst xmlns:a="http://schemas.openxmlformats.org/drawingml/2006/main" xmlns:r="http://schemas.openxmlformats.org/officeDocument/2006/relationships" xmlns:p="http://schemas.openxmlformats.org/presentationml/2006/main">
  <p:tag name="AS_UNIQUEID" val="12232"/>
</p:tagLst>
</file>

<file path=ppt/tags/tag503.xml><?xml version="1.0" encoding="utf-8"?>
<p:tagLst xmlns:a="http://schemas.openxmlformats.org/drawingml/2006/main" xmlns:r="http://schemas.openxmlformats.org/officeDocument/2006/relationships" xmlns:p="http://schemas.openxmlformats.org/presentationml/2006/main">
  <p:tag name="AS_UNIQUEID" val="12233"/>
</p:tagLst>
</file>

<file path=ppt/tags/tag504.xml><?xml version="1.0" encoding="utf-8"?>
<p:tagLst xmlns:a="http://schemas.openxmlformats.org/drawingml/2006/main" xmlns:r="http://schemas.openxmlformats.org/officeDocument/2006/relationships" xmlns:p="http://schemas.openxmlformats.org/presentationml/2006/main">
  <p:tag name="AS_UNIQUEID" val="12234"/>
</p:tagLst>
</file>

<file path=ppt/tags/tag505.xml><?xml version="1.0" encoding="utf-8"?>
<p:tagLst xmlns:a="http://schemas.openxmlformats.org/drawingml/2006/main" xmlns:r="http://schemas.openxmlformats.org/officeDocument/2006/relationships" xmlns:p="http://schemas.openxmlformats.org/presentationml/2006/main">
  <p:tag name="AS_UNIQUEID" val="12235"/>
</p:tagLst>
</file>

<file path=ppt/tags/tag506.xml><?xml version="1.0" encoding="utf-8"?>
<p:tagLst xmlns:a="http://schemas.openxmlformats.org/drawingml/2006/main" xmlns:r="http://schemas.openxmlformats.org/officeDocument/2006/relationships" xmlns:p="http://schemas.openxmlformats.org/presentationml/2006/main">
  <p:tag name="AS_UNIQUEID" val="12236"/>
</p:tagLst>
</file>

<file path=ppt/tags/tag507.xml><?xml version="1.0" encoding="utf-8"?>
<p:tagLst xmlns:a="http://schemas.openxmlformats.org/drawingml/2006/main" xmlns:r="http://schemas.openxmlformats.org/officeDocument/2006/relationships" xmlns:p="http://schemas.openxmlformats.org/presentationml/2006/main">
  <p:tag name="AS_UNIQUEID" val="9396"/>
</p:tagLst>
</file>

<file path=ppt/tags/tag508.xml><?xml version="1.0" encoding="utf-8"?>
<p:tagLst xmlns:a="http://schemas.openxmlformats.org/drawingml/2006/main" xmlns:r="http://schemas.openxmlformats.org/officeDocument/2006/relationships" xmlns:p="http://schemas.openxmlformats.org/presentationml/2006/main">
  <p:tag name="AS_UNIQUEID" val="10243"/>
</p:tagLst>
</file>

<file path=ppt/tags/tag509.xml><?xml version="1.0" encoding="utf-8"?>
<p:tagLst xmlns:a="http://schemas.openxmlformats.org/drawingml/2006/main" xmlns:r="http://schemas.openxmlformats.org/officeDocument/2006/relationships" xmlns:p="http://schemas.openxmlformats.org/presentationml/2006/main">
  <p:tag name="AS_UNIQUEID" val="9396"/>
</p:tagLst>
</file>

<file path=ppt/tags/tag510.xml><?xml version="1.0" encoding="utf-8"?>
<p:tagLst xmlns:a="http://schemas.openxmlformats.org/drawingml/2006/main" xmlns:r="http://schemas.openxmlformats.org/officeDocument/2006/relationships" xmlns:p="http://schemas.openxmlformats.org/presentationml/2006/main">
  <p:tag name="AS_UNIQUEID" val="10243"/>
</p:tagLst>
</file>

<file path=ppt/tags/tag511.xml><?xml version="1.0" encoding="utf-8"?>
<p:tagLst xmlns:a="http://schemas.openxmlformats.org/drawingml/2006/main" xmlns:r="http://schemas.openxmlformats.org/officeDocument/2006/relationships" xmlns:p="http://schemas.openxmlformats.org/presentationml/2006/main">
  <p:tag name="AS_UNIQUEID" val="9396"/>
</p:tagLst>
</file>

<file path=ppt/tags/tag512.xml><?xml version="1.0" encoding="utf-8"?>
<p:tagLst xmlns:a="http://schemas.openxmlformats.org/drawingml/2006/main" xmlns:r="http://schemas.openxmlformats.org/officeDocument/2006/relationships" xmlns:p="http://schemas.openxmlformats.org/presentationml/2006/main">
  <p:tag name="AS_UNIQUEID" val="9396"/>
</p:tagLst>
</file>

<file path=ppt/tags/tag513.xml><?xml version="1.0" encoding="utf-8"?>
<p:tagLst xmlns:a="http://schemas.openxmlformats.org/drawingml/2006/main" xmlns:r="http://schemas.openxmlformats.org/officeDocument/2006/relationships" xmlns:p="http://schemas.openxmlformats.org/presentationml/2006/main">
  <p:tag name="AS_UNIQUEID" val="10243"/>
</p:tagLst>
</file>

<file path=ppt/tags/tag514.xml><?xml version="1.0" encoding="utf-8"?>
<p:tagLst xmlns:a="http://schemas.openxmlformats.org/drawingml/2006/main" xmlns:r="http://schemas.openxmlformats.org/officeDocument/2006/relationships" xmlns:p="http://schemas.openxmlformats.org/presentationml/2006/main">
  <p:tag name="AS_UNIQUEID" val="9396"/>
</p:tagLst>
</file>

<file path=ppt/tags/tag515.xml><?xml version="1.0" encoding="utf-8"?>
<p:tagLst xmlns:a="http://schemas.openxmlformats.org/drawingml/2006/main" xmlns:r="http://schemas.openxmlformats.org/officeDocument/2006/relationships" xmlns:p="http://schemas.openxmlformats.org/presentationml/2006/main">
  <p:tag name="AS_UNIQUEID" val="10243"/>
</p:tagLst>
</file>

<file path=ppt/tags/tag516.xml><?xml version="1.0" encoding="utf-8"?>
<p:tagLst xmlns:a="http://schemas.openxmlformats.org/drawingml/2006/main" xmlns:r="http://schemas.openxmlformats.org/officeDocument/2006/relationships" xmlns:p="http://schemas.openxmlformats.org/presentationml/2006/main">
  <p:tag name="AS_UNIQUEID" val="10243"/>
</p:tagLst>
</file>

<file path=ppt/tags/tag517.xml><?xml version="1.0" encoding="utf-8"?>
<p:tagLst xmlns:a="http://schemas.openxmlformats.org/drawingml/2006/main" xmlns:r="http://schemas.openxmlformats.org/officeDocument/2006/relationships" xmlns:p="http://schemas.openxmlformats.org/presentationml/2006/main">
  <p:tag name="AS_UNIQUEID" val="10679"/>
</p:tagLst>
</file>

<file path=ppt/tags/tag518.xml><?xml version="1.0" encoding="utf-8"?>
<p:tagLst xmlns:a="http://schemas.openxmlformats.org/drawingml/2006/main" xmlns:r="http://schemas.openxmlformats.org/officeDocument/2006/relationships" xmlns:p="http://schemas.openxmlformats.org/presentationml/2006/main">
  <p:tag name="AS_UNIQUEID" val="12591"/>
</p:tagLst>
</file>

<file path=ppt/tags/tag519.xml><?xml version="1.0" encoding="utf-8"?>
<p:tagLst xmlns:a="http://schemas.openxmlformats.org/drawingml/2006/main" xmlns:r="http://schemas.openxmlformats.org/officeDocument/2006/relationships" xmlns:p="http://schemas.openxmlformats.org/presentationml/2006/main">
  <p:tag name="AS_UNIQUEID" val="12592"/>
</p:tagLst>
</file>

<file path=ppt/tags/tag520.xml><?xml version="1.0" encoding="utf-8"?>
<p:tagLst xmlns:a="http://schemas.openxmlformats.org/drawingml/2006/main" xmlns:r="http://schemas.openxmlformats.org/officeDocument/2006/relationships" xmlns:p="http://schemas.openxmlformats.org/presentationml/2006/main">
  <p:tag name="AS_UNIQUEID" val="12593"/>
</p:tagLst>
</file>

<file path=ppt/tags/tag521.xml><?xml version="1.0" encoding="utf-8"?>
<p:tagLst xmlns:a="http://schemas.openxmlformats.org/drawingml/2006/main" xmlns:r="http://schemas.openxmlformats.org/officeDocument/2006/relationships" xmlns:p="http://schemas.openxmlformats.org/presentationml/2006/main">
  <p:tag name="AS_UNIQUEID" val="12594"/>
</p:tagLst>
</file>

<file path=ppt/tags/tag522.xml><?xml version="1.0" encoding="utf-8"?>
<p:tagLst xmlns:a="http://schemas.openxmlformats.org/drawingml/2006/main" xmlns:r="http://schemas.openxmlformats.org/officeDocument/2006/relationships" xmlns:p="http://schemas.openxmlformats.org/presentationml/2006/main">
  <p:tag name="AS_UNIQUEID" val="12595"/>
</p:tagLst>
</file>

<file path=ppt/tags/tag523.xml><?xml version="1.0" encoding="utf-8"?>
<p:tagLst xmlns:a="http://schemas.openxmlformats.org/drawingml/2006/main" xmlns:r="http://schemas.openxmlformats.org/officeDocument/2006/relationships" xmlns:p="http://schemas.openxmlformats.org/presentationml/2006/main">
  <p:tag name="AS_UNIQUEID" val="12596"/>
</p:tagLst>
</file>

<file path=ppt/tags/tag524.xml><?xml version="1.0" encoding="utf-8"?>
<p:tagLst xmlns:a="http://schemas.openxmlformats.org/drawingml/2006/main" xmlns:r="http://schemas.openxmlformats.org/officeDocument/2006/relationships" xmlns:p="http://schemas.openxmlformats.org/presentationml/2006/main">
  <p:tag name="AS_UNIQUEID" val="12597"/>
</p:tagLst>
</file>

<file path=ppt/tags/tag525.xml><?xml version="1.0" encoding="utf-8"?>
<p:tagLst xmlns:a="http://schemas.openxmlformats.org/drawingml/2006/main" xmlns:r="http://schemas.openxmlformats.org/officeDocument/2006/relationships" xmlns:p="http://schemas.openxmlformats.org/presentationml/2006/main">
  <p:tag name="AS_UNIQUEID" val="12598"/>
</p:tagLst>
</file>

<file path=ppt/tags/tag526.xml><?xml version="1.0" encoding="utf-8"?>
<p:tagLst xmlns:a="http://schemas.openxmlformats.org/drawingml/2006/main" xmlns:r="http://schemas.openxmlformats.org/officeDocument/2006/relationships" xmlns:p="http://schemas.openxmlformats.org/presentationml/2006/main">
  <p:tag name="AS_UNIQUEID" val="12599"/>
</p:tagLst>
</file>

<file path=ppt/tags/tag527.xml><?xml version="1.0" encoding="utf-8"?>
<p:tagLst xmlns:a="http://schemas.openxmlformats.org/drawingml/2006/main" xmlns:r="http://schemas.openxmlformats.org/officeDocument/2006/relationships" xmlns:p="http://schemas.openxmlformats.org/presentationml/2006/main">
  <p:tag name="AS_UNIQUEID" val="12600"/>
</p:tagLst>
</file>

<file path=ppt/tags/tag528.xml><?xml version="1.0" encoding="utf-8"?>
<p:tagLst xmlns:a="http://schemas.openxmlformats.org/drawingml/2006/main" xmlns:r="http://schemas.openxmlformats.org/officeDocument/2006/relationships" xmlns:p="http://schemas.openxmlformats.org/presentationml/2006/main">
  <p:tag name="AS_UNIQUEID" val="10680"/>
</p:tagLst>
</file>

<file path=ppt/tags/tag529.xml><?xml version="1.0" encoding="utf-8"?>
<p:tagLst xmlns:a="http://schemas.openxmlformats.org/drawingml/2006/main" xmlns:r="http://schemas.openxmlformats.org/officeDocument/2006/relationships" xmlns:p="http://schemas.openxmlformats.org/presentationml/2006/main">
  <p:tag name="AS_UNIQUEID" val="10681"/>
</p:tagLst>
</file>

<file path=ppt/tags/tag530.xml><?xml version="1.0" encoding="utf-8"?>
<p:tagLst xmlns:a="http://schemas.openxmlformats.org/drawingml/2006/main" xmlns:r="http://schemas.openxmlformats.org/officeDocument/2006/relationships" xmlns:p="http://schemas.openxmlformats.org/presentationml/2006/main">
  <p:tag name="AS_UNIQUEID" val="10682"/>
</p:tagLst>
</file>

<file path=ppt/tags/tag531.xml><?xml version="1.0" encoding="utf-8"?>
<p:tagLst xmlns:a="http://schemas.openxmlformats.org/drawingml/2006/main" xmlns:r="http://schemas.openxmlformats.org/officeDocument/2006/relationships" xmlns:p="http://schemas.openxmlformats.org/presentationml/2006/main">
  <p:tag name="AS_UNIQUEID" val="10683"/>
</p:tagLst>
</file>

<file path=ppt/tags/tag532.xml><?xml version="1.0" encoding="utf-8"?>
<p:tagLst xmlns:a="http://schemas.openxmlformats.org/drawingml/2006/main" xmlns:r="http://schemas.openxmlformats.org/officeDocument/2006/relationships" xmlns:p="http://schemas.openxmlformats.org/presentationml/2006/main">
  <p:tag name="AS_UNIQUEID" val="10684"/>
</p:tagLst>
</file>

<file path=ppt/tags/tag533.xml><?xml version="1.0" encoding="utf-8"?>
<p:tagLst xmlns:a="http://schemas.openxmlformats.org/drawingml/2006/main" xmlns:r="http://schemas.openxmlformats.org/officeDocument/2006/relationships" xmlns:p="http://schemas.openxmlformats.org/presentationml/2006/main">
  <p:tag name="AS_UNIQUEID" val="12602"/>
</p:tagLst>
</file>

<file path=ppt/tags/tag534.xml><?xml version="1.0" encoding="utf-8"?>
<p:tagLst xmlns:a="http://schemas.openxmlformats.org/drawingml/2006/main" xmlns:r="http://schemas.openxmlformats.org/officeDocument/2006/relationships" xmlns:p="http://schemas.openxmlformats.org/presentationml/2006/main">
  <p:tag name="AS_UNIQUEID" val="12238"/>
</p:tagLst>
</file>

<file path=ppt/tags/tag535.xml><?xml version="1.0" encoding="utf-8"?>
<p:tagLst xmlns:a="http://schemas.openxmlformats.org/drawingml/2006/main" xmlns:r="http://schemas.openxmlformats.org/officeDocument/2006/relationships" xmlns:p="http://schemas.openxmlformats.org/presentationml/2006/main">
  <p:tag name="AS_UNIQUEID" val="12239"/>
</p:tagLst>
</file>

<file path=ppt/tags/tag536.xml><?xml version="1.0" encoding="utf-8"?>
<p:tagLst xmlns:a="http://schemas.openxmlformats.org/drawingml/2006/main" xmlns:r="http://schemas.openxmlformats.org/officeDocument/2006/relationships" xmlns:p="http://schemas.openxmlformats.org/presentationml/2006/main">
  <p:tag name="AS_UNIQUEID" val="12240"/>
</p:tagLst>
</file>

<file path=ppt/tags/tag537.xml><?xml version="1.0" encoding="utf-8"?>
<p:tagLst xmlns:a="http://schemas.openxmlformats.org/drawingml/2006/main" xmlns:r="http://schemas.openxmlformats.org/officeDocument/2006/relationships" xmlns:p="http://schemas.openxmlformats.org/presentationml/2006/main">
  <p:tag name="AS_UNIQUEID" val="9396"/>
</p:tagLst>
</file>

<file path=ppt/tags/tag538.xml><?xml version="1.0" encoding="utf-8"?>
<p:tagLst xmlns:a="http://schemas.openxmlformats.org/drawingml/2006/main" xmlns:r="http://schemas.openxmlformats.org/officeDocument/2006/relationships" xmlns:p="http://schemas.openxmlformats.org/presentationml/2006/main">
  <p:tag name="AS_UNIQUEID" val="10243"/>
</p:tagLst>
</file>

<file path=ppt/tags/tag539.xml><?xml version="1.0" encoding="utf-8"?>
<p:tagLst xmlns:a="http://schemas.openxmlformats.org/drawingml/2006/main" xmlns:r="http://schemas.openxmlformats.org/officeDocument/2006/relationships" xmlns:p="http://schemas.openxmlformats.org/presentationml/2006/main">
  <p:tag name="AS_UNIQUEID" val="9396"/>
</p:tagLst>
</file>

<file path=ppt/tags/tag540.xml><?xml version="1.0" encoding="utf-8"?>
<p:tagLst xmlns:a="http://schemas.openxmlformats.org/drawingml/2006/main" xmlns:r="http://schemas.openxmlformats.org/officeDocument/2006/relationships" xmlns:p="http://schemas.openxmlformats.org/presentationml/2006/main">
  <p:tag name="AS_UNIQUEID" val="10243"/>
</p:tagLst>
</file>

<file path=ppt/tags/tag541.xml><?xml version="1.0" encoding="utf-8"?>
<p:tagLst xmlns:a="http://schemas.openxmlformats.org/drawingml/2006/main" xmlns:r="http://schemas.openxmlformats.org/officeDocument/2006/relationships" xmlns:p="http://schemas.openxmlformats.org/presentationml/2006/main">
  <p:tag name="AS_UNIQUEID" val="9396"/>
</p:tagLst>
</file>

<file path=ppt/tags/tag542.xml><?xml version="1.0" encoding="utf-8"?>
<p:tagLst xmlns:a="http://schemas.openxmlformats.org/drawingml/2006/main" xmlns:r="http://schemas.openxmlformats.org/officeDocument/2006/relationships" xmlns:p="http://schemas.openxmlformats.org/presentationml/2006/main">
  <p:tag name="AS_UNIQUEID" val="10243"/>
</p:tagLst>
</file>

<file path=ppt/tags/tag543.xml><?xml version="1.0" encoding="utf-8"?>
<p:tagLst xmlns:a="http://schemas.openxmlformats.org/drawingml/2006/main" xmlns:r="http://schemas.openxmlformats.org/officeDocument/2006/relationships" xmlns:p="http://schemas.openxmlformats.org/presentationml/2006/main">
  <p:tag name="AS_UNIQUEID" val="10679"/>
</p:tagLst>
</file>

<file path=ppt/tags/tag544.xml><?xml version="1.0" encoding="utf-8"?>
<p:tagLst xmlns:a="http://schemas.openxmlformats.org/drawingml/2006/main" xmlns:r="http://schemas.openxmlformats.org/officeDocument/2006/relationships" xmlns:p="http://schemas.openxmlformats.org/presentationml/2006/main">
  <p:tag name="AS_UNIQUEID" val="12603"/>
</p:tagLst>
</file>

<file path=ppt/tags/tag545.xml><?xml version="1.0" encoding="utf-8"?>
<p:tagLst xmlns:a="http://schemas.openxmlformats.org/drawingml/2006/main" xmlns:r="http://schemas.openxmlformats.org/officeDocument/2006/relationships" xmlns:p="http://schemas.openxmlformats.org/presentationml/2006/main">
  <p:tag name="AS_UNIQUEID" val="12604"/>
</p:tagLst>
</file>

<file path=ppt/tags/tag546.xml><?xml version="1.0" encoding="utf-8"?>
<p:tagLst xmlns:a="http://schemas.openxmlformats.org/drawingml/2006/main" xmlns:r="http://schemas.openxmlformats.org/officeDocument/2006/relationships" xmlns:p="http://schemas.openxmlformats.org/presentationml/2006/main">
  <p:tag name="AS_UNIQUEID" val="12605"/>
</p:tagLst>
</file>

<file path=ppt/tags/tag547.xml><?xml version="1.0" encoding="utf-8"?>
<p:tagLst xmlns:a="http://schemas.openxmlformats.org/drawingml/2006/main" xmlns:r="http://schemas.openxmlformats.org/officeDocument/2006/relationships" xmlns:p="http://schemas.openxmlformats.org/presentationml/2006/main">
  <p:tag name="AS_UNIQUEID" val="12606"/>
</p:tagLst>
</file>

<file path=ppt/tags/tag548.xml><?xml version="1.0" encoding="utf-8"?>
<p:tagLst xmlns:a="http://schemas.openxmlformats.org/drawingml/2006/main" xmlns:r="http://schemas.openxmlformats.org/officeDocument/2006/relationships" xmlns:p="http://schemas.openxmlformats.org/presentationml/2006/main">
  <p:tag name="AS_UNIQUEID" val="12607"/>
</p:tagLst>
</file>

<file path=ppt/tags/tag549.xml><?xml version="1.0" encoding="utf-8"?>
<p:tagLst xmlns:a="http://schemas.openxmlformats.org/drawingml/2006/main" xmlns:r="http://schemas.openxmlformats.org/officeDocument/2006/relationships" xmlns:p="http://schemas.openxmlformats.org/presentationml/2006/main">
  <p:tag name="AS_UNIQUEID" val="12608"/>
</p:tagLst>
</file>

<file path=ppt/tags/tag550.xml><?xml version="1.0" encoding="utf-8"?>
<p:tagLst xmlns:a="http://schemas.openxmlformats.org/drawingml/2006/main" xmlns:r="http://schemas.openxmlformats.org/officeDocument/2006/relationships" xmlns:p="http://schemas.openxmlformats.org/presentationml/2006/main">
  <p:tag name="AS_UNIQUEID" val="12609"/>
</p:tagLst>
</file>

<file path=ppt/tags/tag551.xml><?xml version="1.0" encoding="utf-8"?>
<p:tagLst xmlns:a="http://schemas.openxmlformats.org/drawingml/2006/main" xmlns:r="http://schemas.openxmlformats.org/officeDocument/2006/relationships" xmlns:p="http://schemas.openxmlformats.org/presentationml/2006/main">
  <p:tag name="AS_UNIQUEID" val="12610"/>
</p:tagLst>
</file>

<file path=ppt/tags/tag552.xml><?xml version="1.0" encoding="utf-8"?>
<p:tagLst xmlns:a="http://schemas.openxmlformats.org/drawingml/2006/main" xmlns:r="http://schemas.openxmlformats.org/officeDocument/2006/relationships" xmlns:p="http://schemas.openxmlformats.org/presentationml/2006/main">
  <p:tag name="AS_UNIQUEID" val="12611"/>
</p:tagLst>
</file>

<file path=ppt/tags/tag553.xml><?xml version="1.0" encoding="utf-8"?>
<p:tagLst xmlns:a="http://schemas.openxmlformats.org/drawingml/2006/main" xmlns:r="http://schemas.openxmlformats.org/officeDocument/2006/relationships" xmlns:p="http://schemas.openxmlformats.org/presentationml/2006/main">
  <p:tag name="AS_UNIQUEID" val="12612"/>
</p:tagLst>
</file>

<file path=ppt/tags/tag554.xml><?xml version="1.0" encoding="utf-8"?>
<p:tagLst xmlns:a="http://schemas.openxmlformats.org/drawingml/2006/main" xmlns:r="http://schemas.openxmlformats.org/officeDocument/2006/relationships" xmlns:p="http://schemas.openxmlformats.org/presentationml/2006/main">
  <p:tag name="AS_UNIQUEID" val="10680"/>
</p:tagLst>
</file>

<file path=ppt/tags/tag555.xml><?xml version="1.0" encoding="utf-8"?>
<p:tagLst xmlns:a="http://schemas.openxmlformats.org/drawingml/2006/main" xmlns:r="http://schemas.openxmlformats.org/officeDocument/2006/relationships" xmlns:p="http://schemas.openxmlformats.org/presentationml/2006/main">
  <p:tag name="AS_UNIQUEID" val="10681"/>
</p:tagLst>
</file>

<file path=ppt/tags/tag556.xml><?xml version="1.0" encoding="utf-8"?>
<p:tagLst xmlns:a="http://schemas.openxmlformats.org/drawingml/2006/main" xmlns:r="http://schemas.openxmlformats.org/officeDocument/2006/relationships" xmlns:p="http://schemas.openxmlformats.org/presentationml/2006/main">
  <p:tag name="AS_UNIQUEID" val="10682"/>
</p:tagLst>
</file>

<file path=ppt/tags/tag557.xml><?xml version="1.0" encoding="utf-8"?>
<p:tagLst xmlns:a="http://schemas.openxmlformats.org/drawingml/2006/main" xmlns:r="http://schemas.openxmlformats.org/officeDocument/2006/relationships" xmlns:p="http://schemas.openxmlformats.org/presentationml/2006/main">
  <p:tag name="AS_UNIQUEID" val="10683"/>
</p:tagLst>
</file>

<file path=ppt/tags/tag558.xml><?xml version="1.0" encoding="utf-8"?>
<p:tagLst xmlns:a="http://schemas.openxmlformats.org/drawingml/2006/main" xmlns:r="http://schemas.openxmlformats.org/officeDocument/2006/relationships" xmlns:p="http://schemas.openxmlformats.org/presentationml/2006/main">
  <p:tag name="AS_UNIQUEID" val="10684"/>
</p:tagLst>
</file>

<file path=ppt/tags/tag559.xml><?xml version="1.0" encoding="utf-8"?>
<p:tagLst xmlns:a="http://schemas.openxmlformats.org/drawingml/2006/main" xmlns:r="http://schemas.openxmlformats.org/officeDocument/2006/relationships" xmlns:p="http://schemas.openxmlformats.org/presentationml/2006/main">
  <p:tag name="AS_UNIQUEID" val="8740"/>
  <p:tag name="THINKCELLSHAPEDONOTDELETE" val="thinkcellActiveDocDoNotDelete"/>
</p:tagLst>
</file>

<file path=ppt/tags/tag560.xml><?xml version="1.0" encoding="utf-8"?>
<p:tagLst xmlns:a="http://schemas.openxmlformats.org/drawingml/2006/main" xmlns:r="http://schemas.openxmlformats.org/officeDocument/2006/relationships" xmlns:p="http://schemas.openxmlformats.org/presentationml/2006/main">
  <p:tag name="AS_UNIQUEID" val="11111"/>
</p:tagLst>
</file>

<file path=ppt/tags/tag561.xml><?xml version="1.0" encoding="utf-8"?>
<p:tagLst xmlns:a="http://schemas.openxmlformats.org/drawingml/2006/main" xmlns:r="http://schemas.openxmlformats.org/officeDocument/2006/relationships" xmlns:p="http://schemas.openxmlformats.org/presentationml/2006/main">
  <p:tag name="AS_UNIQUEID" val="11112"/>
</p:tagLst>
</file>

<file path=ppt/tags/tag562.xml><?xml version="1.0" encoding="utf-8"?>
<p:tagLst xmlns:a="http://schemas.openxmlformats.org/drawingml/2006/main" xmlns:r="http://schemas.openxmlformats.org/officeDocument/2006/relationships" xmlns:p="http://schemas.openxmlformats.org/presentationml/2006/main">
  <p:tag name="AS_UNIQUEID" val="8737"/>
</p:tagLst>
</file>

<file path=ppt/tags/tag563.xml><?xml version="1.0" encoding="utf-8"?>
<p:tagLst xmlns:a="http://schemas.openxmlformats.org/drawingml/2006/main" xmlns:r="http://schemas.openxmlformats.org/officeDocument/2006/relationships" xmlns:p="http://schemas.openxmlformats.org/presentationml/2006/main">
  <p:tag name="AS_UNIQUEID" val="8738"/>
</p:tagLst>
</file>

<file path=ppt/theme/theme1.xml><?xml version="1.0" encoding="utf-8"?>
<a:theme xmlns:a="http://schemas.openxmlformats.org/drawingml/2006/main" name="White bkgrnd master">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Gartner Sans Semibold"/>
        <a:cs typeface="Arial"/>
      </a:majorFont>
      <a:minorFont>
        <a:latin typeface="Gartner Sans"/>
        <a:ea typeface="Gartner Sans"/>
        <a:cs typeface="Arial"/>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defPPr algn="l">
          <a:defRPr sz="2000" dirty="0" smtClean="0">
            <a:solidFill>
              <a:schemeClr val="bg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noFill/>
        <a:ln w="19050" cap="flat" cmpd="sng">
          <a:solidFill>
            <a:srgbClr val="707996"/>
          </a:solidFill>
          <a:prstDash val="solid"/>
          <a:round/>
          <a:headEnd type="none" w="lg" len="med"/>
          <a:tailEnd type="none" w="lg" len="med"/>
        </a:ln>
      </a:spPr>
      <a:bodyPr/>
      <a:lstStyle/>
    </a:lnDef>
    <a:txDef>
      <a:spPr>
        <a:noFill/>
      </a:spPr>
      <a:bodyPr wrap="square" lIns="0" rIns="0" rtlCol="0">
        <a:spAutoFit/>
      </a:bodyPr>
      <a:lstStyle>
        <a:defPPr algn="l">
          <a:spcBef>
            <a:spcPts val="600"/>
          </a:spcBef>
          <a:defRPr sz="2000" dirty="0" smtClean="0"/>
        </a:defPPr>
      </a:lstStyle>
    </a:txDef>
  </a:objectDefaults>
  <a:extraClrSchemeLst/>
  <a:custClrLst>
    <a:custClr name="Gartner Blue">
      <a:srgbClr val="002869"/>
    </a:custClr>
    <a:custClr name="Cobalt">
      <a:srgbClr val="0057AF"/>
    </a:custClr>
    <a:custClr name="Opal">
      <a:srgbClr val="1F96FF"/>
    </a:custClr>
    <a:custClr name="Sapphire">
      <a:srgbClr val="167ACB"/>
    </a:custClr>
    <a:custClr name="Topaz">
      <a:srgbClr val="4C8CD2"/>
    </a:custClr>
    <a:custClr name="White">
      <a:srgbClr val="FFFFFF"/>
    </a:custClr>
    <a:custClr name="Moonstone">
      <a:srgbClr val="B8DEFF"/>
    </a:custClr>
    <a:custClr name="Sunstone">
      <a:srgbClr val="E36135"/>
    </a:custClr>
    <a:custClr name="Onyx">
      <a:srgbClr val="00002D"/>
    </a:custClr>
    <a:custClr name="Error Red">
      <a:srgbClr val="DE0A01"/>
    </a:custClr>
    <a:custClr name="Granite">
      <a:srgbClr val="5A798C"/>
    </a:custClr>
    <a:custClr name="Amethyst">
      <a:srgbClr val="9673BE"/>
    </a:custClr>
    <a:custClr name="Lapis">
      <a:srgbClr val="6872B6"/>
    </a:custClr>
    <a:custClr name="Aquamarine">
      <a:srgbClr val="3C92B5"/>
    </a:custClr>
    <a:custClr name="Emerald">
      <a:srgbClr val="0A8F74"/>
    </a:custClr>
    <a:custClr name="White">
      <a:srgbClr val="FFFFFF"/>
    </a:custClr>
    <a:custClr name="Crystal">
      <a:srgbClr val="E0F1FF"/>
    </a:custClr>
    <a:custClr name="Border Gray">
      <a:srgbClr val="707996"/>
    </a:custClr>
    <a:custClr name="White">
      <a:srgbClr val="FFFFFF"/>
    </a:custClr>
    <a:custClr name="Warning Yellow">
      <a:srgbClr val="F5AB23"/>
    </a:custClr>
    <a:custClr name="Jade">
      <a:srgbClr val="589384"/>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Success Green">
      <a:srgbClr val="00A76D"/>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Link Blue">
      <a:srgbClr val="006AC7"/>
    </a:custClr>
  </a:custClrLst>
  <a:extLst>
    <a:ext uri="{05A4C25C-085E-4340-85A3-A5531E510DB2}">
      <thm15:themeFamily xmlns:thm15="http://schemas.microsoft.com/office/thememl/2012/main" name="2026_Corporate_Template.potx" id="{38F3A75B-F955-4835-AB9E-C03476FD501E}" vid="{1ADDC07F-A19C-4E68-99EE-B7C51753517E}"/>
    </a:ext>
  </a:extLst>
</a:theme>
</file>

<file path=ppt/theme/theme2.xml><?xml version="1.0" encoding="utf-8"?>
<a:theme xmlns:a="http://schemas.openxmlformats.org/drawingml/2006/main" name="Blue bkgrnd master">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Gartner Sans Semibold"/>
        <a:cs typeface="Arial"/>
      </a:majorFont>
      <a:minorFont>
        <a:latin typeface="Gartner Sans"/>
        <a:ea typeface="Gartner Sans"/>
        <a:cs typeface="Arial"/>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noFill/>
        <a:ln w="12700" cap="flat" cmpd="sng">
          <a:solidFill>
            <a:srgbClr val="6F7878"/>
          </a:solidFill>
          <a:prstDash val="solid"/>
          <a:round/>
          <a:headEnd type="none" w="lg" len="med"/>
          <a:tailEnd type="none" w="lg" len="med"/>
        </a:ln>
      </a:spPr>
      <a:bodyPr/>
      <a:lstStyle/>
    </a:lnDef>
    <a:txDef>
      <a:spPr>
        <a:noFill/>
      </a:spPr>
      <a:bodyPr wrap="none" lIns="0" rIns="0" rtlCol="0">
        <a:spAutoFit/>
      </a:bodyPr>
      <a:lstStyle>
        <a:defPPr algn="l">
          <a:spcBef>
            <a:spcPts val="600"/>
          </a:spcBef>
          <a:defRPr dirty="0" smtClean="0"/>
        </a:defPPr>
      </a:lstStyle>
    </a:txDef>
  </a:objectDefaults>
  <a:extraClrSchemeLst/>
  <a:custClrLst>
    <a:custClr name="Gartner Blue">
      <a:srgbClr val="002869"/>
    </a:custClr>
    <a:custClr name="Cobalt">
      <a:srgbClr val="0057AF"/>
    </a:custClr>
    <a:custClr name="Opal">
      <a:srgbClr val="1F96FF"/>
    </a:custClr>
    <a:custClr name="Sapphire">
      <a:srgbClr val="167ACB"/>
    </a:custClr>
    <a:custClr name="Topaz">
      <a:srgbClr val="4C8CD2"/>
    </a:custClr>
    <a:custClr name="White">
      <a:srgbClr val="FFFFFF"/>
    </a:custClr>
    <a:custClr name="Moonstone">
      <a:srgbClr val="B8DEFF"/>
    </a:custClr>
    <a:custClr name="Sunstone">
      <a:srgbClr val="E36135"/>
    </a:custClr>
    <a:custClr name="Onyx">
      <a:srgbClr val="00002D"/>
    </a:custClr>
    <a:custClr name="Error Red">
      <a:srgbClr val="DE0A01"/>
    </a:custClr>
    <a:custClr name="Granite">
      <a:srgbClr val="5A798C"/>
    </a:custClr>
    <a:custClr name="Amethyst">
      <a:srgbClr val="9673BE"/>
    </a:custClr>
    <a:custClr name="Lapis">
      <a:srgbClr val="6872B6"/>
    </a:custClr>
    <a:custClr name="Aquamarine">
      <a:srgbClr val="3C92B5"/>
    </a:custClr>
    <a:custClr name="Emerald">
      <a:srgbClr val="0A8F74"/>
    </a:custClr>
    <a:custClr name="White">
      <a:srgbClr val="FFFFFF"/>
    </a:custClr>
    <a:custClr name="Crystal">
      <a:srgbClr val="E0F1FF"/>
    </a:custClr>
    <a:custClr name="Border Gray">
      <a:srgbClr val="707996"/>
    </a:custClr>
    <a:custClr name="White">
      <a:srgbClr val="FFFFFF"/>
    </a:custClr>
    <a:custClr name="Warning Yellow">
      <a:srgbClr val="F5AB23"/>
    </a:custClr>
    <a:custClr name="Jade">
      <a:srgbClr val="589384"/>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Success Green">
      <a:srgbClr val="00A76D"/>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Link Blue">
      <a:srgbClr val="006AC7"/>
    </a:custClr>
  </a:custClrLst>
  <a:extLst>
    <a:ext uri="{05A4C25C-085E-4340-85A3-A5531E510DB2}">
      <thm15:themeFamily xmlns:thm15="http://schemas.microsoft.com/office/thememl/2012/main" name="2026_Corporate_Template.potx" id="{38F3A75B-F955-4835-AB9E-C03476FD501E}" vid="{23445A35-0F56-43F5-BB44-433EAE89F553}"/>
    </a:ext>
  </a:extLst>
</a:theme>
</file>

<file path=ppt/theme/theme3.xml><?xml version="1.0" encoding="utf-8"?>
<a:theme xmlns:a="http://schemas.openxmlformats.org/drawingml/2006/main" name="Crystal bkgrnd master">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Gartner Sans Semibold"/>
        <a:cs typeface="Arial"/>
      </a:majorFont>
      <a:minorFont>
        <a:latin typeface="Gartner Sans"/>
        <a:ea typeface="Gartner Sans"/>
        <a:cs typeface="Arial"/>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noFill/>
        <a:ln w="12700" cap="flat" cmpd="sng">
          <a:solidFill>
            <a:srgbClr val="6F7878"/>
          </a:solidFill>
          <a:prstDash val="solid"/>
          <a:round/>
          <a:headEnd type="none" w="lg" len="med"/>
          <a:tailEnd type="none" w="lg" len="med"/>
        </a:ln>
      </a:spPr>
      <a:bodyPr/>
      <a:lstStyle/>
    </a:lnDef>
    <a:txDef>
      <a:spPr>
        <a:noFill/>
      </a:spPr>
      <a:bodyPr wrap="none" lIns="0" rIns="0" rtlCol="0">
        <a:spAutoFit/>
      </a:bodyPr>
      <a:lstStyle>
        <a:defPPr algn="l">
          <a:spcBef>
            <a:spcPts val="600"/>
          </a:spcBef>
          <a:defRPr dirty="0" smtClean="0"/>
        </a:defPPr>
      </a:lstStyle>
    </a:txDef>
  </a:objectDefaults>
  <a:extraClrSchemeLst/>
  <a:custClrLst>
    <a:custClr name="Gartner Blue">
      <a:srgbClr val="002869"/>
    </a:custClr>
    <a:custClr name="Cobalt">
      <a:srgbClr val="0057AF"/>
    </a:custClr>
    <a:custClr name="Opal">
      <a:srgbClr val="1F96FF"/>
    </a:custClr>
    <a:custClr name="Sapphire">
      <a:srgbClr val="167ACB"/>
    </a:custClr>
    <a:custClr name="Topaz">
      <a:srgbClr val="4C8CD2"/>
    </a:custClr>
    <a:custClr name="White">
      <a:srgbClr val="FFFFFF"/>
    </a:custClr>
    <a:custClr name="Moonstone">
      <a:srgbClr val="B8DEFF"/>
    </a:custClr>
    <a:custClr name="Sunstone">
      <a:srgbClr val="E36135"/>
    </a:custClr>
    <a:custClr name="Onyx">
      <a:srgbClr val="00002D"/>
    </a:custClr>
    <a:custClr name="Error Red">
      <a:srgbClr val="DE0A01"/>
    </a:custClr>
    <a:custClr name="Granite">
      <a:srgbClr val="5A798C"/>
    </a:custClr>
    <a:custClr name="Amethyst">
      <a:srgbClr val="9673BE"/>
    </a:custClr>
    <a:custClr name="Lapis">
      <a:srgbClr val="6872B6"/>
    </a:custClr>
    <a:custClr name="Aquamarine">
      <a:srgbClr val="3C92B5"/>
    </a:custClr>
    <a:custClr name="Emerald">
      <a:srgbClr val="0A8F74"/>
    </a:custClr>
    <a:custClr name="White">
      <a:srgbClr val="FFFFFF"/>
    </a:custClr>
    <a:custClr name="Crystal">
      <a:srgbClr val="E0F1FF"/>
    </a:custClr>
    <a:custClr name="Border Gray">
      <a:srgbClr val="707996"/>
    </a:custClr>
    <a:custClr name="White">
      <a:srgbClr val="FFFFFF"/>
    </a:custClr>
    <a:custClr name="Warning Yellow">
      <a:srgbClr val="F5AB23"/>
    </a:custClr>
    <a:custClr name="Jade">
      <a:srgbClr val="589384"/>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Success Green">
      <a:srgbClr val="00A76D"/>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Link Blue">
      <a:srgbClr val="006AC7"/>
    </a:custClr>
  </a:custClrLst>
  <a:extLst>
    <a:ext uri="{05A4C25C-085E-4340-85A3-A5531E510DB2}">
      <thm15:themeFamily xmlns:thm15="http://schemas.microsoft.com/office/thememl/2012/main" name="2026_Corporate_Template.potx" id="{38F3A75B-F955-4835-AB9E-C03476FD501E}" vid="{CFAB3FAC-95AF-486F-BB77-AC0476B45847}"/>
    </a:ext>
  </a:extLst>
</a:theme>
</file>

<file path=ppt/theme/theme4.xml><?xml version="1.0" encoding="utf-8"?>
<a:theme xmlns:a="http://schemas.openxmlformats.org/drawingml/2006/main" name="Office Theme">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Gartner Sans Semibold"/>
        <a:cs typeface="Arial"/>
      </a:majorFont>
      <a:minorFont>
        <a:latin typeface="Gartner Sans"/>
        <a:ea typeface="Gartner Sans"/>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Gartner Sans Semibold"/>
        <a:cs typeface="Arial"/>
      </a:majorFont>
      <a:minorFont>
        <a:latin typeface="Gartner Sans"/>
        <a:ea typeface="Gartner Sans"/>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8.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1.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2.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3.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4.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5.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6.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7.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8.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9.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0.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1.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2.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3.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4.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5.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6.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7.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8.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9.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0.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1.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2.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3.xml><?xml version="1.0" encoding="utf-8"?>
<a:themeOverride xmlns:a="http://schemas.openxmlformats.org/drawingml/2006/main">
  <a:clrScheme name="2018 Brand Colors-011">
    <a:dk1>
      <a:srgbClr val="000000"/>
    </a:dk1>
    <a:lt1>
      <a:srgbClr val="FFFFFF"/>
    </a:lt1>
    <a:dk2>
      <a:srgbClr val="002856"/>
    </a:dk2>
    <a:lt2>
      <a:srgbClr val="FFFFFF"/>
    </a:lt2>
    <a:accent1>
      <a:srgbClr val="002856"/>
    </a:accent1>
    <a:accent2>
      <a:srgbClr val="A7AFAF"/>
    </a:accent2>
    <a:accent3>
      <a:srgbClr val="E2E4E4"/>
    </a:accent3>
    <a:accent4>
      <a:srgbClr val="009AD7"/>
    </a:accent4>
    <a:accent5>
      <a:srgbClr val="FF540A"/>
    </a:accent5>
    <a:accent6>
      <a:srgbClr val="FEC10D"/>
    </a:accent6>
    <a:hlink>
      <a:srgbClr val="0052D7"/>
    </a:hlink>
    <a:folHlink>
      <a:srgbClr val="0045B5"/>
    </a:folHlink>
  </a:clrScheme>
  <a:fontScheme name="Arial Black-Arial">
    <a:majorFont>
      <a:latin typeface="Arial Black" panose="020B0A04020102020204"/>
      <a:ea typeface="Arial"/>
      <a:cs typeface="Arial"/>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_dlc_DocId xmlns="e8db9336-2e0a-439c-92aa-d25193e77693">C5KERXYYQTZJ-1394074443-373</_dlc_DocId>
    <_dlc_DocIdUrl xmlns="e8db9336-2e0a-439c-92aa-d25193e77693">
      <Url>https://gartner365.sharepoint.com/sites/Launchpad/_layouts/15/DocIdRedir.aspx?ID=C5KERXYYQTZJ-1394074443-373</Url>
      <Description>C5KERXYYQTZJ-1394074443-373</Description>
    </_dlc_DocIdUrl>
    <_dlc_DocIdPersistId xmlns="e8db9336-2e0a-439c-92aa-d25193e77693">false</_dlc_DocIdPersistId>
    <TaxCatchAll xmlns="e8db9336-2e0a-439c-92aa-d25193e77693" xsi:nil="true"/>
    <lcf76f155ced4ddcb4097134ff3c332f xmlns="728be415-658a-42da-8ffe-674acc25e01a">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C8BB583ABB528D4780DDE8D3AC4C9C13" ma:contentTypeVersion="12" ma:contentTypeDescription="Create a new document." ma:contentTypeScope="" ma:versionID="5cae7c73a6fc8b5a58303a253a0a5dff">
  <xsd:schema xmlns:xsd="http://www.w3.org/2001/XMLSchema" xmlns:xs="http://www.w3.org/2001/XMLSchema" xmlns:p="http://schemas.microsoft.com/office/2006/metadata/properties" xmlns:ns2="e8db9336-2e0a-439c-92aa-d25193e77693" xmlns:ns3="728be415-658a-42da-8ffe-674acc25e01a" targetNamespace="http://schemas.microsoft.com/office/2006/metadata/properties" ma:root="true" ma:fieldsID="25d5dcd440fb649ad7d549b8c1e3978c" ns2:_="" ns3:_="">
    <xsd:import namespace="e8db9336-2e0a-439c-92aa-d25193e77693"/>
    <xsd:import namespace="728be415-658a-42da-8ffe-674acc25e01a"/>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DateTaken"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BillingMetadata"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db9336-2e0a-439c-92aa-d25193e77693"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CatchAll" ma:index="17" nillable="true" ma:displayName="Taxonomy Catch All Column" ma:hidden="true" ma:list="{32c8e763-947f-4803-ba9d-cbc104102e97}" ma:internalName="TaxCatchAll" ma:showField="CatchAllData" ma:web="e8db9336-2e0a-439c-92aa-d25193e7769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728be415-658a-42da-8ffe-674acc25e01a"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8af5e99b-f45a-473e-9035-af188538fb08"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9D5EB96-1AFA-42DA-8656-AAA2C4B96763}">
  <ds:schemaRefs>
    <ds:schemaRef ds:uri="http://schemas.microsoft.com/sharepoint/events"/>
  </ds:schemaRefs>
</ds:datastoreItem>
</file>

<file path=customXml/itemProps2.xml><?xml version="1.0" encoding="utf-8"?>
<ds:datastoreItem xmlns:ds="http://schemas.openxmlformats.org/officeDocument/2006/customXml" ds:itemID="{849EAD55-449F-4D7E-ADE7-D5D587B8A89C}">
  <ds:schemaRefs>
    <ds:schemaRef ds:uri="http://schemas.microsoft.com/office/2006/metadata/properties"/>
    <ds:schemaRef ds:uri="http://purl.org/dc/terms/"/>
    <ds:schemaRef ds:uri="http://purl.org/dc/dcmitype/"/>
    <ds:schemaRef ds:uri="http://schemas.microsoft.com/office/2006/documentManagement/types"/>
    <ds:schemaRef ds:uri="e8db9336-2e0a-439c-92aa-d25193e77693"/>
    <ds:schemaRef ds:uri="http://purl.org/dc/elements/1.1/"/>
    <ds:schemaRef ds:uri="728be415-658a-42da-8ffe-674acc25e01a"/>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DD58161F-F219-4A24-851A-E0789092BA88}">
  <ds:schemaRefs>
    <ds:schemaRef ds:uri="http://schemas.microsoft.com/sharepoint/v3/contenttype/forms"/>
  </ds:schemaRefs>
</ds:datastoreItem>
</file>

<file path=customXml/itemProps4.xml><?xml version="1.0" encoding="utf-8"?>
<ds:datastoreItem xmlns:ds="http://schemas.openxmlformats.org/officeDocument/2006/customXml" ds:itemID="{F344FC98-6229-48DD-A960-9E6270EC417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db9336-2e0a-439c-92aa-d25193e77693"/>
    <ds:schemaRef ds:uri="728be415-658a-42da-8ffe-674acc25e0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blank</Template>
  <TotalTime>2980</TotalTime>
  <Words>1470</Words>
  <Application>Microsoft Office PowerPoint</Application>
  <PresentationFormat>Widescreen</PresentationFormat>
  <Paragraphs>399</Paragraphs>
  <Slides>20</Slides>
  <Notes>20</Notes>
  <HiddenSlides>0</HiddenSlides>
  <MMClips>0</MMClips>
  <ScaleCrop>false</ScaleCrop>
  <HeadingPairs>
    <vt:vector size="4" baseType="variant">
      <vt:variant>
        <vt:lpstr>Theme</vt:lpstr>
      </vt:variant>
      <vt:variant>
        <vt:i4>3</vt:i4>
      </vt:variant>
      <vt:variant>
        <vt:lpstr>Slide Titles</vt:lpstr>
      </vt:variant>
      <vt:variant>
        <vt:i4>20</vt:i4>
      </vt:variant>
    </vt:vector>
  </HeadingPairs>
  <TitlesOfParts>
    <vt:vector size="23" baseType="lpstr">
      <vt:lpstr>White bkgrnd master</vt:lpstr>
      <vt:lpstr>Blue bkgrnd master</vt:lpstr>
      <vt:lpstr>Crystal bkgrnd master</vt:lpstr>
      <vt:lpstr>AI Maturity Assessment </vt:lpstr>
      <vt:lpstr>Your AI Maturity</vt:lpstr>
      <vt:lpstr>Your AI Maturity by Capability</vt:lpstr>
      <vt:lpstr>Your AI Maturity by Capability (cont’d)</vt:lpstr>
      <vt:lpstr>Overview of Your Responses by Activity</vt:lpstr>
      <vt:lpstr>Capability: AI Strategy</vt:lpstr>
      <vt:lpstr>Capability: AI Value</vt:lpstr>
      <vt:lpstr>Capability: AI Organization</vt:lpstr>
      <vt:lpstr>Capability: AI People and Culture </vt:lpstr>
      <vt:lpstr>Capability: AI Governance</vt:lpstr>
      <vt:lpstr>Capability: AI Engineering</vt:lpstr>
      <vt:lpstr>Capability: AI Data</vt:lpstr>
      <vt:lpstr>Your Responses: AI Strategy</vt:lpstr>
      <vt:lpstr>Your Responses: AI Value</vt:lpstr>
      <vt:lpstr>Your Responses: AI Organization</vt:lpstr>
      <vt:lpstr>Your Responses: AI People and Culture</vt:lpstr>
      <vt:lpstr>Your Responses: AI Governance</vt:lpstr>
      <vt:lpstr>Your Responses: AI Engineering</vt:lpstr>
      <vt:lpstr>Your Responses: AI Data</vt:lpstr>
      <vt:lpstr>Disclaimer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Eser Rizaoglu</dc:creator>
  <cp:lastModifiedBy>Shaurya Verma</cp:lastModifiedBy>
  <cp:revision>216</cp:revision>
  <dcterms:created xsi:type="dcterms:W3CDTF">2026-03-26T15:50:52Z</dcterms:created>
  <dcterms:modified xsi:type="dcterms:W3CDTF">2026-09-04T17:49:58Z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DocIdItemGuid">
    <vt:lpwstr>9c3b0525-b494-4153-af86-bbb948020a62</vt:lpwstr>
  </property>
  <property fmtid="{D5CDD505-2E9C-101B-9397-08002B2CF9AE}" pid="3" name="_ExtendedDescription">
    <vt:lpwstr/>
  </property>
  <property fmtid="{D5CDD505-2E9C-101B-9397-08002B2CF9AE}" pid="4" name="ComplianceAssetId">
    <vt:lpwstr/>
  </property>
  <property fmtid="{D5CDD505-2E9C-101B-9397-08002B2CF9AE}" pid="5" name="ContentTypeId">
    <vt:lpwstr>0x010100C8BB583ABB528D4780DDE8D3AC4C9C13</vt:lpwstr>
  </property>
  <property fmtid="{D5CDD505-2E9C-101B-9397-08002B2CF9AE}" pid="6" name="MediaServiceImageTags">
    <vt:lpwstr/>
  </property>
  <property fmtid="{D5CDD505-2E9C-101B-9397-08002B2CF9AE}" pid="7" name="TemplateUrl">
    <vt:lpwstr/>
  </property>
  <property fmtid="{D5CDD505-2E9C-101B-9397-08002B2CF9AE}" pid="8" name="TriggerFlowInfo">
    <vt:lpwstr/>
  </property>
  <property fmtid="{D5CDD505-2E9C-101B-9397-08002B2CF9AE}" pid="9" name="xd_ProgID">
    <vt:lpwstr/>
  </property>
  <property fmtid="{D5CDD505-2E9C-101B-9397-08002B2CF9AE}" pid="10" name="xd_Signature">
    <vt:bool>false</vt:bool>
  </property>
</Properties>
</file>